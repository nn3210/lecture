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元資料の「画像判別」の後に、AIが現場作業へつながる全体像を示す。モデルの出力だけで防除を決めず、対象作物・地域・時期を照合する。</a:t>
            </a:r>
          </a:p>
          <a:p/>
          <a:p>
            <a:r>
              <a:t>出典: https://www.maff.go.jp/j/kanbo/smart/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農林水産技術会議の研究成果によれば、診断付き画像を収集して識別プログラムを開発し、企業がスマートフォンアプリを公開した。研究成果の80%以上は当該評価条件での数値であり、全作物・全圃場での性能保証ではない。</a:t>
            </a:r>
          </a:p>
          <a:p/>
          <a:p>
            <a:r>
              <a:t>出典: https://www.affrc.maff.go.jp/docs/project/seika/2022/r4_seikashu_02.html ; https://www.maff.go.jp/j/syouan/syokubo/gaicyu/datakatuyo/index.html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See &amp; Sprayは既に提供されているが、このスライドと動画で示すGen 2の標準搭載は2027年モデルからというメーカー説明。2026年10月時点でGen 2が普及済みとは扱わない。対象作物・薬剤・地域は仕様に依存する。</a:t>
            </a:r>
          </a:p>
          <a:p/>
          <a:p>
            <a:r>
              <a:t>出典: https://www.deere.com/en-us/products-solutions/sprayers-and-applicators ; https://www.youtube.com/watch?v=OqIRBgDKtAQ</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PowerPointのオンライン動画として挿入。2026年10月30日にPowerPointのスライドショーでコンテンツを有効化した後、公式動画の再生が0:02まで進むことを確認。再生にはインターネット接続と外部メディアの許可が必要。公式YouTubeの公開設定やPowerPointのWeb再生環境によって再生できない場合は「公式動画をブラウザーで開く」を利用。</a:t>
            </a:r>
          </a:p>
          <a:p/>
          <a:p>
            <a:r>
              <a:t>出典: https://www.youtube.com/watch?v=OqIRBgDKtAQ</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LaserWeeder G2は市販機としてメーカーが紹介している。除草剤を使わない方式だが、栽培体系・安全管理・設備費などの条件を伴う。元資料4枚目の旧型デモ動画の代わりに、2025年公開の公式G2動画を使用。</a:t>
            </a:r>
          </a:p>
          <a:p/>
          <a:p>
            <a:r>
              <a:t>出典: https://carbonrobotics.com/laserweeder ; https://carbonrobotics.com/laserweeding-technology ; https://www.youtube.com/watch?v=wYyW2mEgXDk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PowerPointのオンライン動画として挿入。2026年10月30日にPowerPointのスライドショーでCarbon Robotics公式動画の再生が0:01まで進むことを確認。再生にはインターネット接続と外部メディアの許可が必要。メーカーのYouTube公開設定やPowerPointの再生環境にも依存する。</a:t>
            </a:r>
          </a:p>
          <a:p/>
          <a:p>
            <a:r>
              <a:t>出典: https://www.youtube.com/watch?v=wYyW2mEgXDk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農研機構2025年発表の研究開発事例。下葉処理を自動化する試作ロボットであり、一般の圃場への普及済み技術として扱わない。収穫を担うロボットとの混同を避ける。</a:t>
            </a:r>
          </a:p>
          <a:p/>
          <a:p>
            <a:r>
              <a:t>出典: https://www.naro.go.jp/publicity_report/press/laboratory/iam/172523.html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農研機構の公式プレスリリースがリンクする動画をオンライン動画として挿入。再生にはインターネット接続が必要。PowerPoint上での実再生は現環境で未検証。</a:t>
            </a:r>
          </a:p>
          <a:p/>
          <a:p>
            <a:r>
              <a:t>出典: https://www.naro.go.jp/publicity_report/press/laboratory/iam/172523.html ; https://www.youtube.com/watch?v=varnociD_mc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元資料45枚目は魚の種や個体数が自動でわかると断定している。AIの結果は観測画像に条件づけられ、母集団の推定には調査設計と検出率の評価が必要。カエルの研究事例は維持する。</a:t>
            </a:r>
          </a:p>
          <a:p/>
          <a:p>
            <a:r>
              <a:t>出典: https://www.fisheries.noaa.gov/resource/peer-reviewed-research/estimating-precision-and-accuracy-automated-video-post-processing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話す内容: 元資料60枚目の将来像を、現場への導入判断として更新。AIという名称だけで性能を推定せず、対象・運用・費用・検証段階を問う。農水省の技術カタログ自体も技術効果の認定ではないと明記している。</a:t>
            </a:r>
          </a:p>
          <a:p/>
          <a:p>
            <a:r>
              <a:t>出典: https://www.maff.go.jp/j/kanbo/smart/smart_agri_technology/smartagri_catalog.html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video" Target="https://www.youtube.com/embed/OqIRBgDKtAQ" TargetMode="External"/><Relationship Id="rId5" Type="http://schemas.openxmlformats.org/officeDocument/2006/relationships/hyperlink" Target="https://www.youtube.com/watch?v=OqIRBgDKtA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video" Target="https://www.youtube.com/embed/wYyW2mEgXDk" TargetMode="External"/><Relationship Id="rId5" Type="http://schemas.openxmlformats.org/officeDocument/2006/relationships/hyperlink" Target="https://www.youtube.com/watch?v=wYyW2mEgXD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video" Target="https://www.youtube.com/embed/varnociD_mc" TargetMode="External"/><Relationship Id="rId5" Type="http://schemas.openxmlformats.org/officeDocument/2006/relationships/hyperlink" Target="https://www.youtube.com/watch?v=varnociD_mc"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農業AIは「見つける」だけでなく、作業の判断につなぐ</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01</a:t>
            </a:r>
          </a:p>
        </p:txBody>
      </p:sp>
      <p:sp>
        <p:nvSpPr>
          <p:cNvPr id="7" name="Rectangle 6"/>
          <p:cNvSpPr/>
          <p:nvPr/>
        </p:nvSpPr>
        <p:spPr>
          <a:xfrm>
            <a:off x="594360"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58952"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01</a:t>
            </a:r>
          </a:p>
        </p:txBody>
      </p:sp>
      <p:sp>
        <p:nvSpPr>
          <p:cNvPr id="9" name="TextBox 8"/>
          <p:cNvSpPr txBox="1"/>
          <p:nvPr/>
        </p:nvSpPr>
        <p:spPr>
          <a:xfrm>
            <a:off x="1252728" y="2130552"/>
            <a:ext cx="1618487" cy="320040"/>
          </a:xfrm>
          <a:prstGeom prst="rect">
            <a:avLst/>
          </a:prstGeom>
          <a:noFill/>
        </p:spPr>
        <p:txBody>
          <a:bodyPr wrap="square" lIns="18288" rIns="18288" tIns="0" bIns="0" anchor="ctr">
            <a:spAutoFit/>
          </a:bodyPr>
          <a:lstStyle/>
          <a:p>
            <a:pPr algn="l"/>
            <a:r>
              <a:rPr sz="1600" b="1">
                <a:solidFill>
                  <a:srgbClr val="45704C"/>
                </a:solidFill>
                <a:latin typeface="Yu Gothic"/>
              </a:rPr>
              <a:t>観測</a:t>
            </a:r>
          </a:p>
        </p:txBody>
      </p:sp>
      <p:sp>
        <p:nvSpPr>
          <p:cNvPr id="10" name="TextBox 9"/>
          <p:cNvSpPr txBox="1"/>
          <p:nvPr/>
        </p:nvSpPr>
        <p:spPr>
          <a:xfrm>
            <a:off x="813816"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画像・音・センサーで圃場を記録する</a:t>
            </a:r>
          </a:p>
        </p:txBody>
      </p:sp>
      <p:sp>
        <p:nvSpPr>
          <p:cNvPr id="11" name="TextBox 10"/>
          <p:cNvSpPr txBox="1"/>
          <p:nvPr/>
        </p:nvSpPr>
        <p:spPr>
          <a:xfrm>
            <a:off x="3172968"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12" name="Rectangle 11"/>
          <p:cNvSpPr/>
          <p:nvPr/>
        </p:nvSpPr>
        <p:spPr>
          <a:xfrm>
            <a:off x="3447288"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11880"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02</a:t>
            </a:r>
          </a:p>
        </p:txBody>
      </p:sp>
      <p:sp>
        <p:nvSpPr>
          <p:cNvPr id="14" name="TextBox 13"/>
          <p:cNvSpPr txBox="1"/>
          <p:nvPr/>
        </p:nvSpPr>
        <p:spPr>
          <a:xfrm>
            <a:off x="4105656" y="2130552"/>
            <a:ext cx="1618487" cy="320040"/>
          </a:xfrm>
          <a:prstGeom prst="rect">
            <a:avLst/>
          </a:prstGeom>
          <a:noFill/>
        </p:spPr>
        <p:txBody>
          <a:bodyPr wrap="square" lIns="18288" rIns="18288" tIns="0" bIns="0" anchor="ctr">
            <a:spAutoFit/>
          </a:bodyPr>
          <a:lstStyle/>
          <a:p>
            <a:pPr algn="l"/>
            <a:r>
              <a:rPr sz="1600" b="1">
                <a:solidFill>
                  <a:srgbClr val="45704C"/>
                </a:solidFill>
                <a:latin typeface="Yu Gothic"/>
              </a:rPr>
              <a:t>推定</a:t>
            </a:r>
          </a:p>
        </p:txBody>
      </p:sp>
      <p:sp>
        <p:nvSpPr>
          <p:cNvPr id="15" name="TextBox 14"/>
          <p:cNvSpPr txBox="1"/>
          <p:nvPr/>
        </p:nvSpPr>
        <p:spPr>
          <a:xfrm>
            <a:off x="3666744"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病害虫・雑草・生育を候補として示す</a:t>
            </a:r>
          </a:p>
        </p:txBody>
      </p:sp>
      <p:sp>
        <p:nvSpPr>
          <p:cNvPr id="16" name="TextBox 15"/>
          <p:cNvSpPr txBox="1"/>
          <p:nvPr/>
        </p:nvSpPr>
        <p:spPr>
          <a:xfrm>
            <a:off x="6025896"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17" name="Rectangle 16"/>
          <p:cNvSpPr/>
          <p:nvPr/>
        </p:nvSpPr>
        <p:spPr>
          <a:xfrm>
            <a:off x="6300216"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4807"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03</a:t>
            </a:r>
          </a:p>
        </p:txBody>
      </p:sp>
      <p:sp>
        <p:nvSpPr>
          <p:cNvPr id="19" name="TextBox 18"/>
          <p:cNvSpPr txBox="1"/>
          <p:nvPr/>
        </p:nvSpPr>
        <p:spPr>
          <a:xfrm>
            <a:off x="6958583" y="2130552"/>
            <a:ext cx="1618488" cy="320040"/>
          </a:xfrm>
          <a:prstGeom prst="rect">
            <a:avLst/>
          </a:prstGeom>
          <a:noFill/>
        </p:spPr>
        <p:txBody>
          <a:bodyPr wrap="square" lIns="18288" rIns="18288" tIns="0" bIns="0" anchor="ctr">
            <a:spAutoFit/>
          </a:bodyPr>
          <a:lstStyle/>
          <a:p>
            <a:pPr algn="l"/>
            <a:r>
              <a:rPr sz="1600" b="1">
                <a:solidFill>
                  <a:srgbClr val="45704C"/>
                </a:solidFill>
                <a:latin typeface="Yu Gothic"/>
              </a:rPr>
              <a:t>判断</a:t>
            </a:r>
          </a:p>
        </p:txBody>
      </p:sp>
      <p:sp>
        <p:nvSpPr>
          <p:cNvPr id="20" name="TextBox 19"/>
          <p:cNvSpPr txBox="1"/>
          <p:nvPr/>
        </p:nvSpPr>
        <p:spPr>
          <a:xfrm>
            <a:off x="6519672"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現場の条件と費用を人が確かめる</a:t>
            </a:r>
          </a:p>
        </p:txBody>
      </p:sp>
      <p:sp>
        <p:nvSpPr>
          <p:cNvPr id="21" name="TextBox 20"/>
          <p:cNvSpPr txBox="1"/>
          <p:nvPr/>
        </p:nvSpPr>
        <p:spPr>
          <a:xfrm>
            <a:off x="8878824"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22" name="Rectangle 21"/>
          <p:cNvSpPr/>
          <p:nvPr/>
        </p:nvSpPr>
        <p:spPr>
          <a:xfrm>
            <a:off x="9153144" y="1993392"/>
            <a:ext cx="2459736" cy="347472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317736" y="2103120"/>
            <a:ext cx="438912" cy="329184"/>
          </a:xfrm>
          <a:prstGeom prst="rect">
            <a:avLst/>
          </a:prstGeom>
          <a:noFill/>
        </p:spPr>
        <p:txBody>
          <a:bodyPr wrap="square" lIns="18288" rIns="18288" tIns="0" bIns="0" anchor="ctr">
            <a:spAutoFit/>
          </a:bodyPr>
          <a:lstStyle/>
          <a:p>
            <a:pPr algn="l"/>
            <a:r>
              <a:rPr sz="1300" b="1">
                <a:solidFill>
                  <a:srgbClr val="FFFFFF"/>
                </a:solidFill>
                <a:latin typeface="Yu Gothic"/>
              </a:rPr>
              <a:t>04</a:t>
            </a:r>
          </a:p>
        </p:txBody>
      </p:sp>
      <p:sp>
        <p:nvSpPr>
          <p:cNvPr id="24" name="TextBox 23"/>
          <p:cNvSpPr txBox="1"/>
          <p:nvPr/>
        </p:nvSpPr>
        <p:spPr>
          <a:xfrm>
            <a:off x="9811512" y="2130552"/>
            <a:ext cx="1618487" cy="320040"/>
          </a:xfrm>
          <a:prstGeom prst="rect">
            <a:avLst/>
          </a:prstGeom>
          <a:noFill/>
        </p:spPr>
        <p:txBody>
          <a:bodyPr wrap="square" lIns="18288" rIns="18288" tIns="0" bIns="0" anchor="ctr">
            <a:spAutoFit/>
          </a:bodyPr>
          <a:lstStyle/>
          <a:p>
            <a:pPr algn="l"/>
            <a:r>
              <a:rPr sz="1600" b="1">
                <a:solidFill>
                  <a:srgbClr val="FFFFFF"/>
                </a:solidFill>
                <a:latin typeface="Yu Gothic"/>
              </a:rPr>
              <a:t>作業</a:t>
            </a:r>
          </a:p>
        </p:txBody>
      </p:sp>
      <p:sp>
        <p:nvSpPr>
          <p:cNvPr id="25" name="TextBox 24"/>
          <p:cNvSpPr txBox="1"/>
          <p:nvPr/>
        </p:nvSpPr>
        <p:spPr>
          <a:xfrm>
            <a:off x="9372600" y="2551176"/>
            <a:ext cx="2020824" cy="2788920"/>
          </a:xfrm>
          <a:prstGeom prst="rect">
            <a:avLst/>
          </a:prstGeom>
          <a:noFill/>
        </p:spPr>
        <p:txBody>
          <a:bodyPr wrap="square" lIns="18288" rIns="18288" tIns="0" bIns="0" anchor="ctr">
            <a:spAutoFit/>
          </a:bodyPr>
          <a:lstStyle/>
          <a:p>
            <a:pPr algn="l"/>
            <a:r>
              <a:rPr sz="2000" b="0">
                <a:solidFill>
                  <a:srgbClr val="FFFFFF"/>
                </a:solidFill>
                <a:latin typeface="Yu Gothic"/>
              </a:rPr>
              <a:t>散布・除草・収穫などを実行し結果を検証する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病害虫の写真診断は、国内で使えるアプリになっている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02</a:t>
            </a:r>
          </a:p>
        </p:txBody>
      </p:sp>
      <p:sp>
        <p:nvSpPr>
          <p:cNvPr id="7" name="Rectangle 6"/>
          <p:cNvSpPr/>
          <p:nvPr/>
        </p:nvSpPr>
        <p:spPr>
          <a:xfrm>
            <a:off x="713232" y="1700784"/>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50976" y="1865376"/>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入力</a:t>
            </a:r>
          </a:p>
        </p:txBody>
      </p:sp>
      <p:sp>
        <p:nvSpPr>
          <p:cNvPr id="9" name="TextBox 8"/>
          <p:cNvSpPr txBox="1"/>
          <p:nvPr/>
        </p:nvSpPr>
        <p:spPr>
          <a:xfrm>
            <a:off x="3090672" y="1856232"/>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スマートフォンで病徴・虫・雑草を撮影</a:t>
            </a:r>
          </a:p>
        </p:txBody>
      </p:sp>
      <p:sp>
        <p:nvSpPr>
          <p:cNvPr id="10" name="Rectangle 9"/>
          <p:cNvSpPr/>
          <p:nvPr/>
        </p:nvSpPr>
        <p:spPr>
          <a:xfrm>
            <a:off x="713232" y="2779776"/>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50976" y="2944368"/>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AIの仕事</a:t>
            </a:r>
          </a:p>
        </p:txBody>
      </p:sp>
      <p:sp>
        <p:nvSpPr>
          <p:cNvPr id="12" name="TextBox 11"/>
          <p:cNvSpPr txBox="1"/>
          <p:nvPr/>
        </p:nvSpPr>
        <p:spPr>
          <a:xfrm>
            <a:off x="3090672" y="2935224"/>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画像から候補を順位付きで提示</a:t>
            </a:r>
          </a:p>
        </p:txBody>
      </p:sp>
      <p:sp>
        <p:nvSpPr>
          <p:cNvPr id="13" name="Rectangle 12"/>
          <p:cNvSpPr/>
          <p:nvPr/>
        </p:nvSpPr>
        <p:spPr>
          <a:xfrm>
            <a:off x="713232" y="3858768"/>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0976" y="4023359"/>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現場の仕事</a:t>
            </a:r>
          </a:p>
        </p:txBody>
      </p:sp>
      <p:sp>
        <p:nvSpPr>
          <p:cNvPr id="15" name="TextBox 14"/>
          <p:cNvSpPr txBox="1"/>
          <p:nvPr/>
        </p:nvSpPr>
        <p:spPr>
          <a:xfrm>
            <a:off x="3090672" y="4014215"/>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候補を確認し、発生条件・防除基準と照合</a:t>
            </a:r>
          </a:p>
        </p:txBody>
      </p:sp>
      <p:sp>
        <p:nvSpPr>
          <p:cNvPr id="16" name="Rectangle 15"/>
          <p:cNvSpPr/>
          <p:nvPr/>
        </p:nvSpPr>
        <p:spPr>
          <a:xfrm>
            <a:off x="713232" y="4937760"/>
            <a:ext cx="10844784" cy="9144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50976" y="5102352"/>
            <a:ext cx="2011680" cy="594360"/>
          </a:xfrm>
          <a:prstGeom prst="rect">
            <a:avLst/>
          </a:prstGeom>
          <a:noFill/>
        </p:spPr>
        <p:txBody>
          <a:bodyPr wrap="square" lIns="18288" rIns="18288" tIns="0" bIns="0" anchor="ctr">
            <a:spAutoFit/>
          </a:bodyPr>
          <a:lstStyle/>
          <a:p>
            <a:pPr algn="l"/>
            <a:r>
              <a:rPr sz="1900" b="1">
                <a:solidFill>
                  <a:srgbClr val="FFFFFF"/>
                </a:solidFill>
                <a:latin typeface="Yu Gothic"/>
              </a:rPr>
              <a:t>実装段階</a:t>
            </a:r>
          </a:p>
        </p:txBody>
      </p:sp>
      <p:sp>
        <p:nvSpPr>
          <p:cNvPr id="18" name="TextBox 17"/>
          <p:cNvSpPr txBox="1"/>
          <p:nvPr/>
        </p:nvSpPr>
        <p:spPr>
          <a:xfrm>
            <a:off x="3090672" y="5093208"/>
            <a:ext cx="8001000" cy="621792"/>
          </a:xfrm>
          <a:prstGeom prst="rect">
            <a:avLst/>
          </a:prstGeom>
          <a:noFill/>
        </p:spPr>
        <p:txBody>
          <a:bodyPr wrap="square" lIns="18288" rIns="18288" tIns="0" bIns="0" anchor="ctr">
            <a:spAutoFit/>
          </a:bodyPr>
          <a:lstStyle/>
          <a:p>
            <a:pPr algn="l"/>
            <a:r>
              <a:rPr sz="2100" b="0">
                <a:solidFill>
                  <a:srgbClr val="FFFFFF"/>
                </a:solidFill>
                <a:latin typeface="Yu Gothic"/>
              </a:rPr>
              <a:t>公開アプリ／農水省の研究成果を利用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カメラで雑草を見分け、必要な場所だけに散布する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03</a:t>
            </a:r>
          </a:p>
        </p:txBody>
      </p:sp>
      <p:sp>
        <p:nvSpPr>
          <p:cNvPr id="7" name="Rectangle 6"/>
          <p:cNvSpPr/>
          <p:nvPr/>
        </p:nvSpPr>
        <p:spPr>
          <a:xfrm>
            <a:off x="758952" y="1664208"/>
            <a:ext cx="2907792" cy="1252728"/>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23544" y="1773936"/>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01</a:t>
            </a:r>
          </a:p>
        </p:txBody>
      </p:sp>
      <p:sp>
        <p:nvSpPr>
          <p:cNvPr id="9" name="TextBox 8"/>
          <p:cNvSpPr txBox="1"/>
          <p:nvPr/>
        </p:nvSpPr>
        <p:spPr>
          <a:xfrm>
            <a:off x="1417319" y="1801368"/>
            <a:ext cx="2066544" cy="320040"/>
          </a:xfrm>
          <a:prstGeom prst="rect">
            <a:avLst/>
          </a:prstGeom>
          <a:noFill/>
        </p:spPr>
        <p:txBody>
          <a:bodyPr wrap="square" lIns="18288" rIns="18288" tIns="0" bIns="0" anchor="ctr">
            <a:spAutoFit/>
          </a:bodyPr>
          <a:lstStyle/>
          <a:p>
            <a:pPr algn="l"/>
            <a:r>
              <a:rPr sz="1600" b="1">
                <a:solidFill>
                  <a:srgbClr val="45704C"/>
                </a:solidFill>
                <a:latin typeface="Yu Gothic"/>
              </a:rPr>
              <a:t>カメラ</a:t>
            </a:r>
          </a:p>
        </p:txBody>
      </p:sp>
      <p:sp>
        <p:nvSpPr>
          <p:cNvPr id="10" name="TextBox 9"/>
          <p:cNvSpPr txBox="1"/>
          <p:nvPr/>
        </p:nvSpPr>
        <p:spPr>
          <a:xfrm>
            <a:off x="978407" y="2221992"/>
            <a:ext cx="2468880" cy="566928"/>
          </a:xfrm>
          <a:prstGeom prst="rect">
            <a:avLst/>
          </a:prstGeom>
          <a:noFill/>
        </p:spPr>
        <p:txBody>
          <a:bodyPr wrap="square" lIns="18288" rIns="18288" tIns="0" bIns="0" anchor="ctr">
            <a:spAutoFit/>
          </a:bodyPr>
          <a:lstStyle/>
          <a:p>
            <a:pPr algn="l"/>
            <a:r>
              <a:rPr sz="2000" b="0">
                <a:solidFill>
                  <a:srgbClr val="253129"/>
                </a:solidFill>
                <a:latin typeface="Yu Gothic"/>
              </a:rPr>
              <a:t>作物と雑草を撮影</a:t>
            </a:r>
          </a:p>
        </p:txBody>
      </p:sp>
      <p:sp>
        <p:nvSpPr>
          <p:cNvPr id="11" name="TextBox 10"/>
          <p:cNvSpPr txBox="1"/>
          <p:nvPr/>
        </p:nvSpPr>
        <p:spPr>
          <a:xfrm>
            <a:off x="3730752" y="2084831"/>
            <a:ext cx="292608" cy="329184"/>
          </a:xfrm>
          <a:prstGeom prst="rect">
            <a:avLst/>
          </a:prstGeom>
          <a:noFill/>
        </p:spPr>
        <p:txBody>
          <a:bodyPr wrap="square" lIns="18288" rIns="18288" tIns="0" bIns="0" anchor="ctr">
            <a:spAutoFit/>
          </a:bodyPr>
          <a:lstStyle/>
          <a:p>
            <a:pPr algn="ctr"/>
            <a:r>
              <a:rPr sz="2200" b="1">
                <a:solidFill>
                  <a:srgbClr val="45704C"/>
                </a:solidFill>
                <a:latin typeface="Yu Gothic"/>
              </a:rPr>
              <a:t>→</a:t>
            </a:r>
          </a:p>
        </p:txBody>
      </p:sp>
      <p:sp>
        <p:nvSpPr>
          <p:cNvPr id="12" name="Rectangle 11"/>
          <p:cNvSpPr/>
          <p:nvPr/>
        </p:nvSpPr>
        <p:spPr>
          <a:xfrm>
            <a:off x="4123944" y="1664208"/>
            <a:ext cx="2907792" cy="1252728"/>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288536" y="1773936"/>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02</a:t>
            </a:r>
          </a:p>
        </p:txBody>
      </p:sp>
      <p:sp>
        <p:nvSpPr>
          <p:cNvPr id="14" name="TextBox 13"/>
          <p:cNvSpPr txBox="1"/>
          <p:nvPr/>
        </p:nvSpPr>
        <p:spPr>
          <a:xfrm>
            <a:off x="4782312" y="1801368"/>
            <a:ext cx="2066544" cy="320040"/>
          </a:xfrm>
          <a:prstGeom prst="rect">
            <a:avLst/>
          </a:prstGeom>
          <a:noFill/>
        </p:spPr>
        <p:txBody>
          <a:bodyPr wrap="square" lIns="18288" rIns="18288" tIns="0" bIns="0" anchor="ctr">
            <a:spAutoFit/>
          </a:bodyPr>
          <a:lstStyle/>
          <a:p>
            <a:pPr algn="l"/>
            <a:r>
              <a:rPr sz="1600" b="1">
                <a:solidFill>
                  <a:srgbClr val="45704C"/>
                </a:solidFill>
                <a:latin typeface="Yu Gothic"/>
              </a:rPr>
              <a:t>AI</a:t>
            </a:r>
          </a:p>
        </p:txBody>
      </p:sp>
      <p:sp>
        <p:nvSpPr>
          <p:cNvPr id="15" name="TextBox 14"/>
          <p:cNvSpPr txBox="1"/>
          <p:nvPr/>
        </p:nvSpPr>
        <p:spPr>
          <a:xfrm>
            <a:off x="4343400" y="2221992"/>
            <a:ext cx="2468880" cy="566928"/>
          </a:xfrm>
          <a:prstGeom prst="rect">
            <a:avLst/>
          </a:prstGeom>
          <a:noFill/>
        </p:spPr>
        <p:txBody>
          <a:bodyPr wrap="square" lIns="18288" rIns="18288" tIns="0" bIns="0" anchor="ctr">
            <a:spAutoFit/>
          </a:bodyPr>
          <a:lstStyle/>
          <a:p>
            <a:pPr algn="l"/>
            <a:r>
              <a:rPr sz="2000" b="0">
                <a:solidFill>
                  <a:srgbClr val="253129"/>
                </a:solidFill>
                <a:latin typeface="Yu Gothic"/>
              </a:rPr>
              <a:t>雑草の位置を推定</a:t>
            </a:r>
          </a:p>
        </p:txBody>
      </p:sp>
      <p:sp>
        <p:nvSpPr>
          <p:cNvPr id="16" name="TextBox 15"/>
          <p:cNvSpPr txBox="1"/>
          <p:nvPr/>
        </p:nvSpPr>
        <p:spPr>
          <a:xfrm>
            <a:off x="7095744" y="2084831"/>
            <a:ext cx="292608" cy="329184"/>
          </a:xfrm>
          <a:prstGeom prst="rect">
            <a:avLst/>
          </a:prstGeom>
          <a:noFill/>
        </p:spPr>
        <p:txBody>
          <a:bodyPr wrap="square" lIns="18288" rIns="18288" tIns="0" bIns="0" anchor="ctr">
            <a:spAutoFit/>
          </a:bodyPr>
          <a:lstStyle/>
          <a:p>
            <a:pPr algn="ctr"/>
            <a:r>
              <a:rPr sz="2200" b="1">
                <a:solidFill>
                  <a:srgbClr val="45704C"/>
                </a:solidFill>
                <a:latin typeface="Yu Gothic"/>
              </a:rPr>
              <a:t>→</a:t>
            </a:r>
          </a:p>
        </p:txBody>
      </p:sp>
      <p:sp>
        <p:nvSpPr>
          <p:cNvPr id="17" name="Rectangle 16"/>
          <p:cNvSpPr/>
          <p:nvPr/>
        </p:nvSpPr>
        <p:spPr>
          <a:xfrm>
            <a:off x="7488936" y="1664208"/>
            <a:ext cx="2907792" cy="1252728"/>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53527" y="1773936"/>
            <a:ext cx="438912" cy="329184"/>
          </a:xfrm>
          <a:prstGeom prst="rect">
            <a:avLst/>
          </a:prstGeom>
          <a:noFill/>
        </p:spPr>
        <p:txBody>
          <a:bodyPr wrap="square" lIns="18288" rIns="18288" tIns="0" bIns="0" anchor="ctr">
            <a:spAutoFit/>
          </a:bodyPr>
          <a:lstStyle/>
          <a:p>
            <a:pPr algn="l"/>
            <a:r>
              <a:rPr sz="1300" b="1">
                <a:solidFill>
                  <a:srgbClr val="FFFFFF"/>
                </a:solidFill>
                <a:latin typeface="Yu Gothic"/>
              </a:rPr>
              <a:t>03</a:t>
            </a:r>
          </a:p>
        </p:txBody>
      </p:sp>
      <p:sp>
        <p:nvSpPr>
          <p:cNvPr id="19" name="TextBox 18"/>
          <p:cNvSpPr txBox="1"/>
          <p:nvPr/>
        </p:nvSpPr>
        <p:spPr>
          <a:xfrm>
            <a:off x="8147304" y="1801368"/>
            <a:ext cx="2066543" cy="320040"/>
          </a:xfrm>
          <a:prstGeom prst="rect">
            <a:avLst/>
          </a:prstGeom>
          <a:noFill/>
        </p:spPr>
        <p:txBody>
          <a:bodyPr wrap="square" lIns="18288" rIns="18288" tIns="0" bIns="0" anchor="ctr">
            <a:spAutoFit/>
          </a:bodyPr>
          <a:lstStyle/>
          <a:p>
            <a:pPr algn="l"/>
            <a:r>
              <a:rPr sz="1600" b="1">
                <a:solidFill>
                  <a:srgbClr val="FFFFFF"/>
                </a:solidFill>
                <a:latin typeface="Yu Gothic"/>
              </a:rPr>
              <a:t>ノズル</a:t>
            </a:r>
          </a:p>
        </p:txBody>
      </p:sp>
      <p:sp>
        <p:nvSpPr>
          <p:cNvPr id="20" name="TextBox 19"/>
          <p:cNvSpPr txBox="1"/>
          <p:nvPr/>
        </p:nvSpPr>
        <p:spPr>
          <a:xfrm>
            <a:off x="7708392" y="2221992"/>
            <a:ext cx="2468880" cy="566928"/>
          </a:xfrm>
          <a:prstGeom prst="rect">
            <a:avLst/>
          </a:prstGeom>
          <a:noFill/>
        </p:spPr>
        <p:txBody>
          <a:bodyPr wrap="square" lIns="18288" rIns="18288" tIns="0" bIns="0" anchor="ctr">
            <a:spAutoFit/>
          </a:bodyPr>
          <a:lstStyle/>
          <a:p>
            <a:pPr algn="l"/>
            <a:r>
              <a:rPr sz="2000" b="0">
                <a:solidFill>
                  <a:srgbClr val="FFFFFF"/>
                </a:solidFill>
                <a:latin typeface="Yu Gothic"/>
              </a:rPr>
              <a:t>その位置だけに散布</a:t>
            </a:r>
          </a:p>
        </p:txBody>
      </p:sp>
      <p:sp>
        <p:nvSpPr>
          <p:cNvPr id="21" name="Rectangle 20"/>
          <p:cNvSpPr/>
          <p:nvPr/>
        </p:nvSpPr>
        <p:spPr>
          <a:xfrm>
            <a:off x="1810512" y="3182112"/>
            <a:ext cx="658368" cy="365760"/>
          </a:xfrm>
          <a:prstGeom prst="rect">
            <a:avLst/>
          </a:prstGeom>
          <a:solidFill>
            <a:srgbClr val="25312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2039112" y="3246120"/>
            <a:ext cx="237744" cy="237744"/>
          </a:xfrm>
          <a:prstGeom prst="ellipse">
            <a:avLst/>
          </a:prstGeom>
          <a:solidFill>
            <a:srgbClr val="E9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21224" y="3145536"/>
            <a:ext cx="640080" cy="438912"/>
          </a:xfrm>
          <a:prstGeom prst="rect">
            <a:avLst/>
          </a:prstGeom>
          <a:solidFill>
            <a:srgbClr val="E9F1E8"/>
          </a:solidFill>
          <a:ln>
            <a:solidFill>
              <a:srgbClr val="45704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276088" y="3218688"/>
            <a:ext cx="530352" cy="256032"/>
          </a:xfrm>
          <a:prstGeom prst="rect">
            <a:avLst/>
          </a:prstGeom>
          <a:noFill/>
        </p:spPr>
        <p:txBody>
          <a:bodyPr wrap="square" lIns="18288" rIns="18288" tIns="0" bIns="0" anchor="ctr">
            <a:spAutoFit/>
          </a:bodyPr>
          <a:lstStyle/>
          <a:p>
            <a:pPr algn="ctr"/>
            <a:r>
              <a:rPr sz="1300" b="1">
                <a:solidFill>
                  <a:srgbClr val="45704C"/>
                </a:solidFill>
                <a:latin typeface="Yu Gothic"/>
              </a:rPr>
              <a:t>AI</a:t>
            </a:r>
          </a:p>
        </p:txBody>
      </p:sp>
      <p:sp>
        <p:nvSpPr>
          <p:cNvPr id="25" name="Rectangle 24"/>
          <p:cNvSpPr/>
          <p:nvPr/>
        </p:nvSpPr>
        <p:spPr>
          <a:xfrm>
            <a:off x="8613648" y="3163824"/>
            <a:ext cx="676656" cy="164592"/>
          </a:xfrm>
          <a:prstGeom prst="rect">
            <a:avLst/>
          </a:prstGeom>
          <a:solidFill>
            <a:srgbClr val="25312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8860536" y="3328416"/>
            <a:ext cx="182880" cy="265176"/>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705088" y="3557016"/>
            <a:ext cx="475488" cy="402336"/>
          </a:xfrm>
          <a:prstGeom prst="rect">
            <a:avLst/>
          </a:prstGeom>
          <a:noFill/>
        </p:spPr>
        <p:txBody>
          <a:bodyPr wrap="square" lIns="18288" rIns="18288" tIns="0" bIns="0" anchor="ctr">
            <a:spAutoFit/>
          </a:bodyPr>
          <a:lstStyle/>
          <a:p>
            <a:pPr algn="ctr"/>
            <a:r>
              <a:rPr sz="2400" b="1">
                <a:solidFill>
                  <a:srgbClr val="45704C"/>
                </a:solidFill>
                <a:latin typeface="Yu Gothic"/>
              </a:rPr>
              <a:t>↓</a:t>
            </a:r>
          </a:p>
        </p:txBody>
      </p:sp>
      <p:sp>
        <p:nvSpPr>
          <p:cNvPr id="28" name="Rectangle 27"/>
          <p:cNvSpPr/>
          <p:nvPr/>
        </p:nvSpPr>
        <p:spPr>
          <a:xfrm>
            <a:off x="1014984" y="4928616"/>
            <a:ext cx="10149840" cy="32004"/>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1874519" y="4599432"/>
            <a:ext cx="68580" cy="32004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1682495"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47672"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49039" y="4599432"/>
            <a:ext cx="68580" cy="32004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3557015"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822191"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23560" y="4599432"/>
            <a:ext cx="68580" cy="32004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val 35"/>
          <p:cNvSpPr/>
          <p:nvPr/>
        </p:nvSpPr>
        <p:spPr>
          <a:xfrm>
            <a:off x="5431536"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696712"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98079" y="4599432"/>
            <a:ext cx="68580" cy="32004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7306055"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571231"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372600" y="4599432"/>
            <a:ext cx="68580" cy="32004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9180576"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45752" y="4471416"/>
            <a:ext cx="256032" cy="155448"/>
          </a:xfrm>
          <a:prstGeom prst="ellipse">
            <a:avLst/>
          </a:prstGeom>
          <a:solidFill>
            <a:srgbClr val="45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06256" y="4608576"/>
            <a:ext cx="50292" cy="310896"/>
          </a:xfrm>
          <a:prstGeom prst="rect">
            <a:avLst/>
          </a:prstGeom>
          <a:solidFill>
            <a:srgbClr val="AB5B3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8759952" y="4553712"/>
            <a:ext cx="182880" cy="109728"/>
          </a:xfrm>
          <a:prstGeom prst="ellipse">
            <a:avLst/>
          </a:prstGeom>
          <a:solidFill>
            <a:srgbClr val="AB5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951976" y="4553712"/>
            <a:ext cx="182880" cy="109728"/>
          </a:xfrm>
          <a:prstGeom prst="ellipse">
            <a:avLst/>
          </a:prstGeom>
          <a:solidFill>
            <a:srgbClr val="AB5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46504" y="5084064"/>
            <a:ext cx="1005840" cy="301752"/>
          </a:xfrm>
          <a:prstGeom prst="rect">
            <a:avLst/>
          </a:prstGeom>
          <a:noFill/>
        </p:spPr>
        <p:txBody>
          <a:bodyPr wrap="square" lIns="18288" rIns="18288" tIns="0" bIns="0" anchor="ctr">
            <a:spAutoFit/>
          </a:bodyPr>
          <a:lstStyle/>
          <a:p>
            <a:pPr algn="l"/>
            <a:r>
              <a:rPr sz="1600" b="1">
                <a:solidFill>
                  <a:srgbClr val="45704C"/>
                </a:solidFill>
                <a:latin typeface="Yu Gothic"/>
              </a:rPr>
              <a:t>作物</a:t>
            </a:r>
          </a:p>
        </p:txBody>
      </p:sp>
      <p:sp>
        <p:nvSpPr>
          <p:cNvPr id="48" name="TextBox 47"/>
          <p:cNvSpPr txBox="1"/>
          <p:nvPr/>
        </p:nvSpPr>
        <p:spPr>
          <a:xfrm>
            <a:off x="8247888" y="5084064"/>
            <a:ext cx="2395728" cy="320040"/>
          </a:xfrm>
          <a:prstGeom prst="rect">
            <a:avLst/>
          </a:prstGeom>
          <a:noFill/>
        </p:spPr>
        <p:txBody>
          <a:bodyPr wrap="square" lIns="18288" rIns="18288" tIns="0" bIns="0" anchor="ctr">
            <a:spAutoFit/>
          </a:bodyPr>
          <a:lstStyle/>
          <a:p>
            <a:pPr algn="l"/>
            <a:r>
              <a:rPr sz="1600" b="1">
                <a:solidFill>
                  <a:srgbClr val="96462D"/>
                </a:solidFill>
                <a:latin typeface="Yu Gothic"/>
              </a:rPr>
              <a:t>雑草：ここへ散布</a:t>
            </a:r>
          </a:p>
        </p:txBody>
      </p:sp>
      <p:sp>
        <p:nvSpPr>
          <p:cNvPr id="49" name="TextBox 48"/>
          <p:cNvSpPr txBox="1"/>
          <p:nvPr/>
        </p:nvSpPr>
        <p:spPr>
          <a:xfrm>
            <a:off x="1024128" y="5687568"/>
            <a:ext cx="10186416" cy="438912"/>
          </a:xfrm>
          <a:prstGeom prst="rect">
            <a:avLst/>
          </a:prstGeom>
          <a:noFill/>
        </p:spPr>
        <p:txBody>
          <a:bodyPr wrap="square" lIns="18288" rIns="18288" tIns="0" bIns="0" anchor="ctr">
            <a:spAutoFit/>
          </a:bodyPr>
          <a:lstStyle/>
          <a:p>
            <a:pPr algn="l"/>
            <a:r>
              <a:rPr sz="1600" b="0">
                <a:solidFill>
                  <a:srgbClr val="525F55"/>
                </a:solidFill>
                <a:latin typeface="Yu Gothic"/>
              </a:rPr>
              <a:t>実装段階｜既存機は提供中。Gen 2は2027年モデル向け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公式動画で、識別から局所散布までを確かめる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04</a:t>
            </a:r>
          </a:p>
        </p:txBody>
      </p:sp>
      <p:pic>
        <p:nvPicPr>
          <p:cNvPr id="7" name="公式オンライン動画" descr="image.png" title="2026年公開のメーカー公式動画">
            <a:hlinkClick r:id="" action="ppaction://media"/>
          </p:cNvPr>
          <p:cNvPicPr>
            <a:picLocks noChangeAspect="1"/>
          </p:cNvPicPr>
          <p:nvPr>
            <a:videoFile r:link="rId4"/>
          </p:nvPr>
        </p:nvPicPr>
        <p:blipFill>
          <a:blip r:embed="rId3"/>
          <a:stretch>
            <a:fillRect/>
          </a:stretch>
        </p:blipFill>
        <p:spPr>
          <a:xfrm>
            <a:off x="969264" y="1572768"/>
            <a:ext cx="10259568" cy="3456432"/>
          </a:xfrm>
          <a:prstGeom prst="rect">
            <a:avLst/>
          </a:prstGeom>
        </p:spPr>
      </p:pic>
      <p:sp>
        <p:nvSpPr>
          <p:cNvPr id="8" name="TextBox 7"/>
          <p:cNvSpPr txBox="1"/>
          <p:nvPr/>
        </p:nvSpPr>
        <p:spPr>
          <a:xfrm>
            <a:off x="987552" y="5157216"/>
            <a:ext cx="10241280" cy="329184"/>
          </a:xfrm>
          <a:prstGeom prst="rect">
            <a:avLst/>
          </a:prstGeom>
          <a:noFill/>
        </p:spPr>
        <p:txBody>
          <a:bodyPr wrap="square" lIns="18288" rIns="18288" tIns="0" bIns="0" anchor="ctr">
            <a:spAutoFit/>
          </a:bodyPr>
          <a:lstStyle/>
          <a:p>
            <a:pPr algn="l"/>
            <a:r>
              <a:rPr sz="1700" b="1">
                <a:solidFill>
                  <a:srgbClr val="253129"/>
                </a:solidFill>
                <a:latin typeface="Yu Gothic"/>
              </a:rPr>
              <a:t>John Deere｜See &amp; Spray Gen 2  2026年公開のメーカー公式動画</a:t>
            </a:r>
          </a:p>
        </p:txBody>
      </p:sp>
      <p:sp>
        <p:nvSpPr>
          <p:cNvPr id="9" name="TextBox 8"/>
          <p:cNvSpPr txBox="1"/>
          <p:nvPr/>
        </p:nvSpPr>
        <p:spPr>
          <a:xfrm>
            <a:off x="987552" y="5504688"/>
            <a:ext cx="10241280" cy="338328"/>
          </a:xfrm>
          <a:prstGeom prst="rect">
            <a:avLst/>
          </a:prstGeom>
          <a:noFill/>
        </p:spPr>
        <p:txBody>
          <a:bodyPr wrap="square" lIns="18288" rIns="18288" tIns="0" bIns="0" anchor="ctr">
            <a:spAutoFit/>
          </a:bodyPr>
          <a:lstStyle/>
          <a:p>
            <a:pPr algn="l"/>
            <a:r>
              <a:rPr sz="1500" b="0">
                <a:solidFill>
                  <a:srgbClr val="525F55"/>
                </a:solidFill>
                <a:latin typeface="Yu Gothic"/>
              </a:rPr>
              <a:t>観察ポイント：カメラ・判断・ノズルの連動を見る</a:t>
            </a:r>
          </a:p>
        </p:txBody>
      </p:sp>
      <p:sp>
        <p:nvSpPr>
          <p:cNvPr id="10" name="TextBox 9"/>
          <p:cNvSpPr txBox="1"/>
          <p:nvPr/>
        </p:nvSpPr>
        <p:spPr>
          <a:xfrm>
            <a:off x="1005840" y="6007608"/>
            <a:ext cx="4937760" cy="310896"/>
          </a:xfrm>
          <a:prstGeom prst="rect">
            <a:avLst/>
          </a:prstGeom>
          <a:noFill/>
        </p:spPr>
        <p:txBody>
          <a:bodyPr wrap="square" lIns="18288" rIns="18288" tIns="0" bIns="0" anchor="ctr">
            <a:spAutoFit/>
          </a:bodyPr>
          <a:lstStyle/>
          <a:p>
            <a:pPr algn="l"/>
            <a:r>
              <a:rPr sz="1300" b="1">
                <a:solidFill>
                  <a:srgbClr val="45704C"/>
                </a:solidFill>
                <a:latin typeface="Yu Gothic"/>
              </a:rPr>
              <a:t>オンライン動画（接続が必要）</a:t>
            </a:r>
          </a:p>
        </p:txBody>
      </p:sp>
      <p:sp>
        <p:nvSpPr>
          <p:cNvPr id="11" name="TextBox 10">
            <a:hlinkClick r:id="rId5"/>
          </p:cNvPr>
          <p:cNvSpPr txBox="1"/>
          <p:nvPr/>
        </p:nvSpPr>
        <p:spPr>
          <a:xfrm>
            <a:off x="6400800" y="5971032"/>
            <a:ext cx="4754880" cy="393192"/>
          </a:xfrm>
          <a:prstGeom prst="rect">
            <a:avLst/>
          </a:prstGeom>
          <a:noFill/>
        </p:spPr>
        <p:txBody>
          <a:bodyPr wrap="square" lIns="18288" rIns="18288" tIns="0" bIns="0" anchor="ctr">
            <a:spAutoFit/>
          </a:bodyPr>
          <a:lstStyle/>
          <a:p>
            <a:pPr algn="r"/>
            <a:r>
              <a:rPr sz="1400" b="1">
                <a:solidFill>
                  <a:srgbClr val="45704C"/>
                </a:solidFill>
                <a:latin typeface="Yu Gothic"/>
              </a:rPr>
              <a:t>公式動画をブラウザーで開く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同じ画像認識でも、レーザー除草は作業の仕方が異なる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05</a:t>
            </a:r>
          </a:p>
        </p:txBody>
      </p:sp>
      <p:sp>
        <p:nvSpPr>
          <p:cNvPr id="7" name="Rectangle 6"/>
          <p:cNvSpPr/>
          <p:nvPr/>
        </p:nvSpPr>
        <p:spPr>
          <a:xfrm>
            <a:off x="768096" y="1746504"/>
            <a:ext cx="5212080" cy="2999232"/>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87552" y="1883664"/>
            <a:ext cx="4809744" cy="320040"/>
          </a:xfrm>
          <a:prstGeom prst="rect">
            <a:avLst/>
          </a:prstGeom>
          <a:noFill/>
        </p:spPr>
        <p:txBody>
          <a:bodyPr wrap="square" lIns="18288" rIns="18288" tIns="0" bIns="0" anchor="ctr">
            <a:spAutoFit/>
          </a:bodyPr>
          <a:lstStyle/>
          <a:p>
            <a:pPr algn="l"/>
            <a:r>
              <a:rPr sz="1600" b="1">
                <a:solidFill>
                  <a:srgbClr val="45704C"/>
                </a:solidFill>
                <a:latin typeface="Yu Gothic"/>
              </a:rPr>
              <a:t>画像認識</a:t>
            </a:r>
          </a:p>
        </p:txBody>
      </p:sp>
      <p:sp>
        <p:nvSpPr>
          <p:cNvPr id="9" name="TextBox 8"/>
          <p:cNvSpPr txBox="1"/>
          <p:nvPr/>
        </p:nvSpPr>
        <p:spPr>
          <a:xfrm>
            <a:off x="987552" y="2304288"/>
            <a:ext cx="4773168" cy="2313432"/>
          </a:xfrm>
          <a:prstGeom prst="rect">
            <a:avLst/>
          </a:prstGeom>
          <a:noFill/>
        </p:spPr>
        <p:txBody>
          <a:bodyPr wrap="square" lIns="18288" rIns="18288" tIns="0" bIns="0" anchor="ctr">
            <a:spAutoFit/>
          </a:bodyPr>
          <a:lstStyle/>
          <a:p>
            <a:pPr algn="l"/>
            <a:r>
              <a:rPr sz="2000" b="0">
                <a:solidFill>
                  <a:srgbClr val="253129"/>
                </a:solidFill>
                <a:latin typeface="Yu Gothic"/>
              </a:rPr>
              <a:t>作物と雑草の位置を推定</a:t>
            </a:r>
          </a:p>
        </p:txBody>
      </p:sp>
      <p:sp>
        <p:nvSpPr>
          <p:cNvPr id="10" name="Rectangle 9"/>
          <p:cNvSpPr/>
          <p:nvPr/>
        </p:nvSpPr>
        <p:spPr>
          <a:xfrm>
            <a:off x="6199632" y="1746504"/>
            <a:ext cx="5212080" cy="2999232"/>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19088" y="1883664"/>
            <a:ext cx="4809744" cy="320040"/>
          </a:xfrm>
          <a:prstGeom prst="rect">
            <a:avLst/>
          </a:prstGeom>
          <a:noFill/>
        </p:spPr>
        <p:txBody>
          <a:bodyPr wrap="square" lIns="18288" rIns="18288" tIns="0" bIns="0" anchor="ctr">
            <a:spAutoFit/>
          </a:bodyPr>
          <a:lstStyle/>
          <a:p>
            <a:pPr algn="l"/>
            <a:r>
              <a:rPr sz="1600" b="1">
                <a:solidFill>
                  <a:srgbClr val="FFFFFF"/>
                </a:solidFill>
                <a:latin typeface="Yu Gothic"/>
              </a:rPr>
              <a:t>ロボットの動作</a:t>
            </a:r>
          </a:p>
        </p:txBody>
      </p:sp>
      <p:sp>
        <p:nvSpPr>
          <p:cNvPr id="12" name="TextBox 11"/>
          <p:cNvSpPr txBox="1"/>
          <p:nvPr/>
        </p:nvSpPr>
        <p:spPr>
          <a:xfrm>
            <a:off x="6419088" y="2304288"/>
            <a:ext cx="4773168" cy="2313432"/>
          </a:xfrm>
          <a:prstGeom prst="rect">
            <a:avLst/>
          </a:prstGeom>
          <a:noFill/>
        </p:spPr>
        <p:txBody>
          <a:bodyPr wrap="square" lIns="18288" rIns="18288" tIns="0" bIns="0" anchor="ctr">
            <a:spAutoFit/>
          </a:bodyPr>
          <a:lstStyle/>
          <a:p>
            <a:pPr algn="l"/>
            <a:r>
              <a:rPr sz="2000" b="0">
                <a:solidFill>
                  <a:srgbClr val="FFFFFF"/>
                </a:solidFill>
                <a:latin typeface="Yu Gothic"/>
              </a:rPr>
              <a:t>対象の雑草へレーザーを照射</a:t>
            </a:r>
          </a:p>
        </p:txBody>
      </p:sp>
      <p:sp>
        <p:nvSpPr>
          <p:cNvPr id="13" name="TextBox 12"/>
          <p:cNvSpPr txBox="1"/>
          <p:nvPr/>
        </p:nvSpPr>
        <p:spPr>
          <a:xfrm>
            <a:off x="960120" y="5074920"/>
            <a:ext cx="1645920" cy="365760"/>
          </a:xfrm>
          <a:prstGeom prst="rect">
            <a:avLst/>
          </a:prstGeom>
          <a:noFill/>
        </p:spPr>
        <p:txBody>
          <a:bodyPr wrap="square" lIns="18288" rIns="18288" tIns="0" bIns="0" anchor="ctr">
            <a:spAutoFit/>
          </a:bodyPr>
          <a:lstStyle/>
          <a:p>
            <a:pPr algn="l"/>
            <a:r>
              <a:rPr sz="1500" b="1">
                <a:solidFill>
                  <a:srgbClr val="45704C"/>
                </a:solidFill>
                <a:latin typeface="Yu Gothic"/>
              </a:rPr>
              <a:t>実装段階</a:t>
            </a:r>
          </a:p>
        </p:txBody>
      </p:sp>
      <p:sp>
        <p:nvSpPr>
          <p:cNvPr id="14" name="TextBox 13"/>
          <p:cNvSpPr txBox="1"/>
          <p:nvPr/>
        </p:nvSpPr>
        <p:spPr>
          <a:xfrm>
            <a:off x="2468880" y="4956048"/>
            <a:ext cx="8869680" cy="658368"/>
          </a:xfrm>
          <a:prstGeom prst="rect">
            <a:avLst/>
          </a:prstGeom>
          <a:noFill/>
        </p:spPr>
        <p:txBody>
          <a:bodyPr wrap="square" lIns="18288" rIns="18288" tIns="0" bIns="0" anchor="ctr">
            <a:spAutoFit/>
          </a:bodyPr>
          <a:lstStyle/>
          <a:p>
            <a:pPr algn="l"/>
            <a:r>
              <a:rPr sz="1700" b="0">
                <a:solidFill>
                  <a:srgbClr val="253129"/>
                </a:solidFill>
                <a:latin typeface="Yu Gothic"/>
              </a:rPr>
              <a:t>Carbon Roboticsの市販機。性能はメーカー公表値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公式動画で、画像認識とレーザー照射を確かめる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06</a:t>
            </a:r>
          </a:p>
        </p:txBody>
      </p:sp>
      <p:pic>
        <p:nvPicPr>
          <p:cNvPr id="7" name="公式オンライン動画" descr="image.png" title="2025年公開のメーカー公式動画">
            <a:hlinkClick r:id="" action="ppaction://media"/>
          </p:cNvPr>
          <p:cNvPicPr>
            <a:picLocks noChangeAspect="1"/>
          </p:cNvPicPr>
          <p:nvPr>
            <a:videoFile r:link="rId4"/>
          </p:nvPr>
        </p:nvPicPr>
        <p:blipFill>
          <a:blip r:embed="rId3"/>
          <a:stretch>
            <a:fillRect/>
          </a:stretch>
        </p:blipFill>
        <p:spPr>
          <a:xfrm>
            <a:off x="969264" y="1572768"/>
            <a:ext cx="10259568" cy="3456432"/>
          </a:xfrm>
          <a:prstGeom prst="rect">
            <a:avLst/>
          </a:prstGeom>
        </p:spPr>
      </p:pic>
      <p:sp>
        <p:nvSpPr>
          <p:cNvPr id="8" name="TextBox 7"/>
          <p:cNvSpPr txBox="1"/>
          <p:nvPr/>
        </p:nvSpPr>
        <p:spPr>
          <a:xfrm>
            <a:off x="987552" y="5157216"/>
            <a:ext cx="10241280" cy="329184"/>
          </a:xfrm>
          <a:prstGeom prst="rect">
            <a:avLst/>
          </a:prstGeom>
          <a:noFill/>
        </p:spPr>
        <p:txBody>
          <a:bodyPr wrap="square" lIns="18288" rIns="18288" tIns="0" bIns="0" anchor="ctr">
            <a:spAutoFit/>
          </a:bodyPr>
          <a:lstStyle/>
          <a:p>
            <a:pPr algn="l"/>
            <a:r>
              <a:rPr sz="1700" b="1">
                <a:solidFill>
                  <a:srgbClr val="253129"/>
                </a:solidFill>
                <a:latin typeface="Yu Gothic"/>
              </a:rPr>
              <a:t>Carbon Robotics｜LaserWeeder G2  2025年公開のメーカー公式動画</a:t>
            </a:r>
          </a:p>
        </p:txBody>
      </p:sp>
      <p:sp>
        <p:nvSpPr>
          <p:cNvPr id="9" name="TextBox 8"/>
          <p:cNvSpPr txBox="1"/>
          <p:nvPr/>
        </p:nvSpPr>
        <p:spPr>
          <a:xfrm>
            <a:off x="987552" y="5504688"/>
            <a:ext cx="10241280" cy="338328"/>
          </a:xfrm>
          <a:prstGeom prst="rect">
            <a:avLst/>
          </a:prstGeom>
          <a:noFill/>
        </p:spPr>
        <p:txBody>
          <a:bodyPr wrap="square" lIns="18288" rIns="18288" tIns="0" bIns="0" anchor="ctr">
            <a:spAutoFit/>
          </a:bodyPr>
          <a:lstStyle/>
          <a:p>
            <a:pPr algn="l"/>
            <a:r>
              <a:rPr sz="1500" b="0">
                <a:solidFill>
                  <a:srgbClr val="525F55"/>
                </a:solidFill>
                <a:latin typeface="Yu Gothic"/>
              </a:rPr>
              <a:t>観察ポイント：雑草の位置推定と照射の関係を見る</a:t>
            </a:r>
          </a:p>
        </p:txBody>
      </p:sp>
      <p:sp>
        <p:nvSpPr>
          <p:cNvPr id="10" name="TextBox 9"/>
          <p:cNvSpPr txBox="1"/>
          <p:nvPr/>
        </p:nvSpPr>
        <p:spPr>
          <a:xfrm>
            <a:off x="1005840" y="6007608"/>
            <a:ext cx="4937760" cy="310896"/>
          </a:xfrm>
          <a:prstGeom prst="rect">
            <a:avLst/>
          </a:prstGeom>
          <a:noFill/>
        </p:spPr>
        <p:txBody>
          <a:bodyPr wrap="square" lIns="18288" rIns="18288" tIns="0" bIns="0" anchor="ctr">
            <a:spAutoFit/>
          </a:bodyPr>
          <a:lstStyle/>
          <a:p>
            <a:pPr algn="l"/>
            <a:r>
              <a:rPr sz="1300" b="1">
                <a:solidFill>
                  <a:srgbClr val="45704C"/>
                </a:solidFill>
                <a:latin typeface="Yu Gothic"/>
              </a:rPr>
              <a:t>オンライン動画（接続が必要）</a:t>
            </a:r>
          </a:p>
        </p:txBody>
      </p:sp>
      <p:sp>
        <p:nvSpPr>
          <p:cNvPr id="11" name="TextBox 10">
            <a:hlinkClick r:id="rId5"/>
          </p:cNvPr>
          <p:cNvSpPr txBox="1"/>
          <p:nvPr/>
        </p:nvSpPr>
        <p:spPr>
          <a:xfrm>
            <a:off x="6400800" y="5971032"/>
            <a:ext cx="4754880" cy="393192"/>
          </a:xfrm>
          <a:prstGeom prst="rect">
            <a:avLst/>
          </a:prstGeom>
          <a:noFill/>
        </p:spPr>
        <p:txBody>
          <a:bodyPr wrap="square" lIns="18288" rIns="18288" tIns="0" bIns="0" anchor="ctr">
            <a:spAutoFit/>
          </a:bodyPr>
          <a:lstStyle/>
          <a:p>
            <a:pPr algn="r"/>
            <a:r>
              <a:rPr sz="1400" b="1">
                <a:solidFill>
                  <a:srgbClr val="45704C"/>
                </a:solidFill>
                <a:latin typeface="Yu Gothic"/>
              </a:rPr>
              <a:t>公式動画をブラウザーで開く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トマトの下葉処理では、AIが植物の形を認識する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07</a:t>
            </a:r>
          </a:p>
        </p:txBody>
      </p:sp>
      <p:sp>
        <p:nvSpPr>
          <p:cNvPr id="7" name="Rectangle 6"/>
          <p:cNvSpPr/>
          <p:nvPr/>
        </p:nvSpPr>
        <p:spPr>
          <a:xfrm>
            <a:off x="713232" y="1700784"/>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50976" y="1865376"/>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入力</a:t>
            </a:r>
          </a:p>
        </p:txBody>
      </p:sp>
      <p:sp>
        <p:nvSpPr>
          <p:cNvPr id="9" name="TextBox 8"/>
          <p:cNvSpPr txBox="1"/>
          <p:nvPr/>
        </p:nvSpPr>
        <p:spPr>
          <a:xfrm>
            <a:off x="3090672" y="1856232"/>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施設内のトマト株をカメラで撮影</a:t>
            </a:r>
          </a:p>
        </p:txBody>
      </p:sp>
      <p:sp>
        <p:nvSpPr>
          <p:cNvPr id="10" name="Rectangle 9"/>
          <p:cNvSpPr/>
          <p:nvPr/>
        </p:nvSpPr>
        <p:spPr>
          <a:xfrm>
            <a:off x="713232" y="2779776"/>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50976" y="2944368"/>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AIの仕事</a:t>
            </a:r>
          </a:p>
        </p:txBody>
      </p:sp>
      <p:sp>
        <p:nvSpPr>
          <p:cNvPr id="12" name="TextBox 11"/>
          <p:cNvSpPr txBox="1"/>
          <p:nvPr/>
        </p:nvSpPr>
        <p:spPr>
          <a:xfrm>
            <a:off x="3090672" y="2935224"/>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主茎などの部位・形状を推定</a:t>
            </a:r>
          </a:p>
        </p:txBody>
      </p:sp>
      <p:sp>
        <p:nvSpPr>
          <p:cNvPr id="13" name="Rectangle 12"/>
          <p:cNvSpPr/>
          <p:nvPr/>
        </p:nvSpPr>
        <p:spPr>
          <a:xfrm>
            <a:off x="713232" y="3858768"/>
            <a:ext cx="10844784" cy="91440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0976" y="4023359"/>
            <a:ext cx="2011680" cy="594360"/>
          </a:xfrm>
          <a:prstGeom prst="rect">
            <a:avLst/>
          </a:prstGeom>
          <a:noFill/>
        </p:spPr>
        <p:txBody>
          <a:bodyPr wrap="square" lIns="18288" rIns="18288" tIns="0" bIns="0" anchor="ctr">
            <a:spAutoFit/>
          </a:bodyPr>
          <a:lstStyle/>
          <a:p>
            <a:pPr algn="l"/>
            <a:r>
              <a:rPr sz="1900" b="1">
                <a:solidFill>
                  <a:srgbClr val="45704C"/>
                </a:solidFill>
                <a:latin typeface="Yu Gothic"/>
              </a:rPr>
              <a:t>ロボットの仕事</a:t>
            </a:r>
          </a:p>
        </p:txBody>
      </p:sp>
      <p:sp>
        <p:nvSpPr>
          <p:cNvPr id="15" name="TextBox 14"/>
          <p:cNvSpPr txBox="1"/>
          <p:nvPr/>
        </p:nvSpPr>
        <p:spPr>
          <a:xfrm>
            <a:off x="3090672" y="4014215"/>
            <a:ext cx="8001000" cy="621792"/>
          </a:xfrm>
          <a:prstGeom prst="rect">
            <a:avLst/>
          </a:prstGeom>
          <a:noFill/>
        </p:spPr>
        <p:txBody>
          <a:bodyPr wrap="square" lIns="18288" rIns="18288" tIns="0" bIns="0" anchor="ctr">
            <a:spAutoFit/>
          </a:bodyPr>
          <a:lstStyle/>
          <a:p>
            <a:pPr algn="l"/>
            <a:r>
              <a:rPr sz="2100" b="0">
                <a:solidFill>
                  <a:srgbClr val="253129"/>
                </a:solidFill>
                <a:latin typeface="Yu Gothic"/>
              </a:rPr>
              <a:t>主茎に沿って下葉を切除</a:t>
            </a:r>
          </a:p>
        </p:txBody>
      </p:sp>
      <p:sp>
        <p:nvSpPr>
          <p:cNvPr id="16" name="Rectangle 15"/>
          <p:cNvSpPr/>
          <p:nvPr/>
        </p:nvSpPr>
        <p:spPr>
          <a:xfrm>
            <a:off x="713232" y="4937760"/>
            <a:ext cx="10844784" cy="9144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50976" y="5102352"/>
            <a:ext cx="2011680" cy="594360"/>
          </a:xfrm>
          <a:prstGeom prst="rect">
            <a:avLst/>
          </a:prstGeom>
          <a:noFill/>
        </p:spPr>
        <p:txBody>
          <a:bodyPr wrap="square" lIns="18288" rIns="18288" tIns="0" bIns="0" anchor="ctr">
            <a:spAutoFit/>
          </a:bodyPr>
          <a:lstStyle/>
          <a:p>
            <a:pPr algn="l"/>
            <a:r>
              <a:rPr sz="1900" b="1">
                <a:solidFill>
                  <a:srgbClr val="FFFFFF"/>
                </a:solidFill>
                <a:latin typeface="Yu Gothic"/>
              </a:rPr>
              <a:t>実装段階</a:t>
            </a:r>
          </a:p>
        </p:txBody>
      </p:sp>
      <p:sp>
        <p:nvSpPr>
          <p:cNvPr id="18" name="TextBox 17"/>
          <p:cNvSpPr txBox="1"/>
          <p:nvPr/>
        </p:nvSpPr>
        <p:spPr>
          <a:xfrm>
            <a:off x="3090672" y="5093208"/>
            <a:ext cx="8001000" cy="621792"/>
          </a:xfrm>
          <a:prstGeom prst="rect">
            <a:avLst/>
          </a:prstGeom>
          <a:noFill/>
        </p:spPr>
        <p:txBody>
          <a:bodyPr wrap="square" lIns="18288" rIns="18288" tIns="0" bIns="0" anchor="ctr">
            <a:spAutoFit/>
          </a:bodyPr>
          <a:lstStyle/>
          <a:p>
            <a:pPr algn="l"/>
            <a:r>
              <a:rPr sz="2100" b="0">
                <a:solidFill>
                  <a:srgbClr val="FFFFFF"/>
                </a:solidFill>
                <a:latin typeface="Yu Gothic"/>
              </a:rPr>
              <a:t>農研機構が開発・公開した研究成果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研究動画で、認識と下葉処理の連動を確かめる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08</a:t>
            </a:r>
          </a:p>
        </p:txBody>
      </p:sp>
      <p:pic>
        <p:nvPicPr>
          <p:cNvPr id="7" name="公式オンライン動画" descr="image.png" title="研究機関が公開した動作動画">
            <a:hlinkClick r:id="" action="ppaction://media"/>
          </p:cNvPr>
          <p:cNvPicPr>
            <a:picLocks noChangeAspect="1"/>
          </p:cNvPicPr>
          <p:nvPr>
            <a:videoFile r:link="rId4"/>
          </p:nvPr>
        </p:nvPicPr>
        <p:blipFill>
          <a:blip r:embed="rId3"/>
          <a:stretch>
            <a:fillRect/>
          </a:stretch>
        </p:blipFill>
        <p:spPr>
          <a:xfrm>
            <a:off x="969264" y="1572768"/>
            <a:ext cx="10259568" cy="3456432"/>
          </a:xfrm>
          <a:prstGeom prst="rect">
            <a:avLst/>
          </a:prstGeom>
        </p:spPr>
      </p:pic>
      <p:sp>
        <p:nvSpPr>
          <p:cNvPr id="8" name="TextBox 7"/>
          <p:cNvSpPr txBox="1"/>
          <p:nvPr/>
        </p:nvSpPr>
        <p:spPr>
          <a:xfrm>
            <a:off x="987552" y="5157216"/>
            <a:ext cx="10241280" cy="329184"/>
          </a:xfrm>
          <a:prstGeom prst="rect">
            <a:avLst/>
          </a:prstGeom>
          <a:noFill/>
        </p:spPr>
        <p:txBody>
          <a:bodyPr wrap="square" lIns="18288" rIns="18288" tIns="0" bIns="0" anchor="ctr">
            <a:spAutoFit/>
          </a:bodyPr>
          <a:lstStyle/>
          <a:p>
            <a:pPr algn="l"/>
            <a:r>
              <a:rPr sz="1700" b="1">
                <a:solidFill>
                  <a:srgbClr val="253129"/>
                </a:solidFill>
                <a:latin typeface="Yu Gothic"/>
              </a:rPr>
              <a:t>農研機構｜トマト下葉処理ロボット  研究機関が公開した動作動画</a:t>
            </a:r>
          </a:p>
        </p:txBody>
      </p:sp>
      <p:sp>
        <p:nvSpPr>
          <p:cNvPr id="9" name="TextBox 8"/>
          <p:cNvSpPr txBox="1"/>
          <p:nvPr/>
        </p:nvSpPr>
        <p:spPr>
          <a:xfrm>
            <a:off x="987552" y="5504688"/>
            <a:ext cx="10241280" cy="338328"/>
          </a:xfrm>
          <a:prstGeom prst="rect">
            <a:avLst/>
          </a:prstGeom>
          <a:noFill/>
        </p:spPr>
        <p:txBody>
          <a:bodyPr wrap="square" lIns="18288" rIns="18288" tIns="0" bIns="0" anchor="ctr">
            <a:spAutoFit/>
          </a:bodyPr>
          <a:lstStyle/>
          <a:p>
            <a:pPr algn="l"/>
            <a:r>
              <a:rPr sz="1500" b="0">
                <a:solidFill>
                  <a:srgbClr val="525F55"/>
                </a:solidFill>
                <a:latin typeface="Yu Gothic"/>
              </a:rPr>
              <a:t>観察ポイント：主茎の追跡と切除動作を見る</a:t>
            </a:r>
          </a:p>
        </p:txBody>
      </p:sp>
      <p:sp>
        <p:nvSpPr>
          <p:cNvPr id="10" name="TextBox 9"/>
          <p:cNvSpPr txBox="1"/>
          <p:nvPr/>
        </p:nvSpPr>
        <p:spPr>
          <a:xfrm>
            <a:off x="1005840" y="6007608"/>
            <a:ext cx="4937760" cy="310896"/>
          </a:xfrm>
          <a:prstGeom prst="rect">
            <a:avLst/>
          </a:prstGeom>
          <a:noFill/>
        </p:spPr>
        <p:txBody>
          <a:bodyPr wrap="square" lIns="18288" rIns="18288" tIns="0" bIns="0" anchor="ctr">
            <a:spAutoFit/>
          </a:bodyPr>
          <a:lstStyle/>
          <a:p>
            <a:pPr algn="l"/>
            <a:r>
              <a:rPr sz="1300" b="1">
                <a:solidFill>
                  <a:srgbClr val="45704C"/>
                </a:solidFill>
                <a:latin typeface="Yu Gothic"/>
              </a:rPr>
              <a:t>オンライン動画（接続が必要）</a:t>
            </a:r>
          </a:p>
        </p:txBody>
      </p:sp>
      <p:sp>
        <p:nvSpPr>
          <p:cNvPr id="11" name="TextBox 10">
            <a:hlinkClick r:id="rId5"/>
          </p:cNvPr>
          <p:cNvSpPr txBox="1"/>
          <p:nvPr/>
        </p:nvSpPr>
        <p:spPr>
          <a:xfrm>
            <a:off x="6400800" y="5971032"/>
            <a:ext cx="4754880" cy="393192"/>
          </a:xfrm>
          <a:prstGeom prst="rect">
            <a:avLst/>
          </a:prstGeom>
          <a:noFill/>
        </p:spPr>
        <p:txBody>
          <a:bodyPr wrap="square" lIns="18288" rIns="18288" tIns="0" bIns="0" anchor="ctr">
            <a:spAutoFit/>
          </a:bodyPr>
          <a:lstStyle/>
          <a:p>
            <a:pPr algn="r"/>
            <a:r>
              <a:rPr sz="1400" b="1">
                <a:solidFill>
                  <a:srgbClr val="45704C"/>
                </a:solidFill>
                <a:latin typeface="Yu Gothic"/>
              </a:rPr>
              <a:t>公式動画をブラウザーで開く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魚の画像認識は、撮影できた範囲を数える</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09</a:t>
            </a:r>
          </a:p>
        </p:txBody>
      </p:sp>
      <p:sp>
        <p:nvSpPr>
          <p:cNvPr id="7" name="Rectangle 6"/>
          <p:cNvSpPr/>
          <p:nvPr/>
        </p:nvSpPr>
        <p:spPr>
          <a:xfrm>
            <a:off x="768096" y="1746504"/>
            <a:ext cx="5212080" cy="2999232"/>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87552" y="1883664"/>
            <a:ext cx="4809744" cy="320040"/>
          </a:xfrm>
          <a:prstGeom prst="rect">
            <a:avLst/>
          </a:prstGeom>
          <a:noFill/>
        </p:spPr>
        <p:txBody>
          <a:bodyPr wrap="square" lIns="18288" rIns="18288" tIns="0" bIns="0" anchor="ctr">
            <a:spAutoFit/>
          </a:bodyPr>
          <a:lstStyle/>
          <a:p>
            <a:pPr algn="l"/>
            <a:r>
              <a:rPr sz="1600" b="1">
                <a:solidFill>
                  <a:srgbClr val="45704C"/>
                </a:solidFill>
                <a:latin typeface="Yu Gothic"/>
              </a:rPr>
              <a:t>できること</a:t>
            </a:r>
          </a:p>
        </p:txBody>
      </p:sp>
      <p:sp>
        <p:nvSpPr>
          <p:cNvPr id="9" name="TextBox 8"/>
          <p:cNvSpPr txBox="1"/>
          <p:nvPr/>
        </p:nvSpPr>
        <p:spPr>
          <a:xfrm>
            <a:off x="987552" y="2304288"/>
            <a:ext cx="4773168" cy="2313432"/>
          </a:xfrm>
          <a:prstGeom prst="rect">
            <a:avLst/>
          </a:prstGeom>
          <a:noFill/>
        </p:spPr>
        <p:txBody>
          <a:bodyPr wrap="square" lIns="18288" rIns="18288" tIns="0" bIns="0" anchor="ctr">
            <a:spAutoFit/>
          </a:bodyPr>
          <a:lstStyle/>
          <a:p>
            <a:pPr algn="l"/>
            <a:r>
              <a:rPr sz="2000" b="0">
                <a:solidFill>
                  <a:srgbClr val="253129"/>
                </a:solidFill>
                <a:latin typeface="Yu Gothic"/>
              </a:rPr>
              <a:t>写った魚の検出・分類・計数を補助する</a:t>
            </a:r>
          </a:p>
        </p:txBody>
      </p:sp>
      <p:sp>
        <p:nvSpPr>
          <p:cNvPr id="10" name="Rectangle 9"/>
          <p:cNvSpPr/>
          <p:nvPr/>
        </p:nvSpPr>
        <p:spPr>
          <a:xfrm>
            <a:off x="6199632" y="1746504"/>
            <a:ext cx="5212080" cy="2999232"/>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19088" y="1883664"/>
            <a:ext cx="4809744" cy="320040"/>
          </a:xfrm>
          <a:prstGeom prst="rect">
            <a:avLst/>
          </a:prstGeom>
          <a:noFill/>
        </p:spPr>
        <p:txBody>
          <a:bodyPr wrap="square" lIns="18288" rIns="18288" tIns="0" bIns="0" anchor="ctr">
            <a:spAutoFit/>
          </a:bodyPr>
          <a:lstStyle/>
          <a:p>
            <a:pPr algn="l"/>
            <a:r>
              <a:rPr sz="1600" b="1">
                <a:solidFill>
                  <a:srgbClr val="FFFFFF"/>
                </a:solidFill>
                <a:latin typeface="Yu Gothic"/>
              </a:rPr>
              <a:t>追加で必要なこと</a:t>
            </a:r>
          </a:p>
        </p:txBody>
      </p:sp>
      <p:sp>
        <p:nvSpPr>
          <p:cNvPr id="12" name="TextBox 11"/>
          <p:cNvSpPr txBox="1"/>
          <p:nvPr/>
        </p:nvSpPr>
        <p:spPr>
          <a:xfrm>
            <a:off x="6419088" y="2304288"/>
            <a:ext cx="4773168" cy="2313432"/>
          </a:xfrm>
          <a:prstGeom prst="rect">
            <a:avLst/>
          </a:prstGeom>
          <a:noFill/>
        </p:spPr>
        <p:txBody>
          <a:bodyPr wrap="square" lIns="18288" rIns="18288" tIns="0" bIns="0" anchor="ctr">
            <a:spAutoFit/>
          </a:bodyPr>
          <a:lstStyle/>
          <a:p>
            <a:pPr algn="l"/>
            <a:r>
              <a:rPr sz="2000" b="0">
                <a:solidFill>
                  <a:srgbClr val="FFFFFF"/>
                </a:solidFill>
                <a:latin typeface="Yu Gothic"/>
              </a:rPr>
              <a:t>撮影範囲、濁り、重複撮影、見逃しを評価する</a:t>
            </a:r>
          </a:p>
        </p:txBody>
      </p:sp>
      <p:sp>
        <p:nvSpPr>
          <p:cNvPr id="13" name="TextBox 12"/>
          <p:cNvSpPr txBox="1"/>
          <p:nvPr/>
        </p:nvSpPr>
        <p:spPr>
          <a:xfrm>
            <a:off x="960120" y="5074920"/>
            <a:ext cx="1645920" cy="365760"/>
          </a:xfrm>
          <a:prstGeom prst="rect">
            <a:avLst/>
          </a:prstGeom>
          <a:noFill/>
        </p:spPr>
        <p:txBody>
          <a:bodyPr wrap="square" lIns="18288" rIns="18288" tIns="0" bIns="0" anchor="ctr">
            <a:spAutoFit/>
          </a:bodyPr>
          <a:lstStyle/>
          <a:p>
            <a:pPr algn="l"/>
            <a:r>
              <a:rPr sz="1500" b="1">
                <a:solidFill>
                  <a:srgbClr val="45704C"/>
                </a:solidFill>
                <a:latin typeface="Yu Gothic"/>
              </a:rPr>
              <a:t>言える範囲</a:t>
            </a:r>
          </a:p>
        </p:txBody>
      </p:sp>
      <p:sp>
        <p:nvSpPr>
          <p:cNvPr id="14" name="TextBox 13"/>
          <p:cNvSpPr txBox="1"/>
          <p:nvPr/>
        </p:nvSpPr>
        <p:spPr>
          <a:xfrm>
            <a:off x="2468880" y="4956048"/>
            <a:ext cx="8869680" cy="658368"/>
          </a:xfrm>
          <a:prstGeom prst="rect">
            <a:avLst/>
          </a:prstGeom>
          <a:noFill/>
        </p:spPr>
        <p:txBody>
          <a:bodyPr wrap="square" lIns="18288" rIns="18288" tIns="0" bIns="0" anchor="ctr">
            <a:spAutoFit/>
          </a:bodyPr>
          <a:lstStyle/>
          <a:p>
            <a:pPr algn="l"/>
            <a:r>
              <a:rPr sz="1700" b="0">
                <a:solidFill>
                  <a:srgbClr val="253129"/>
                </a:solidFill>
                <a:latin typeface="Yu Gothic"/>
              </a:rPr>
              <a:t>「水域の全個体数が自動でわかる」とは限らない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DF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12064" y="118872"/>
            <a:ext cx="6217920" cy="274320"/>
          </a:xfrm>
          <a:prstGeom prst="rect">
            <a:avLst/>
          </a:prstGeom>
          <a:noFill/>
        </p:spPr>
        <p:txBody>
          <a:bodyPr wrap="square" lIns="18288" rIns="18288" tIns="0" bIns="0" anchor="ctr">
            <a:spAutoFit/>
          </a:bodyPr>
          <a:lstStyle/>
          <a:p>
            <a:pPr algn="l"/>
            <a:r>
              <a:rPr sz="1000" b="1">
                <a:solidFill>
                  <a:srgbClr val="45704C"/>
                </a:solidFill>
                <a:latin typeface="Yu Gothic"/>
              </a:rPr>
              <a:t>農業AI｜2026年更新</a:t>
            </a:r>
          </a:p>
        </p:txBody>
      </p:sp>
      <p:sp>
        <p:nvSpPr>
          <p:cNvPr id="4" name="TextBox 3"/>
          <p:cNvSpPr txBox="1"/>
          <p:nvPr/>
        </p:nvSpPr>
        <p:spPr>
          <a:xfrm>
            <a:off x="512064" y="475488"/>
            <a:ext cx="11064240" cy="822960"/>
          </a:xfrm>
          <a:prstGeom prst="rect">
            <a:avLst/>
          </a:prstGeom>
          <a:noFill/>
        </p:spPr>
        <p:txBody>
          <a:bodyPr wrap="square" lIns="18288" rIns="18288" tIns="0" bIns="0" anchor="ctr">
            <a:spAutoFit/>
          </a:bodyPr>
          <a:lstStyle/>
          <a:p>
            <a:pPr algn="l"/>
            <a:r>
              <a:rPr sz="2800" b="1">
                <a:solidFill>
                  <a:srgbClr val="253129"/>
                </a:solidFill>
                <a:latin typeface="Yu Gothic"/>
              </a:rPr>
              <a:t>実用例を比べると、AIの精度だけでは導入を決められない</a:t>
            </a:r>
          </a:p>
        </p:txBody>
      </p:sp>
      <p:sp>
        <p:nvSpPr>
          <p:cNvPr id="5" name="Rectangle 4"/>
          <p:cNvSpPr/>
          <p:nvPr/>
        </p:nvSpPr>
        <p:spPr>
          <a:xfrm>
            <a:off x="512064" y="1335024"/>
            <a:ext cx="11064240" cy="22860"/>
          </a:xfrm>
          <a:prstGeom prst="rect">
            <a:avLst/>
          </a:prstGeom>
          <a:solidFill>
            <a:srgbClr val="B9CB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811512" y="6528816"/>
            <a:ext cx="1773936" cy="182880"/>
          </a:xfrm>
          <a:prstGeom prst="rect">
            <a:avLst/>
          </a:prstGeom>
          <a:noFill/>
        </p:spPr>
        <p:txBody>
          <a:bodyPr wrap="square" lIns="18288" rIns="18288" tIns="0" bIns="0" anchor="ctr">
            <a:spAutoFit/>
          </a:bodyPr>
          <a:lstStyle/>
          <a:p>
            <a:pPr algn="r"/>
            <a:r>
              <a:rPr sz="800" b="0">
                <a:solidFill>
                  <a:srgbClr val="525F55"/>
                </a:solidFill>
                <a:latin typeface="Yu Gothic"/>
              </a:rPr>
              <a:t>2026.10.30  |  10</a:t>
            </a:r>
          </a:p>
        </p:txBody>
      </p:sp>
      <p:sp>
        <p:nvSpPr>
          <p:cNvPr id="7" name="Rectangle 6"/>
          <p:cNvSpPr/>
          <p:nvPr/>
        </p:nvSpPr>
        <p:spPr>
          <a:xfrm>
            <a:off x="594360"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58952"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01</a:t>
            </a:r>
          </a:p>
        </p:txBody>
      </p:sp>
      <p:sp>
        <p:nvSpPr>
          <p:cNvPr id="9" name="TextBox 8"/>
          <p:cNvSpPr txBox="1"/>
          <p:nvPr/>
        </p:nvSpPr>
        <p:spPr>
          <a:xfrm>
            <a:off x="1252728" y="2130552"/>
            <a:ext cx="1618487" cy="320040"/>
          </a:xfrm>
          <a:prstGeom prst="rect">
            <a:avLst/>
          </a:prstGeom>
          <a:noFill/>
        </p:spPr>
        <p:txBody>
          <a:bodyPr wrap="square" lIns="18288" rIns="18288" tIns="0" bIns="0" anchor="ctr">
            <a:spAutoFit/>
          </a:bodyPr>
          <a:lstStyle/>
          <a:p>
            <a:pPr algn="l"/>
            <a:r>
              <a:rPr sz="1600" b="1">
                <a:solidFill>
                  <a:srgbClr val="45704C"/>
                </a:solidFill>
                <a:latin typeface="Yu Gothic"/>
              </a:rPr>
              <a:t>認識</a:t>
            </a:r>
          </a:p>
        </p:txBody>
      </p:sp>
      <p:sp>
        <p:nvSpPr>
          <p:cNvPr id="10" name="TextBox 9"/>
          <p:cNvSpPr txBox="1"/>
          <p:nvPr/>
        </p:nvSpPr>
        <p:spPr>
          <a:xfrm>
            <a:off x="813816"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対象作物・雑草・病害虫に適合するか</a:t>
            </a:r>
          </a:p>
        </p:txBody>
      </p:sp>
      <p:sp>
        <p:nvSpPr>
          <p:cNvPr id="11" name="TextBox 10"/>
          <p:cNvSpPr txBox="1"/>
          <p:nvPr/>
        </p:nvSpPr>
        <p:spPr>
          <a:xfrm>
            <a:off x="3172968"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12" name="Rectangle 11"/>
          <p:cNvSpPr/>
          <p:nvPr/>
        </p:nvSpPr>
        <p:spPr>
          <a:xfrm>
            <a:off x="3447288"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11880"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02</a:t>
            </a:r>
          </a:p>
        </p:txBody>
      </p:sp>
      <p:sp>
        <p:nvSpPr>
          <p:cNvPr id="14" name="TextBox 13"/>
          <p:cNvSpPr txBox="1"/>
          <p:nvPr/>
        </p:nvSpPr>
        <p:spPr>
          <a:xfrm>
            <a:off x="4105656" y="2130552"/>
            <a:ext cx="1618487" cy="320040"/>
          </a:xfrm>
          <a:prstGeom prst="rect">
            <a:avLst/>
          </a:prstGeom>
          <a:noFill/>
        </p:spPr>
        <p:txBody>
          <a:bodyPr wrap="square" lIns="18288" rIns="18288" tIns="0" bIns="0" anchor="ctr">
            <a:spAutoFit/>
          </a:bodyPr>
          <a:lstStyle/>
          <a:p>
            <a:pPr algn="l"/>
            <a:r>
              <a:rPr sz="1600" b="1">
                <a:solidFill>
                  <a:srgbClr val="45704C"/>
                </a:solidFill>
                <a:latin typeface="Yu Gothic"/>
              </a:rPr>
              <a:t>運用</a:t>
            </a:r>
          </a:p>
        </p:txBody>
      </p:sp>
      <p:sp>
        <p:nvSpPr>
          <p:cNvPr id="15" name="TextBox 14"/>
          <p:cNvSpPr txBox="1"/>
          <p:nvPr/>
        </p:nvSpPr>
        <p:spPr>
          <a:xfrm>
            <a:off x="3666744"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圃場条件と安全対策を満たすか</a:t>
            </a:r>
          </a:p>
        </p:txBody>
      </p:sp>
      <p:sp>
        <p:nvSpPr>
          <p:cNvPr id="16" name="TextBox 15"/>
          <p:cNvSpPr txBox="1"/>
          <p:nvPr/>
        </p:nvSpPr>
        <p:spPr>
          <a:xfrm>
            <a:off x="6025896"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17" name="Rectangle 16"/>
          <p:cNvSpPr/>
          <p:nvPr/>
        </p:nvSpPr>
        <p:spPr>
          <a:xfrm>
            <a:off x="6300216" y="1993392"/>
            <a:ext cx="2459736" cy="3474720"/>
          </a:xfrm>
          <a:prstGeom prst="rect">
            <a:avLst/>
          </a:prstGeom>
          <a:solidFill>
            <a:srgbClr val="E9F1E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4807" y="2103120"/>
            <a:ext cx="438912" cy="329184"/>
          </a:xfrm>
          <a:prstGeom prst="rect">
            <a:avLst/>
          </a:prstGeom>
          <a:noFill/>
        </p:spPr>
        <p:txBody>
          <a:bodyPr wrap="square" lIns="18288" rIns="18288" tIns="0" bIns="0" anchor="ctr">
            <a:spAutoFit/>
          </a:bodyPr>
          <a:lstStyle/>
          <a:p>
            <a:pPr algn="l"/>
            <a:r>
              <a:rPr sz="1300" b="1">
                <a:solidFill>
                  <a:srgbClr val="45704C"/>
                </a:solidFill>
                <a:latin typeface="Yu Gothic"/>
              </a:rPr>
              <a:t>03</a:t>
            </a:r>
          </a:p>
        </p:txBody>
      </p:sp>
      <p:sp>
        <p:nvSpPr>
          <p:cNvPr id="19" name="TextBox 18"/>
          <p:cNvSpPr txBox="1"/>
          <p:nvPr/>
        </p:nvSpPr>
        <p:spPr>
          <a:xfrm>
            <a:off x="6958583" y="2130552"/>
            <a:ext cx="1618488" cy="320040"/>
          </a:xfrm>
          <a:prstGeom prst="rect">
            <a:avLst/>
          </a:prstGeom>
          <a:noFill/>
        </p:spPr>
        <p:txBody>
          <a:bodyPr wrap="square" lIns="18288" rIns="18288" tIns="0" bIns="0" anchor="ctr">
            <a:spAutoFit/>
          </a:bodyPr>
          <a:lstStyle/>
          <a:p>
            <a:pPr algn="l"/>
            <a:r>
              <a:rPr sz="1600" b="1">
                <a:solidFill>
                  <a:srgbClr val="45704C"/>
                </a:solidFill>
                <a:latin typeface="Yu Gothic"/>
              </a:rPr>
              <a:t>効果</a:t>
            </a:r>
          </a:p>
        </p:txBody>
      </p:sp>
      <p:sp>
        <p:nvSpPr>
          <p:cNvPr id="20" name="TextBox 19"/>
          <p:cNvSpPr txBox="1"/>
          <p:nvPr/>
        </p:nvSpPr>
        <p:spPr>
          <a:xfrm>
            <a:off x="6519672" y="2551176"/>
            <a:ext cx="2020824" cy="2788920"/>
          </a:xfrm>
          <a:prstGeom prst="rect">
            <a:avLst/>
          </a:prstGeom>
          <a:noFill/>
        </p:spPr>
        <p:txBody>
          <a:bodyPr wrap="square" lIns="18288" rIns="18288" tIns="0" bIns="0" anchor="ctr">
            <a:spAutoFit/>
          </a:bodyPr>
          <a:lstStyle/>
          <a:p>
            <a:pPr algn="l"/>
            <a:r>
              <a:rPr sz="2000" b="0">
                <a:solidFill>
                  <a:srgbClr val="253129"/>
                </a:solidFill>
                <a:latin typeface="Yu Gothic"/>
              </a:rPr>
              <a:t>作業時間・投入資材・費用を現場で検証する</a:t>
            </a:r>
          </a:p>
        </p:txBody>
      </p:sp>
      <p:sp>
        <p:nvSpPr>
          <p:cNvPr id="21" name="TextBox 20"/>
          <p:cNvSpPr txBox="1"/>
          <p:nvPr/>
        </p:nvSpPr>
        <p:spPr>
          <a:xfrm>
            <a:off x="8878824" y="3300984"/>
            <a:ext cx="246888" cy="365760"/>
          </a:xfrm>
          <a:prstGeom prst="rect">
            <a:avLst/>
          </a:prstGeom>
          <a:noFill/>
        </p:spPr>
        <p:txBody>
          <a:bodyPr wrap="square" lIns="18288" rIns="18288" tIns="0" bIns="0" anchor="ctr">
            <a:spAutoFit/>
          </a:bodyPr>
          <a:lstStyle/>
          <a:p>
            <a:pPr algn="ctr"/>
            <a:r>
              <a:rPr sz="2000" b="1">
                <a:solidFill>
                  <a:srgbClr val="45704C"/>
                </a:solidFill>
                <a:latin typeface="Yu Gothic"/>
              </a:rPr>
              <a:t>→</a:t>
            </a:r>
          </a:p>
        </p:txBody>
      </p:sp>
      <p:sp>
        <p:nvSpPr>
          <p:cNvPr id="22" name="Rectangle 21"/>
          <p:cNvSpPr/>
          <p:nvPr/>
        </p:nvSpPr>
        <p:spPr>
          <a:xfrm>
            <a:off x="9153144" y="1993392"/>
            <a:ext cx="2459736" cy="3474720"/>
          </a:xfrm>
          <a:prstGeom prst="rect">
            <a:avLst/>
          </a:prstGeom>
          <a:solidFill>
            <a:srgbClr val="45704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317736" y="2103120"/>
            <a:ext cx="438912" cy="329184"/>
          </a:xfrm>
          <a:prstGeom prst="rect">
            <a:avLst/>
          </a:prstGeom>
          <a:noFill/>
        </p:spPr>
        <p:txBody>
          <a:bodyPr wrap="square" lIns="18288" rIns="18288" tIns="0" bIns="0" anchor="ctr">
            <a:spAutoFit/>
          </a:bodyPr>
          <a:lstStyle/>
          <a:p>
            <a:pPr algn="l"/>
            <a:r>
              <a:rPr sz="1300" b="1">
                <a:solidFill>
                  <a:srgbClr val="FFFFFF"/>
                </a:solidFill>
                <a:latin typeface="Yu Gothic"/>
              </a:rPr>
              <a:t>04</a:t>
            </a:r>
          </a:p>
        </p:txBody>
      </p:sp>
      <p:sp>
        <p:nvSpPr>
          <p:cNvPr id="24" name="TextBox 23"/>
          <p:cNvSpPr txBox="1"/>
          <p:nvPr/>
        </p:nvSpPr>
        <p:spPr>
          <a:xfrm>
            <a:off x="9811512" y="2130552"/>
            <a:ext cx="1618487" cy="320040"/>
          </a:xfrm>
          <a:prstGeom prst="rect">
            <a:avLst/>
          </a:prstGeom>
          <a:noFill/>
        </p:spPr>
        <p:txBody>
          <a:bodyPr wrap="square" lIns="18288" rIns="18288" tIns="0" bIns="0" anchor="ctr">
            <a:spAutoFit/>
          </a:bodyPr>
          <a:lstStyle/>
          <a:p>
            <a:pPr algn="l"/>
            <a:r>
              <a:rPr sz="1600" b="1">
                <a:solidFill>
                  <a:srgbClr val="FFFFFF"/>
                </a:solidFill>
                <a:latin typeface="Yu Gothic"/>
              </a:rPr>
              <a:t>段階</a:t>
            </a:r>
          </a:p>
        </p:txBody>
      </p:sp>
      <p:sp>
        <p:nvSpPr>
          <p:cNvPr id="25" name="TextBox 24"/>
          <p:cNvSpPr txBox="1"/>
          <p:nvPr/>
        </p:nvSpPr>
        <p:spPr>
          <a:xfrm>
            <a:off x="9372600" y="2551176"/>
            <a:ext cx="2020824" cy="2788920"/>
          </a:xfrm>
          <a:prstGeom prst="rect">
            <a:avLst/>
          </a:prstGeom>
          <a:noFill/>
        </p:spPr>
        <p:txBody>
          <a:bodyPr wrap="square" lIns="18288" rIns="18288" tIns="0" bIns="0" anchor="ctr">
            <a:spAutoFit/>
          </a:bodyPr>
          <a:lstStyle/>
          <a:p>
            <a:pPr algn="l"/>
            <a:r>
              <a:rPr sz="2000" b="0">
                <a:solidFill>
                  <a:srgbClr val="FFFFFF"/>
                </a:solidFill>
                <a:latin typeface="Yu Gothic"/>
              </a:rPr>
              <a:t>市販・実証・研究開発を混同しない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