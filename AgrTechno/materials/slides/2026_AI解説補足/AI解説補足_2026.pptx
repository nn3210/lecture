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話す内容: 元資料5–6枚目の分類を更新。AIは一つの技術名ではなく研究領域・応用領域であり、機械学習と深層学習は包含関係として示す。ルールベースの推論もAIに含まれる。</a:t>
            </a:r>
          </a:p>
          <a:p/>
          <a:p>
            <a:r>
              <a:t>出典: https://www.ibm.com/think/topics/ai-vs-machine-learning-vs-deep-learning-vs-neural-networks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話す内容: 元資料8枚目の「各接続に重みとバイアス」は誤解を招く。通常の密結合層では重みは接続、バイアスは出力ユニットごと。元資料23枚目のシグモイドは0–1だがReLUは上限1ではない。層を増やすだけで必ず性能が向上するわけではない。</a:t>
            </a:r>
          </a:p>
          <a:p/>
          <a:p>
            <a:r>
              <a:t>出典: https://www.deeplearningbook.org/contents/mlp.html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話す内容: 元資料31枚目の「Aか、でないならB」という説明はXORの定義として曖昧。正しくはAまたはBの一方だけが真の場合に1、両方真・両方偽は0。式は (A∨B)∧¬(A∧B)。4点は1本の直線で分離できず、中間層の非線形な表現が役立つ。</a:t>
            </a:r>
          </a:p>
          <a:p/>
          <a:p>
            <a:r>
              <a:t>出典: https://www.deeplearningbook.org/contents/mlp.html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話す内容: ダートマス研究会の提案書は1955年に作成され、1956年夏の研究会を構想し、artificial intelligence の語を用いた。元資料6・29–35枚目の3世代区分は便宜的で粗い。1989年と2012年の成果は各課題の結果で、一般知能の達成を意味しない。</a:t>
            </a:r>
          </a:p>
          <a:p/>
          <a:p>
            <a:r>
              <a:t>出典: https://www-formal.stanford.edu/jmc/history/dartmouth/dartmouth.html ; https://papers.nips.cc/paper_files/paper/1989/file/53c3bce66e43be4f209556518c2fcb54-Paper.pdf ; https://papers.nips.cc/paper_files/paper/2012/file/c399862d3b9d6b76c8436e924a68c45b-Paper.pdf ; https://arxiv.org/abs/1706.03762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話す内容: 原論文に記載されたImageNet 2012の比較。15.3%と26.2%は評価方法とデータセットに依存する数値であり、「毎年半分」や「一般画像認識が人間を超えた」といった無条件の主張には使えない。</a:t>
            </a:r>
          </a:p>
          <a:p/>
          <a:p>
            <a:r>
              <a:t>出典: https://papers.nips.cc/paper_files/paper/2012/file/c399862d3b9d6b76c8436e924a68c45b-Paper.pdf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話す内容: 元資料24枚目の「重みの調整」だけでは、性能評価と分布変化への対応が抜ける。学習・検証データの重複を避け、現場での新条件に対する汎化性能を評価する。</a:t>
            </a:r>
          </a:p>
          <a:p/>
          <a:p>
            <a:r>
              <a:t>出典: https://www.nist.gov/itl/ai-risk-management-framework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話す内容: 元資料は画像判別中心なので、2026年の学生が連想する生成AIとの違いを短く補う。生成AIも機械学習の一部であるが、診断や農薬の使用判断には対象作物・地域の登録情報や専門家確認が必要。</a:t>
            </a:r>
          </a:p>
          <a:p/>
          <a:p>
            <a:r>
              <a:t>出典: https://www.nist.gov/itl/ai-risk-management-framework/generative-artificial-intelligence-profile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話す内容: 元資料48枚目の「qPCRで配列を解読」は誤り。qPCRは標的配列を利用して増幅・検出するが、塩基の並びそのものは読まない。環境DNAのメタバーコーディングではPCR後に高スループットシーケンシングを使う。検出されたDNAは生体そのものの直接観察ではない。</a:t>
            </a:r>
          </a:p>
          <a:p/>
          <a:p>
            <a:r>
              <a:t>出典: https://www.usgs.gov/glossary/edna-environmental-dna-glossary-umesc ; https://www.usgs.gov/centers/upper-midwest-environmental-sciences-center/science/edna-best-practices-resource-managers ; https://www.genome.gov/about-genomics/fact-sheets/DNA-Sequencing-Fact-Sheet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D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4570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12064" y="118872"/>
            <a:ext cx="6217920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1000" b="1">
                <a:solidFill>
                  <a:srgbClr val="45704C"/>
                </a:solidFill>
                <a:latin typeface="Yu Gothic"/>
              </a:rPr>
              <a:t>AIの基礎｜2026年補足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" y="475488"/>
            <a:ext cx="11064240" cy="82296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2800" b="1">
                <a:solidFill>
                  <a:srgbClr val="253129"/>
                </a:solidFill>
                <a:latin typeface="Yu Gothic"/>
              </a:rPr>
              <a:t>深層学習は機械学習の一部で、AIと同義ではない</a:t>
            </a:r>
          </a:p>
        </p:txBody>
      </p:sp>
      <p:sp>
        <p:nvSpPr>
          <p:cNvPr id="5" name="Rectangle 4"/>
          <p:cNvSpPr/>
          <p:nvPr/>
        </p:nvSpPr>
        <p:spPr>
          <a:xfrm>
            <a:off x="512064" y="1335024"/>
            <a:ext cx="11064240" cy="22860"/>
          </a:xfrm>
          <a:prstGeom prst="rect">
            <a:avLst/>
          </a:prstGeom>
          <a:solidFill>
            <a:srgbClr val="B9C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11512" y="6528816"/>
            <a:ext cx="1773936" cy="18288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r"/>
            <a:r>
              <a:rPr sz="800" b="0">
                <a:solidFill>
                  <a:srgbClr val="525F55"/>
                </a:solidFill>
                <a:latin typeface="Yu Gothic"/>
              </a:rPr>
              <a:t>2026.10.30  |  01</a:t>
            </a:r>
          </a:p>
        </p:txBody>
      </p:sp>
      <p:sp>
        <p:nvSpPr>
          <p:cNvPr id="7" name="Rectangle 6"/>
          <p:cNvSpPr/>
          <p:nvPr/>
        </p:nvSpPr>
        <p:spPr>
          <a:xfrm>
            <a:off x="749808" y="1609344"/>
            <a:ext cx="10698480" cy="4434840"/>
          </a:xfrm>
          <a:prstGeom prst="rect">
            <a:avLst/>
          </a:prstGeom>
          <a:solidFill>
            <a:srgbClr val="E9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50976" y="1719072"/>
            <a:ext cx="1828800" cy="356616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2100" b="1">
                <a:solidFill>
                  <a:srgbClr val="253129"/>
                </a:solidFill>
                <a:latin typeface="Yu Gothic"/>
              </a:rPr>
              <a:t>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61488" y="1728216"/>
            <a:ext cx="8412480" cy="36576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1600" b="0">
                <a:solidFill>
                  <a:srgbClr val="253129"/>
                </a:solidFill>
                <a:latin typeface="Yu Gothic"/>
              </a:rPr>
              <a:t>知的な課題を計算機で扱う広い分野</a:t>
            </a:r>
          </a:p>
        </p:txBody>
      </p:sp>
      <p:sp>
        <p:nvSpPr>
          <p:cNvPr id="10" name="Rectangle 9"/>
          <p:cNvSpPr/>
          <p:nvPr/>
        </p:nvSpPr>
        <p:spPr>
          <a:xfrm>
            <a:off x="1728216" y="2368296"/>
            <a:ext cx="8750808" cy="2926080"/>
          </a:xfrm>
          <a:prstGeom prst="rect">
            <a:avLst/>
          </a:prstGeom>
          <a:solidFill>
            <a:srgbClr val="CDE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929384" y="2478024"/>
            <a:ext cx="1828800" cy="356616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2100" b="1">
                <a:solidFill>
                  <a:srgbClr val="253129"/>
                </a:solidFill>
                <a:latin typeface="Yu Gothic"/>
              </a:rPr>
              <a:t>機械学習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39896" y="2487168"/>
            <a:ext cx="6464808" cy="36576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1600" b="0">
                <a:solidFill>
                  <a:srgbClr val="253129"/>
                </a:solidFill>
                <a:latin typeface="Yu Gothic"/>
              </a:rPr>
              <a:t>データから規則や予測モデルを学ぶ方法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843784" y="3200400"/>
            <a:ext cx="6519672" cy="1481328"/>
          </a:xfrm>
          <a:prstGeom prst="rect">
            <a:avLst/>
          </a:prstGeom>
          <a:solidFill>
            <a:srgbClr val="4570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44952" y="3310128"/>
            <a:ext cx="1828800" cy="356616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Yu Gothic"/>
              </a:rPr>
              <a:t>深層学習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72384" y="3794760"/>
            <a:ext cx="6062472" cy="62179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Yu Gothic"/>
              </a:rPr>
              <a:t>多層のニューラルネットワークを使う方法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D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4570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12064" y="118872"/>
            <a:ext cx="6217920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1000" b="1">
                <a:solidFill>
                  <a:srgbClr val="45704C"/>
                </a:solidFill>
                <a:latin typeface="Yu Gothic"/>
              </a:rPr>
              <a:t>AIの基礎｜2026年補足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" y="475488"/>
            <a:ext cx="11064240" cy="82296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2800" b="1">
                <a:solidFill>
                  <a:srgbClr val="253129"/>
                </a:solidFill>
                <a:latin typeface="Yu Gothic"/>
              </a:rPr>
              <a:t>ニューラルネットは、重みとバイアスを学習して予測する</a:t>
            </a:r>
          </a:p>
        </p:txBody>
      </p:sp>
      <p:sp>
        <p:nvSpPr>
          <p:cNvPr id="5" name="Rectangle 4"/>
          <p:cNvSpPr/>
          <p:nvPr/>
        </p:nvSpPr>
        <p:spPr>
          <a:xfrm>
            <a:off x="512064" y="1335024"/>
            <a:ext cx="11064240" cy="22860"/>
          </a:xfrm>
          <a:prstGeom prst="rect">
            <a:avLst/>
          </a:prstGeom>
          <a:solidFill>
            <a:srgbClr val="B9C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11512" y="6528816"/>
            <a:ext cx="1773936" cy="18288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r"/>
            <a:r>
              <a:rPr sz="800" b="0">
                <a:solidFill>
                  <a:srgbClr val="525F55"/>
                </a:solidFill>
                <a:latin typeface="Yu Gothic"/>
              </a:rPr>
              <a:t>2026.10.30  |  02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993392"/>
            <a:ext cx="2459736" cy="3474720"/>
          </a:xfrm>
          <a:prstGeom prst="rect">
            <a:avLst/>
          </a:prstGeom>
          <a:solidFill>
            <a:srgbClr val="E9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2103120"/>
            <a:ext cx="438912" cy="3291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1300" b="1">
                <a:solidFill>
                  <a:srgbClr val="45704C"/>
                </a:solidFill>
                <a:latin typeface="Yu Gothic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52728" y="2130552"/>
            <a:ext cx="1618487" cy="32004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1600" b="1">
                <a:solidFill>
                  <a:srgbClr val="45704C"/>
                </a:solidFill>
                <a:latin typeface="Yu Gothic"/>
              </a:rPr>
              <a:t>入力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" y="2551176"/>
            <a:ext cx="2020824" cy="27889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2000" b="0">
                <a:solidFill>
                  <a:srgbClr val="253129"/>
                </a:solidFill>
                <a:latin typeface="Yu Gothic"/>
              </a:rPr>
              <a:t>画像の画素やセンサー値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72968" y="3300984"/>
            <a:ext cx="246888" cy="36576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2000" b="1">
                <a:solidFill>
                  <a:srgbClr val="45704C"/>
                </a:solidFill>
                <a:latin typeface="Yu Gothic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47288" y="1993392"/>
            <a:ext cx="2459736" cy="3474720"/>
          </a:xfrm>
          <a:prstGeom prst="rect">
            <a:avLst/>
          </a:prstGeom>
          <a:solidFill>
            <a:srgbClr val="E9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11880" y="2103120"/>
            <a:ext cx="438912" cy="3291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1300" b="1">
                <a:solidFill>
                  <a:srgbClr val="45704C"/>
                </a:solidFill>
                <a:latin typeface="Yu Gothic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05656" y="2130552"/>
            <a:ext cx="1618487" cy="32004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1600" b="1">
                <a:solidFill>
                  <a:srgbClr val="45704C"/>
                </a:solidFill>
                <a:latin typeface="Yu Gothic"/>
              </a:rPr>
              <a:t>計算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66744" y="2551176"/>
            <a:ext cx="2020824" cy="27889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2000" b="0">
                <a:solidFill>
                  <a:srgbClr val="253129"/>
                </a:solidFill>
                <a:latin typeface="Yu Gothic"/>
              </a:rPr>
              <a:t>入力×重みを足し、ユニットのバイアスを加える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25896" y="3300984"/>
            <a:ext cx="246888" cy="36576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2000" b="1">
                <a:solidFill>
                  <a:srgbClr val="45704C"/>
                </a:solidFill>
                <a:latin typeface="Yu Gothic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0216" y="1993392"/>
            <a:ext cx="2459736" cy="3474720"/>
          </a:xfrm>
          <a:prstGeom prst="rect">
            <a:avLst/>
          </a:prstGeom>
          <a:solidFill>
            <a:srgbClr val="E9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64807" y="2103120"/>
            <a:ext cx="438912" cy="3291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1300" b="1">
                <a:solidFill>
                  <a:srgbClr val="45704C"/>
                </a:solidFill>
                <a:latin typeface="Yu Gothic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58583" y="2130552"/>
            <a:ext cx="1618488" cy="32004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1600" b="1">
                <a:solidFill>
                  <a:srgbClr val="45704C"/>
                </a:solidFill>
                <a:latin typeface="Yu Gothic"/>
              </a:rPr>
              <a:t>非線形化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9672" y="2551176"/>
            <a:ext cx="2020824" cy="27889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2000" b="0">
                <a:solidFill>
                  <a:srgbClr val="253129"/>
                </a:solidFill>
                <a:latin typeface="Yu Gothic"/>
              </a:rPr>
              <a:t>ReLUなどの活性化関数を通す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78824" y="3300984"/>
            <a:ext cx="246888" cy="36576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2000" b="1">
                <a:solidFill>
                  <a:srgbClr val="45704C"/>
                </a:solidFill>
                <a:latin typeface="Yu Gothic"/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53144" y="1993392"/>
            <a:ext cx="2459736" cy="3474720"/>
          </a:xfrm>
          <a:prstGeom prst="rect">
            <a:avLst/>
          </a:prstGeom>
          <a:solidFill>
            <a:srgbClr val="4570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17736" y="2103120"/>
            <a:ext cx="438912" cy="3291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Yu Gothic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11512" y="2130552"/>
            <a:ext cx="1618487" cy="32004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Yu Gothic"/>
              </a:rPr>
              <a:t>学習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72600" y="2551176"/>
            <a:ext cx="2020824" cy="27889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Yu Gothic"/>
              </a:rPr>
              <a:t>誤差を使い、パラメータを更新する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D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4570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12064" y="118872"/>
            <a:ext cx="6217920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1000" b="1">
                <a:solidFill>
                  <a:srgbClr val="45704C"/>
                </a:solidFill>
                <a:latin typeface="Yu Gothic"/>
              </a:rPr>
              <a:t>AIの基礎｜2026年補足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" y="475488"/>
            <a:ext cx="11064240" cy="82296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2800" b="1">
                <a:solidFill>
                  <a:srgbClr val="253129"/>
                </a:solidFill>
                <a:latin typeface="Yu Gothic"/>
              </a:rPr>
              <a:t>XORは「どちらか一方だけ」が1になる</a:t>
            </a:r>
          </a:p>
        </p:txBody>
      </p:sp>
      <p:sp>
        <p:nvSpPr>
          <p:cNvPr id="5" name="Rectangle 4"/>
          <p:cNvSpPr/>
          <p:nvPr/>
        </p:nvSpPr>
        <p:spPr>
          <a:xfrm>
            <a:off x="512064" y="1335024"/>
            <a:ext cx="11064240" cy="22860"/>
          </a:xfrm>
          <a:prstGeom prst="rect">
            <a:avLst/>
          </a:prstGeom>
          <a:solidFill>
            <a:srgbClr val="B9C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11512" y="6528816"/>
            <a:ext cx="1773936" cy="18288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r"/>
            <a:r>
              <a:rPr sz="800" b="0">
                <a:solidFill>
                  <a:srgbClr val="525F55"/>
                </a:solidFill>
                <a:latin typeface="Yu Gothic"/>
              </a:rPr>
              <a:t>2026.10.30  |  03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1700784"/>
            <a:ext cx="10844784" cy="914400"/>
          </a:xfrm>
          <a:prstGeom prst="rect">
            <a:avLst/>
          </a:prstGeom>
          <a:solidFill>
            <a:srgbClr val="E9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50976" y="1865376"/>
            <a:ext cx="2011680" cy="59436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1900" b="1">
                <a:solidFill>
                  <a:srgbClr val="45704C"/>
                </a:solidFill>
                <a:latin typeface="Yu Gothic"/>
              </a:rPr>
              <a:t>A=0、B=0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90672" y="1856232"/>
            <a:ext cx="8001000" cy="62179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2100" b="0">
                <a:solidFill>
                  <a:srgbClr val="253129"/>
                </a:solidFill>
                <a:latin typeface="Yu Gothic"/>
              </a:rPr>
              <a:t>出力0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779776"/>
            <a:ext cx="10844784" cy="914400"/>
          </a:xfrm>
          <a:prstGeom prst="rect">
            <a:avLst/>
          </a:prstGeom>
          <a:solidFill>
            <a:srgbClr val="E9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50976" y="2944368"/>
            <a:ext cx="2011680" cy="59436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1900" b="1">
                <a:solidFill>
                  <a:srgbClr val="45704C"/>
                </a:solidFill>
                <a:latin typeface="Yu Gothic"/>
              </a:rPr>
              <a:t>A=0、B=1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90672" y="2935224"/>
            <a:ext cx="8001000" cy="62179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2100" b="0">
                <a:solidFill>
                  <a:srgbClr val="253129"/>
                </a:solidFill>
                <a:latin typeface="Yu Gothic"/>
              </a:rPr>
              <a:t>出力1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13232" y="3858768"/>
            <a:ext cx="10844784" cy="914400"/>
          </a:xfrm>
          <a:prstGeom prst="rect">
            <a:avLst/>
          </a:prstGeom>
          <a:solidFill>
            <a:srgbClr val="E9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0976" y="4023359"/>
            <a:ext cx="2011680" cy="59436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1900" b="1">
                <a:solidFill>
                  <a:srgbClr val="45704C"/>
                </a:solidFill>
                <a:latin typeface="Yu Gothic"/>
              </a:rPr>
              <a:t>A=1、B=0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90672" y="4014215"/>
            <a:ext cx="8001000" cy="62179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2100" b="0">
                <a:solidFill>
                  <a:srgbClr val="253129"/>
                </a:solidFill>
                <a:latin typeface="Yu Gothic"/>
              </a:rPr>
              <a:t>出力1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13232" y="4937760"/>
            <a:ext cx="10844784" cy="914400"/>
          </a:xfrm>
          <a:prstGeom prst="rect">
            <a:avLst/>
          </a:prstGeom>
          <a:solidFill>
            <a:srgbClr val="4570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0976" y="5102352"/>
            <a:ext cx="2011680" cy="59436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Yu Gothic"/>
              </a:rPr>
              <a:t>A=1、B=1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90672" y="5093208"/>
            <a:ext cx="8001000" cy="62179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2100" b="0">
                <a:solidFill>
                  <a:srgbClr val="FFFFFF"/>
                </a:solidFill>
                <a:latin typeface="Yu Gothic"/>
              </a:rPr>
              <a:t>出力0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D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4570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12064" y="118872"/>
            <a:ext cx="6217920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1000" b="1">
                <a:solidFill>
                  <a:srgbClr val="45704C"/>
                </a:solidFill>
                <a:latin typeface="Yu Gothic"/>
              </a:rPr>
              <a:t>AIの基礎｜2026年補足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" y="475488"/>
            <a:ext cx="11064240" cy="82296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2800" b="1">
                <a:solidFill>
                  <a:srgbClr val="253129"/>
                </a:solidFill>
                <a:latin typeface="Yu Gothic"/>
              </a:rPr>
              <a:t>AIの歴史は「世代」より、成果と限界で捉える</a:t>
            </a:r>
          </a:p>
        </p:txBody>
      </p:sp>
      <p:sp>
        <p:nvSpPr>
          <p:cNvPr id="5" name="Rectangle 4"/>
          <p:cNvSpPr/>
          <p:nvPr/>
        </p:nvSpPr>
        <p:spPr>
          <a:xfrm>
            <a:off x="512064" y="1335024"/>
            <a:ext cx="11064240" cy="22860"/>
          </a:xfrm>
          <a:prstGeom prst="rect">
            <a:avLst/>
          </a:prstGeom>
          <a:solidFill>
            <a:srgbClr val="B9C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11512" y="6528816"/>
            <a:ext cx="1773936" cy="18288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r"/>
            <a:r>
              <a:rPr sz="800" b="0">
                <a:solidFill>
                  <a:srgbClr val="525F55"/>
                </a:solidFill>
                <a:latin typeface="Yu Gothic"/>
              </a:rPr>
              <a:t>2026.10.30  |  04</a:t>
            </a:r>
          </a:p>
        </p:txBody>
      </p:sp>
      <p:sp>
        <p:nvSpPr>
          <p:cNvPr id="7" name="Rectangle 6"/>
          <p:cNvSpPr/>
          <p:nvPr/>
        </p:nvSpPr>
        <p:spPr>
          <a:xfrm>
            <a:off x="905256" y="3154680"/>
            <a:ext cx="10378440" cy="36576"/>
          </a:xfrm>
          <a:prstGeom prst="rect">
            <a:avLst/>
          </a:prstGeom>
          <a:solidFill>
            <a:srgbClr val="B9C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737360" y="3026664"/>
            <a:ext cx="246888" cy="246888"/>
          </a:xfrm>
          <a:prstGeom prst="rect">
            <a:avLst/>
          </a:prstGeom>
          <a:solidFill>
            <a:srgbClr val="4570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6656" y="2029968"/>
            <a:ext cx="2359152" cy="66751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2600" b="1">
                <a:solidFill>
                  <a:srgbClr val="45704C"/>
                </a:solidFill>
                <a:latin typeface="Yu Gothic"/>
              </a:rPr>
              <a:t>1956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" y="3502152"/>
            <a:ext cx="2359152" cy="166420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1800" b="0">
                <a:solidFill>
                  <a:srgbClr val="253129"/>
                </a:solidFill>
                <a:latin typeface="Yu Gothic"/>
              </a:rPr>
              <a:t>ダートマス夏季研究会が開かれる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17136" y="3026664"/>
            <a:ext cx="246888" cy="246888"/>
          </a:xfrm>
          <a:prstGeom prst="rect">
            <a:avLst/>
          </a:prstGeom>
          <a:solidFill>
            <a:srgbClr val="4570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56432" y="2029968"/>
            <a:ext cx="2359152" cy="66751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2600" b="1">
                <a:solidFill>
                  <a:srgbClr val="45704C"/>
                </a:solidFill>
                <a:latin typeface="Yu Gothic"/>
              </a:rPr>
              <a:t>1989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56432" y="3502152"/>
            <a:ext cx="2359152" cy="166420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1800" b="0">
                <a:solidFill>
                  <a:srgbClr val="253129"/>
                </a:solidFill>
                <a:latin typeface="Yu Gothic"/>
              </a:rPr>
              <a:t>誤差逆伝搬を使う手書き数字認識の論文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296912" y="3026664"/>
            <a:ext cx="246888" cy="246888"/>
          </a:xfrm>
          <a:prstGeom prst="rect">
            <a:avLst/>
          </a:prstGeom>
          <a:solidFill>
            <a:srgbClr val="4570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36208" y="2029968"/>
            <a:ext cx="2359152" cy="66751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2600" b="1">
                <a:solidFill>
                  <a:srgbClr val="45704C"/>
                </a:solidFill>
                <a:latin typeface="Yu Gothic"/>
              </a:rPr>
              <a:t>2012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36208" y="3502152"/>
            <a:ext cx="2359152" cy="166420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1800" b="0">
                <a:solidFill>
                  <a:srgbClr val="253129"/>
                </a:solidFill>
                <a:latin typeface="Yu Gothic"/>
              </a:rPr>
              <a:t>画像認識競技で深層CNNが大きく改善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076688" y="3026664"/>
            <a:ext cx="246888" cy="246888"/>
          </a:xfrm>
          <a:prstGeom prst="rect">
            <a:avLst/>
          </a:prstGeom>
          <a:solidFill>
            <a:srgbClr val="4570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15984" y="2029968"/>
            <a:ext cx="2359152" cy="66751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2600" b="1">
                <a:solidFill>
                  <a:srgbClr val="45704C"/>
                </a:solidFill>
                <a:latin typeface="Yu Gothic"/>
              </a:rPr>
              <a:t>2017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15984" y="3502152"/>
            <a:ext cx="2359152" cy="166420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1800" b="0">
                <a:solidFill>
                  <a:srgbClr val="253129"/>
                </a:solidFill>
                <a:latin typeface="Yu Gothic"/>
              </a:rPr>
              <a:t>Transformerが自然言語処理へ新しい構成を提示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D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4570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12064" y="118872"/>
            <a:ext cx="6217920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1000" b="1">
                <a:solidFill>
                  <a:srgbClr val="45704C"/>
                </a:solidFill>
                <a:latin typeface="Yu Gothic"/>
              </a:rPr>
              <a:t>AIの基礎｜2026年補足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" y="475488"/>
            <a:ext cx="11064240" cy="82296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2800" b="1">
                <a:solidFill>
                  <a:srgbClr val="253129"/>
                </a:solidFill>
                <a:latin typeface="Yu Gothic"/>
              </a:rPr>
              <a:t>2012年の快挙は画像認識の競技結果として読む</a:t>
            </a:r>
          </a:p>
        </p:txBody>
      </p:sp>
      <p:sp>
        <p:nvSpPr>
          <p:cNvPr id="5" name="Rectangle 4"/>
          <p:cNvSpPr/>
          <p:nvPr/>
        </p:nvSpPr>
        <p:spPr>
          <a:xfrm>
            <a:off x="512064" y="1335024"/>
            <a:ext cx="11064240" cy="22860"/>
          </a:xfrm>
          <a:prstGeom prst="rect">
            <a:avLst/>
          </a:prstGeom>
          <a:solidFill>
            <a:srgbClr val="B9C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11512" y="6528816"/>
            <a:ext cx="1773936" cy="18288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r"/>
            <a:r>
              <a:rPr sz="800" b="0">
                <a:solidFill>
                  <a:srgbClr val="525F55"/>
                </a:solidFill>
                <a:latin typeface="Yu Gothic"/>
              </a:rPr>
              <a:t>2026.10.30  |  05</a:t>
            </a:r>
          </a:p>
        </p:txBody>
      </p:sp>
      <p:sp>
        <p:nvSpPr>
          <p:cNvPr id="7" name="Rectangle 6"/>
          <p:cNvSpPr/>
          <p:nvPr/>
        </p:nvSpPr>
        <p:spPr>
          <a:xfrm>
            <a:off x="768096" y="1746504"/>
            <a:ext cx="5212080" cy="2999232"/>
          </a:xfrm>
          <a:prstGeom prst="rect">
            <a:avLst/>
          </a:prstGeom>
          <a:solidFill>
            <a:srgbClr val="E9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1883664"/>
            <a:ext cx="4809744" cy="32004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1600" b="1">
                <a:solidFill>
                  <a:srgbClr val="45704C"/>
                </a:solidFill>
                <a:latin typeface="Yu Gothic"/>
              </a:rPr>
              <a:t>AlexNet系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2304288"/>
            <a:ext cx="4773168" cy="231343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2000" b="0">
                <a:solidFill>
                  <a:srgbClr val="253129"/>
                </a:solidFill>
                <a:latin typeface="Yu Gothic"/>
              </a:rPr>
              <a:t>Top-5誤り率 15.3%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99632" y="1746504"/>
            <a:ext cx="5212080" cy="2999232"/>
          </a:xfrm>
          <a:prstGeom prst="rect">
            <a:avLst/>
          </a:prstGeom>
          <a:solidFill>
            <a:srgbClr val="4570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1883664"/>
            <a:ext cx="4809744" cy="32004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Yu Gothic"/>
              </a:rPr>
              <a:t>次点の方式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2304288"/>
            <a:ext cx="4773168" cy="231343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Yu Gothic"/>
              </a:rPr>
              <a:t>Top-5誤り率 26.2%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5074920"/>
            <a:ext cx="1645920" cy="36576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1500" b="1">
                <a:solidFill>
                  <a:srgbClr val="45704C"/>
                </a:solidFill>
                <a:latin typeface="Yu Gothic"/>
              </a:rPr>
              <a:t>解釈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0" y="4956048"/>
            <a:ext cx="8869680" cy="65836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1700" b="0">
                <a:solidFill>
                  <a:srgbClr val="253129"/>
                </a:solidFill>
                <a:latin typeface="Yu Gothic"/>
              </a:rPr>
              <a:t>この課題で大幅に改善。毎年半減・全課題で人間超えではない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D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4570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12064" y="118872"/>
            <a:ext cx="6217920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1000" b="1">
                <a:solidFill>
                  <a:srgbClr val="45704C"/>
                </a:solidFill>
                <a:latin typeface="Yu Gothic"/>
              </a:rPr>
              <a:t>AIの基礎｜2026年補足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" y="475488"/>
            <a:ext cx="11064240" cy="82296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2800" b="1">
                <a:solidFill>
                  <a:srgbClr val="253129"/>
                </a:solidFill>
                <a:latin typeface="Yu Gothic"/>
              </a:rPr>
              <a:t>農業AIは、学習後に新しい圃場でも性能を確かめる</a:t>
            </a:r>
          </a:p>
        </p:txBody>
      </p:sp>
      <p:sp>
        <p:nvSpPr>
          <p:cNvPr id="5" name="Rectangle 4"/>
          <p:cNvSpPr/>
          <p:nvPr/>
        </p:nvSpPr>
        <p:spPr>
          <a:xfrm>
            <a:off x="512064" y="1335024"/>
            <a:ext cx="11064240" cy="22860"/>
          </a:xfrm>
          <a:prstGeom prst="rect">
            <a:avLst/>
          </a:prstGeom>
          <a:solidFill>
            <a:srgbClr val="B9C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11512" y="6528816"/>
            <a:ext cx="1773936" cy="18288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r"/>
            <a:r>
              <a:rPr sz="800" b="0">
                <a:solidFill>
                  <a:srgbClr val="525F55"/>
                </a:solidFill>
                <a:latin typeface="Yu Gothic"/>
              </a:rPr>
              <a:t>2026.10.30  |  06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993392"/>
            <a:ext cx="2459736" cy="3474720"/>
          </a:xfrm>
          <a:prstGeom prst="rect">
            <a:avLst/>
          </a:prstGeom>
          <a:solidFill>
            <a:srgbClr val="E9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2103120"/>
            <a:ext cx="438912" cy="3291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1300" b="1">
                <a:solidFill>
                  <a:srgbClr val="45704C"/>
                </a:solidFill>
                <a:latin typeface="Yu Gothic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52728" y="2130552"/>
            <a:ext cx="1618487" cy="32004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1600" b="1">
                <a:solidFill>
                  <a:srgbClr val="45704C"/>
                </a:solidFill>
                <a:latin typeface="Yu Gothic"/>
              </a:rPr>
              <a:t>学習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" y="2551176"/>
            <a:ext cx="2020824" cy="27889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2000" b="0">
                <a:solidFill>
                  <a:srgbClr val="253129"/>
                </a:solidFill>
                <a:latin typeface="Yu Gothic"/>
              </a:rPr>
              <a:t>正解付きの画像や音から規則を学ぶ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72968" y="3300984"/>
            <a:ext cx="246888" cy="36576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2000" b="1">
                <a:solidFill>
                  <a:srgbClr val="45704C"/>
                </a:solidFill>
                <a:latin typeface="Yu Gothic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47288" y="1993392"/>
            <a:ext cx="2459736" cy="3474720"/>
          </a:xfrm>
          <a:prstGeom prst="rect">
            <a:avLst/>
          </a:prstGeom>
          <a:solidFill>
            <a:srgbClr val="E9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11880" y="2103120"/>
            <a:ext cx="438912" cy="3291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1300" b="1">
                <a:solidFill>
                  <a:srgbClr val="45704C"/>
                </a:solidFill>
                <a:latin typeface="Yu Gothic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05656" y="2130552"/>
            <a:ext cx="1618487" cy="32004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1600" b="1">
                <a:solidFill>
                  <a:srgbClr val="45704C"/>
                </a:solidFill>
                <a:latin typeface="Yu Gothic"/>
              </a:rPr>
              <a:t>検証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66744" y="2551176"/>
            <a:ext cx="2020824" cy="27889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2000" b="0">
                <a:solidFill>
                  <a:srgbClr val="253129"/>
                </a:solidFill>
                <a:latin typeface="Yu Gothic"/>
              </a:rPr>
              <a:t>未使用データで誤検出と見逃しを測る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25896" y="3300984"/>
            <a:ext cx="246888" cy="36576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2000" b="1">
                <a:solidFill>
                  <a:srgbClr val="45704C"/>
                </a:solidFill>
                <a:latin typeface="Yu Gothic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0216" y="1993392"/>
            <a:ext cx="2459736" cy="3474720"/>
          </a:xfrm>
          <a:prstGeom prst="rect">
            <a:avLst/>
          </a:prstGeom>
          <a:solidFill>
            <a:srgbClr val="E9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64807" y="2103120"/>
            <a:ext cx="438912" cy="3291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1300" b="1">
                <a:solidFill>
                  <a:srgbClr val="45704C"/>
                </a:solidFill>
                <a:latin typeface="Yu Gothic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58583" y="2130552"/>
            <a:ext cx="1618488" cy="32004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1600" b="1">
                <a:solidFill>
                  <a:srgbClr val="45704C"/>
                </a:solidFill>
                <a:latin typeface="Yu Gothic"/>
              </a:rPr>
              <a:t>現場試験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9672" y="2551176"/>
            <a:ext cx="2020824" cy="27889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2000" b="0">
                <a:solidFill>
                  <a:srgbClr val="253129"/>
                </a:solidFill>
                <a:latin typeface="Yu Gothic"/>
              </a:rPr>
              <a:t>季節・品種・光・地域が変わっても評価する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78824" y="3300984"/>
            <a:ext cx="246888" cy="36576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2000" b="1">
                <a:solidFill>
                  <a:srgbClr val="45704C"/>
                </a:solidFill>
                <a:latin typeface="Yu Gothic"/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53144" y="1993392"/>
            <a:ext cx="2459736" cy="3474720"/>
          </a:xfrm>
          <a:prstGeom prst="rect">
            <a:avLst/>
          </a:prstGeom>
          <a:solidFill>
            <a:srgbClr val="4570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17736" y="2103120"/>
            <a:ext cx="438912" cy="32918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Yu Gothic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11512" y="2130552"/>
            <a:ext cx="1618487" cy="32004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Yu Gothic"/>
              </a:rPr>
              <a:t>更新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72600" y="2551176"/>
            <a:ext cx="2020824" cy="27889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Yu Gothic"/>
              </a:rPr>
              <a:t>失敗例を収集し、再学習・再検証する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D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4570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12064" y="118872"/>
            <a:ext cx="6217920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1000" b="1">
                <a:solidFill>
                  <a:srgbClr val="45704C"/>
                </a:solidFill>
                <a:latin typeface="Yu Gothic"/>
              </a:rPr>
              <a:t>AIの基礎｜2026年補足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" y="475488"/>
            <a:ext cx="11064240" cy="82296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2800" b="1">
                <a:solidFill>
                  <a:srgbClr val="253129"/>
                </a:solidFill>
                <a:latin typeface="Yu Gothic"/>
              </a:rPr>
              <a:t>生成AIと画像判別AIは、出力も評価方法も異なる</a:t>
            </a:r>
          </a:p>
        </p:txBody>
      </p:sp>
      <p:sp>
        <p:nvSpPr>
          <p:cNvPr id="5" name="Rectangle 4"/>
          <p:cNvSpPr/>
          <p:nvPr/>
        </p:nvSpPr>
        <p:spPr>
          <a:xfrm>
            <a:off x="512064" y="1335024"/>
            <a:ext cx="11064240" cy="22860"/>
          </a:xfrm>
          <a:prstGeom prst="rect">
            <a:avLst/>
          </a:prstGeom>
          <a:solidFill>
            <a:srgbClr val="B9C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11512" y="6528816"/>
            <a:ext cx="1773936" cy="18288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r"/>
            <a:r>
              <a:rPr sz="800" b="0">
                <a:solidFill>
                  <a:srgbClr val="525F55"/>
                </a:solidFill>
                <a:latin typeface="Yu Gothic"/>
              </a:rPr>
              <a:t>2026.10.30  |  07</a:t>
            </a:r>
          </a:p>
        </p:txBody>
      </p:sp>
      <p:sp>
        <p:nvSpPr>
          <p:cNvPr id="7" name="Rectangle 6"/>
          <p:cNvSpPr/>
          <p:nvPr/>
        </p:nvSpPr>
        <p:spPr>
          <a:xfrm>
            <a:off x="768096" y="1746504"/>
            <a:ext cx="5212080" cy="2999232"/>
          </a:xfrm>
          <a:prstGeom prst="rect">
            <a:avLst/>
          </a:prstGeom>
          <a:solidFill>
            <a:srgbClr val="E9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1883664"/>
            <a:ext cx="4809744" cy="32004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1600" b="1">
                <a:solidFill>
                  <a:srgbClr val="45704C"/>
                </a:solidFill>
                <a:latin typeface="Yu Gothic"/>
              </a:rPr>
              <a:t>画像判別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2304288"/>
            <a:ext cx="4773168" cy="231343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2000" b="0">
                <a:solidFill>
                  <a:srgbClr val="253129"/>
                </a:solidFill>
                <a:latin typeface="Yu Gothic"/>
              </a:rPr>
              <a:t>病斑の候補や雑草の位置を出す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99632" y="1746504"/>
            <a:ext cx="5212080" cy="2999232"/>
          </a:xfrm>
          <a:prstGeom prst="rect">
            <a:avLst/>
          </a:prstGeom>
          <a:solidFill>
            <a:srgbClr val="4570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1883664"/>
            <a:ext cx="4809744" cy="32004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Yu Gothic"/>
              </a:rPr>
              <a:t>生成AI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2304288"/>
            <a:ext cx="4773168" cy="231343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Yu Gothic"/>
              </a:rPr>
              <a:t>文章・画像・コードなどを生成する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5074920"/>
            <a:ext cx="1645920" cy="36576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1500" b="1">
                <a:solidFill>
                  <a:srgbClr val="45704C"/>
                </a:solidFill>
                <a:latin typeface="Yu Gothic"/>
              </a:rPr>
              <a:t>共通の注意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0" y="4956048"/>
            <a:ext cx="8869680" cy="65836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1700" b="0">
                <a:solidFill>
                  <a:srgbClr val="253129"/>
                </a:solidFill>
                <a:latin typeface="Yu Gothic"/>
              </a:rPr>
              <a:t>出力を正解とみなさず、出典と現場条件を確認する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D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4570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12064" y="118872"/>
            <a:ext cx="6217920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1000" b="1">
                <a:solidFill>
                  <a:srgbClr val="45704C"/>
                </a:solidFill>
                <a:latin typeface="Yu Gothic"/>
              </a:rPr>
              <a:t>AIの基礎｜2026年補足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" y="475488"/>
            <a:ext cx="11064240" cy="82296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2800" b="1">
                <a:solidFill>
                  <a:srgbClr val="253129"/>
                </a:solidFill>
                <a:latin typeface="Yu Gothic"/>
              </a:rPr>
              <a:t>qPCRは標的を検出し、配列解読は別の方法で行う</a:t>
            </a:r>
          </a:p>
        </p:txBody>
      </p:sp>
      <p:sp>
        <p:nvSpPr>
          <p:cNvPr id="5" name="Rectangle 4"/>
          <p:cNvSpPr/>
          <p:nvPr/>
        </p:nvSpPr>
        <p:spPr>
          <a:xfrm>
            <a:off x="512064" y="1335024"/>
            <a:ext cx="11064240" cy="22860"/>
          </a:xfrm>
          <a:prstGeom prst="rect">
            <a:avLst/>
          </a:prstGeom>
          <a:solidFill>
            <a:srgbClr val="B9C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11512" y="6528816"/>
            <a:ext cx="1773936" cy="18288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r"/>
            <a:r>
              <a:rPr sz="800" b="0">
                <a:solidFill>
                  <a:srgbClr val="525F55"/>
                </a:solidFill>
                <a:latin typeface="Yu Gothic"/>
              </a:rPr>
              <a:t>2026.10.30  |  08</a:t>
            </a:r>
          </a:p>
        </p:txBody>
      </p:sp>
      <p:sp>
        <p:nvSpPr>
          <p:cNvPr id="7" name="Rectangle 6"/>
          <p:cNvSpPr/>
          <p:nvPr/>
        </p:nvSpPr>
        <p:spPr>
          <a:xfrm>
            <a:off x="768096" y="1746504"/>
            <a:ext cx="5212080" cy="2999232"/>
          </a:xfrm>
          <a:prstGeom prst="rect">
            <a:avLst/>
          </a:prstGeom>
          <a:solidFill>
            <a:srgbClr val="E9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1883664"/>
            <a:ext cx="4809744" cy="32004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1600" b="1">
                <a:solidFill>
                  <a:srgbClr val="45704C"/>
                </a:solidFill>
                <a:latin typeface="Yu Gothic"/>
              </a:rPr>
              <a:t>qPCR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2304288"/>
            <a:ext cx="4773168" cy="231343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2000" b="0">
                <a:solidFill>
                  <a:srgbClr val="253129"/>
                </a:solidFill>
                <a:latin typeface="Yu Gothic"/>
              </a:rPr>
              <a:t>既知の標的DNAがあるかを増幅中の蛍光で検出・定量する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99632" y="1746504"/>
            <a:ext cx="5212080" cy="2999232"/>
          </a:xfrm>
          <a:prstGeom prst="rect">
            <a:avLst/>
          </a:prstGeom>
          <a:solidFill>
            <a:srgbClr val="4570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1883664"/>
            <a:ext cx="4809744" cy="32004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Yu Gothic"/>
              </a:rPr>
              <a:t>シーケンシング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2304288"/>
            <a:ext cx="4773168" cy="231343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Yu Gothic"/>
              </a:rPr>
              <a:t>DNAの塩基の並びを読み、配列情報を得る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5074920"/>
            <a:ext cx="1645920" cy="36576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1500" b="1">
                <a:solidFill>
                  <a:srgbClr val="45704C"/>
                </a:solidFill>
                <a:latin typeface="Yu Gothic"/>
              </a:rPr>
              <a:t>環境DNA調査では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0" y="4956048"/>
            <a:ext cx="8869680" cy="65836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1700" b="0">
                <a:solidFill>
                  <a:srgbClr val="253129"/>
                </a:solidFill>
                <a:latin typeface="Yu Gothic"/>
              </a:rPr>
              <a:t>対象種を決めて探す方法と、多種を調べる方法を使い分ける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