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9739d1074047e0" /><Relationship Type="http://schemas.openxmlformats.org/officeDocument/2006/relationships/extended-properties" Target="/docProps/app.xml" Id="Rf8452cbe2fba45b7" /><Relationship Type="http://schemas.openxmlformats.org/officeDocument/2006/relationships/officeDocument" Target="/ppt/presentation.xml" Id="R1798f310318a4c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97fee693b473c"/>
  </p:sldMasterIdLst>
  <p:notesMasterIdLst>
    <p:notesMasterId xmlns:r="http://schemas.openxmlformats.org/officeDocument/2006/relationships" r:id="Rbc899f43d3f146a7"/>
  </p:notesMasterIdLst>
  <p:sldIdLst>
    <p:sldId xmlns:r="http://schemas.openxmlformats.org/officeDocument/2006/relationships" id="256" r:id="R2b50afb4cfb54845"/>
    <p:sldId xmlns:r="http://schemas.openxmlformats.org/officeDocument/2006/relationships" id="257" r:id="R1413d8495a764122"/>
    <p:sldId xmlns:r="http://schemas.openxmlformats.org/officeDocument/2006/relationships" id="258" r:id="R286e7443b1ed4a22"/>
    <p:sldId xmlns:r="http://schemas.openxmlformats.org/officeDocument/2006/relationships" id="259" r:id="R6da69544a4dd41a3"/>
    <p:sldId xmlns:r="http://schemas.openxmlformats.org/officeDocument/2006/relationships" id="260" r:id="R9f55a45f4552448c"/>
    <p:sldId xmlns:r="http://schemas.openxmlformats.org/officeDocument/2006/relationships" id="261" r:id="R7dda3230dc424e82"/>
    <p:sldId xmlns:r="http://schemas.openxmlformats.org/officeDocument/2006/relationships" id="262" r:id="Rf9281c4293fd4593"/>
    <p:sldId xmlns:r="http://schemas.openxmlformats.org/officeDocument/2006/relationships" id="263" r:id="Rd1c0613976b34c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8c5d88f6be453b" /><Relationship Type="http://schemas.openxmlformats.org/officeDocument/2006/relationships/slideMaster" Target="/ppt/slideMasters/slideMaster1.xml" Id="Rebb97fee693b473c" /><Relationship Type="http://schemas.openxmlformats.org/officeDocument/2006/relationships/notesMaster" Target="/ppt/notesMasters/notesMaster1.xml" Id="Rbc899f43d3f146a7" /><Relationship Type="http://schemas.openxmlformats.org/officeDocument/2006/relationships/presProps" Target="/ppt/presProps.xml" Id="Rcaba56589afb47a4" /><Relationship Type="http://schemas.openxmlformats.org/officeDocument/2006/relationships/tableStyles" Target="/ppt/tableStyles.xml" Id="Ra2495efd069c4e51" /><Relationship Type="http://schemas.openxmlformats.org/officeDocument/2006/relationships/slide" Target="/ppt/slides/slide1.xml" Id="R2b50afb4cfb54845" /><Relationship Type="http://schemas.openxmlformats.org/officeDocument/2006/relationships/slide" Target="/ppt/slides/slide2.xml" Id="R1413d8495a764122" /><Relationship Type="http://schemas.openxmlformats.org/officeDocument/2006/relationships/slide" Target="/ppt/slides/slide3.xml" Id="R286e7443b1ed4a22" /><Relationship Type="http://schemas.openxmlformats.org/officeDocument/2006/relationships/slide" Target="/ppt/slides/slide4.xml" Id="R6da69544a4dd41a3" /><Relationship Type="http://schemas.openxmlformats.org/officeDocument/2006/relationships/slide" Target="/ppt/slides/slide5.xml" Id="R9f55a45f4552448c" /><Relationship Type="http://schemas.openxmlformats.org/officeDocument/2006/relationships/slide" Target="/ppt/slides/slide6.xml" Id="R7dda3230dc424e82" /><Relationship Type="http://schemas.openxmlformats.org/officeDocument/2006/relationships/slide" Target="/ppt/slides/slide7.xml" Id="Rf9281c4293fd4593" /><Relationship Type="http://schemas.openxmlformats.org/officeDocument/2006/relationships/slide" Target="/ppt/slides/slide8.xml" Id="Rd1c0613976b3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7e21e17b3b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5f813868054063" /><Relationship Type="http://schemas.openxmlformats.org/officeDocument/2006/relationships/notesMaster" Target="/ppt/notesMasters/notesMaster1.xml" Id="R5d661736554d4d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6771edfe864455" /><Relationship Type="http://schemas.openxmlformats.org/officeDocument/2006/relationships/notesMaster" Target="/ppt/notesMasters/notesMaster1.xml" Id="R81ce590c94c94c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a7d3cb5a994ff0" /><Relationship Type="http://schemas.openxmlformats.org/officeDocument/2006/relationships/notesMaster" Target="/ppt/notesMasters/notesMaster1.xml" Id="Rfd94c53c828441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1c6fba66c4042" /><Relationship Type="http://schemas.openxmlformats.org/officeDocument/2006/relationships/notesMaster" Target="/ppt/notesMasters/notesMaster1.xml" Id="R2551eb0d376c43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3b99d418fa421f" /><Relationship Type="http://schemas.openxmlformats.org/officeDocument/2006/relationships/notesMaster" Target="/ppt/notesMasters/notesMaster1.xml" Id="Ra51c264d4db64e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90de6622c94381" /><Relationship Type="http://schemas.openxmlformats.org/officeDocument/2006/relationships/notesMaster" Target="/ppt/notesMasters/notesMaster1.xml" Id="Rfb418521203247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959e8b8ec04623" /><Relationship Type="http://schemas.openxmlformats.org/officeDocument/2006/relationships/notesMaster" Target="/ppt/notesMasters/notesMaster1.xml" Id="R4d574b5020c940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4ef4e3fdf94d75" /><Relationship Type="http://schemas.openxmlformats.org/officeDocument/2006/relationships/notesMaster" Target="/ppt/notesMasters/notesMaster1.xml" Id="Rc7419ebf09494e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スライドと同じ測量の約束を使う。X軸は北向き、Y軸は東向き。数学の通常の図のx軸右・y軸上とは異なる。方向角θはX軸の正方向（北）から時計回り。0°以上360°未満で表す。ΔX=X終点−X始点、ΔY=Y終点−Y始点。散布図は横軸ΔY、縦軸ΔX。象限番号は北東から時計回りに第1、第2、第3、第4。図の数値は説明用の座標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北東AはΔX=1、ΔY=1で方向角45°。南西BはΔX=−1、ΔY=−1で方向角225°。ともにΔY/ΔX=1。同じ直線上の正反対の方向になる。tanの値だけでは、向きは180°の違いを残してしか決まらない。座標差が持っていた符号の組合せの情報が、比を作る際に失われる。点名A・Bと色を併用し、色だけに依存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の実数rについて、α=arctan(r)の主値は−90°&lt;α&lt;90°。たとえばtan45°=tan225°=1だが、arctan1は45°を返す。同様にtan135°=tan315°=−1だがarctan(−1)は−45°を返す。arctanは全周の方向角を直接返す関数ではない。電卓のtanの逆関数を表すtan⁻¹は、この資料のarctanと同じ意味。1/tanを表すものではない。以後は度数法で計算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軸上でない場合の整理。第1象限はΔX&gt;0かつΔY&gt;0でθ=α。第2・第3象限はΔX&lt;0なのでθ=α+180°。第4象限はΔX&gt;0かつΔY&lt;0でα&lt;0なのでθ=α+360°。180°は正反対の向きへの補正、360°は同じ向きの表記を正にそろえる操作であり、意味が異なる。αは絶対値の比から得た鋭角ではなく、符号付きの比の逆正接である。絶対値を使う方位角表とは補正式を混用しない。軸上は7枚目で扱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用の座標差。南東AはΔX=−30m、ΔY=40m。北西BはΔX=30m、ΔY=−40m。α=arctan(−4/3)=−53.130102...°。AはΔX&lt;0だからα+180=126.869897...°、Bは北西だからα+360=306.869897...°。表示は小数第2位に四捨五入。南東の角は90〜180°、北西の角は270〜360°に入ることを確認する。散布図の座標差単位は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トラバースの座標計算で、Lと0〜360°の方向角θが与えられていればΔX=Lcosθ、ΔY=Lsinθを直接計算する。cos・sinが象限に応じた符号を返すので、象限別の公式に分ける必要はない。例L=100m、θ=120°ならΔX=−50m、ΔY=86.60254...mで南東。逆に座標差から方向角を求める際は、比を作ると符号の組合せを失うためarctanの後に補正する。昔の関数表や鋭角だけを扱う手計算では、象限ごとに正負を付ける形で整理できるが、方向角全体のcos・sinを使う計算では不要。観測角から次の辺の方向角を求める漸化計算は別の段階で、0〜360°への正規化を行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atan2は2つの引数の符号を使って象限を判定する。Pythonではdegrees(atan2(ΔY, ΔX)) % 360で北から時計回りの方向角になる。数学でのatan2(y,x)のyに測量のΔY、xに測量のΔXを対応させる。Excelの関数はATAN2(x_num,y_num)で引数順が逆なので、B2=ΔX、C2=ΔYなら=MOD(DEGREES(ATAN2(B2,C2)),360)。ラジアンから度への変換を含む。関数によって負の角を返すため正規化が必要。ΔX=ΔY=0は同一点で方向を定められず、呼び出し前に検査する。Pythonの返り値が0になっても幾何学的に方向角が定まることは意味しない。軸上では比ΔY/ΔXを使わず向きを直接決める。出典：Python公式 math.atan2 https://docs.python.org/3/library/math.html#math.atan2 、Microsoft公式 ATAN2 https://support.microsoft.com/ja-jp/excel/functions/atan2-function （2026-10-15確認）。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の解答。①ΔX=30、ΔY=40：北東、第1象限、α=53.130102...°、補正なし、θ=53.13°。②ΔX=−30、ΔY=40：南東、第2象限、α=−53.130102...°、180°を加えθ=126.87°。③ΔX=30、ΔY=−40：北西、第4象限、α=−53.130102...°、360°を加えθ=306.87°。②と③の比はいずれも−4/3だが方向角は180°異なる。数値の答えだけでなく、どの符号を見て補正したかを説明させる。最後に、arctanが使うのは一つの比、atan2が使うのは二つの座標差であること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23f7b502d4d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891c04cee45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a71d94b3141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8be1e857f42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a9331e12749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c30edcf9c42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16294A-365A-476E-8514-19313A85C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5AECF6-A692-4705-BF3B-CE2BEFD4AC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C43024-87E5-4A07-A76E-81FE4DDBBC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2EBFEC-16FE-433F-AB02-BA6A4A00C2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D51AB6-4EB8-499E-B486-DDE7EAC61E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1381EA-36B1-40F7-B88B-5000E1B5D9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8308EA-DF89-4353-A78D-A012B86AAA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CDFBD0-E487-4326-9676-61B4174949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4D1F5B-7A6C-4C8D-9E1A-1CEE36BBA5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31AEBD-14CC-45B4-AB70-CAE99FAA8F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61eb314ea4497c" /><Relationship Type="http://schemas.openxmlformats.org/officeDocument/2006/relationships/slideLayout" Target="/ppt/slideLayouts/slideLayout1.xml" Id="Re175f840f9314fe8" /><Relationship Type="http://schemas.openxmlformats.org/officeDocument/2006/relationships/slideLayout" Target="/ppt/slideLayouts/slideLayout2.xml" Id="R204e8ee14b834a33" /><Relationship Type="http://schemas.openxmlformats.org/officeDocument/2006/relationships/slideLayout" Target="/ppt/slideLayouts/slideLayout3.xml" Id="Ree35cd652f154dc4" /><Relationship Type="http://schemas.openxmlformats.org/officeDocument/2006/relationships/slideLayout" Target="/ppt/slideLayouts/slideLayout4.xml" Id="R38ae3959f9744d47" /><Relationship Type="http://schemas.openxmlformats.org/officeDocument/2006/relationships/slideLayout" Target="/ppt/slideLayouts/slideLayout5.xml" Id="Ra6690ece360a4262" /><Relationship Type="http://schemas.openxmlformats.org/officeDocument/2006/relationships/slideLayout" Target="/ppt/slideLayouts/slideLayout6.xml" Id="R01724329dbd34c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75f840f9314fe8"/>
    <p:sldLayoutId xmlns:r="http://schemas.openxmlformats.org/officeDocument/2006/relationships" id="2147483650" r:id="R204e8ee14b834a33"/>
    <p:sldLayoutId xmlns:r="http://schemas.openxmlformats.org/officeDocument/2006/relationships" id="2147483651" r:id="Ree35cd652f154dc4"/>
    <p:sldLayoutId xmlns:r="http://schemas.openxmlformats.org/officeDocument/2006/relationships" id="2147483652" r:id="R38ae3959f9744d47"/>
    <p:sldLayoutId xmlns:r="http://schemas.openxmlformats.org/officeDocument/2006/relationships" id="2147483653" r:id="Ra6690ece360a4262"/>
    <p:sldLayoutId xmlns:r="http://schemas.openxmlformats.org/officeDocument/2006/relationships" id="2147483654" r:id="R01724329dbd34c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1d9320f5724d2a" /><Relationship Type="http://schemas.openxmlformats.org/officeDocument/2006/relationships/chart" Target="/ppt/slides/charts/chart1.xml" Id="R9e0cfa601da14435" /><Relationship Type="http://schemas.openxmlformats.org/officeDocument/2006/relationships/notesSlide" Target="/ppt/notesSlides/notesSlide1.xml" Id="R677b8dc4d63d44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4f1566e534d92" /><Relationship Type="http://schemas.openxmlformats.org/officeDocument/2006/relationships/chart" Target="/ppt/slides/charts/chart2.xml" Id="Re2b0ad9731be44f5" /><Relationship Type="http://schemas.openxmlformats.org/officeDocument/2006/relationships/notesSlide" Target="/ppt/notesSlides/notesSlide2.xml" Id="Reb2fbe6185aa4f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21b4183334261" /><Relationship Type="http://schemas.openxmlformats.org/officeDocument/2006/relationships/notesSlide" Target="/ppt/notesSlides/notesSlide3.xml" Id="R9118688271bf42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19959d73847bd" /><Relationship Type="http://schemas.openxmlformats.org/officeDocument/2006/relationships/notesSlide" Target="/ppt/notesSlides/notesSlide4.xml" Id="Rb7ec342f5f1f45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aa3f0192a494b" /><Relationship Type="http://schemas.openxmlformats.org/officeDocument/2006/relationships/chart" Target="/ppt/slides/charts/chart3.xml" Id="R651c1c8ed1ef4634" /><Relationship Type="http://schemas.openxmlformats.org/officeDocument/2006/relationships/notesSlide" Target="/ppt/notesSlides/notesSlide5.xml" Id="R88b16169766149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0537f63664406" /><Relationship Type="http://schemas.openxmlformats.org/officeDocument/2006/relationships/notesSlide" Target="/ppt/notesSlides/notesSlide6.xml" Id="Ra86b710e7a9b41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39ae9fe5f4c4a" /><Relationship Type="http://schemas.openxmlformats.org/officeDocument/2006/relationships/notesSlide" Target="/ppt/notesSlides/notesSlide7.xml" Id="R925a419083954d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4cde20f034e89" /><Relationship Type="http://schemas.openxmlformats.org/officeDocument/2006/relationships/notesSlide" Target="/ppt/notesSlides/notesSlide8.xml" Id="R677718759ef94ef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北 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45989"/>
                        </a:solidFill>
                      </a:rPr>
                      <a:t>北 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45989"/>
                      </a:solidFill>
                    </a:defRPr>
                  </a:pPr>
                </a:p>
              </c:txPr>
              <c:dLblPos val="t"/>
              <c:showVal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東 90°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</a:rPr>
                      <a:t>東 90°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</a:defRPr>
                  </a:pPr>
                </a:p>
              </c:txPr>
              <c:dLblPos val="r"/>
              <c:showVal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南 180°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45989"/>
                        </a:solidFill>
                      </a:rPr>
                      <a:t>南 180°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45989"/>
                      </a:solidFill>
                    </a:defRPr>
                  </a:pPr>
                </a:p>
              </c:txPr>
              <c:dLblPos val="b"/>
              <c:showVal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ser>
          <c:idx val="3"/>
          <c:order val="3"/>
          <c:tx>
            <c:v>西 270°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</a:rPr>
                      <a:t>西 270°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</a:defRPr>
                  </a:pPr>
                </a:p>
              </c:txPr>
              <c:dLblPos val="l"/>
              <c:showVal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5"/>
          <c:min val="-1.6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ΔX（北が＋）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5"/>
          <c:min val="-1.65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ΔY（東が＋）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45°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</a:rPr>
                      <a:t>A 45°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</a:defRPr>
                  </a:pPr>
                </a:p>
              </c:txPr>
              <c:dLblPos val="t"/>
              <c:showVal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B 225°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BB542E"/>
                        </a:solidFill>
                      </a:rPr>
                      <a:t>B 225°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BB542E"/>
                      </a:solidFill>
                    </a:defRPr>
                  </a:pPr>
                </a:p>
              </c:txPr>
              <c:dLblPos val="b"/>
              <c:showVal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ΔX（北が＋）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"/>
          <c:min val="-1.6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ΔY（東が＋）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南東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BB542E"/>
                        </a:solidFill>
                      </a:rPr>
                      <a:t>A 南東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BB542E"/>
                      </a:solidFill>
                    </a:defRPr>
                  </a:pPr>
                </a:p>
              </c:txPr>
              <c:dLblPos val="r"/>
              <c:showVal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-30</c:v>
                </c:pt>
              </c:numCache>
            </c:numRef>
          </c:yVal>
        </c:ser>
        <c:ser>
          <c:idx val="1"/>
          <c:order val="1"/>
          <c:tx>
            <c:v>B 北西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</a:rPr>
                      <a:t>B 北西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</a:defRPr>
                  </a:pPr>
                </a:p>
              </c:txPr>
              <c:dLblPos val="t"/>
              <c:showVal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-40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30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"/>
          <c:min val="-7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ΔX（北が＋）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40"/>
      </c:valAx>
      <c:valAx>
        <c:axId val="48650112"/>
        <c:scaling>
          <c:orientation val="minMax"/>
          <c:max val="70"/>
          <c:min val="-7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ΔY（東が＋）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40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7272B51D-B873-4CCC-BD56-E3BE422C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方向角は、北から時計回りに測る">
            <a:extLst xmlns:a="http://schemas.openxmlformats.org/drawingml/2006/main">
              <a:ext uri="{FF2B5EF4-FFF2-40B4-BE49-F238E27FC236}">
                <a16:creationId xmlns:a16="http://schemas.microsoft.com/office/drawing/2014/main" id="{41B616FF-8241-4C64-ADA6-B2135881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方向角は、北から時計回りに測る</a:t>
            </a:r>
          </a:p>
        </p:txBody>
      </p:sp>
      <p:sp>
        <p:nvSpPr>
          <p:cNvPr id="3" name="X は北向き、Y は東向き。始点から終点への座標差で向きを表す。">
            <a:extLst xmlns:a="http://schemas.openxmlformats.org/drawingml/2006/main">
              <a:ext uri="{FF2B5EF4-FFF2-40B4-BE49-F238E27FC236}">
                <a16:creationId xmlns:a16="http://schemas.microsoft.com/office/drawing/2014/main" id="{779F545A-1C75-49CB-A184-994B7A5D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X は北向き、Y は東向き。始点から終点への座標差で向きを表す。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F88EA14F-6AEA-4752-ACE1-4E06222C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ΔX = X終点 − X始点">
            <a:extLst xmlns:a="http://schemas.openxmlformats.org/drawingml/2006/main">
              <a:ext uri="{FF2B5EF4-FFF2-40B4-BE49-F238E27FC236}">
                <a16:creationId xmlns:a16="http://schemas.microsoft.com/office/drawing/2014/main" id="{B5DBEB23-FD51-4A0E-B868-840ED59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X終点 − X始点</a:t>
            </a:r>
          </a:p>
        </p:txBody>
      </p:sp>
      <p:sp>
        <p:nvSpPr>
          <p:cNvPr id="6" name="ΔY = Y終点 − Y始点">
            <a:extLst xmlns:a="http://schemas.openxmlformats.org/drawingml/2006/main">
              <a:ext uri="{FF2B5EF4-FFF2-40B4-BE49-F238E27FC236}">
                <a16:creationId xmlns:a16="http://schemas.microsoft.com/office/drawing/2014/main" id="{1FF114D9-B896-490D-9310-0BDFE529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Y終点 − Y始点</a:t>
            </a:r>
          </a:p>
        </p:txBody>
      </p:sp>
      <p:sp>
        <p:nvSpPr>
          <p:cNvPr id="7" name="北 0°　　東 90°">
            <a:extLst xmlns:a="http://schemas.openxmlformats.org/drawingml/2006/main">
              <a:ext uri="{FF2B5EF4-FFF2-40B4-BE49-F238E27FC236}">
                <a16:creationId xmlns:a16="http://schemas.microsoft.com/office/drawing/2014/main" id="{E1742334-CC4C-4B06-BA56-F6ED164B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 0°　　東 90°</a:t>
            </a:r>
          </a:p>
        </p:txBody>
      </p:sp>
      <p:sp>
        <p:nvSpPr>
          <p:cNvPr id="8" name="南 180°　西 270°">
            <a:extLst xmlns:a="http://schemas.openxmlformats.org/drawingml/2006/main">
              <a:ext uri="{FF2B5EF4-FFF2-40B4-BE49-F238E27FC236}">
                <a16:creationId xmlns:a16="http://schemas.microsoft.com/office/drawing/2014/main" id="{3CAB5ED3-1960-4B4C-A25E-3DDE7397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南 180°　西 270°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C96030E-BDE5-4AA8-9E2D-19F8D0941DD3}"/>
              </a:ext>
            </a:extLst>
          </p:cNvPr>
          <p:cNvGraphicFramePr/>
          <p:nvPr/>
        </p:nvGraphicFramePr>
        <p:xfrm>
          <a:off xmlns:a="http://schemas.openxmlformats.org/drawingml/2006/main" x="6381750" y="1971675"/>
          <a:ext xmlns:a="http://schemas.openxmlformats.org/drawingml/2006/main" cx="5143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0cfa601da14435"/>
          </a:graphicData>
        </a:graphic>
      </p:graphicFrame>
      <p:sp>
        <p:nvSpPr>
          <p:cNvPr id="10" name="象限は、ΔX・ΔY の符号から向きを確かめるために使う。">
            <a:extLst xmlns:a="http://schemas.openxmlformats.org/drawingml/2006/main">
              <a:ext uri="{FF2B5EF4-FFF2-40B4-BE49-F238E27FC236}">
                <a16:creationId xmlns:a16="http://schemas.microsoft.com/office/drawing/2014/main" id="{BD2A27CD-B2D2-4B6A-89EA-2C4DE5D1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象限は、ΔX・ΔY の符号から向きを確かめるために使う。</a:t>
            </a:r>
          </a:p>
        </p:txBody>
      </p:sp>
    </p:spTree>
    <p:extLst>
      <p:ext uri="{BB962C8B-B14F-4D97-AF65-F5344CB8AC3E}">
        <p14:creationId xmlns:p14="http://schemas.microsoft.com/office/powerpoint/2010/main" val="755223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DD02C63F-72BE-497E-ACC3-5878F1B5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正反対の方向でも、ΔY / ΔX は同じ">
            <a:extLst xmlns:a="http://schemas.openxmlformats.org/drawingml/2006/main">
              <a:ext uri="{FF2B5EF4-FFF2-40B4-BE49-F238E27FC236}">
                <a16:creationId xmlns:a16="http://schemas.microsoft.com/office/drawing/2014/main" id="{53B8BDE9-227B-4F06-A5D1-850AAEC7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正反対の方向でも、ΔY / ΔX は同じ</a:t>
            </a:r>
          </a:p>
        </p:txBody>
      </p:sp>
      <p:sp>
        <p:nvSpPr>
          <p:cNvPr id="3" name="比を計算すると、両方が＋なのか、両方が−なのかを区別できない。">
            <a:extLst xmlns:a="http://schemas.openxmlformats.org/drawingml/2006/main">
              <a:ext uri="{FF2B5EF4-FFF2-40B4-BE49-F238E27FC236}">
                <a16:creationId xmlns:a16="http://schemas.microsoft.com/office/drawing/2014/main" id="{E1B3103C-DC5B-4600-BD0C-971551F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比を計算すると、両方が＋なのか、両方が−なのかを区別できない。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D659D2AE-2AC6-46D6-9FE8-F33FC796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E577D2C-E8B3-4697-BA62-78EE9F11133E}"/>
              </a:ext>
            </a:extLst>
          </p:cNvPr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5238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b0ad9731be44f5"/>
          </a:graphicData>
        </a:graphic>
      </p:graphicFrame>
      <p:sp>
        <p:nvSpPr>
          <p:cNvPr id="6" name="A：北東（ΔX, ΔY）=（1, 1）">
            <a:extLst xmlns:a="http://schemas.openxmlformats.org/drawingml/2006/main">
              <a:ext uri="{FF2B5EF4-FFF2-40B4-BE49-F238E27FC236}">
                <a16:creationId xmlns:a16="http://schemas.microsoft.com/office/drawing/2014/main" id="{6C3EC2D3-0A5A-4E54-8678-B5174278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A：北東（ΔX, ΔY）=（1, 1）</a:t>
            </a:r>
          </a:p>
        </p:txBody>
      </p:sp>
      <p:sp>
        <p:nvSpPr>
          <p:cNvPr id="7" name="ΔY / ΔX = 1 / 1 = 1">
            <a:extLst xmlns:a="http://schemas.openxmlformats.org/drawingml/2006/main">
              <a:ext uri="{FF2B5EF4-FFF2-40B4-BE49-F238E27FC236}">
                <a16:creationId xmlns:a16="http://schemas.microsoft.com/office/drawing/2014/main" id="{C5672F2D-4218-4C92-A4A2-A05C65A8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ΔY / ΔX = 1 / 1 = 1</a:t>
            </a:r>
          </a:p>
        </p:txBody>
      </p:sp>
      <p:sp>
        <p:nvSpPr>
          <p:cNvPr id="8" name="B：南西（ΔX, ΔY）=（−1, −1）">
            <a:extLst xmlns:a="http://schemas.openxmlformats.org/drawingml/2006/main">
              <a:ext uri="{FF2B5EF4-FFF2-40B4-BE49-F238E27FC236}">
                <a16:creationId xmlns:a16="http://schemas.microsoft.com/office/drawing/2014/main" id="{06127765-4536-45A8-BA3F-99714F8D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909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B：南西（ΔX, ΔY）=（−1, −1）</a:t>
            </a:r>
          </a:p>
        </p:txBody>
      </p:sp>
      <p:sp>
        <p:nvSpPr>
          <p:cNvPr id="9" name="ΔY / ΔX = (−1) / (−1) = 1">
            <a:extLst xmlns:a="http://schemas.openxmlformats.org/drawingml/2006/main">
              <a:ext uri="{FF2B5EF4-FFF2-40B4-BE49-F238E27FC236}">
                <a16:creationId xmlns:a16="http://schemas.microsoft.com/office/drawing/2014/main" id="{87F3AD7C-FF9A-45F3-8CC8-C8846BBC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ΔY / ΔX = (−1) / (−1) = 1</a:t>
            </a:r>
          </a:p>
        </p:txBody>
      </p:sp>
      <p:sp>
        <p:nvSpPr>
          <p:cNvPr id="10" name="同じ比でも、方向角は 45° と 225°。向きが180°違う。">
            <a:extLst xmlns:a="http://schemas.openxmlformats.org/drawingml/2006/main">
              <a:ext uri="{FF2B5EF4-FFF2-40B4-BE49-F238E27FC236}">
                <a16:creationId xmlns:a16="http://schemas.microsoft.com/office/drawing/2014/main" id="{B771D2DE-90FB-4433-8670-A97ADFA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同じ比でも、方向角は 45° と 225°。向きが180°違う。</a:t>
            </a:r>
          </a:p>
        </p:txBody>
      </p:sp>
    </p:spTree>
    <p:extLst>
      <p:ext uri="{BB962C8B-B14F-4D97-AF65-F5344CB8AC3E}">
        <p14:creationId xmlns:p14="http://schemas.microsoft.com/office/powerpoint/2010/main" val="15329045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D3C2CB22-496B-4815-8A8C-9617C552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逆正接が返す角度の範囲">
            <a:extLst xmlns:a="http://schemas.openxmlformats.org/drawingml/2006/main">
              <a:ext uri="{FF2B5EF4-FFF2-40B4-BE49-F238E27FC236}">
                <a16:creationId xmlns:a16="http://schemas.microsoft.com/office/drawing/2014/main" id="{E8C47A36-535F-4740-A6A1-E88E36A3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逆正接が返す角度の範囲</a:t>
            </a:r>
          </a:p>
        </p:txBody>
      </p:sp>
      <p:sp>
        <p:nvSpPr>
          <p:cNvPr id="3" name="arctan は、tan が同じ値になる角度のうち、決められた範囲の角を返す。">
            <a:extLst xmlns:a="http://schemas.openxmlformats.org/drawingml/2006/main">
              <a:ext uri="{FF2B5EF4-FFF2-40B4-BE49-F238E27FC236}">
                <a16:creationId xmlns:a16="http://schemas.microsoft.com/office/drawing/2014/main" id="{2B13AF82-B29F-4DDA-91D6-BB04463E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arctan は、tan が同じ値になる角度のうち、決められた範囲の角を返す。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BD7203BE-769B-45B9-93A7-3A9D4475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5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65886AAD-10F7-41A6-A551-24E7D237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6" name="−90° &lt; α &lt; 90°">
            <a:extLst xmlns:a="http://schemas.openxmlformats.org/drawingml/2006/main">
              <a:ext uri="{FF2B5EF4-FFF2-40B4-BE49-F238E27FC236}">
                <a16:creationId xmlns:a16="http://schemas.microsoft.com/office/drawing/2014/main" id="{2D21F52A-DF17-457B-93E4-D6A191D2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−90° &lt; α &lt; 90°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1D3AC-12BB-4A46-81F4-F1D51474E2AB}"/>
              </a:ext>
            </a:extLst>
          </p:cNvPr>
          <p:cNvGraphicFramePr/>
          <p:nvPr/>
        </p:nvGraphicFramePr>
        <p:xfrm>
          <a:off xmlns:a="http://schemas.openxmlformats.org/drawingml/2006/main" x="619125" y="3638550"/>
          <a:ext xmlns:a="http://schemas.openxmlformats.org/drawingml/2006/main" cx="10906125" cy="1685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095500"/>
                <a:gridCol w="3571875"/>
              </a:tblGrid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同じ tan の値になる方向角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比の値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arctan の答え 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 と 225°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 と 315°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8" name="α を求めたあと、元の座標差の符号で向きを確定する。">
            <a:extLst xmlns:a="http://schemas.openxmlformats.org/drawingml/2006/main">
              <a:ext uri="{FF2B5EF4-FFF2-40B4-BE49-F238E27FC236}">
                <a16:creationId xmlns:a16="http://schemas.microsoft.com/office/drawing/2014/main" id="{12E8214E-ABDC-484B-9D9F-C72FA9EE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α を求めたあと、元の座標差の符号で向きを確定する。</a:t>
            </a:r>
          </a:p>
        </p:txBody>
      </p:sp>
    </p:spTree>
    <p:extLst>
      <p:ext uri="{BB962C8B-B14F-4D97-AF65-F5344CB8AC3E}">
        <p14:creationId xmlns:p14="http://schemas.microsoft.com/office/powerpoint/2010/main" val="379020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1DDA8CB3-B5BF-45E1-A482-36FD8E60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象限の表は、向きを確定する手順">
            <a:extLst xmlns:a="http://schemas.openxmlformats.org/drawingml/2006/main">
              <a:ext uri="{FF2B5EF4-FFF2-40B4-BE49-F238E27FC236}">
                <a16:creationId xmlns:a16="http://schemas.microsoft.com/office/drawing/2014/main" id="{54172E18-CF5E-49B8-A9C1-07FE9DF1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象限の表は、向きを確定する手順</a:t>
            </a:r>
          </a:p>
        </p:txBody>
      </p:sp>
      <p:sp>
        <p:nvSpPr>
          <p:cNvPr id="3" name="α = arctan(ΔY / ΔX) を求め、方向角 θ を 0°以上360°未満にそろえる。">
            <a:extLst xmlns:a="http://schemas.openxmlformats.org/drawingml/2006/main">
              <a:ext uri="{FF2B5EF4-FFF2-40B4-BE49-F238E27FC236}">
                <a16:creationId xmlns:a16="http://schemas.microsoft.com/office/drawing/2014/main" id="{9664D4F8-E9DB-4FF2-8C4D-C44BD111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α = arctan(ΔY / ΔX) を求め、方向角 θ を 0°以上360°未満にそろえる。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FBF5885A-4BD4-464D-88E0-6BEA82E3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A799B-13FF-4F70-8F32-F8B9B4B11217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06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143000"/>
                <a:gridCol w="1143000"/>
                <a:gridCol w="2000250"/>
                <a:gridCol w="2095500"/>
                <a:gridCol w="2047875"/>
              </a:tblGrid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象限・向き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加える角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第1・北東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第2・南東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第3・南西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225°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第4・北西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360°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315°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6" name="180°：正反対の方向へ直す">
            <a:extLst xmlns:a="http://schemas.openxmlformats.org/drawingml/2006/main">
              <a:ext uri="{FF2B5EF4-FFF2-40B4-BE49-F238E27FC236}">
                <a16:creationId xmlns:a16="http://schemas.microsoft.com/office/drawing/2014/main" id="{41E16161-8D94-4085-B3BE-340C7634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180°：正反対の方向へ直す</a:t>
            </a:r>
          </a:p>
        </p:txBody>
      </p:sp>
      <p:sp>
        <p:nvSpPr>
          <p:cNvPr id="7" name="360°：同じ向きを正の角度で表す">
            <a:extLst xmlns:a="http://schemas.openxmlformats.org/drawingml/2006/main">
              <a:ext uri="{FF2B5EF4-FFF2-40B4-BE49-F238E27FC236}">
                <a16:creationId xmlns:a16="http://schemas.microsoft.com/office/drawing/2014/main" id="{A313DBD1-C0E5-4395-A962-F198EFA4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0542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360°：同じ向きを正の角度で表す</a:t>
            </a:r>
          </a:p>
        </p:txBody>
      </p:sp>
      <p:sp>
        <p:nvSpPr>
          <p:cNvPr id="8" name="南向き（ΔX &lt; 0）なら180°。北西なら負の角に360°。">
            <a:extLst xmlns:a="http://schemas.openxmlformats.org/drawingml/2006/main">
              <a:ext uri="{FF2B5EF4-FFF2-40B4-BE49-F238E27FC236}">
                <a16:creationId xmlns:a16="http://schemas.microsoft.com/office/drawing/2014/main" id="{4E536A61-9A88-4645-8D05-3DC2973A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南向き（ΔX &lt; 0）なら180°。北西なら負の角に360°。</a:t>
            </a:r>
          </a:p>
        </p:txBody>
      </p:sp>
    </p:spTree>
    <p:extLst>
      <p:ext uri="{BB962C8B-B14F-4D97-AF65-F5344CB8AC3E}">
        <p14:creationId xmlns:p14="http://schemas.microsoft.com/office/powerpoint/2010/main" val="8118894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15080CBE-DACF-4903-8AB0-F0D332C2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計算例：同じ比でも、補正は異なる">
            <a:extLst xmlns:a="http://schemas.openxmlformats.org/drawingml/2006/main">
              <a:ext uri="{FF2B5EF4-FFF2-40B4-BE49-F238E27FC236}">
                <a16:creationId xmlns:a16="http://schemas.microsoft.com/office/drawing/2014/main" id="{8389A814-7677-42DF-8781-35ABFC41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計算例：同じ比でも、補正は異なる</a:t>
            </a:r>
          </a:p>
        </p:txBody>
      </p:sp>
      <p:sp>
        <p:nvSpPr>
          <p:cNvPr id="3" name="南東と北西はいずれも ΔY / ΔX = −4 / 3。まず向きの見当をつける。">
            <a:extLst xmlns:a="http://schemas.openxmlformats.org/drawingml/2006/main">
              <a:ext uri="{FF2B5EF4-FFF2-40B4-BE49-F238E27FC236}">
                <a16:creationId xmlns:a16="http://schemas.microsoft.com/office/drawing/2014/main" id="{1EBB6F4F-9B2D-4324-9AA8-EBC41269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南東と北西はいずれも ΔY / ΔX = −4 / 3。まず向きの見当をつける。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45E9B695-5801-473C-985D-CFFAC077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5" name="A：ΔX = −30 m、ΔY = ＋40 m">
            <a:extLst xmlns:a="http://schemas.openxmlformats.org/drawingml/2006/main">
              <a:ext uri="{FF2B5EF4-FFF2-40B4-BE49-F238E27FC236}">
                <a16:creationId xmlns:a16="http://schemas.microsoft.com/office/drawing/2014/main" id="{BB102330-BEFE-45B0-B26E-30273A5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A：ΔX = −30 m、ΔY = ＋40 m</a:t>
            </a:r>
          </a:p>
        </p:txBody>
      </p:sp>
      <p:sp>
        <p:nvSpPr>
          <p:cNvPr id="6" name="α = arctan(−4/3) ≈ −53.13°">
            <a:extLst xmlns:a="http://schemas.openxmlformats.org/drawingml/2006/main">
              <a:ext uri="{FF2B5EF4-FFF2-40B4-BE49-F238E27FC236}">
                <a16:creationId xmlns:a16="http://schemas.microsoft.com/office/drawing/2014/main" id="{CAB61B09-8B48-4C1C-8112-D12DD5A5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arctan(−4/3) ≈ −53.13°</a:t>
            </a:r>
          </a:p>
        </p:txBody>
      </p:sp>
      <p:sp>
        <p:nvSpPr>
          <p:cNvPr id="7" name="θ ≈ −53.13° + 180° = 126.87°">
            <a:extLst xmlns:a="http://schemas.openxmlformats.org/drawingml/2006/main">
              <a:ext uri="{FF2B5EF4-FFF2-40B4-BE49-F238E27FC236}">
                <a16:creationId xmlns:a16="http://schemas.microsoft.com/office/drawing/2014/main" id="{63AEE68D-1CB0-448C-BAF4-8CCF433F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θ ≈ −53.13° + 180° = 126.87°</a:t>
            </a:r>
          </a:p>
        </p:txBody>
      </p:sp>
      <p:sp>
        <p:nvSpPr>
          <p:cNvPr id="8" name="B：ΔX = ＋30 m、ΔY = −40 m">
            <a:extLst xmlns:a="http://schemas.openxmlformats.org/drawingml/2006/main">
              <a:ext uri="{FF2B5EF4-FFF2-40B4-BE49-F238E27FC236}">
                <a16:creationId xmlns:a16="http://schemas.microsoft.com/office/drawing/2014/main" id="{1F121AED-934E-4717-95B4-FACB71B9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B：ΔX = ＋30 m、ΔY = −40 m</a:t>
            </a:r>
          </a:p>
        </p:txBody>
      </p:sp>
      <p:sp>
        <p:nvSpPr>
          <p:cNvPr id="9" name="θ ≈ −53.13° + 360° = 306.87°">
            <a:extLst xmlns:a="http://schemas.openxmlformats.org/drawingml/2006/main">
              <a:ext uri="{FF2B5EF4-FFF2-40B4-BE49-F238E27FC236}">
                <a16:creationId xmlns:a16="http://schemas.microsoft.com/office/drawing/2014/main" id="{1FD33E29-B258-46C2-8F6F-8B8B3A2F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θ ≈ −53.13° + 360° = 306.87°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CFB6FE8-0268-4401-85DF-CF4D68F152EA}"/>
              </a:ext>
            </a:extLst>
          </p:cNvPr>
          <p:cNvGraphicFramePr/>
          <p:nvPr/>
        </p:nvGraphicFramePr>
        <p:xfrm>
          <a:off xmlns:a="http://schemas.openxmlformats.org/drawingml/2006/main" x="7000875" y="2000250"/>
          <a:ext xmlns:a="http://schemas.openxmlformats.org/drawingml/2006/main" cx="4524375" cy="3457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1c1c8ed1ef4634"/>
          </a:graphicData>
        </a:graphic>
      </p:graphicFrame>
      <p:sp>
        <p:nvSpPr>
          <p:cNvPr id="11" name="答えの角度が、座標差から予想した向きに入るか確かめる。">
            <a:extLst xmlns:a="http://schemas.openxmlformats.org/drawingml/2006/main">
              <a:ext uri="{FF2B5EF4-FFF2-40B4-BE49-F238E27FC236}">
                <a16:creationId xmlns:a16="http://schemas.microsoft.com/office/drawing/2014/main" id="{26DE8D2B-5F4B-409C-9577-040B77FE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答えの角度が、座標差から予想した向きに入るか確かめる。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18543000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C6DC4B1D-F796-44BA-86A1-BBC4C46C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トラバースでは、計算の向きで扱いが変わる">
            <a:extLst xmlns:a="http://schemas.openxmlformats.org/drawingml/2006/main">
              <a:ext uri="{FF2B5EF4-FFF2-40B4-BE49-F238E27FC236}">
                <a16:creationId xmlns:a16="http://schemas.microsoft.com/office/drawing/2014/main" id="{CD6FA187-50DB-4EC6-AD11-8835E3A4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トラバースでは、計算の向きで扱いが変わる</a:t>
            </a:r>
          </a:p>
        </p:txBody>
      </p:sp>
      <p:sp>
        <p:nvSpPr>
          <p:cNvPr id="3" name="距離・方向角から座標差を求める場合と、その逆を区別する。">
            <a:extLst xmlns:a="http://schemas.openxmlformats.org/drawingml/2006/main">
              <a:ext uri="{FF2B5EF4-FFF2-40B4-BE49-F238E27FC236}">
                <a16:creationId xmlns:a16="http://schemas.microsoft.com/office/drawing/2014/main" id="{3A6F17C0-B617-468C-BA57-E85AA014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距離・方向角から座標差を求める場合と、その逆を区別する。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6CFE839D-0DC7-4F68-80D1-C90033F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5" name="距離・方向角から座標差">
            <a:extLst xmlns:a="http://schemas.openxmlformats.org/drawingml/2006/main">
              <a:ext uri="{FF2B5EF4-FFF2-40B4-BE49-F238E27FC236}">
                <a16:creationId xmlns:a16="http://schemas.microsoft.com/office/drawing/2014/main" id="{A28A54A6-86BA-4C96-8F58-83C3145D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距離・方向角から座標差</a:t>
            </a:r>
          </a:p>
        </p:txBody>
      </p:sp>
      <p:sp>
        <p:nvSpPr>
          <p:cNvPr id="6" name="ΔX = L cos θ">
            <a:extLst xmlns:a="http://schemas.openxmlformats.org/drawingml/2006/main">
              <a:ext uri="{FF2B5EF4-FFF2-40B4-BE49-F238E27FC236}">
                <a16:creationId xmlns:a16="http://schemas.microsoft.com/office/drawing/2014/main" id="{A07A6390-62E6-4FB4-B6E2-A1A452C6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L cos θ</a:t>
            </a:r>
          </a:p>
        </p:txBody>
      </p:sp>
      <p:sp>
        <p:nvSpPr>
          <p:cNvPr id="7" name="ΔY = L sin θ">
            <a:extLst xmlns:a="http://schemas.openxmlformats.org/drawingml/2006/main">
              <a:ext uri="{FF2B5EF4-FFF2-40B4-BE49-F238E27FC236}">
                <a16:creationId xmlns:a16="http://schemas.microsoft.com/office/drawing/2014/main" id="{0DE0198C-1C54-40A3-BE0C-FEEF48F6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75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L sin θ</a:t>
            </a:r>
          </a:p>
        </p:txBody>
      </p:sp>
      <p:sp>
        <p:nvSpPr>
          <p:cNvPr id="8" name="cos・sin が正負も返す。">
            <a:extLst xmlns:a="http://schemas.openxmlformats.org/drawingml/2006/main">
              <a:ext uri="{FF2B5EF4-FFF2-40B4-BE49-F238E27FC236}">
                <a16:creationId xmlns:a16="http://schemas.microsoft.com/office/drawing/2014/main" id="{030F5FDE-48F3-459C-AD8F-AD138057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cos・sin が正負も返す。</a:t>
            </a:r>
          </a:p>
        </p:txBody>
      </p:sp>
      <p:sp>
        <p:nvSpPr>
          <p:cNvPr id="9" name="L = 100 m、θ = 120° の例">
            <a:extLst xmlns:a="http://schemas.openxmlformats.org/drawingml/2006/main">
              <a:ext uri="{FF2B5EF4-FFF2-40B4-BE49-F238E27FC236}">
                <a16:creationId xmlns:a16="http://schemas.microsoft.com/office/drawing/2014/main" id="{D427712B-8F90-40BC-B0B6-4B9DAD16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L = 100 m、θ = 120° の例</a:t>
            </a:r>
          </a:p>
        </p:txBody>
      </p:sp>
      <p:sp>
        <p:nvSpPr>
          <p:cNvPr id="10" name="ΔX = −50 m,   ΔY ≈ 86.60 m">
            <a:extLst xmlns:a="http://schemas.openxmlformats.org/drawingml/2006/main">
              <a:ext uri="{FF2B5EF4-FFF2-40B4-BE49-F238E27FC236}">
                <a16:creationId xmlns:a16="http://schemas.microsoft.com/office/drawing/2014/main" id="{37946BC9-5865-4D07-A28E-AB89F702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−50 m,   ΔY ≈ 86.60 m</a:t>
            </a:r>
          </a:p>
        </p:txBody>
      </p:sp>
      <p:sp>
        <p:nvSpPr>
          <p:cNvPr id="11" name="座標差から方向角">
            <a:extLst xmlns:a="http://schemas.openxmlformats.org/drawingml/2006/main">
              <a:ext uri="{FF2B5EF4-FFF2-40B4-BE49-F238E27FC236}">
                <a16:creationId xmlns:a16="http://schemas.microsoft.com/office/drawing/2014/main" id="{B0D4C8A2-B86E-4E3A-ABCE-4069D50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座標差から方向角</a:t>
            </a:r>
          </a:p>
        </p:txBody>
      </p:sp>
      <p:sp>
        <p:nvSpPr>
          <p:cNvPr id="12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4452C2AF-25B4-4AF0-9800-B049B07D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13" name="元の符号を確認し、">
            <a:extLst xmlns:a="http://schemas.openxmlformats.org/drawingml/2006/main">
              <a:ext uri="{FF2B5EF4-FFF2-40B4-BE49-F238E27FC236}">
                <a16:creationId xmlns:a16="http://schemas.microsoft.com/office/drawing/2014/main" id="{DB8BAAE4-8782-4DCE-B88D-8E6C61BF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337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元の符号を確認し、</a:t>
            </a:r>
          </a:p>
        </p:txBody>
      </p:sp>
      <p:sp>
        <p:nvSpPr>
          <p:cNvPr id="14" name="180° または360°を加える。">
            <a:extLst xmlns:a="http://schemas.openxmlformats.org/drawingml/2006/main">
              <a:ext uri="{FF2B5EF4-FFF2-40B4-BE49-F238E27FC236}">
                <a16:creationId xmlns:a16="http://schemas.microsoft.com/office/drawing/2014/main" id="{E424133B-415D-4A7B-B7A8-2600E1E5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180° または360°を加える。</a:t>
            </a:r>
          </a:p>
        </p:txBody>
      </p:sp>
      <p:sp>
        <p:nvSpPr>
          <p:cNvPr id="15" name="atan2 なら、この判定も関数が行う。">
            <a:extLst xmlns:a="http://schemas.openxmlformats.org/drawingml/2006/main">
              <a:ext uri="{FF2B5EF4-FFF2-40B4-BE49-F238E27FC236}">
                <a16:creationId xmlns:a16="http://schemas.microsoft.com/office/drawing/2014/main" id="{9FE640D0-BE69-4C71-AAE7-167B35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なら、この判定も関数が行う。</a:t>
            </a:r>
          </a:p>
        </p:txBody>
      </p:sp>
      <p:sp>
        <p:nvSpPr>
          <p:cNvPr id="16" name="象限分けが必要になるのは、主に「比から向きを戻す」とき。">
            <a:extLst xmlns:a="http://schemas.openxmlformats.org/drawingml/2006/main">
              <a:ext uri="{FF2B5EF4-FFF2-40B4-BE49-F238E27FC236}">
                <a16:creationId xmlns:a16="http://schemas.microsoft.com/office/drawing/2014/main" id="{8647F3F2-044A-4E68-AAC8-77D35F46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象限分けが必要になるのは、主に「比から向きを戻す」とき。</a:t>
            </a:r>
          </a:p>
        </p:txBody>
      </p:sp>
    </p:spTree>
    <p:extLst>
      <p:ext uri="{BB962C8B-B14F-4D97-AF65-F5344CB8AC3E}">
        <p14:creationId xmlns:p14="http://schemas.microsoft.com/office/powerpoint/2010/main" val="601425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97F8C618-C56B-4061-9AC5-C02C1F85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atan2 は、二つの座標差を別々に受け取る">
            <a:extLst xmlns:a="http://schemas.openxmlformats.org/drawingml/2006/main">
              <a:ext uri="{FF2B5EF4-FFF2-40B4-BE49-F238E27FC236}">
                <a16:creationId xmlns:a16="http://schemas.microsoft.com/office/drawing/2014/main" id="{A840FE26-05ED-4FC0-B395-ED88E8A1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は、二つの座標差を別々に受け取る</a:t>
            </a:r>
          </a:p>
        </p:txBody>
      </p:sp>
      <p:sp>
        <p:nvSpPr>
          <p:cNvPr id="3" name="比にする前の符号を使うため、全周の向きを求められる。">
            <a:extLst xmlns:a="http://schemas.openxmlformats.org/drawingml/2006/main">
              <a:ext uri="{FF2B5EF4-FFF2-40B4-BE49-F238E27FC236}">
                <a16:creationId xmlns:a16="http://schemas.microsoft.com/office/drawing/2014/main" id="{9EC627D1-826C-4A99-9BD4-131BDF07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比にする前の符号を使うため、全周の向きを求められる。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72502D2E-BF5D-4C0B-BE5A-C0BB0C69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5" name="Excel の例：B2 に ΔX、C2 に ΔY">
            <a:extLst xmlns:a="http://schemas.openxmlformats.org/drawingml/2006/main">
              <a:ext uri="{FF2B5EF4-FFF2-40B4-BE49-F238E27FC236}">
                <a16:creationId xmlns:a16="http://schemas.microsoft.com/office/drawing/2014/main" id="{5786CCC7-9103-4C0A-AD4F-348A6E00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Excel の例：B2 に ΔX、C2 に ΔY</a:t>
            </a:r>
          </a:p>
        </p:txBody>
      </p:sp>
      <p:sp>
        <p:nvSpPr>
          <p:cNvPr id="6" name="=MOD(DEGREES(ATAN2(B2,C2)),360)">
            <a:extLst xmlns:a="http://schemas.openxmlformats.org/drawingml/2006/main">
              <a:ext uri="{FF2B5EF4-FFF2-40B4-BE49-F238E27FC236}">
                <a16:creationId xmlns:a16="http://schemas.microsoft.com/office/drawing/2014/main" id="{7F2D3B10-46F9-42AD-B851-20645BCD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=MOD(DEGREES(ATAN2(B2,C2)),360)</a:t>
            </a:r>
          </a:p>
        </p:txBody>
      </p:sp>
      <p:sp>
        <p:nvSpPr>
          <p:cNvPr id="7" name="引数の順序はソフトによって異なる。返り値を度に直し、0〜360°にそろえる。">
            <a:extLst xmlns:a="http://schemas.openxmlformats.org/drawingml/2006/main">
              <a:ext uri="{FF2B5EF4-FFF2-40B4-BE49-F238E27FC236}">
                <a16:creationId xmlns:a16="http://schemas.microsoft.com/office/drawing/2014/main" id="{EC933BBF-892E-450F-97DA-8DB47405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引数の順序はソフトによって異なる。返り値を度に直し、0〜360°にそろえる。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E676A-D4CE-45D2-A4CA-75ABB3A5FB78}"/>
              </a:ext>
            </a:extLst>
          </p:cNvPr>
          <p:cNvGraphicFramePr/>
          <p:nvPr/>
        </p:nvGraphicFramePr>
        <p:xfrm>
          <a:off xmlns:a="http://schemas.openxmlformats.org/drawingml/2006/main" x="619125" y="3914775"/>
          <a:ext xmlns:a="http://schemas.openxmlformats.org/drawingml/2006/main" cx="10906125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47875"/>
                <a:gridCol w="2047875"/>
                <a:gridCol w="2047875"/>
                <a:gridCol w="2095500"/>
              </a:tblGrid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軸上の向き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90°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270°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ΔX = 0、ΔY = 0 のときは、方向角が定まらない。">
            <a:extLst xmlns:a="http://schemas.openxmlformats.org/drawingml/2006/main">
              <a:ext uri="{FF2B5EF4-FFF2-40B4-BE49-F238E27FC236}">
                <a16:creationId xmlns:a16="http://schemas.microsoft.com/office/drawing/2014/main" id="{DD55C4B5-9DC4-40AF-A29E-2AAA3315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ΔX = 0、ΔY = 0 のときは、方向角が定まらない。</a:t>
            </a:r>
          </a:p>
        </p:txBody>
      </p:sp>
    </p:spTree>
    <p:extLst>
      <p:ext uri="{BB962C8B-B14F-4D97-AF65-F5344CB8AC3E}">
        <p14:creationId xmlns:p14="http://schemas.microsoft.com/office/powerpoint/2010/main" val="2093854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26981EBC-800D-475F-8496-70A0D3BD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確認問題：比の計算前に、向きを予想する">
            <a:extLst xmlns:a="http://schemas.openxmlformats.org/drawingml/2006/main">
              <a:ext uri="{FF2B5EF4-FFF2-40B4-BE49-F238E27FC236}">
                <a16:creationId xmlns:a16="http://schemas.microsoft.com/office/drawing/2014/main" id="{529CFDBA-5A4B-4085-9070-65F69BDB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確認問題：比の計算前に、向きを予想する</a:t>
            </a:r>
          </a:p>
        </p:txBody>
      </p:sp>
      <p:sp>
        <p:nvSpPr>
          <p:cNvPr id="3" name="各行について、向き・arctan の答え α・補正後の方向角 θ を求める。">
            <a:extLst xmlns:a="http://schemas.openxmlformats.org/drawingml/2006/main">
              <a:ext uri="{FF2B5EF4-FFF2-40B4-BE49-F238E27FC236}">
                <a16:creationId xmlns:a16="http://schemas.microsoft.com/office/drawing/2014/main" id="{F9C0ED9F-F1DF-4921-8EDE-6F594048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各行について、向き・arctan の答え α・補正後の方向角 θ を求める。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89574E0F-AE0E-40F6-A9F4-08FF018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B7D16-48CC-4AE8-9940-C00C22E82D4B}"/>
              </a:ext>
            </a:extLst>
          </p:cNvPr>
          <p:cNvGraphicFramePr/>
          <p:nvPr/>
        </p:nvGraphicFramePr>
        <p:xfrm>
          <a:off xmlns:a="http://schemas.openxmlformats.org/drawingml/2006/main" x="619125" y="2162175"/>
          <a:ext xmlns:a="http://schemas.openxmlformats.org/drawingml/2006/main" cx="10906125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1714500"/>
                <a:gridCol w="2047875"/>
                <a:gridCol w="2047875"/>
                <a:gridCol w="2047875"/>
              </a:tblGrid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向き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② と ③ は比が同じ。方向角も同じになるだろうか。">
            <a:extLst xmlns:a="http://schemas.openxmlformats.org/drawingml/2006/main">
              <a:ext uri="{FF2B5EF4-FFF2-40B4-BE49-F238E27FC236}">
                <a16:creationId xmlns:a16="http://schemas.microsoft.com/office/drawing/2014/main" id="{ED312CBB-EB0F-4D0F-B9E5-EF747460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② と ③ は比が同じ。方向角も同じになるだろうか。</a:t>
            </a:r>
          </a:p>
        </p:txBody>
      </p:sp>
      <p:sp>
        <p:nvSpPr>
          <p:cNvPr id="7" name="「どの象限か」から、「なぜその補正か」まで説明する。">
            <a:extLst xmlns:a="http://schemas.openxmlformats.org/drawingml/2006/main">
              <a:ext uri="{FF2B5EF4-FFF2-40B4-BE49-F238E27FC236}">
                <a16:creationId xmlns:a16="http://schemas.microsoft.com/office/drawing/2014/main" id="{6354312D-92B7-4C77-98CB-9C2E4D73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「どの象限か」から、「なぜその補正か」まで説明する。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1885619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2026-10-15T02:57:47.3250000Z</dcterms:created>
  <dcterms:modified xsi:type="dcterms:W3CDTF">2026-10-15T02:57:47.3250000Z</dcterms:modified>
</coreProperties>
</file>