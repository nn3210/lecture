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2df35daa334936" /><Relationship Type="http://schemas.openxmlformats.org/officeDocument/2006/relationships/extended-properties" Target="/docProps/app.xml" Id="R5ec02313e4ec498d" /><Relationship Type="http://schemas.openxmlformats.org/officeDocument/2006/relationships/officeDocument" Target="/ppt/presentation.xml" Id="R900f83375dca45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0bad1b62a74566"/>
  </p:sldMasterIdLst>
  <p:notesMasterIdLst>
    <p:notesMasterId xmlns:r="http://schemas.openxmlformats.org/officeDocument/2006/relationships" r:id="Rd68c836f58aa492c"/>
  </p:notesMasterIdLst>
  <p:sldIdLst>
    <p:sldId xmlns:r="http://schemas.openxmlformats.org/officeDocument/2006/relationships" id="256" r:id="Rd9204251adb349bc"/>
    <p:sldId xmlns:r="http://schemas.openxmlformats.org/officeDocument/2006/relationships" id="257" r:id="R63efba3f1e8c46d1"/>
    <p:sldId xmlns:r="http://schemas.openxmlformats.org/officeDocument/2006/relationships" id="258" r:id="R3634c6800087498a"/>
    <p:sldId xmlns:r="http://schemas.openxmlformats.org/officeDocument/2006/relationships" id="259" r:id="R366a45655caf4dfd"/>
    <p:sldId xmlns:r="http://schemas.openxmlformats.org/officeDocument/2006/relationships" id="260" r:id="Rc674e362da064152"/>
    <p:sldId xmlns:r="http://schemas.openxmlformats.org/officeDocument/2006/relationships" id="261" r:id="Ra9ddfed17d88495c"/>
    <p:sldId xmlns:r="http://schemas.openxmlformats.org/officeDocument/2006/relationships" id="262" r:id="R71a68e97df6c4de0"/>
    <p:sldId xmlns:r="http://schemas.openxmlformats.org/officeDocument/2006/relationships" id="263" r:id="R44acd63d0b2a4f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4e2e0bd9c641c4" /><Relationship Type="http://schemas.openxmlformats.org/officeDocument/2006/relationships/slideMaster" Target="/ppt/slideMasters/slideMaster1.xml" Id="Rb10bad1b62a74566" /><Relationship Type="http://schemas.openxmlformats.org/officeDocument/2006/relationships/notesMaster" Target="/ppt/notesMasters/notesMaster1.xml" Id="Rd68c836f58aa492c" /><Relationship Type="http://schemas.openxmlformats.org/officeDocument/2006/relationships/presProps" Target="/ppt/presProps.xml" Id="R4620c2033a7a4d10" /><Relationship Type="http://schemas.openxmlformats.org/officeDocument/2006/relationships/tableStyles" Target="/ppt/tableStyles.xml" Id="R5c0a147467bd4218" /><Relationship Type="http://schemas.openxmlformats.org/officeDocument/2006/relationships/slide" Target="/ppt/slides/slide1.xml" Id="Rd9204251adb349bc" /><Relationship Type="http://schemas.openxmlformats.org/officeDocument/2006/relationships/slide" Target="/ppt/slides/slide2.xml" Id="R63efba3f1e8c46d1" /><Relationship Type="http://schemas.openxmlformats.org/officeDocument/2006/relationships/slide" Target="/ppt/slides/slide3.xml" Id="R3634c6800087498a" /><Relationship Type="http://schemas.openxmlformats.org/officeDocument/2006/relationships/slide" Target="/ppt/slides/slide4.xml" Id="R366a45655caf4dfd" /><Relationship Type="http://schemas.openxmlformats.org/officeDocument/2006/relationships/slide" Target="/ppt/slides/slide5.xml" Id="Rc674e362da064152" /><Relationship Type="http://schemas.openxmlformats.org/officeDocument/2006/relationships/slide" Target="/ppt/slides/slide6.xml" Id="Ra9ddfed17d88495c" /><Relationship Type="http://schemas.openxmlformats.org/officeDocument/2006/relationships/slide" Target="/ppt/slides/slide7.xml" Id="R71a68e97df6c4de0" /><Relationship Type="http://schemas.openxmlformats.org/officeDocument/2006/relationships/slide" Target="/ppt/slides/slide8.xml" Id="R44acd63d0b2a4f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17194cd7d142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3b8995cee64d02" /><Relationship Type="http://schemas.openxmlformats.org/officeDocument/2006/relationships/notesMaster" Target="/ppt/notesMasters/notesMaster1.xml" Id="R14d9b4abc2a341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276fef3b43480f" /><Relationship Type="http://schemas.openxmlformats.org/officeDocument/2006/relationships/notesMaster" Target="/ppt/notesMasters/notesMaster1.xml" Id="Re0adbbd8dd3d45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9aaa61093f4cc7" /><Relationship Type="http://schemas.openxmlformats.org/officeDocument/2006/relationships/notesMaster" Target="/ppt/notesMasters/notesMaster1.xml" Id="R53c86c4c98e445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ff2128d4d64a97" /><Relationship Type="http://schemas.openxmlformats.org/officeDocument/2006/relationships/notesMaster" Target="/ppt/notesMasters/notesMaster1.xml" Id="R87b7f37b5e604a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5f8d2778204606" /><Relationship Type="http://schemas.openxmlformats.org/officeDocument/2006/relationships/notesMaster" Target="/ppt/notesMasters/notesMaster1.xml" Id="R1311caf0654047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6942eef28d4846" /><Relationship Type="http://schemas.openxmlformats.org/officeDocument/2006/relationships/notesMaster" Target="/ppt/notesMasters/notesMaster1.xml" Id="R89ed7c29afbd48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2e56799f7f4e48" /><Relationship Type="http://schemas.openxmlformats.org/officeDocument/2006/relationships/notesMaster" Target="/ppt/notesMasters/notesMaster1.xml" Id="Re1ed3b5791344a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5d3f34362049eb" /><Relationship Type="http://schemas.openxmlformats.org/officeDocument/2006/relationships/notesMaster" Target="/ppt/notesMasters/notesMaster1.xml" Id="Rc8b8ffcec1b04f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添付スライドと同じ測量の約束を使う。X軸は北向き、Y軸は東向き。数学の通常の図のx軸右・y軸上とは異なる。方向角θはX軸の正方向（北）から時計回り。0°以上360°未満で表す。ΔX=X終点−X始点、ΔY=Y終点−Y始点。散布図は横軸ΔY、縦軸ΔX。象限番号は北東から時計回りに第1、第2、第3、第4。図の数値は説明用の座標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北東AはΔX=1、ΔY=1で方向角45°。南西BはΔX=−1、ΔY=−1で方向角225°。ともにΔY/ΔX=1。同じ直線上の正反対の方向になる。tanの値だけでは、向きは180°の違いを残してしか決まらない。座標差が持っていた符号の組合せの情報が、比を作る際に失われる。点名A・Bと色を併用し、色だけに依存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限の実数rについて、α=arctan(r)の主値は−90°&lt;α&lt;90°。たとえばtan45°=tan225°=1だが、arctan1は45°を返す。同様にtan135°=tan315°=−1だがarctan(−1)は−45°を返す。arctanは全周の方向角を直接返す関数ではない。電卓のtanの逆関数を表すtan⁻¹は、この資料のarctanと同じ意味。1/tanを表すものではない。以後は度数法で計算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軸上でない場合の整理。第1象限はΔX&gt;0かつΔY&gt;0でθ=α。第2・第3象限はΔX&lt;0なのでθ=α+180°。第4象限はΔX&gt;0かつΔY&lt;0でα&lt;0なのでθ=α+360°。180°は正反対の向きへの補正、360°は同じ向きの表記を正にそろえる操作であり、意味が異なる。αは絶対値の比から得た鋭角ではなく、符号付きの比の逆正接である。絶対値を使う方位角表とは補正式を混用しない。軸上は7枚目で扱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用の座標差。南東AはΔX=−30m、ΔY=40m。北西BはΔX=30m、ΔY=−40m。α=arctan(−4/3)=−53.130102...°。AはΔX&lt;0だからα+180=126.869897...°、Bは北西だからα+360=306.869897...°。表示は小数第2位に四捨五入。南東の角は90〜180°、北西の角は270〜360°に入ることを確認する。散布図の座標差単位は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トラバースの座標計算で、Lと0〜360°の方向角θが与えられていればΔX=Lcosθ、ΔY=Lsinθを直接計算する。cos・sinが象限に応じた符号を返すので、象限別の公式に分ける必要はない。例L=100m、θ=120°ならΔX=−50m、ΔY=86.60254...mで南東。逆に座標差から方向角を求める際は、比を作ると符号の組合せを失うためarctanの後に補正する。昔の関数表や鋭角だけを扱う手計算では、象限ごとに正負を付ける形で整理できるが、方向角全体のcos・sinを使う計算では不要。観測角から次の辺の方向角を求める漸化計算は別の段階で、0〜360°への正規化を行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atan2は2つの引数の符号を使って象限を判定する。Pythonではdegrees(atan2(ΔY, ΔX)) % 360で北から時計回りの方向角になる。数学でのatan2(y,x)のyに測量のΔY、xに測量のΔXを対応させる。Excelの関数はATAN2(x_num,y_num)で引数順が逆なので、B2=ΔX、C2=ΔYなら=MOD(DEGREES(ATAN2(B2,C2)),360)。ラジアンから度への変換を含む。関数によって負の角を返すため正規化が必要。ΔX=ΔY=0は同一点で方向を定められず、呼び出し前に検査する。Pythonの返り値が0になっても幾何学的に方向角が定まることは意味しない。軸上では比ΔY/ΔXを使わず向きを直接決める。出典：Python公式 math.atan2 https://docs.python.org/3/library/math.html#math.atan2 、Microsoft公式 ATAN2 https://support.microsoft.com/ja-jp/excel/functions/atan2-function （2026-10-15確認）。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の解答。①ΔX=30、ΔY=40：北東、第1象限、α=53.130102...°、補正なし、θ=53.13°。②ΔX=−30、ΔY=40：南東、第2象限、α=−53.130102...°、180°を加えθ=126.87°。③ΔX=30、ΔY=−40：北西、第4象限、α=−53.130102...°、360°を加えθ=306.87°。②と③の比はいずれも−4/3だが方向角は180°異なる。数値の答えだけでなく、どの符号を見て補正したかを説明させる。最後に、arctanが使うのは一つの比、atan2が使うのは二つの座標差であることを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edce0fcec41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d68bb25e645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d2161025948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580ed559c4e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374fba49342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9703712e4842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24DC39-9202-44AF-B359-8F62812E0B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38A8C9-C2A1-439A-8506-A7193D2D8D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1B99DE7-1D18-4362-9466-BE503D2887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FA41DE-9F1F-419A-9F4D-52FC71BDB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E5D60F-E2BD-4FC6-91E4-02C6213899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B78533-BE07-4055-8554-2B4AE44A8C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6C8753-61EF-4361-A6D2-FEB96EA134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67883D3-9679-45DB-BE9A-8747E210C0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7F9BBE-6FB5-4A50-91C5-EA0F77B33A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70FE98-2890-40F7-85A1-8DFCCDF7C6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0dee9f2df44bd1" /><Relationship Type="http://schemas.openxmlformats.org/officeDocument/2006/relationships/slideLayout" Target="/ppt/slideLayouts/slideLayout1.xml" Id="Rb61e6af5833e4942" /><Relationship Type="http://schemas.openxmlformats.org/officeDocument/2006/relationships/slideLayout" Target="/ppt/slideLayouts/slideLayout2.xml" Id="R86331e035b1b4b42" /><Relationship Type="http://schemas.openxmlformats.org/officeDocument/2006/relationships/slideLayout" Target="/ppt/slideLayouts/slideLayout3.xml" Id="R0eaa0e0f8e0e4129" /><Relationship Type="http://schemas.openxmlformats.org/officeDocument/2006/relationships/slideLayout" Target="/ppt/slideLayouts/slideLayout4.xml" Id="R1bb7a398bba44e22" /><Relationship Type="http://schemas.openxmlformats.org/officeDocument/2006/relationships/slideLayout" Target="/ppt/slideLayouts/slideLayout5.xml" Id="Ra9fb7442794e4128" /><Relationship Type="http://schemas.openxmlformats.org/officeDocument/2006/relationships/slideLayout" Target="/ppt/slideLayouts/slideLayout6.xml" Id="R193a8a3bf87d49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e6af5833e4942"/>
    <p:sldLayoutId xmlns:r="http://schemas.openxmlformats.org/officeDocument/2006/relationships" id="2147483650" r:id="R86331e035b1b4b42"/>
    <p:sldLayoutId xmlns:r="http://schemas.openxmlformats.org/officeDocument/2006/relationships" id="2147483651" r:id="R0eaa0e0f8e0e4129"/>
    <p:sldLayoutId xmlns:r="http://schemas.openxmlformats.org/officeDocument/2006/relationships" id="2147483652" r:id="R1bb7a398bba44e22"/>
    <p:sldLayoutId xmlns:r="http://schemas.openxmlformats.org/officeDocument/2006/relationships" id="2147483653" r:id="Ra9fb7442794e4128"/>
    <p:sldLayoutId xmlns:r="http://schemas.openxmlformats.org/officeDocument/2006/relationships" id="2147483654" r:id="R193a8a3bf87d49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27a378f9d74568" /><Relationship Type="http://schemas.openxmlformats.org/officeDocument/2006/relationships/chart" Target="/ppt/slides/charts/chart1.xml" Id="R1b4c0b168be24fab" /><Relationship Type="http://schemas.openxmlformats.org/officeDocument/2006/relationships/notesSlide" Target="/ppt/notesSlides/notesSlide1.xml" Id="Rc5bd1d38f4474f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9b99bfa33d48bc" /><Relationship Type="http://schemas.openxmlformats.org/officeDocument/2006/relationships/chart" Target="/ppt/slides/charts/chart2.xml" Id="Rccb363d7017540b0" /><Relationship Type="http://schemas.openxmlformats.org/officeDocument/2006/relationships/notesSlide" Target="/ppt/notesSlides/notesSlide2.xml" Id="R62735c9c4ec449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1d066900e24163" /><Relationship Type="http://schemas.openxmlformats.org/officeDocument/2006/relationships/notesSlide" Target="/ppt/notesSlides/notesSlide3.xml" Id="R1ac560a59d1146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6293ce6c7c45be" /><Relationship Type="http://schemas.openxmlformats.org/officeDocument/2006/relationships/notesSlide" Target="/ppt/notesSlides/notesSlide4.xml" Id="R358d8266a4a44a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f0df84bea84675" /><Relationship Type="http://schemas.openxmlformats.org/officeDocument/2006/relationships/chart" Target="/ppt/slides/charts/chart3.xml" Id="Rb3855f7abccb4a21" /><Relationship Type="http://schemas.openxmlformats.org/officeDocument/2006/relationships/notesSlide" Target="/ppt/notesSlides/notesSlide5.xml" Id="Re3ea864cc6f843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fc9daa09cd4dc1" /><Relationship Type="http://schemas.openxmlformats.org/officeDocument/2006/relationships/notesSlide" Target="/ppt/notesSlides/notesSlide6.xml" Id="Ref97cda8492e4b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e40b04f1e44e3" /><Relationship Type="http://schemas.openxmlformats.org/officeDocument/2006/relationships/notesSlide" Target="/ppt/notesSlides/notesSlide7.xml" Id="R762c34bf3b964a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5d10925d984740" /><Relationship Type="http://schemas.openxmlformats.org/officeDocument/2006/relationships/notesSlide" Target="/ppt/notesSlides/notesSlide8.xml" Id="R339a8e02eb4f499d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北 0°</c:v>
          </c:tx>
          <c:spPr>
            <a:ln xmlns:a="http://schemas.openxmlformats.org/drawingml/2006/main" w="28575">
              <a:solidFill>
                <a:srgbClr val="24598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45989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2"/>
              <c:pt idx="0">
                <c:v>0</c:v>
              </c:pt>
              <c:pt idx="1">
                <c:v>0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1</c:v>
              </c:pt>
            </c:numLit>
          </c:yVal>
        </c:ser>
        <c:ser>
          <c:idx val="1"/>
          <c:order val="1"/>
          <c:tx>
            <c:v>東 90°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2"/>
              <c:pt idx="0">
                <c:v>0</c:v>
              </c:pt>
              <c:pt idx="1">
                <c:v>1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0</c:v>
              </c:pt>
            </c:numLit>
          </c:yVal>
        </c:ser>
        <c:ser>
          <c:idx val="2"/>
          <c:order val="2"/>
          <c:tx>
            <c:v>南 180°</c:v>
          </c:tx>
          <c:spPr>
            <a:ln xmlns:a="http://schemas.openxmlformats.org/drawingml/2006/main" w="28575">
              <a:solidFill>
                <a:srgbClr val="24598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45989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2"/>
              <c:pt idx="0">
                <c:v>0</c:v>
              </c:pt>
              <c:pt idx="1">
                <c:v>0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-1</c:v>
              </c:pt>
            </c:numLit>
          </c:yVal>
        </c:ser>
        <c:ser>
          <c:idx val="3"/>
          <c:order val="3"/>
          <c:tx>
            <c:v>西 270°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2"/>
              <c:pt idx="0">
                <c:v>0</c:v>
              </c:pt>
              <c:pt idx="1">
                <c:v>-1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5"/>
          <c:min val="-1.65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1.65"/>
          <c:min val="-1.65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A 45°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2"/>
              <c:pt idx="0">
                <c:v>0</c:v>
              </c:pt>
              <c:pt idx="1">
                <c:v>1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1</c:v>
              </c:pt>
            </c:numLit>
          </c:yVal>
        </c:ser>
        <c:ser>
          <c:idx val="1"/>
          <c:order val="1"/>
          <c:tx>
            <c:v>B 225°</c:v>
          </c:tx>
          <c:spPr>
            <a:ln xmlns:a="http://schemas.openxmlformats.org/drawingml/2006/main" w="28575">
              <a:solidFill>
                <a:srgbClr val="BB542E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BB542E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2"/>
              <c:pt idx="0">
                <c:v>0</c:v>
              </c:pt>
              <c:pt idx="1">
                <c:v>-1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-1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.6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1.6"/>
          <c:min val="-1.6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lineMarker"/>
        <c:varyColors val="0"/>
        <c:ser>
          <c:idx val="0"/>
          <c:order val="0"/>
          <c:tx>
            <c:v>A 南東</c:v>
          </c:tx>
          <c:spPr>
            <a:ln xmlns:a="http://schemas.openxmlformats.org/drawingml/2006/main" w="28575">
              <a:solidFill>
                <a:srgbClr val="BB542E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BB542E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2"/>
              <c:pt idx="0">
                <c:v>0</c:v>
              </c:pt>
              <c:pt idx="1">
                <c:v>40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-30</c:v>
              </c:pt>
            </c:numLit>
          </c:yVal>
        </c:ser>
        <c:ser>
          <c:idx val="1"/>
          <c:order val="1"/>
          <c:tx>
            <c:v>B 北西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2"/>
              <c:pt idx="0">
                <c:v>0</c:v>
              </c:pt>
              <c:pt idx="1">
                <c:v>-40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30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0"/>
          <c:min val="-7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40"/>
      </c:valAx>
      <c:valAx>
        <c:axId val="48650112"/>
        <c:scaling>
          <c:orientation val="minMax"/>
          <c:max val="70"/>
          <c:min val="-7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40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B94F4619-67B7-48C9-9823-A84F184E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方向角は、北から時計回りに測る">
            <a:extLst xmlns:a="http://schemas.openxmlformats.org/drawingml/2006/main">
              <a:ext uri="{FF2B5EF4-FFF2-40B4-BE49-F238E27FC236}">
                <a16:creationId xmlns:a16="http://schemas.microsoft.com/office/drawing/2014/main" id="{744AD7A8-E099-459E-ADAD-DD409E96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方向角は、北から時計回りに測る</a:t>
            </a:r>
          </a:p>
        </p:txBody>
      </p:sp>
      <p:sp>
        <p:nvSpPr>
          <p:cNvPr id="3" name="X は北向き、Y は東向き。始点から終点への座標差で向きを表す。">
            <a:extLst xmlns:a="http://schemas.openxmlformats.org/drawingml/2006/main">
              <a:ext uri="{FF2B5EF4-FFF2-40B4-BE49-F238E27FC236}">
                <a16:creationId xmlns:a16="http://schemas.microsoft.com/office/drawing/2014/main" id="{90315A2B-BDE3-4C5E-BFB0-FD8E9822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X は北向き、Y は東向き。始点から終点への座標差で向きを表す。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7311D1C0-70BD-4A04-AD73-7F93683D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5" name="ΔX = X終点 − X始点">
            <a:extLst xmlns:a="http://schemas.openxmlformats.org/drawingml/2006/main">
              <a:ext uri="{FF2B5EF4-FFF2-40B4-BE49-F238E27FC236}">
                <a16:creationId xmlns:a16="http://schemas.microsoft.com/office/drawing/2014/main" id="{41311DDB-E109-4AA7-BEE8-5224480B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X終点 − X始点</a:t>
            </a:r>
          </a:p>
        </p:txBody>
      </p:sp>
      <p:sp>
        <p:nvSpPr>
          <p:cNvPr id="6" name="ΔY = Y終点 − Y始点">
            <a:extLst xmlns:a="http://schemas.openxmlformats.org/drawingml/2006/main">
              <a:ext uri="{FF2B5EF4-FFF2-40B4-BE49-F238E27FC236}">
                <a16:creationId xmlns:a16="http://schemas.microsoft.com/office/drawing/2014/main" id="{2D8A47B7-62F5-4A88-A12D-D2AB7C5D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ΔY = Y終点 − Y始点</a:t>
            </a:r>
          </a:p>
        </p:txBody>
      </p:sp>
      <p:sp>
        <p:nvSpPr>
          <p:cNvPr id="7" name="北 0°　　東 90°">
            <a:extLst xmlns:a="http://schemas.openxmlformats.org/drawingml/2006/main">
              <a:ext uri="{FF2B5EF4-FFF2-40B4-BE49-F238E27FC236}">
                <a16:creationId xmlns:a16="http://schemas.microsoft.com/office/drawing/2014/main" id="{64CAF9F1-B907-4DAC-80B7-53F5730F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 0°　　東 90°</a:t>
            </a:r>
          </a:p>
        </p:txBody>
      </p:sp>
      <p:sp>
        <p:nvSpPr>
          <p:cNvPr id="8" name="南 180°　西 270°">
            <a:extLst xmlns:a="http://schemas.openxmlformats.org/drawingml/2006/main">
              <a:ext uri="{FF2B5EF4-FFF2-40B4-BE49-F238E27FC236}">
                <a16:creationId xmlns:a16="http://schemas.microsoft.com/office/drawing/2014/main" id="{716764AD-2544-4B65-B200-E6F8BBA3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南 180°　西 270°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DED94A42-2D03-4D63-A60F-AE38BB7EC64E}"/>
              </a:ext>
            </a:extLst>
          </p:cNvPr>
          <p:cNvGraphicFramePr/>
          <p:nvPr/>
        </p:nvGraphicFramePr>
        <p:xfrm>
          <a:off xmlns:a="http://schemas.openxmlformats.org/drawingml/2006/main" x="7239000" y="1971675"/>
          <a:ext xmlns:a="http://schemas.openxmlformats.org/drawingml/2006/main" cx="342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4c0b168be24fab"/>
          </a:graphicData>
        </a:graphic>
      </p:graphicFrame>
      <p:sp>
        <p:nvSpPr>
          <p:cNvPr id="10" name="北（＋ΔX）">
            <a:extLst xmlns:a="http://schemas.openxmlformats.org/drawingml/2006/main">
              <a:ext uri="{FF2B5EF4-FFF2-40B4-BE49-F238E27FC236}">
                <a16:creationId xmlns:a16="http://schemas.microsoft.com/office/drawing/2014/main" id="{E7B89E06-A0C8-467C-8EF3-BD11F079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02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北（＋ΔX）</a:t>
            </a:r>
          </a:p>
        </p:txBody>
      </p:sp>
      <p:sp>
        <p:nvSpPr>
          <p:cNvPr id="11" name="東（＋ΔY）">
            <a:extLst xmlns:a="http://schemas.openxmlformats.org/drawingml/2006/main">
              <a:ext uri="{FF2B5EF4-FFF2-40B4-BE49-F238E27FC236}">
                <a16:creationId xmlns:a16="http://schemas.microsoft.com/office/drawing/2014/main" id="{591C9965-354C-4E5B-94EB-21A2FBEE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100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東（＋ΔY）</a:t>
            </a:r>
          </a:p>
        </p:txBody>
      </p:sp>
      <p:sp>
        <p:nvSpPr>
          <p:cNvPr id="12" name="象限は、ΔX・ΔY の符号から向きを確かめるために使う。">
            <a:extLst xmlns:a="http://schemas.openxmlformats.org/drawingml/2006/main">
              <a:ext uri="{FF2B5EF4-FFF2-40B4-BE49-F238E27FC236}">
                <a16:creationId xmlns:a16="http://schemas.microsoft.com/office/drawing/2014/main" id="{1ECF404E-382E-4D80-B293-F8AA226C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象限は、ΔX・ΔY の符号から向きを確かめるために使う。</a:t>
            </a:r>
          </a:p>
        </p:txBody>
      </p:sp>
    </p:spTree>
    <p:extLst>
      <p:ext uri="{BB962C8B-B14F-4D97-AF65-F5344CB8AC3E}">
        <p14:creationId xmlns:p14="http://schemas.microsoft.com/office/powerpoint/2010/main" val="5639253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D2130A21-472A-4CBC-B096-193AE5B3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正反対の方向でも、ΔY / ΔX は同じ">
            <a:extLst xmlns:a="http://schemas.openxmlformats.org/drawingml/2006/main">
              <a:ext uri="{FF2B5EF4-FFF2-40B4-BE49-F238E27FC236}">
                <a16:creationId xmlns:a16="http://schemas.microsoft.com/office/drawing/2014/main" id="{3FBEDFFB-7203-476F-AC31-F28B7482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正反対の方向でも、ΔY / ΔX は同じ</a:t>
            </a:r>
          </a:p>
        </p:txBody>
      </p:sp>
      <p:sp>
        <p:nvSpPr>
          <p:cNvPr id="3" name="比を計算すると、両方が＋なのか、両方が−なのかを区別できない。">
            <a:extLst xmlns:a="http://schemas.openxmlformats.org/drawingml/2006/main">
              <a:ext uri="{FF2B5EF4-FFF2-40B4-BE49-F238E27FC236}">
                <a16:creationId xmlns:a16="http://schemas.microsoft.com/office/drawing/2014/main" id="{56FA048C-61DC-4657-9534-0EC1492D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比を計算すると、両方が＋なのか、両方が−なのかを区別できない。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5F7AF560-6E92-4F4A-9B91-95CFDC78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DC8CE1A-FE9F-40A4-B2FB-4865CEAC52B3}"/>
              </a:ext>
            </a:extLst>
          </p:cNvPr>
          <p:cNvGraphicFramePr/>
          <p:nvPr/>
        </p:nvGraphicFramePr>
        <p:xfrm>
          <a:off xmlns:a="http://schemas.openxmlformats.org/drawingml/2006/main" x="1476375" y="1971675"/>
          <a:ext xmlns:a="http://schemas.openxmlformats.org/drawingml/2006/main" cx="342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b363d7017540b0"/>
          </a:graphicData>
        </a:graphic>
      </p:graphicFrame>
      <p:sp>
        <p:nvSpPr>
          <p:cNvPr id="6" name="A 45°">
            <a:extLst xmlns:a="http://schemas.openxmlformats.org/drawingml/2006/main">
              <a:ext uri="{FF2B5EF4-FFF2-40B4-BE49-F238E27FC236}">
                <a16:creationId xmlns:a16="http://schemas.microsoft.com/office/drawing/2014/main" id="{6BFE5173-5DEC-4A08-9195-B0312B15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441" y="2341959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A 45°</a:t>
            </a:r>
          </a:p>
        </p:txBody>
      </p:sp>
      <p:sp>
        <p:nvSpPr>
          <p:cNvPr id="7" name="B 225°">
            <a:extLst xmlns:a="http://schemas.openxmlformats.org/drawingml/2006/main">
              <a:ext uri="{FF2B5EF4-FFF2-40B4-BE49-F238E27FC236}">
                <a16:creationId xmlns:a16="http://schemas.microsoft.com/office/drawing/2014/main" id="{C57FA917-13F0-421F-8B97-38ABC602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84" y="4763691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B 225°</a:t>
            </a:r>
          </a:p>
        </p:txBody>
      </p:sp>
      <p:sp>
        <p:nvSpPr>
          <p:cNvPr id="8" name="北（＋ΔX）">
            <a:extLst xmlns:a="http://schemas.openxmlformats.org/drawingml/2006/main">
              <a:ext uri="{FF2B5EF4-FFF2-40B4-BE49-F238E27FC236}">
                <a16:creationId xmlns:a16="http://schemas.microsoft.com/office/drawing/2014/main" id="{2BAAF187-5155-4D44-AE75-04AD5C49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02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北（＋ΔX）</a:t>
            </a:r>
          </a:p>
        </p:txBody>
      </p:sp>
      <p:sp>
        <p:nvSpPr>
          <p:cNvPr id="9" name="東（＋ΔY）">
            <a:extLst xmlns:a="http://schemas.openxmlformats.org/drawingml/2006/main">
              <a:ext uri="{FF2B5EF4-FFF2-40B4-BE49-F238E27FC236}">
                <a16:creationId xmlns:a16="http://schemas.microsoft.com/office/drawing/2014/main" id="{5537835E-15CE-447D-BA1D-DF32144C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00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東（＋ΔY）</a:t>
            </a:r>
          </a:p>
        </p:txBody>
      </p:sp>
      <p:sp>
        <p:nvSpPr>
          <p:cNvPr id="10" name="A：北東（ΔX, ΔY）=（1, 1）">
            <a:extLst xmlns:a="http://schemas.openxmlformats.org/drawingml/2006/main">
              <a:ext uri="{FF2B5EF4-FFF2-40B4-BE49-F238E27FC236}">
                <a16:creationId xmlns:a16="http://schemas.microsoft.com/office/drawing/2014/main" id="{D59087AB-D999-417E-A05D-071EFF1A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A：北東（ΔX, ΔY）=（1, 1）</a:t>
            </a:r>
          </a:p>
        </p:txBody>
      </p:sp>
      <p:sp>
        <p:nvSpPr>
          <p:cNvPr id="11" name="ΔY / ΔX = 1 / 1 = 1">
            <a:extLst xmlns:a="http://schemas.openxmlformats.org/drawingml/2006/main">
              <a:ext uri="{FF2B5EF4-FFF2-40B4-BE49-F238E27FC236}">
                <a16:creationId xmlns:a16="http://schemas.microsoft.com/office/drawing/2014/main" id="{F5EACB51-84ED-416A-A950-580ECE66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ΔY / ΔX = 1 / 1 = 1</a:t>
            </a:r>
          </a:p>
        </p:txBody>
      </p:sp>
      <p:sp>
        <p:nvSpPr>
          <p:cNvPr id="12" name="B：南西（ΔX, ΔY）=（−1, −1）">
            <a:extLst xmlns:a="http://schemas.openxmlformats.org/drawingml/2006/main">
              <a:ext uri="{FF2B5EF4-FFF2-40B4-BE49-F238E27FC236}">
                <a16:creationId xmlns:a16="http://schemas.microsoft.com/office/drawing/2014/main" id="{69FEC244-5B70-415F-9BBE-AC385593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909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B：南西（ΔX, ΔY）=（−1, −1）</a:t>
            </a:r>
          </a:p>
        </p:txBody>
      </p:sp>
      <p:sp>
        <p:nvSpPr>
          <p:cNvPr id="13" name="ΔY / ΔX = (−1) / (−1) = 1">
            <a:extLst xmlns:a="http://schemas.openxmlformats.org/drawingml/2006/main">
              <a:ext uri="{FF2B5EF4-FFF2-40B4-BE49-F238E27FC236}">
                <a16:creationId xmlns:a16="http://schemas.microsoft.com/office/drawing/2014/main" id="{019C0306-3B90-40EA-8BE3-82679DB8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433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rPr>
              <a:t>ΔY / ΔX = (−1) / (−1) = 1</a:t>
            </a:r>
          </a:p>
        </p:txBody>
      </p:sp>
      <p:sp>
        <p:nvSpPr>
          <p:cNvPr id="14" name="同じ比でも、方向角は 45° と 225°。向きが180°違う。">
            <a:extLst xmlns:a="http://schemas.openxmlformats.org/drawingml/2006/main">
              <a:ext uri="{FF2B5EF4-FFF2-40B4-BE49-F238E27FC236}">
                <a16:creationId xmlns:a16="http://schemas.microsoft.com/office/drawing/2014/main" id="{1D59DB42-501A-4D30-BFD5-0386D646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同じ比でも、方向角は 45° と 225°。向きが180°違う。</a:t>
            </a:r>
          </a:p>
        </p:txBody>
      </p:sp>
    </p:spTree>
    <p:extLst>
      <p:ext uri="{BB962C8B-B14F-4D97-AF65-F5344CB8AC3E}">
        <p14:creationId xmlns:p14="http://schemas.microsoft.com/office/powerpoint/2010/main" val="21275827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0B4EECC3-7EEA-43F3-A32D-CCB6A365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逆正接が返す角度の範囲">
            <a:extLst xmlns:a="http://schemas.openxmlformats.org/drawingml/2006/main">
              <a:ext uri="{FF2B5EF4-FFF2-40B4-BE49-F238E27FC236}">
                <a16:creationId xmlns:a16="http://schemas.microsoft.com/office/drawing/2014/main" id="{52A2B77E-C9FC-4F72-81EF-54B9FF2D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逆正接が返す角度の範囲</a:t>
            </a:r>
          </a:p>
        </p:txBody>
      </p:sp>
      <p:sp>
        <p:nvSpPr>
          <p:cNvPr id="3" name="arctan は、tan が同じ値になる角度のうち、決められた範囲の角を返す。">
            <a:extLst xmlns:a="http://schemas.openxmlformats.org/drawingml/2006/main">
              <a:ext uri="{FF2B5EF4-FFF2-40B4-BE49-F238E27FC236}">
                <a16:creationId xmlns:a16="http://schemas.microsoft.com/office/drawing/2014/main" id="{D002A73B-36A4-470A-8595-D9F14B70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arctan は、tan が同じ値になる角度のうち、決められた範囲の角を返す。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B6C40019-6026-4534-8AF0-3D515D0D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5" name="α = arctan(ΔY / ΔX)">
            <a:extLst xmlns:a="http://schemas.openxmlformats.org/drawingml/2006/main">
              <a:ext uri="{FF2B5EF4-FFF2-40B4-BE49-F238E27FC236}">
                <a16:creationId xmlns:a16="http://schemas.microsoft.com/office/drawing/2014/main" id="{98ED802C-22C3-4B76-A5E8-B525E5E3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arctan(ΔY / ΔX)</a:t>
            </a:r>
          </a:p>
        </p:txBody>
      </p:sp>
      <p:sp>
        <p:nvSpPr>
          <p:cNvPr id="6" name="−90° &lt; α &lt; 90°">
            <a:extLst xmlns:a="http://schemas.openxmlformats.org/drawingml/2006/main">
              <a:ext uri="{FF2B5EF4-FFF2-40B4-BE49-F238E27FC236}">
                <a16:creationId xmlns:a16="http://schemas.microsoft.com/office/drawing/2014/main" id="{C3EA05F7-6BC8-459A-8EBA-190005DC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−90° &lt; α &lt; 90°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489E4-52A4-4AA3-B1C1-4B79D97B610F}"/>
              </a:ext>
            </a:extLst>
          </p:cNvPr>
          <p:cNvGraphicFramePr/>
          <p:nvPr/>
        </p:nvGraphicFramePr>
        <p:xfrm>
          <a:off xmlns:a="http://schemas.openxmlformats.org/drawingml/2006/main" x="619125" y="3638550"/>
          <a:ext xmlns:a="http://schemas.openxmlformats.org/drawingml/2006/main" cx="10906125" cy="1685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095500"/>
                <a:gridCol w="3571875"/>
              </a:tblGrid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同じ tan の値になる方向角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比の値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arctan の答え 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 と 225°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135° と 315°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</a:tbl>
          </a:graphicData>
        </a:graphic>
      </p:graphicFrame>
      <p:sp>
        <p:nvSpPr>
          <p:cNvPr id="8" name="α を求めたあと、元の座標差の符号で向きを確定する。">
            <a:extLst xmlns:a="http://schemas.openxmlformats.org/drawingml/2006/main">
              <a:ext uri="{FF2B5EF4-FFF2-40B4-BE49-F238E27FC236}">
                <a16:creationId xmlns:a16="http://schemas.microsoft.com/office/drawing/2014/main" id="{68A7E5C1-D3FD-433D-80E4-A8DC2B8F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α を求めたあと、元の座標差の符号で向きを確定する。</a:t>
            </a:r>
          </a:p>
        </p:txBody>
      </p:sp>
    </p:spTree>
    <p:extLst>
      <p:ext uri="{BB962C8B-B14F-4D97-AF65-F5344CB8AC3E}">
        <p14:creationId xmlns:p14="http://schemas.microsoft.com/office/powerpoint/2010/main" val="16408267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B78A2E27-DDA6-49C8-9C08-7C07E2ED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象限の表は、向きを確定する手順">
            <a:extLst xmlns:a="http://schemas.openxmlformats.org/drawingml/2006/main">
              <a:ext uri="{FF2B5EF4-FFF2-40B4-BE49-F238E27FC236}">
                <a16:creationId xmlns:a16="http://schemas.microsoft.com/office/drawing/2014/main" id="{1C501E5D-D93D-4E27-859C-E719471C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象限の表は、向きを確定する手順</a:t>
            </a:r>
          </a:p>
        </p:txBody>
      </p:sp>
      <p:sp>
        <p:nvSpPr>
          <p:cNvPr id="3" name="α = arctan(ΔY / ΔX) を求め、方向角 θ を 0°以上360°未満にそろえる。">
            <a:extLst xmlns:a="http://schemas.openxmlformats.org/drawingml/2006/main">
              <a:ext uri="{FF2B5EF4-FFF2-40B4-BE49-F238E27FC236}">
                <a16:creationId xmlns:a16="http://schemas.microsoft.com/office/drawing/2014/main" id="{8BCA7F35-6939-4C41-9E3E-A5E5F1C5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α = arctan(ΔY / ΔX) を求め、方向角 θ を 0°以上360°未満にそろえる。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8880945B-B619-444D-BC13-1326582D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40A33-2EAE-478B-B536-C607B7108A22}"/>
              </a:ext>
            </a:extLst>
          </p:cNvPr>
          <p:cNvGraphicFramePr/>
          <p:nvPr/>
        </p:nvGraphicFramePr>
        <p:xfrm>
          <a:off xmlns:a="http://schemas.openxmlformats.org/drawingml/2006/main" x="619125" y="2095500"/>
          <a:ext xmlns:a="http://schemas.openxmlformats.org/drawingml/2006/main" cx="10906125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143000"/>
                <a:gridCol w="1143000"/>
                <a:gridCol w="2000250"/>
                <a:gridCol w="2095500"/>
                <a:gridCol w="2047875"/>
              </a:tblGrid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象限・向き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α の例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加える角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θ の例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第1・北東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第2・南東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135°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第3・南西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225°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第4・北西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360°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315°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</a:tbl>
          </a:graphicData>
        </a:graphic>
      </p:graphicFrame>
      <p:sp>
        <p:nvSpPr>
          <p:cNvPr id="6" name="180°：正反対の方向へ直す">
            <a:extLst xmlns:a="http://schemas.openxmlformats.org/drawingml/2006/main">
              <a:ext uri="{FF2B5EF4-FFF2-40B4-BE49-F238E27FC236}">
                <a16:creationId xmlns:a16="http://schemas.microsoft.com/office/drawing/2014/main" id="{1CFA7AD5-FF47-4191-8D41-119EBD6F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0542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180°：正反対の方向へ直す</a:t>
            </a:r>
          </a:p>
        </p:txBody>
      </p:sp>
      <p:sp>
        <p:nvSpPr>
          <p:cNvPr id="7" name="360°：同じ向きを正の角度で表す">
            <a:extLst xmlns:a="http://schemas.openxmlformats.org/drawingml/2006/main">
              <a:ext uri="{FF2B5EF4-FFF2-40B4-BE49-F238E27FC236}">
                <a16:creationId xmlns:a16="http://schemas.microsoft.com/office/drawing/2014/main" id="{D7D8A188-958D-4212-A538-6CC54985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05425"/>
            <a:ext cx="571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360°：同じ向きを正の角度で表す</a:t>
            </a:r>
          </a:p>
        </p:txBody>
      </p:sp>
      <p:sp>
        <p:nvSpPr>
          <p:cNvPr id="8" name="南向き（ΔX &lt; 0）なら180°。北西なら負の角に360°。">
            <a:extLst xmlns:a="http://schemas.openxmlformats.org/drawingml/2006/main">
              <a:ext uri="{FF2B5EF4-FFF2-40B4-BE49-F238E27FC236}">
                <a16:creationId xmlns:a16="http://schemas.microsoft.com/office/drawing/2014/main" id="{C0C5B376-C631-4EB8-BE28-18572314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南向き（ΔX &lt; 0）なら180°。北西なら負の角に360°。</a:t>
            </a:r>
          </a:p>
        </p:txBody>
      </p:sp>
    </p:spTree>
    <p:extLst>
      <p:ext uri="{BB962C8B-B14F-4D97-AF65-F5344CB8AC3E}">
        <p14:creationId xmlns:p14="http://schemas.microsoft.com/office/powerpoint/2010/main" val="8531331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832AE72C-4395-40CA-A864-BAB36E2C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計算例：同じ比でも、補正は異なる">
            <a:extLst xmlns:a="http://schemas.openxmlformats.org/drawingml/2006/main">
              <a:ext uri="{FF2B5EF4-FFF2-40B4-BE49-F238E27FC236}">
                <a16:creationId xmlns:a16="http://schemas.microsoft.com/office/drawing/2014/main" id="{9767EB61-F0D8-49FA-91E1-4E900CF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計算例：同じ比でも、補正は異なる</a:t>
            </a:r>
          </a:p>
        </p:txBody>
      </p:sp>
      <p:sp>
        <p:nvSpPr>
          <p:cNvPr id="3" name="南東と北西はいずれも ΔY / ΔX = −4 / 3。まず向きの見当をつける。">
            <a:extLst xmlns:a="http://schemas.openxmlformats.org/drawingml/2006/main">
              <a:ext uri="{FF2B5EF4-FFF2-40B4-BE49-F238E27FC236}">
                <a16:creationId xmlns:a16="http://schemas.microsoft.com/office/drawing/2014/main" id="{E306F3EB-7766-4966-95E7-F25F731E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南東と北西はいずれも ΔY / ΔX = −4 / 3。まず向きの見当をつける。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E0FCB49C-0B37-4A97-8C23-C6BECAE1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5" name="A：ΔX = −30 m、ΔY = ＋40 m">
            <a:extLst xmlns:a="http://schemas.openxmlformats.org/drawingml/2006/main">
              <a:ext uri="{FF2B5EF4-FFF2-40B4-BE49-F238E27FC236}">
                <a16:creationId xmlns:a16="http://schemas.microsoft.com/office/drawing/2014/main" id="{EAA3DBDD-C546-4766-99BC-4283C37D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A：ΔX = −30 m、ΔY = ＋40 m</a:t>
            </a:r>
          </a:p>
        </p:txBody>
      </p:sp>
      <p:sp>
        <p:nvSpPr>
          <p:cNvPr id="6" name="α = arctan(−4/3) ≈ −53.13°">
            <a:extLst xmlns:a="http://schemas.openxmlformats.org/drawingml/2006/main">
              <a:ext uri="{FF2B5EF4-FFF2-40B4-BE49-F238E27FC236}">
                <a16:creationId xmlns:a16="http://schemas.microsoft.com/office/drawing/2014/main" id="{E7B4BBD2-2C0B-4F9B-BC78-67924EF4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622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arctan(−4/3) ≈ −53.13°</a:t>
            </a:r>
          </a:p>
        </p:txBody>
      </p:sp>
      <p:sp>
        <p:nvSpPr>
          <p:cNvPr id="7" name="θ ≈ −53.13° + 180° = 126.87°">
            <a:extLst xmlns:a="http://schemas.openxmlformats.org/drawingml/2006/main">
              <a:ext uri="{FF2B5EF4-FFF2-40B4-BE49-F238E27FC236}">
                <a16:creationId xmlns:a16="http://schemas.microsoft.com/office/drawing/2014/main" id="{672BE294-E042-4CAC-BF24-6620591A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rPr>
              <a:t>θ ≈ −53.13° + 180° = 126.87°</a:t>
            </a:r>
          </a:p>
        </p:txBody>
      </p:sp>
      <p:sp>
        <p:nvSpPr>
          <p:cNvPr id="8" name="B：ΔX = ＋30 m、ΔY = −40 m">
            <a:extLst xmlns:a="http://schemas.openxmlformats.org/drawingml/2006/main">
              <a:ext uri="{FF2B5EF4-FFF2-40B4-BE49-F238E27FC236}">
                <a16:creationId xmlns:a16="http://schemas.microsoft.com/office/drawing/2014/main" id="{841A0513-DC18-44A3-AA43-9B5F88A6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576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B：ΔX = ＋30 m、ΔY = −40 m</a:t>
            </a:r>
          </a:p>
        </p:txBody>
      </p:sp>
      <p:sp>
        <p:nvSpPr>
          <p:cNvPr id="9" name="θ ≈ −53.13° + 360° = 306.87°">
            <a:extLst xmlns:a="http://schemas.openxmlformats.org/drawingml/2006/main">
              <a:ext uri="{FF2B5EF4-FFF2-40B4-BE49-F238E27FC236}">
                <a16:creationId xmlns:a16="http://schemas.microsoft.com/office/drawing/2014/main" id="{0FE7C749-4E8B-4B1E-98FF-293D857C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θ ≈ −53.13° + 360° = 306.87°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6336397E-70D2-41A1-9F02-AB649CEFE551}"/>
              </a:ext>
            </a:extLst>
          </p:cNvPr>
          <p:cNvGraphicFramePr/>
          <p:nvPr/>
        </p:nvGraphicFramePr>
        <p:xfrm>
          <a:off xmlns:a="http://schemas.openxmlformats.org/drawingml/2006/main" x="7548563" y="2000250"/>
          <a:ext xmlns:a="http://schemas.openxmlformats.org/drawingml/2006/main" cx="342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855f7abccb4a21"/>
          </a:graphicData>
        </a:graphic>
      </p:graphicFrame>
      <p:sp>
        <p:nvSpPr>
          <p:cNvPr id="11" name="A 南東">
            <a:extLst xmlns:a="http://schemas.openxmlformats.org/drawingml/2006/main">
              <a:ext uri="{FF2B5EF4-FFF2-40B4-BE49-F238E27FC236}">
                <a16:creationId xmlns:a16="http://schemas.microsoft.com/office/drawing/2014/main" id="{B32B73F7-4D52-4929-B4A3-77868D02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434" y="4483554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A 南東</a:t>
            </a:r>
          </a:p>
        </p:txBody>
      </p:sp>
      <p:sp>
        <p:nvSpPr>
          <p:cNvPr id="12" name="B 北西">
            <a:extLst xmlns:a="http://schemas.openxmlformats.org/drawingml/2006/main">
              <a:ext uri="{FF2B5EF4-FFF2-40B4-BE49-F238E27FC236}">
                <a16:creationId xmlns:a16="http://schemas.microsoft.com/office/drawing/2014/main" id="{273F5D31-E259-4055-94CC-E274BD40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866" y="2679246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B 北西</a:t>
            </a:r>
          </a:p>
        </p:txBody>
      </p:sp>
      <p:sp>
        <p:nvSpPr>
          <p:cNvPr id="13" name="北（＋ΔX）">
            <a:extLst xmlns:a="http://schemas.openxmlformats.org/drawingml/2006/main">
              <a:ext uri="{FF2B5EF4-FFF2-40B4-BE49-F238E27FC236}">
                <a16:creationId xmlns:a16="http://schemas.microsoft.com/office/drawing/2014/main" id="{4AA222B6-2B20-4EA7-8350-429BDE6B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438" y="18288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北（＋ΔX）</a:t>
            </a:r>
          </a:p>
        </p:txBody>
      </p:sp>
      <p:sp>
        <p:nvSpPr>
          <p:cNvPr id="14" name="東（＋ΔY）">
            <a:extLst xmlns:a="http://schemas.openxmlformats.org/drawingml/2006/main">
              <a:ext uri="{FF2B5EF4-FFF2-40B4-BE49-F238E27FC236}">
                <a16:creationId xmlns:a16="http://schemas.microsoft.com/office/drawing/2014/main" id="{84D21A6E-0E3C-43DC-B367-1458E576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438" y="4038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東（＋ΔY）</a:t>
            </a:r>
          </a:p>
        </p:txBody>
      </p:sp>
      <p:sp>
        <p:nvSpPr>
          <p:cNvPr id="15" name="答えの角度が、座標差から予想した向きに入るか確かめる。">
            <a:extLst xmlns:a="http://schemas.openxmlformats.org/drawingml/2006/main">
              <a:ext uri="{FF2B5EF4-FFF2-40B4-BE49-F238E27FC236}">
                <a16:creationId xmlns:a16="http://schemas.microsoft.com/office/drawing/2014/main" id="{3931AB6C-5CE7-4551-9DAB-42264D7D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答えの角度が、座標差から予想した向きに入るか確かめる。</a:t>
            </a:r>
          </a:p>
        </p:txBody>
      </p:sp>
    </p:spTree>
    <p:extLst>
      <p:ext uri="{BB962C8B-B14F-4D97-AF65-F5344CB8AC3E}">
        <p14:creationId xmlns:p14="http://schemas.microsoft.com/office/powerpoint/2010/main" val="1761144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DE5A62B5-0A83-4CA3-8265-D3749F17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トラバースでは、計算の向きで扱いが変わる">
            <a:extLst xmlns:a="http://schemas.openxmlformats.org/drawingml/2006/main">
              <a:ext uri="{FF2B5EF4-FFF2-40B4-BE49-F238E27FC236}">
                <a16:creationId xmlns:a16="http://schemas.microsoft.com/office/drawing/2014/main" id="{CAB19F24-F642-4B7E-AB5B-D300D862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トラバースでは、計算の向きで扱いが変わる</a:t>
            </a:r>
          </a:p>
        </p:txBody>
      </p:sp>
      <p:sp>
        <p:nvSpPr>
          <p:cNvPr id="3" name="距離・方向角から座標差を求める場合と、その逆を区別する。">
            <a:extLst xmlns:a="http://schemas.openxmlformats.org/drawingml/2006/main">
              <a:ext uri="{FF2B5EF4-FFF2-40B4-BE49-F238E27FC236}">
                <a16:creationId xmlns:a16="http://schemas.microsoft.com/office/drawing/2014/main" id="{AB5FF976-4930-4216-8BFC-3755416C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距離・方向角から座標差を求める場合と、その逆を区別する。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1AD8BAA1-E80C-498C-B0F2-BAC877AB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5" name="距離・方向角から座標差">
            <a:extLst xmlns:a="http://schemas.openxmlformats.org/drawingml/2006/main">
              <a:ext uri="{FF2B5EF4-FFF2-40B4-BE49-F238E27FC236}">
                <a16:creationId xmlns:a16="http://schemas.microsoft.com/office/drawing/2014/main" id="{6A13AB40-CADB-4F17-8693-50F653F2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距離・方向角から座標差</a:t>
            </a:r>
          </a:p>
        </p:txBody>
      </p:sp>
      <p:sp>
        <p:nvSpPr>
          <p:cNvPr id="6" name="ΔX = L cos θ">
            <a:extLst xmlns:a="http://schemas.openxmlformats.org/drawingml/2006/main">
              <a:ext uri="{FF2B5EF4-FFF2-40B4-BE49-F238E27FC236}">
                <a16:creationId xmlns:a16="http://schemas.microsoft.com/office/drawing/2014/main" id="{D1C13AB4-F4E0-4DEF-8879-AF443577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L cos θ</a:t>
            </a:r>
          </a:p>
        </p:txBody>
      </p:sp>
      <p:sp>
        <p:nvSpPr>
          <p:cNvPr id="7" name="ΔY = L sin θ">
            <a:extLst xmlns:a="http://schemas.openxmlformats.org/drawingml/2006/main">
              <a:ext uri="{FF2B5EF4-FFF2-40B4-BE49-F238E27FC236}">
                <a16:creationId xmlns:a16="http://schemas.microsoft.com/office/drawing/2014/main" id="{27DAE4CF-FA69-4499-BB5D-1F8A9BF2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575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ΔY = L sin θ</a:t>
            </a:r>
          </a:p>
        </p:txBody>
      </p:sp>
      <p:sp>
        <p:nvSpPr>
          <p:cNvPr id="8" name="cos・sin が正負も返す。">
            <a:extLst xmlns:a="http://schemas.openxmlformats.org/drawingml/2006/main">
              <a:ext uri="{FF2B5EF4-FFF2-40B4-BE49-F238E27FC236}">
                <a16:creationId xmlns:a16="http://schemas.microsoft.com/office/drawing/2014/main" id="{6AFE52BC-6EEF-437A-B819-A0CE0CC5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cos・sin が正負も返す。</a:t>
            </a:r>
          </a:p>
        </p:txBody>
      </p:sp>
      <p:sp>
        <p:nvSpPr>
          <p:cNvPr id="9" name="L = 100 m、θ = 120° の例">
            <a:extLst xmlns:a="http://schemas.openxmlformats.org/drawingml/2006/main">
              <a:ext uri="{FF2B5EF4-FFF2-40B4-BE49-F238E27FC236}">
                <a16:creationId xmlns:a16="http://schemas.microsoft.com/office/drawing/2014/main" id="{B43C2A04-2CBC-48AB-8A13-536BD588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38675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L = 100 m、θ = 120° の例</a:t>
            </a:r>
          </a:p>
        </p:txBody>
      </p:sp>
      <p:sp>
        <p:nvSpPr>
          <p:cNvPr id="10" name="ΔX = −50 m,   ΔY ≈ 86.60 m">
            <a:extLst xmlns:a="http://schemas.openxmlformats.org/drawingml/2006/main">
              <a:ext uri="{FF2B5EF4-FFF2-40B4-BE49-F238E27FC236}">
                <a16:creationId xmlns:a16="http://schemas.microsoft.com/office/drawing/2014/main" id="{3FDE8B3F-3781-430D-B845-F5DB4FE5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149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−50 m,   ΔY ≈ 86.60 m</a:t>
            </a:r>
          </a:p>
        </p:txBody>
      </p:sp>
      <p:sp>
        <p:nvSpPr>
          <p:cNvPr id="11" name="座標差から方向角">
            <a:extLst xmlns:a="http://schemas.openxmlformats.org/drawingml/2006/main">
              <a:ext uri="{FF2B5EF4-FFF2-40B4-BE49-F238E27FC236}">
                <a16:creationId xmlns:a16="http://schemas.microsoft.com/office/drawing/2014/main" id="{5C4E2522-C3A9-4F15-B6AA-A06340A7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座標差から方向角</a:t>
            </a:r>
          </a:p>
        </p:txBody>
      </p:sp>
      <p:sp>
        <p:nvSpPr>
          <p:cNvPr id="12" name="α = arctan(ΔY / ΔX)">
            <a:extLst xmlns:a="http://schemas.openxmlformats.org/drawingml/2006/main">
              <a:ext uri="{FF2B5EF4-FFF2-40B4-BE49-F238E27FC236}">
                <a16:creationId xmlns:a16="http://schemas.microsoft.com/office/drawing/2014/main" id="{0D00C771-DD11-4693-99EF-6898D3B1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146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arctan(ΔY / ΔX)</a:t>
            </a:r>
          </a:p>
        </p:txBody>
      </p:sp>
      <p:sp>
        <p:nvSpPr>
          <p:cNvPr id="13" name="元の符号を確認し、">
            <a:extLst xmlns:a="http://schemas.openxmlformats.org/drawingml/2006/main">
              <a:ext uri="{FF2B5EF4-FFF2-40B4-BE49-F238E27FC236}">
                <a16:creationId xmlns:a16="http://schemas.microsoft.com/office/drawing/2014/main" id="{CF4F4EF4-228F-47E7-A751-956D70D2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337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元の符号を確認し、</a:t>
            </a:r>
          </a:p>
        </p:txBody>
      </p:sp>
      <p:sp>
        <p:nvSpPr>
          <p:cNvPr id="14" name="必要なら180°か360°を加える。">
            <a:extLst xmlns:a="http://schemas.openxmlformats.org/drawingml/2006/main">
              <a:ext uri="{FF2B5EF4-FFF2-40B4-BE49-F238E27FC236}">
                <a16:creationId xmlns:a16="http://schemas.microsoft.com/office/drawing/2014/main" id="{7E08A555-CC39-4E6B-B3C4-7C4C6111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00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必要なら180°か360°を加える。</a:t>
            </a:r>
          </a:p>
        </p:txBody>
      </p:sp>
      <p:sp>
        <p:nvSpPr>
          <p:cNvPr id="15" name="atan2 なら、この判定も関数が行う。">
            <a:extLst xmlns:a="http://schemas.openxmlformats.org/drawingml/2006/main">
              <a:ext uri="{FF2B5EF4-FFF2-40B4-BE49-F238E27FC236}">
                <a16:creationId xmlns:a16="http://schemas.microsoft.com/office/drawing/2014/main" id="{116DE053-F9E0-4BDD-83EB-CD9FA4B8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577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atan2 なら、この判定も関数が行う。</a:t>
            </a:r>
          </a:p>
        </p:txBody>
      </p:sp>
      <p:sp>
        <p:nvSpPr>
          <p:cNvPr id="16" name="象限分けが必要になるのは、主に「比から向きを戻す」とき。">
            <a:extLst xmlns:a="http://schemas.openxmlformats.org/drawingml/2006/main">
              <a:ext uri="{FF2B5EF4-FFF2-40B4-BE49-F238E27FC236}">
                <a16:creationId xmlns:a16="http://schemas.microsoft.com/office/drawing/2014/main" id="{06FD8352-942A-4FDF-B954-A7C16489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象限分けが必要になるのは、主に「比から向きを戻す」とき。</a:t>
            </a:r>
          </a:p>
        </p:txBody>
      </p:sp>
    </p:spTree>
    <p:extLst>
      <p:ext uri="{BB962C8B-B14F-4D97-AF65-F5344CB8AC3E}">
        <p14:creationId xmlns:p14="http://schemas.microsoft.com/office/powerpoint/2010/main" val="13610798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F1D50118-7FB2-4E31-93FA-BCB17267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atan2 は、二つの座標差を別々に受け取る">
            <a:extLst xmlns:a="http://schemas.openxmlformats.org/drawingml/2006/main">
              <a:ext uri="{FF2B5EF4-FFF2-40B4-BE49-F238E27FC236}">
                <a16:creationId xmlns:a16="http://schemas.microsoft.com/office/drawing/2014/main" id="{542EC936-E53E-44D6-83F5-7731740D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atan2 は、二つの座標差を別々に受け取る</a:t>
            </a:r>
          </a:p>
        </p:txBody>
      </p:sp>
      <p:sp>
        <p:nvSpPr>
          <p:cNvPr id="3" name="比にする前の符号を使うため、全周の向きを求められる。">
            <a:extLst xmlns:a="http://schemas.openxmlformats.org/drawingml/2006/main">
              <a:ext uri="{FF2B5EF4-FFF2-40B4-BE49-F238E27FC236}">
                <a16:creationId xmlns:a16="http://schemas.microsoft.com/office/drawing/2014/main" id="{70B81AC2-F4A5-42E2-B616-2CABBBED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比にする前の符号を使うため、全周の向きを求められる。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402D3AFA-21C2-4E0C-A95D-ABBCEF81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5" name="Excel の例：B2 に ΔX、C2 に ΔY">
            <a:extLst xmlns:a="http://schemas.openxmlformats.org/drawingml/2006/main">
              <a:ext uri="{FF2B5EF4-FFF2-40B4-BE49-F238E27FC236}">
                <a16:creationId xmlns:a16="http://schemas.microsoft.com/office/drawing/2014/main" id="{EAF47B15-CABC-46E0-A82E-738C9DF9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Excel の例：B2 に ΔX、C2 に ΔY</a:t>
            </a:r>
          </a:p>
        </p:txBody>
      </p:sp>
      <p:sp>
        <p:nvSpPr>
          <p:cNvPr id="6" name="=MOD(DEGREES(ATAN2(B2,C2)),360)">
            <a:extLst xmlns:a="http://schemas.openxmlformats.org/drawingml/2006/main">
              <a:ext uri="{FF2B5EF4-FFF2-40B4-BE49-F238E27FC236}">
                <a16:creationId xmlns:a16="http://schemas.microsoft.com/office/drawing/2014/main" id="{AC7D1A51-5C63-40F8-9751-662BFCC6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=MOD(DEGREES(ATAN2(B2,C2)),360)</a:t>
            </a:r>
          </a:p>
        </p:txBody>
      </p:sp>
      <p:sp>
        <p:nvSpPr>
          <p:cNvPr id="7" name="引数の順序はソフトによって異なる。返り値を度に直し、0〜360°にそろえる。">
            <a:extLst xmlns:a="http://schemas.openxmlformats.org/drawingml/2006/main">
              <a:ext uri="{FF2B5EF4-FFF2-40B4-BE49-F238E27FC236}">
                <a16:creationId xmlns:a16="http://schemas.microsoft.com/office/drawing/2014/main" id="{60D0ACFC-BE9F-4279-A67C-01E6C6C8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51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引数の順序はソフトによって異なる。返り値を度に直し、0〜360°にそろえる。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D28E3-BFC5-4D3D-9117-B5C6BF0CED3B}"/>
              </a:ext>
            </a:extLst>
          </p:cNvPr>
          <p:cNvGraphicFramePr/>
          <p:nvPr/>
        </p:nvGraphicFramePr>
        <p:xfrm>
          <a:off xmlns:a="http://schemas.openxmlformats.org/drawingml/2006/main" x="619125" y="3914775"/>
          <a:ext xmlns:a="http://schemas.openxmlformats.org/drawingml/2006/main" cx="10906125" cy="163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047875"/>
                <a:gridCol w="2047875"/>
                <a:gridCol w="2047875"/>
                <a:gridCol w="2095500"/>
              </a:tblGrid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軸上の向き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ΔX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ΔY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方向角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90°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270°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ΔX = 0、ΔY = 0 のときは、方向角が定まらない。">
            <a:extLst xmlns:a="http://schemas.openxmlformats.org/drawingml/2006/main">
              <a:ext uri="{FF2B5EF4-FFF2-40B4-BE49-F238E27FC236}">
                <a16:creationId xmlns:a16="http://schemas.microsoft.com/office/drawing/2014/main" id="{8ED3D288-66AA-45E8-A54B-DA8667E2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ΔX = 0、ΔY = 0 のときは、方向角が定まらない。</a:t>
            </a:r>
          </a:p>
        </p:txBody>
      </p:sp>
    </p:spTree>
    <p:extLst>
      <p:ext uri="{BB962C8B-B14F-4D97-AF65-F5344CB8AC3E}">
        <p14:creationId xmlns:p14="http://schemas.microsoft.com/office/powerpoint/2010/main" val="15503840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2705745D-5F74-43FE-BE9B-5AA080F2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確認問題：比の計算前に、向きを予想する">
            <a:extLst xmlns:a="http://schemas.openxmlformats.org/drawingml/2006/main">
              <a:ext uri="{FF2B5EF4-FFF2-40B4-BE49-F238E27FC236}">
                <a16:creationId xmlns:a16="http://schemas.microsoft.com/office/drawing/2014/main" id="{57A2E045-9158-48DD-95C8-4C4222B4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確認問題：比の計算前に、向きを予想する</a:t>
            </a:r>
          </a:p>
        </p:txBody>
      </p:sp>
      <p:sp>
        <p:nvSpPr>
          <p:cNvPr id="3" name="各行について、向き・arctan の答え α・補正後の方向角 θ を求める。">
            <a:extLst xmlns:a="http://schemas.openxmlformats.org/drawingml/2006/main">
              <a:ext uri="{FF2B5EF4-FFF2-40B4-BE49-F238E27FC236}">
                <a16:creationId xmlns:a16="http://schemas.microsoft.com/office/drawing/2014/main" id="{917A9F27-93CD-41EF-81A6-D94DA70A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各行について、向き・arctan の答え α・補正後の方向角 θ を求める。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C4585D51-8A84-4B83-ADDE-14E624F2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9AB47-A629-485A-A187-33E97A4380CC}"/>
              </a:ext>
            </a:extLst>
          </p:cNvPr>
          <p:cNvGraphicFramePr/>
          <p:nvPr/>
        </p:nvGraphicFramePr>
        <p:xfrm>
          <a:off xmlns:a="http://schemas.openxmlformats.org/drawingml/2006/main" x="619125" y="2162175"/>
          <a:ext xmlns:a="http://schemas.openxmlformats.org/drawingml/2006/main" cx="10906125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714500"/>
                <a:gridCol w="1714500"/>
                <a:gridCol w="2047875"/>
                <a:gridCol w="2047875"/>
                <a:gridCol w="2047875"/>
              </a:tblGrid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問題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ΔX [m]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ΔY [m]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向き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② と ③ は比が同じ。方向角も同じになるだろうか。">
            <a:extLst xmlns:a="http://schemas.openxmlformats.org/drawingml/2006/main">
              <a:ext uri="{FF2B5EF4-FFF2-40B4-BE49-F238E27FC236}">
                <a16:creationId xmlns:a16="http://schemas.microsoft.com/office/drawing/2014/main" id="{C50874E0-48EC-4A82-B4FF-C0E70E88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② と ③ は比が同じ。方向角も同じになるだろうか。</a:t>
            </a:r>
          </a:p>
        </p:txBody>
      </p:sp>
      <p:sp>
        <p:nvSpPr>
          <p:cNvPr id="7" name="「どの象限か」から、「なぜその補正か」まで説明する。">
            <a:extLst xmlns:a="http://schemas.openxmlformats.org/drawingml/2006/main">
              <a:ext uri="{FF2B5EF4-FFF2-40B4-BE49-F238E27FC236}">
                <a16:creationId xmlns:a16="http://schemas.microsoft.com/office/drawing/2014/main" id="{64140488-C239-42F1-B2BC-024A2F6C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「どの象限か」から、「なぜその補正か」まで説明する。</a:t>
            </a:r>
          </a:p>
        </p:txBody>
      </p:sp>
    </p:spTree>
    <p:extLst>
      <p:ext uri="{BB962C8B-B14F-4D97-AF65-F5344CB8AC3E}">
        <p14:creationId xmlns:p14="http://schemas.microsoft.com/office/powerpoint/2010/main" val="1912470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2026-10-15T03:03:36.5210000Z</dcterms:created>
  <dcterms:modified xsi:type="dcterms:W3CDTF">2026-10-15T03:03:36.5210000Z</dcterms:modified>
</coreProperties>
</file>