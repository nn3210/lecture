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b4b7b6baa049bd" /><Relationship Type="http://schemas.openxmlformats.org/officeDocument/2006/relationships/extended-properties" Target="/docProps/app.xml" Id="R4e39d8952cda4f45" /><Relationship Type="http://schemas.openxmlformats.org/officeDocument/2006/relationships/officeDocument" Target="/ppt/presentation.xml" Id="R0447af20242347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fa7781ca004dcb"/>
  </p:sldMasterIdLst>
  <p:notesMasterIdLst>
    <p:notesMasterId xmlns:r="http://schemas.openxmlformats.org/officeDocument/2006/relationships" r:id="Ra99029bb9eeb4107"/>
  </p:notesMasterIdLst>
  <p:sldIdLst>
    <p:sldId xmlns:r="http://schemas.openxmlformats.org/officeDocument/2006/relationships" id="256" r:id="R433868da3f524cf7"/>
    <p:sldId xmlns:r="http://schemas.openxmlformats.org/officeDocument/2006/relationships" id="257" r:id="Rfdf35b919f6d4cce"/>
    <p:sldId xmlns:r="http://schemas.openxmlformats.org/officeDocument/2006/relationships" id="258" r:id="R7b713640b7f04a11"/>
    <p:sldId xmlns:r="http://schemas.openxmlformats.org/officeDocument/2006/relationships" id="259" r:id="Rb2a0f70d434441a3"/>
    <p:sldId xmlns:r="http://schemas.openxmlformats.org/officeDocument/2006/relationships" id="260" r:id="R08133189e9d04063"/>
    <p:sldId xmlns:r="http://schemas.openxmlformats.org/officeDocument/2006/relationships" id="261" r:id="Rd74a8b17c94e4683"/>
    <p:sldId xmlns:r="http://schemas.openxmlformats.org/officeDocument/2006/relationships" id="262" r:id="Rcaf602d1f2c14d76"/>
    <p:sldId xmlns:r="http://schemas.openxmlformats.org/officeDocument/2006/relationships" id="263" r:id="R3ca066fbe61c41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f801b008f34162" /><Relationship Type="http://schemas.openxmlformats.org/officeDocument/2006/relationships/slideMaster" Target="/ppt/slideMasters/slideMaster1.xml" Id="R0bfa7781ca004dcb" /><Relationship Type="http://schemas.openxmlformats.org/officeDocument/2006/relationships/notesMaster" Target="/ppt/notesMasters/notesMaster1.xml" Id="Ra99029bb9eeb4107" /><Relationship Type="http://schemas.openxmlformats.org/officeDocument/2006/relationships/presProps" Target="/ppt/presProps.xml" Id="Re583744a68fc458b" /><Relationship Type="http://schemas.openxmlformats.org/officeDocument/2006/relationships/tableStyles" Target="/ppt/tableStyles.xml" Id="R441ac78021214489" /><Relationship Type="http://schemas.openxmlformats.org/officeDocument/2006/relationships/slide" Target="/ppt/slides/slide1.xml" Id="R433868da3f524cf7" /><Relationship Type="http://schemas.openxmlformats.org/officeDocument/2006/relationships/slide" Target="/ppt/slides/slide2.xml" Id="Rfdf35b919f6d4cce" /><Relationship Type="http://schemas.openxmlformats.org/officeDocument/2006/relationships/slide" Target="/ppt/slides/slide3.xml" Id="R7b713640b7f04a11" /><Relationship Type="http://schemas.openxmlformats.org/officeDocument/2006/relationships/slide" Target="/ppt/slides/slide4.xml" Id="Rb2a0f70d434441a3" /><Relationship Type="http://schemas.openxmlformats.org/officeDocument/2006/relationships/slide" Target="/ppt/slides/slide5.xml" Id="R08133189e9d04063" /><Relationship Type="http://schemas.openxmlformats.org/officeDocument/2006/relationships/slide" Target="/ppt/slides/slide6.xml" Id="Rd74a8b17c94e4683" /><Relationship Type="http://schemas.openxmlformats.org/officeDocument/2006/relationships/slide" Target="/ppt/slides/slide7.xml" Id="Rcaf602d1f2c14d76" /><Relationship Type="http://schemas.openxmlformats.org/officeDocument/2006/relationships/slide" Target="/ppt/slides/slide8.xml" Id="R3ca066fbe61c41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a6a5f54f4f44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aa781fa91147ed" /><Relationship Type="http://schemas.openxmlformats.org/officeDocument/2006/relationships/notesMaster" Target="/ppt/notesMasters/notesMaster1.xml" Id="Ra72e84e2166d44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32f7feea0a42b3" /><Relationship Type="http://schemas.openxmlformats.org/officeDocument/2006/relationships/notesMaster" Target="/ppt/notesMasters/notesMaster1.xml" Id="R235c77bd48fe48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0b4113f2b84a41" /><Relationship Type="http://schemas.openxmlformats.org/officeDocument/2006/relationships/notesMaster" Target="/ppt/notesMasters/notesMaster1.xml" Id="R9f781fa24d4140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fbdddec4f84553" /><Relationship Type="http://schemas.openxmlformats.org/officeDocument/2006/relationships/notesMaster" Target="/ppt/notesMasters/notesMaster1.xml" Id="Ra08cb1fe2cd744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4247e8bb8943b5" /><Relationship Type="http://schemas.openxmlformats.org/officeDocument/2006/relationships/notesMaster" Target="/ppt/notesMasters/notesMaster1.xml" Id="Re4cca84f1cc847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81a06ff01d4c10" /><Relationship Type="http://schemas.openxmlformats.org/officeDocument/2006/relationships/notesMaster" Target="/ppt/notesMasters/notesMaster1.xml" Id="R388785cb1bdc4b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b54eb9a1634a8e" /><Relationship Type="http://schemas.openxmlformats.org/officeDocument/2006/relationships/notesMaster" Target="/ppt/notesMasters/notesMaster1.xml" Id="R77707caba39c46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3b4fb95bb44bd7" /><Relationship Type="http://schemas.openxmlformats.org/officeDocument/2006/relationships/notesMaster" Target="/ppt/notesMasters/notesMaster1.xml" Id="R71c835ff54ad46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添付スライドと同じ測量の約束を使う。X軸は北向き、Y軸は東向き。数学の通常の図のx軸右・y軸上とは異なる。方向角θはX軸の正方向（北）から時計回り。0°以上360°未満で表す。ΔX=X終点−X始点、ΔY=Y終点−Y始点。散布図は横軸ΔY、縦軸ΔX。象限番号は北東から時計回りに第1、第2、第3、第4。図の数値は説明用の座標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北東AはΔX=1、ΔY=1で方向角45°。南西BはΔX=−1、ΔY=−1で方向角225°。ともにΔY/ΔX=1。同じ直線上の正反対の方向になる。tanの値だけでは、向きは180°の違いを残してしか決まらない。座標差が持っていた符号の組合せの情報が、比を作る際に失われる。点名A・Bと色を併用し、色だけに依存し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限の実数rについて、α=arctan(r)の主値は−90°&lt;α&lt;90°。たとえばtan45°=tan225°=1だが、arctan1は45°を返す。同様にtan135°=tan315°=−1だがarctan(−1)は−45°を返す。arctanは全周の方向角を直接返す関数ではない。電卓のtanの逆関数を表すtan⁻¹は、この資料のarctanと同じ意味。1/tanを表すものではない。以後は度数法で計算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軸上でない場合の整理。第1象限はΔX&gt;0かつΔY&gt;0でθ=α。第2・第3象限はΔX&lt;0なのでθ=α+180°。第4象限はΔX&gt;0かつΔY&lt;0でα&lt;0なのでθ=α+360°。180°は正反対の向きへの補正、360°は同じ向きの表記を正にそろえる操作であり、意味が異なる。αは絶対値の比から得た鋭角ではなく、符号付きの比の逆正接である。絶対値を使う方位角表とは補正式を混用しない。軸上は7枚目で扱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説明用の座標差。南東AはΔX=−30m、ΔY=40m。北西BはΔX=30m、ΔY=−40m。α=arctan(−4/3)=−53.130102...°。AはΔX&lt;0だからα+180=126.869897...°、Bは北西だからα+360=306.869897...°。表示は小数第2位に四捨五入。南東の角は90〜180°、北西の角は270〜360°に入ることを確認する。散布図の座標差単位は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トラバースの座標計算で、Lと0〜360°の方向角θが与えられていればΔX=Lcosθ、ΔY=Lsinθを直接計算する。cos・sinが象限に応じた符号を返すので、象限別の公式に分ける必要はない。例L=100m、θ=120°ならΔX=−50m、ΔY=86.60254...mで南東。逆に座標差から方向角を求める際は、比を作ると符号の組合せを失うためarctanの後に補正する。昔の関数表や鋭角だけを扱う手計算では、象限ごとに正負を付ける形で整理できるが、方向角全体のcos・sinを使う計算では不要。観測角から次の辺の方向角を求める漸化計算は別の段階で、0〜360°への正規化を行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atan2は2つの引数の符号を使って象限を判定する。Pythonではdegrees(atan2(ΔY, ΔX)) % 360で北から時計回りの方向角になる。数学でのatan2(y,x)のyに測量のΔY、xに測量のΔXを対応させる。Excelの関数はATAN2(x_num,y_num)で引数順が逆なので、B2=ΔX、C2=ΔYなら=MOD(DEGREES(ATAN2(B2,C2)),360)。ラジアンから度への変換を含む。関数によって負の角を返すため正規化が必要。ΔX=ΔY=0は同一点で方向を定められず、呼び出し前に検査する。Pythonの返り値が0になっても幾何学的に方向角が定まることは意味しない。軸上では比ΔY/ΔXを使わず向きを直接決める。出典：Python公式 math.atan2 https://docs.python.org/3/library/math.html#math.atan2 、Microsoft公式 ATAN2 https://support.microsoft.com/ja-jp/excel/functions/atan2-function （2026-10-15確認）。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問題の解答。①ΔX=30、ΔY=40：北東、第1象限、α=53.130102...°、補正なし、θ=53.13°。②ΔX=−30、ΔY=40：南東、第2象限、α=−53.130102...°、180°を加えθ=126.87°。③ΔX=30、ΔY=−40：北西、第4象限、α=−53.130102...°、360°を加えθ=306.87°。②と③の比はいずれも−4/3だが方向角は180°異なる。数値の答えだけでなく、どの符号を見て補正したかを説明させる。最後に、arctanが使うのは一つの比、atan2が使うのは二つの座標差であることを確認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a6003a4b99497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3be349a3f3457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bc8ce1b1924f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3e5addaa6c46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5a17084dac487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3605a83beb41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F05C25-3665-41FE-8CB2-065D73EE63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96F1B09-10FE-4F83-A6E5-A460412EB2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AA877C4-3CF4-4059-A469-621FF7BE97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7FC60B-86F9-454C-8908-ECF990E5F0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3203400-ED4C-4145-9E09-04C562871C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326B300-B091-4BA5-A1DC-18244CF8C8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B97224-9C94-4F83-9E2F-D8CF06480C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33A9254-5D94-4F23-AF08-2E5F9D33A2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8803E9-C6B5-4185-9A89-30AAA77016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D48FE8-B132-42DA-AD93-6EA507468C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389b3df5254783" /><Relationship Type="http://schemas.openxmlformats.org/officeDocument/2006/relationships/slideLayout" Target="/ppt/slideLayouts/slideLayout1.xml" Id="Rc8a46caab38b410f" /><Relationship Type="http://schemas.openxmlformats.org/officeDocument/2006/relationships/slideLayout" Target="/ppt/slideLayouts/slideLayout2.xml" Id="Rd79d93631c5c4dd5" /><Relationship Type="http://schemas.openxmlformats.org/officeDocument/2006/relationships/slideLayout" Target="/ppt/slideLayouts/slideLayout3.xml" Id="R6e288ff485fa4551" /><Relationship Type="http://schemas.openxmlformats.org/officeDocument/2006/relationships/slideLayout" Target="/ppt/slideLayouts/slideLayout4.xml" Id="Rdbfbd0ff605944a7" /><Relationship Type="http://schemas.openxmlformats.org/officeDocument/2006/relationships/slideLayout" Target="/ppt/slideLayouts/slideLayout5.xml" Id="Ra78fd642e4884a1c" /><Relationship Type="http://schemas.openxmlformats.org/officeDocument/2006/relationships/slideLayout" Target="/ppt/slideLayouts/slideLayout6.xml" Id="R1bb4386dddec47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a46caab38b410f"/>
    <p:sldLayoutId xmlns:r="http://schemas.openxmlformats.org/officeDocument/2006/relationships" id="2147483650" r:id="Rd79d93631c5c4dd5"/>
    <p:sldLayoutId xmlns:r="http://schemas.openxmlformats.org/officeDocument/2006/relationships" id="2147483651" r:id="R6e288ff485fa4551"/>
    <p:sldLayoutId xmlns:r="http://schemas.openxmlformats.org/officeDocument/2006/relationships" id="2147483652" r:id="Rdbfbd0ff605944a7"/>
    <p:sldLayoutId xmlns:r="http://schemas.openxmlformats.org/officeDocument/2006/relationships" id="2147483653" r:id="Ra78fd642e4884a1c"/>
    <p:sldLayoutId xmlns:r="http://schemas.openxmlformats.org/officeDocument/2006/relationships" id="2147483654" r:id="R1bb4386dddec47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c2c4b8a31b474c" /><Relationship Type="http://schemas.openxmlformats.org/officeDocument/2006/relationships/chart" Target="/ppt/slides/charts/chart1.xml" Id="Rc55a121dabcf4e37" /><Relationship Type="http://schemas.openxmlformats.org/officeDocument/2006/relationships/notesSlide" Target="/ppt/notesSlides/notesSlide1.xml" Id="Rf0494ddf46ed42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888d171fbf441d" /><Relationship Type="http://schemas.openxmlformats.org/officeDocument/2006/relationships/chart" Target="/ppt/slides/charts/chart2.xml" Id="R6bf7e98da6f44c3c" /><Relationship Type="http://schemas.openxmlformats.org/officeDocument/2006/relationships/notesSlide" Target="/ppt/notesSlides/notesSlide2.xml" Id="Rbe38472471f149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23d8c075da4f67" /><Relationship Type="http://schemas.openxmlformats.org/officeDocument/2006/relationships/notesSlide" Target="/ppt/notesSlides/notesSlide3.xml" Id="R7ac0c007973848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f9e15d901645f3" /><Relationship Type="http://schemas.openxmlformats.org/officeDocument/2006/relationships/notesSlide" Target="/ppt/notesSlides/notesSlide4.xml" Id="R2bad6dfba65b42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29ab6e7e1f4314" /><Relationship Type="http://schemas.openxmlformats.org/officeDocument/2006/relationships/chart" Target="/ppt/slides/charts/chart3.xml" Id="Rae7f0414f3404ea7" /><Relationship Type="http://schemas.openxmlformats.org/officeDocument/2006/relationships/notesSlide" Target="/ppt/notesSlides/notesSlide5.xml" Id="R987d76aa3e8d47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702b76d8aa4b09" /><Relationship Type="http://schemas.openxmlformats.org/officeDocument/2006/relationships/notesSlide" Target="/ppt/notesSlides/notesSlide6.xml" Id="R1987474d9abe40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bfe29f636943f1" /><Relationship Type="http://schemas.openxmlformats.org/officeDocument/2006/relationships/notesSlide" Target="/ppt/notesSlides/notesSlide7.xml" Id="Rdb23f25a368b49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22729095dc4c42" /><Relationship Type="http://schemas.openxmlformats.org/officeDocument/2006/relationships/notesSlide" Target="/ppt/notesSlides/notesSlide8.xml" Id="R2f8f94fed4c8441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北 0°</c:v>
          </c:tx>
          <c:spPr>
            <a:ln xmlns:a="http://schemas.openxmlformats.org/drawingml/2006/main" w="28575">
              <a:solidFill>
                <a:srgbClr val="245989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45989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245989"/>
                        </a:solidFill>
                        <a:latin typeface="Meiryo"/>
                        <a:ea typeface="Meiryo"/>
                        <a:cs typeface="Meiryo"/>
                      </a:rPr>
                      <a:t>北 0°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245989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t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Data'!$B$2:$B$3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1"/>
          <c:order val="1"/>
          <c:tx>
            <c:v>東 90°</c:v>
          </c:tx>
          <c:spPr>
            <a:ln xmlns:a="http://schemas.openxmlformats.org/drawingml/2006/main" w="28575">
              <a:solidFill>
                <a:srgbClr val="117E7A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17E7A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117E7A"/>
                        </a:solidFill>
                        <a:latin typeface="Meiryo"/>
                        <a:ea typeface="Meiryo"/>
                        <a:cs typeface="Meiryo"/>
                      </a:rPr>
                      <a:t>東 90°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117E7A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r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Data'!$D$2:$D$3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ser>
          <c:idx val="2"/>
          <c:order val="2"/>
          <c:tx>
            <c:v>南 180°</c:v>
          </c:tx>
          <c:spPr>
            <a:ln xmlns:a="http://schemas.openxmlformats.org/drawingml/2006/main" w="28575">
              <a:solidFill>
                <a:srgbClr val="245989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45989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245989"/>
                        </a:solidFill>
                        <a:latin typeface="Meiryo"/>
                        <a:ea typeface="Meiryo"/>
                        <a:cs typeface="Meiryo"/>
                      </a:rPr>
                      <a:t>南 180°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245989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b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xVal>
          <c:yVal>
            <c:numRef>
              <c:f>'Chart Data'!$F$2:$F$3</c:f>
              <c:numCache>
                <c:formatCode>General</c:formatCode>
                <c:ptCount val="2"/>
                <c:pt idx="0">
                  <c:v>0</c:v>
                </c:pt>
                <c:pt idx="1">
                  <c:v>-1</c:v>
                </c:pt>
              </c:numCache>
            </c:numRef>
          </c:yVal>
        </c:ser>
        <c:ser>
          <c:idx val="3"/>
          <c:order val="3"/>
          <c:tx>
            <c:v>西 270°</c:v>
          </c:tx>
          <c:spPr>
            <a:ln xmlns:a="http://schemas.openxmlformats.org/drawingml/2006/main" w="28575">
              <a:solidFill>
                <a:srgbClr val="117E7A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17E7A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117E7A"/>
                        </a:solidFill>
                        <a:latin typeface="Meiryo"/>
                        <a:ea typeface="Meiryo"/>
                        <a:cs typeface="Meiryo"/>
                      </a:rPr>
                      <a:t>西 270°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117E7A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l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Data'!$G$2:$G$3</c:f>
              <c:numCache>
                <c:formatCode>General</c:formatCode>
                <c:ptCount val="2"/>
                <c:pt idx="0">
                  <c:v>0</c:v>
                </c:pt>
                <c:pt idx="1">
                  <c:v>-1</c:v>
                </c:pt>
              </c:numCache>
            </c:numRef>
          </c:xVal>
          <c:yVal>
            <c:numRef>
              <c:f>'Chart Data'!$H$2:$H$3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eiryo"/>
                  <a:ea typeface="Meiryo"/>
                  <a:cs typeface="Meiry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5"/>
          <c:min val="-1.65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esAt val="0"/>
        <c:majorUnit val="1"/>
      </c:valAx>
      <c:valAx>
        <c:axId val="48650112"/>
        <c:scaling>
          <c:orientation val="minMax"/>
          <c:max val="1.65"/>
          <c:min val="-1.65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  <c:crossesAt val="0"/>
        <c:majorUnit val="1"/>
      </c:valAx>
      <c:spPr>
        <a:solidFill xmlns:a="http://schemas.openxmlformats.org/drawingml/2006/main">
          <a:srgbClr val="FAF9F5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9F5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A 45°</c:v>
          </c:tx>
          <c:spPr>
            <a:ln xmlns:a="http://schemas.openxmlformats.org/drawingml/2006/main" w="28575">
              <a:solidFill>
                <a:srgbClr val="117E7A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17E7A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117E7A"/>
                        </a:solidFill>
                        <a:latin typeface="Meiryo"/>
                        <a:ea typeface="Meiryo"/>
                        <a:cs typeface="Meiryo"/>
                      </a:rPr>
                      <a:t>A 45°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117E7A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t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Data'!$B$2:$B$3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</c:ser>
        <c:ser>
          <c:idx val="1"/>
          <c:order val="1"/>
          <c:tx>
            <c:v>B 225°</c:v>
          </c:tx>
          <c:spPr>
            <a:ln xmlns:a="http://schemas.openxmlformats.org/drawingml/2006/main" w="28575">
              <a:solidFill>
                <a:srgbClr val="BB542E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BB542E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BB542E"/>
                        </a:solidFill>
                        <a:latin typeface="Meiryo"/>
                        <a:ea typeface="Meiryo"/>
                        <a:cs typeface="Meiryo"/>
                      </a:rPr>
                      <a:t>B 225°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BB542E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b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-1</c:v>
                </c:pt>
              </c:numCache>
            </c:numRef>
          </c:xVal>
          <c:yVal>
            <c:numRef>
              <c:f>'Chart Data'!$D$2:$D$3</c:f>
              <c:numCache>
                <c:formatCode>General</c:formatCode>
                <c:ptCount val="2"/>
                <c:pt idx="0">
                  <c:v>0</c:v>
                </c:pt>
                <c:pt idx="1">
                  <c:v>-1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eiryo"/>
                  <a:ea typeface="Meiryo"/>
                  <a:cs typeface="Meiry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"/>
          <c:min val="-1.6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esAt val="0"/>
        <c:majorUnit val="1"/>
      </c:valAx>
      <c:valAx>
        <c:axId val="48650112"/>
        <c:scaling>
          <c:orientation val="minMax"/>
          <c:max val="1.6"/>
          <c:min val="-1.6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  <c:crossesAt val="0"/>
        <c:majorUnit val="1"/>
      </c:valAx>
      <c:spPr>
        <a:solidFill xmlns:a="http://schemas.openxmlformats.org/drawingml/2006/main">
          <a:srgbClr val="FAF9F5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9F5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A 南東</c:v>
          </c:tx>
          <c:spPr>
            <a:ln xmlns:a="http://schemas.openxmlformats.org/drawingml/2006/main" w="28575">
              <a:solidFill>
                <a:srgbClr val="BB542E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BB542E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BB542E"/>
                        </a:solidFill>
                        <a:latin typeface="Meiryo"/>
                        <a:ea typeface="Meiryo"/>
                        <a:cs typeface="Meiryo"/>
                      </a:rPr>
                      <a:t>A 南東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BB542E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r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40</c:v>
                </c:pt>
              </c:numCache>
            </c:numRef>
          </c:xVal>
          <c:yVal>
            <c:numRef>
              <c:f>'Chart Data'!$B$2:$B$3</c:f>
              <c:numCache>
                <c:formatCode>General</c:formatCode>
                <c:ptCount val="2"/>
                <c:pt idx="0">
                  <c:v>0</c:v>
                </c:pt>
                <c:pt idx="1">
                  <c:v>-30</c:v>
                </c:pt>
              </c:numCache>
            </c:numRef>
          </c:yVal>
        </c:ser>
        <c:ser>
          <c:idx val="1"/>
          <c:order val="1"/>
          <c:tx>
            <c:v>B 北西</c:v>
          </c:tx>
          <c:spPr>
            <a:ln xmlns:a="http://schemas.openxmlformats.org/drawingml/2006/main" w="28575">
              <a:solidFill>
                <a:srgbClr val="117E7A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117E7A"/>
              </a:solidFill>
            </c:spPr>
          </c:marke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50" b="1">
                        <a:solidFill>
                          <a:srgbClr val="117E7A"/>
                        </a:solidFill>
                        <a:latin typeface="Meiryo"/>
                        <a:ea typeface="Meiryo"/>
                        <a:cs typeface="Meiryo"/>
                      </a:rPr>
                      <a:t>B 北西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50" b="1">
                      <a:solidFill>
                        <a:srgbClr val="117E7A"/>
                      </a:solidFill>
                      <a:latin typeface="Meiryo"/>
                      <a:ea typeface="Meiryo"/>
                      <a:cs typeface="Meiryo"/>
                    </a:defRPr>
                  </a:pPr>
                </a:p>
              </c:txPr>
              <c:dLblPos val="t"/>
              <c:showVal val="0"/>
            </c:dLbl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>
                    <a:latin typeface="Meiryo"/>
                    <a:ea typeface="Meiryo"/>
                    <a:cs typeface="Meiry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-40</c:v>
                </c:pt>
              </c:numCache>
            </c:numRef>
          </c:xVal>
          <c:yVal>
            <c:numRef>
              <c:f>'Chart Data'!$D$2:$D$3</c:f>
              <c:numCache>
                <c:formatCode>General</c:formatCode>
                <c:ptCount val="2"/>
                <c:pt idx="0">
                  <c:v>0</c:v>
                </c:pt>
                <c:pt idx="1">
                  <c:v>30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eiryo"/>
                  <a:ea typeface="Meiryo"/>
                  <a:cs typeface="Meiry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0"/>
          <c:min val="-7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esAt val="0"/>
        <c:majorUnit val="40"/>
      </c:valAx>
      <c:valAx>
        <c:axId val="48650112"/>
        <c:scaling>
          <c:orientation val="minMax"/>
          <c:max val="70"/>
          <c:min val="-7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14288">
            <a:solidFill>
              <a:srgbClr val="24598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  <c:crossesAt val="0"/>
        <c:majorUnit val="40"/>
      </c:valAx>
      <c:spPr>
        <a:solidFill xmlns:a="http://schemas.openxmlformats.org/drawingml/2006/main">
          <a:srgbClr val="FAF9F5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9F5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DD0EC9E4-3A9E-40A4-B12A-44F0DE0B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方向角は、北から時計回りに測る">
            <a:extLst xmlns:a="http://schemas.openxmlformats.org/drawingml/2006/main">
              <a:ext uri="{FF2B5EF4-FFF2-40B4-BE49-F238E27FC236}">
                <a16:creationId xmlns:a16="http://schemas.microsoft.com/office/drawing/2014/main" id="{E9B7F94A-61F9-4F75-8F67-BD591C2E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方向角は、北から時計回りに測る</a:t>
            </a:r>
          </a:p>
        </p:txBody>
      </p:sp>
      <p:sp>
        <p:nvSpPr>
          <p:cNvPr id="3" name="X は北向き、Y は東向き。始点から終点への座標差で向きを表す。">
            <a:extLst xmlns:a="http://schemas.openxmlformats.org/drawingml/2006/main">
              <a:ext uri="{FF2B5EF4-FFF2-40B4-BE49-F238E27FC236}">
                <a16:creationId xmlns:a16="http://schemas.microsoft.com/office/drawing/2014/main" id="{5E1294AE-64AF-4C3D-BE30-96A0C630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X は北向き、Y は東向き。始点から終点への座標差で向きを表す。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77302629-107F-4904-AD44-F3081F55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5" name="ΔX = X終点 − X始点">
            <a:extLst xmlns:a="http://schemas.openxmlformats.org/drawingml/2006/main">
              <a:ext uri="{FF2B5EF4-FFF2-40B4-BE49-F238E27FC236}">
                <a16:creationId xmlns:a16="http://schemas.microsoft.com/office/drawing/2014/main" id="{5719EB8E-C103-4694-96A3-BE732C4E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ΔX = X終点 − X始点</a:t>
            </a:r>
          </a:p>
        </p:txBody>
      </p:sp>
      <p:sp>
        <p:nvSpPr>
          <p:cNvPr id="6" name="ΔY = Y終点 − Y始点">
            <a:extLst xmlns:a="http://schemas.openxmlformats.org/drawingml/2006/main">
              <a:ext uri="{FF2B5EF4-FFF2-40B4-BE49-F238E27FC236}">
                <a16:creationId xmlns:a16="http://schemas.microsoft.com/office/drawing/2014/main" id="{972E6482-9DA3-4102-81B8-B94BD839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035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ΔY = Y終点 − Y始点</a:t>
            </a:r>
          </a:p>
        </p:txBody>
      </p:sp>
      <p:sp>
        <p:nvSpPr>
          <p:cNvPr id="7" name="北 0°　　東 90°">
            <a:extLst xmlns:a="http://schemas.openxmlformats.org/drawingml/2006/main">
              <a:ext uri="{FF2B5EF4-FFF2-40B4-BE49-F238E27FC236}">
                <a16:creationId xmlns:a16="http://schemas.microsoft.com/office/drawing/2014/main" id="{FA8EFB7A-CD09-4278-9182-06702344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北 0°　　東 90°</a:t>
            </a:r>
          </a:p>
        </p:txBody>
      </p:sp>
      <p:sp>
        <p:nvSpPr>
          <p:cNvPr id="8" name="南 180°　西 270°">
            <a:extLst xmlns:a="http://schemas.openxmlformats.org/drawingml/2006/main">
              <a:ext uri="{FF2B5EF4-FFF2-40B4-BE49-F238E27FC236}">
                <a16:creationId xmlns:a16="http://schemas.microsoft.com/office/drawing/2014/main" id="{572CBFB9-7AC7-48CF-B859-EE8BFE8A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南 180°　西 270°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1D51B1EB-317D-4803-B57A-897E5DE0214E}"/>
              </a:ext>
            </a:extLst>
          </p:cNvPr>
          <p:cNvGraphicFramePr/>
          <p:nvPr/>
        </p:nvGraphicFramePr>
        <p:xfrm>
          <a:off xmlns:a="http://schemas.openxmlformats.org/drawingml/2006/main" x="7239000" y="1971675"/>
          <a:ext xmlns:a="http://schemas.openxmlformats.org/drawingml/2006/main" cx="3429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5a121dabcf4e37"/>
          </a:graphicData>
        </a:graphic>
      </p:graphicFrame>
      <p:sp>
        <p:nvSpPr>
          <p:cNvPr id="10" name="北（＋ΔX）">
            <a:extLst xmlns:a="http://schemas.openxmlformats.org/drawingml/2006/main">
              <a:ext uri="{FF2B5EF4-FFF2-40B4-BE49-F238E27FC236}">
                <a16:creationId xmlns:a16="http://schemas.microsoft.com/office/drawing/2014/main" id="{753963DA-6128-46E2-9BC6-3E625ECA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022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北（＋ΔX）</a:t>
            </a:r>
          </a:p>
        </p:txBody>
      </p:sp>
      <p:sp>
        <p:nvSpPr>
          <p:cNvPr id="11" name="東（＋ΔY）">
            <a:extLst xmlns:a="http://schemas.openxmlformats.org/drawingml/2006/main">
              <a:ext uri="{FF2B5EF4-FFF2-40B4-BE49-F238E27FC236}">
                <a16:creationId xmlns:a16="http://schemas.microsoft.com/office/drawing/2014/main" id="{D132DC60-C04B-439D-9E57-5FA8A536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01002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東（＋ΔY）</a:t>
            </a:r>
          </a:p>
        </p:txBody>
      </p:sp>
      <p:sp>
        <p:nvSpPr>
          <p:cNvPr id="12" name="象限は、ΔX・ΔY の符号から向きを確かめるために使う。">
            <a:extLst xmlns:a="http://schemas.openxmlformats.org/drawingml/2006/main">
              <a:ext uri="{FF2B5EF4-FFF2-40B4-BE49-F238E27FC236}">
                <a16:creationId xmlns:a16="http://schemas.microsoft.com/office/drawing/2014/main" id="{9B054F45-16A1-4E7D-9842-BF6C37F5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象限は、ΔX・ΔY の符号から向きを確かめるために使う。</a:t>
            </a:r>
          </a:p>
        </p:txBody>
      </p:sp>
    </p:spTree>
    <p:extLst>
      <p:ext uri="{BB962C8B-B14F-4D97-AF65-F5344CB8AC3E}">
        <p14:creationId xmlns:p14="http://schemas.microsoft.com/office/powerpoint/2010/main" val="15155354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8743B460-4630-4FDD-84E6-A3D95121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正反対の方向でも、ΔY / ΔX は同じ">
            <a:extLst xmlns:a="http://schemas.openxmlformats.org/drawingml/2006/main">
              <a:ext uri="{FF2B5EF4-FFF2-40B4-BE49-F238E27FC236}">
                <a16:creationId xmlns:a16="http://schemas.microsoft.com/office/drawing/2014/main" id="{13F6D8EF-2B69-4D82-B003-C7205866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正反対の方向でも、ΔY / ΔX は同じ</a:t>
            </a:r>
          </a:p>
        </p:txBody>
      </p:sp>
      <p:sp>
        <p:nvSpPr>
          <p:cNvPr id="3" name="比を計算すると、両方が＋なのか、両方が−なのかを区別できない。">
            <a:extLst xmlns:a="http://schemas.openxmlformats.org/drawingml/2006/main">
              <a:ext uri="{FF2B5EF4-FFF2-40B4-BE49-F238E27FC236}">
                <a16:creationId xmlns:a16="http://schemas.microsoft.com/office/drawing/2014/main" id="{0B3C3950-A620-4D43-930B-F09B511E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比を計算すると、両方が＋なのか、両方が−なのかを区別できない。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886CFC0A-A72B-43C0-9BB3-3A4CB601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262F1D3E-DBBB-4AA4-AED9-458ABEF4CAA9}"/>
              </a:ext>
            </a:extLst>
          </p:cNvPr>
          <p:cNvGraphicFramePr/>
          <p:nvPr/>
        </p:nvGraphicFramePr>
        <p:xfrm>
          <a:off xmlns:a="http://schemas.openxmlformats.org/drawingml/2006/main" x="1476375" y="1971675"/>
          <a:ext xmlns:a="http://schemas.openxmlformats.org/drawingml/2006/main" cx="3429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f7e98da6f44c3c"/>
          </a:graphicData>
        </a:graphic>
      </p:graphicFrame>
      <p:sp>
        <p:nvSpPr>
          <p:cNvPr id="6" name="北（＋ΔX）">
            <a:extLst xmlns:a="http://schemas.openxmlformats.org/drawingml/2006/main">
              <a:ext uri="{FF2B5EF4-FFF2-40B4-BE49-F238E27FC236}">
                <a16:creationId xmlns:a16="http://schemas.microsoft.com/office/drawing/2014/main" id="{D7D1316E-4903-4017-B235-D955B9E8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80022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北（＋ΔX）</a:t>
            </a:r>
          </a:p>
        </p:txBody>
      </p:sp>
      <p:sp>
        <p:nvSpPr>
          <p:cNvPr id="7" name="東（＋ΔY）">
            <a:extLst xmlns:a="http://schemas.openxmlformats.org/drawingml/2006/main">
              <a:ext uri="{FF2B5EF4-FFF2-40B4-BE49-F238E27FC236}">
                <a16:creationId xmlns:a16="http://schemas.microsoft.com/office/drawing/2014/main" id="{63A7A4DC-8666-4922-AB4B-D024A82D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01002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東（＋ΔY）</a:t>
            </a:r>
          </a:p>
        </p:txBody>
      </p:sp>
      <p:sp>
        <p:nvSpPr>
          <p:cNvPr id="8" name="A：北東（ΔX, ΔY）=（1, 1）">
            <a:extLst xmlns:a="http://schemas.openxmlformats.org/drawingml/2006/main">
              <a:ext uri="{FF2B5EF4-FFF2-40B4-BE49-F238E27FC236}">
                <a16:creationId xmlns:a16="http://schemas.microsoft.com/office/drawing/2014/main" id="{EF16C8AC-C57B-4E9B-AE57-31212B25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1455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A：北東（ΔX, ΔY）=（1, 1）</a:t>
            </a:r>
          </a:p>
        </p:txBody>
      </p:sp>
      <p:sp>
        <p:nvSpPr>
          <p:cNvPr id="9" name="ΔY / ΔX = 1 / 1 = 1">
            <a:extLst xmlns:a="http://schemas.openxmlformats.org/drawingml/2006/main">
              <a:ext uri="{FF2B5EF4-FFF2-40B4-BE49-F238E27FC236}">
                <a16:creationId xmlns:a16="http://schemas.microsoft.com/office/drawing/2014/main" id="{38A7C9A9-F6CE-4AB6-88B2-2D940F79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67000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ΔY / ΔX = 1 / 1 = 1</a:t>
            </a:r>
          </a:p>
        </p:txBody>
      </p:sp>
      <p:sp>
        <p:nvSpPr>
          <p:cNvPr id="10" name="B：南西（ΔX, ΔY）=（−1, −1）">
            <a:extLst xmlns:a="http://schemas.openxmlformats.org/drawingml/2006/main">
              <a:ext uri="{FF2B5EF4-FFF2-40B4-BE49-F238E27FC236}">
                <a16:creationId xmlns:a16="http://schemas.microsoft.com/office/drawing/2014/main" id="{60FE2F78-F03B-4FE8-B6BB-D9CF3CB5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909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B：南西（ΔX, ΔY）=（−1, −1）</a:t>
            </a:r>
          </a:p>
        </p:txBody>
      </p:sp>
      <p:sp>
        <p:nvSpPr>
          <p:cNvPr id="11" name="ΔY / ΔX = (−1) / (−1) = 1">
            <a:extLst xmlns:a="http://schemas.openxmlformats.org/drawingml/2006/main">
              <a:ext uri="{FF2B5EF4-FFF2-40B4-BE49-F238E27FC236}">
                <a16:creationId xmlns:a16="http://schemas.microsoft.com/office/drawing/2014/main" id="{DBAC82DF-665A-431F-ACE7-BE272591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433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BB542E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BB542E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BB542E"/>
                </a:solidFill>
                <a:latin typeface="Cambria Math"/>
                <a:ea typeface="Cambria Math"/>
                <a:cs typeface="Cambria Math"/>
              </a:rPr>
              <a:t>ΔY / ΔX = (−1) / (−1) = 1</a:t>
            </a:r>
          </a:p>
        </p:txBody>
      </p:sp>
      <p:sp>
        <p:nvSpPr>
          <p:cNvPr id="12" name="同じ比でも、方向角は 45° と 225°。向きが180°違う。">
            <a:extLst xmlns:a="http://schemas.openxmlformats.org/drawingml/2006/main">
              <a:ext uri="{FF2B5EF4-FFF2-40B4-BE49-F238E27FC236}">
                <a16:creationId xmlns:a16="http://schemas.microsoft.com/office/drawing/2014/main" id="{C549ADD9-B654-4253-81BC-1D7F47AC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同じ比でも、方向角は 45° と 225°。向きが180°違う。</a:t>
            </a:r>
          </a:p>
        </p:txBody>
      </p:sp>
    </p:spTree>
    <p:extLst>
      <p:ext uri="{BB962C8B-B14F-4D97-AF65-F5344CB8AC3E}">
        <p14:creationId xmlns:p14="http://schemas.microsoft.com/office/powerpoint/2010/main" val="18558190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319A9EEC-E512-49BF-BB8B-45E02DF8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逆正接が返す角度の範囲">
            <a:extLst xmlns:a="http://schemas.openxmlformats.org/drawingml/2006/main">
              <a:ext uri="{FF2B5EF4-FFF2-40B4-BE49-F238E27FC236}">
                <a16:creationId xmlns:a16="http://schemas.microsoft.com/office/drawing/2014/main" id="{852F1E3F-EE4B-4459-A72A-310183DE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逆正接が返す角度の範囲</a:t>
            </a:r>
          </a:p>
        </p:txBody>
      </p:sp>
      <p:sp>
        <p:nvSpPr>
          <p:cNvPr id="3" name="arctan は、tan が同じ値になる角度のうち、決められた範囲の角を返す。">
            <a:extLst xmlns:a="http://schemas.openxmlformats.org/drawingml/2006/main">
              <a:ext uri="{FF2B5EF4-FFF2-40B4-BE49-F238E27FC236}">
                <a16:creationId xmlns:a16="http://schemas.microsoft.com/office/drawing/2014/main" id="{5165896A-4007-493D-AAAF-403C7288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arctan は、tan が同じ値になる角度のうち、決められた範囲の角を返す。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47E458A8-1E85-4F2A-ADEF-F1A2A671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5" name="α = arctan(ΔY / ΔX)">
            <a:extLst xmlns:a="http://schemas.openxmlformats.org/drawingml/2006/main">
              <a:ext uri="{FF2B5EF4-FFF2-40B4-BE49-F238E27FC236}">
                <a16:creationId xmlns:a16="http://schemas.microsoft.com/office/drawing/2014/main" id="{075E446D-AFEE-4123-BDA3-52ACC2E9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9775"/>
            <a:ext cx="1090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2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32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32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α = arctan(ΔY / ΔX)</a:t>
            </a:r>
          </a:p>
        </p:txBody>
      </p:sp>
      <p:sp>
        <p:nvSpPr>
          <p:cNvPr id="6" name="−90° &lt; α &lt; 90°">
            <a:extLst xmlns:a="http://schemas.openxmlformats.org/drawingml/2006/main">
              <a:ext uri="{FF2B5EF4-FFF2-40B4-BE49-F238E27FC236}">
                <a16:creationId xmlns:a16="http://schemas.microsoft.com/office/drawing/2014/main" id="{8A4F6175-7981-4773-B8F4-32F34627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10906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2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32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322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−90° &lt; α &lt; 90°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7A4A7-9FFA-433B-B9B5-0A377A1CBECB}"/>
              </a:ext>
            </a:extLst>
          </p:cNvPr>
          <p:cNvGraphicFramePr/>
          <p:nvPr/>
        </p:nvGraphicFramePr>
        <p:xfrm>
          <a:off xmlns:a="http://schemas.openxmlformats.org/drawingml/2006/main" x="619125" y="3638550"/>
          <a:ext xmlns:a="http://schemas.openxmlformats.org/drawingml/2006/main" cx="10906125" cy="1685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2095500"/>
                <a:gridCol w="3571875"/>
              </a:tblGrid>
              <a:tr h="5619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同じ tan の値になる方向角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比の値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arctan の答え 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</a:tr>
              <a:tr h="5619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 と 225°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135° と 315°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00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</a:tbl>
          </a:graphicData>
        </a:graphic>
      </p:graphicFrame>
      <p:sp>
        <p:nvSpPr>
          <p:cNvPr id="8" name="α を求めたあと、元の座標差の符号で向きを確定する。">
            <a:extLst xmlns:a="http://schemas.openxmlformats.org/drawingml/2006/main">
              <a:ext uri="{FF2B5EF4-FFF2-40B4-BE49-F238E27FC236}">
                <a16:creationId xmlns:a16="http://schemas.microsoft.com/office/drawing/2014/main" id="{E35B562E-444A-4F37-9D5B-82541BC2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α を求めたあと、元の座標差の符号で向きを確定する。</a:t>
            </a:r>
          </a:p>
        </p:txBody>
      </p:sp>
    </p:spTree>
    <p:extLst>
      <p:ext uri="{BB962C8B-B14F-4D97-AF65-F5344CB8AC3E}">
        <p14:creationId xmlns:p14="http://schemas.microsoft.com/office/powerpoint/2010/main" val="20948880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8A460AFF-1B9D-442A-B724-B563175E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象限の表は、向きを確定する手順">
            <a:extLst xmlns:a="http://schemas.openxmlformats.org/drawingml/2006/main">
              <a:ext uri="{FF2B5EF4-FFF2-40B4-BE49-F238E27FC236}">
                <a16:creationId xmlns:a16="http://schemas.microsoft.com/office/drawing/2014/main" id="{0522DFE3-368B-4931-97B5-AB5B6206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象限の表は、向きを確定する手順</a:t>
            </a:r>
          </a:p>
        </p:txBody>
      </p:sp>
      <p:sp>
        <p:nvSpPr>
          <p:cNvPr id="3" name="α = arctan(ΔY / ΔX) を求め、方向角 θ を 0°以上360°未満にそろえる。">
            <a:extLst xmlns:a="http://schemas.openxmlformats.org/drawingml/2006/main">
              <a:ext uri="{FF2B5EF4-FFF2-40B4-BE49-F238E27FC236}">
                <a16:creationId xmlns:a16="http://schemas.microsoft.com/office/drawing/2014/main" id="{6B90AB2F-7F7F-4A34-80B1-8C00DDD9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α = arctan(ΔY / ΔX) を求め、方向角 θ を 0°以上360°未満にそろえる。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4691ABCB-1516-46BE-ABB5-E0716C8B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122B6-0954-4420-9FA9-21C0023AB870}"/>
              </a:ext>
            </a:extLst>
          </p:cNvPr>
          <p:cNvGraphicFramePr/>
          <p:nvPr/>
        </p:nvGraphicFramePr>
        <p:xfrm>
          <a:off xmlns:a="http://schemas.openxmlformats.org/drawingml/2006/main" x="619125" y="2095500"/>
          <a:ext xmlns:a="http://schemas.openxmlformats.org/drawingml/2006/main" cx="10906125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143000"/>
                <a:gridCol w="1143000"/>
                <a:gridCol w="2000250"/>
                <a:gridCol w="2095500"/>
                <a:gridCol w="2047875"/>
              </a:tblGrid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象限・向き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ΔX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ΔY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α の例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加える角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θ の例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</a:tr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第1・北東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第2・南東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180°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135°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第3・南西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180°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225°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第4・北西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−45°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360°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315°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</a:tbl>
          </a:graphicData>
        </a:graphic>
      </p:graphicFrame>
      <p:sp>
        <p:nvSpPr>
          <p:cNvPr id="6" name="180°：正反対の方向へ直す">
            <a:extLst xmlns:a="http://schemas.openxmlformats.org/drawingml/2006/main">
              <a:ext uri="{FF2B5EF4-FFF2-40B4-BE49-F238E27FC236}">
                <a16:creationId xmlns:a16="http://schemas.microsoft.com/office/drawing/2014/main" id="{09B3CDAE-E9AC-48CB-8D35-597C5793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05425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180°：正反対の方向へ直す</a:t>
            </a:r>
          </a:p>
        </p:txBody>
      </p:sp>
      <p:sp>
        <p:nvSpPr>
          <p:cNvPr id="7" name="360°：同じ向きを正の角度で表す">
            <a:extLst xmlns:a="http://schemas.openxmlformats.org/drawingml/2006/main">
              <a:ext uri="{FF2B5EF4-FFF2-40B4-BE49-F238E27FC236}">
                <a16:creationId xmlns:a16="http://schemas.microsoft.com/office/drawing/2014/main" id="{EF7CFC7C-E3C1-4E5C-BCF5-8C31D2C1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305425"/>
            <a:ext cx="5715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360°：同じ向きを正の角度で表す</a:t>
            </a:r>
          </a:p>
        </p:txBody>
      </p:sp>
      <p:sp>
        <p:nvSpPr>
          <p:cNvPr id="8" name="南向き（ΔX &lt; 0）なら180°。北西なら負の角に360°。">
            <a:extLst xmlns:a="http://schemas.openxmlformats.org/drawingml/2006/main">
              <a:ext uri="{FF2B5EF4-FFF2-40B4-BE49-F238E27FC236}">
                <a16:creationId xmlns:a16="http://schemas.microsoft.com/office/drawing/2014/main" id="{809B94A9-D5C6-412B-843F-66998658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南向き（ΔX &lt; 0）なら180°。北西なら負の角に360°。</a:t>
            </a:r>
          </a:p>
        </p:txBody>
      </p:sp>
    </p:spTree>
    <p:extLst>
      <p:ext uri="{BB962C8B-B14F-4D97-AF65-F5344CB8AC3E}">
        <p14:creationId xmlns:p14="http://schemas.microsoft.com/office/powerpoint/2010/main" val="10052598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9C4ED007-AF04-4F3B-8BCF-9632649B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計算例：同じ比でも、補正は異なる">
            <a:extLst xmlns:a="http://schemas.openxmlformats.org/drawingml/2006/main">
              <a:ext uri="{FF2B5EF4-FFF2-40B4-BE49-F238E27FC236}">
                <a16:creationId xmlns:a16="http://schemas.microsoft.com/office/drawing/2014/main" id="{A83855AD-5605-4443-8D73-3B831596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計算例：同じ比でも、補正は異なる</a:t>
            </a:r>
          </a:p>
        </p:txBody>
      </p:sp>
      <p:sp>
        <p:nvSpPr>
          <p:cNvPr id="3" name="南東と北西はいずれも ΔY / ΔX = −4 / 3。まず向きの見当をつける。">
            <a:extLst xmlns:a="http://schemas.openxmlformats.org/drawingml/2006/main">
              <a:ext uri="{FF2B5EF4-FFF2-40B4-BE49-F238E27FC236}">
                <a16:creationId xmlns:a16="http://schemas.microsoft.com/office/drawing/2014/main" id="{B2C3522D-2991-4F9C-BCD6-E4535EC5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南東と北西はいずれも ΔY / ΔX = −4 / 3。まず向きの見当をつける。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81B0759E-0BBA-4D37-A4B8-0020550D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sp>
        <p:nvSpPr>
          <p:cNvPr id="5" name="A：ΔX = −30 m、ΔY = ＋40 m">
            <a:extLst xmlns:a="http://schemas.openxmlformats.org/drawingml/2006/main">
              <a:ext uri="{FF2B5EF4-FFF2-40B4-BE49-F238E27FC236}">
                <a16:creationId xmlns:a16="http://schemas.microsoft.com/office/drawing/2014/main" id="{595A99C1-DBD8-4B3A-B24A-6ABF400D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574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A：ΔX = −30 m、ΔY = ＋40 m</a:t>
            </a:r>
          </a:p>
        </p:txBody>
      </p:sp>
      <p:sp>
        <p:nvSpPr>
          <p:cNvPr id="6" name="α = arctan(−4/3) ≈ −53.13°">
            <a:extLst xmlns:a="http://schemas.openxmlformats.org/drawingml/2006/main">
              <a:ext uri="{FF2B5EF4-FFF2-40B4-BE49-F238E27FC236}">
                <a16:creationId xmlns:a16="http://schemas.microsoft.com/office/drawing/2014/main" id="{896DCF7B-9378-4F34-BEE6-A585C3E7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622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α = arctan(−4/3) ≈ −53.13°</a:t>
            </a:r>
          </a:p>
        </p:txBody>
      </p:sp>
      <p:sp>
        <p:nvSpPr>
          <p:cNvPr id="7" name="θ ≈ −53.13° + 180° = 126.87°">
            <a:extLst xmlns:a="http://schemas.openxmlformats.org/drawingml/2006/main">
              <a:ext uri="{FF2B5EF4-FFF2-40B4-BE49-F238E27FC236}">
                <a16:creationId xmlns:a16="http://schemas.microsoft.com/office/drawing/2014/main" id="{0D01A278-8002-41FC-9652-EF313076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051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BB542E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BB542E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>
                <a:solidFill>
                  <a:srgbClr val="BB542E"/>
                </a:solidFill>
                <a:latin typeface="Cambria Math"/>
                <a:ea typeface="Cambria Math"/>
                <a:cs typeface="Cambria Math"/>
              </a:rPr>
              <a:t>θ ≈ −53.13° + 180° = 126.87°</a:t>
            </a:r>
          </a:p>
        </p:txBody>
      </p:sp>
      <p:sp>
        <p:nvSpPr>
          <p:cNvPr id="8" name="B：ΔX = ＋30 m、ΔY = −40 m">
            <a:extLst xmlns:a="http://schemas.openxmlformats.org/drawingml/2006/main">
              <a:ext uri="{FF2B5EF4-FFF2-40B4-BE49-F238E27FC236}">
                <a16:creationId xmlns:a16="http://schemas.microsoft.com/office/drawing/2014/main" id="{AD4B090A-51B0-417C-862B-CC4433F7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576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B：ΔX = ＋30 m、ΔY = −40 m</a:t>
            </a:r>
          </a:p>
        </p:txBody>
      </p:sp>
      <p:sp>
        <p:nvSpPr>
          <p:cNvPr id="9" name="θ ≈ −53.13° + 360° = 306.87°">
            <a:extLst xmlns:a="http://schemas.openxmlformats.org/drawingml/2006/main">
              <a:ext uri="{FF2B5EF4-FFF2-40B4-BE49-F238E27FC236}">
                <a16:creationId xmlns:a16="http://schemas.microsoft.com/office/drawing/2014/main" id="{349D4BD4-4920-4940-B794-29ECD6AA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defRPr>
            </a:pPr>
            <a:r>
              <a:rPr sz="2475" b="0">
                <a:solidFill>
                  <a:srgbClr val="117E7A"/>
                </a:solidFill>
                <a:latin typeface="Cambria Math"/>
                <a:ea typeface="Cambria Math"/>
                <a:cs typeface="Cambria Math"/>
              </a:rPr>
              <a:t>θ ≈ −53.13° + 360° = 306.87°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10FA64FE-D36D-4B19-8F21-2CFE83654250}"/>
              </a:ext>
            </a:extLst>
          </p:cNvPr>
          <p:cNvGraphicFramePr/>
          <p:nvPr/>
        </p:nvGraphicFramePr>
        <p:xfrm>
          <a:off xmlns:a="http://schemas.openxmlformats.org/drawingml/2006/main" x="7548563" y="2000250"/>
          <a:ext xmlns:a="http://schemas.openxmlformats.org/drawingml/2006/main" cx="3429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7f0414f3404ea7"/>
          </a:graphicData>
        </a:graphic>
      </p:graphicFrame>
      <p:sp>
        <p:nvSpPr>
          <p:cNvPr id="11" name="北（＋ΔX）">
            <a:extLst xmlns:a="http://schemas.openxmlformats.org/drawingml/2006/main">
              <a:ext uri="{FF2B5EF4-FFF2-40B4-BE49-F238E27FC236}">
                <a16:creationId xmlns:a16="http://schemas.microsoft.com/office/drawing/2014/main" id="{006781AA-9D7B-436A-A168-F82AD42C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363" y="18288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北（＋ΔX）</a:t>
            </a:r>
          </a:p>
        </p:txBody>
      </p:sp>
      <p:sp>
        <p:nvSpPr>
          <p:cNvPr id="12" name="東（＋ΔY）">
            <a:extLst xmlns:a="http://schemas.openxmlformats.org/drawingml/2006/main">
              <a:ext uri="{FF2B5EF4-FFF2-40B4-BE49-F238E27FC236}">
                <a16:creationId xmlns:a16="http://schemas.microsoft.com/office/drawing/2014/main" id="{FDBBA421-2003-42F3-A624-B6202992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5613" y="403860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東（＋ΔY）</a:t>
            </a:r>
          </a:p>
        </p:txBody>
      </p:sp>
      <p:sp>
        <p:nvSpPr>
          <p:cNvPr id="13" name="答えの角度が、座標差から予想した向きに入るか確かめる。">
            <a:extLst xmlns:a="http://schemas.openxmlformats.org/drawingml/2006/main">
              <a:ext uri="{FF2B5EF4-FFF2-40B4-BE49-F238E27FC236}">
                <a16:creationId xmlns:a16="http://schemas.microsoft.com/office/drawing/2014/main" id="{0232641A-36AC-444B-9B6D-28FAC381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答えの角度が、座標差から予想した向きに入るか確かめる。</a:t>
            </a:r>
          </a:p>
        </p:txBody>
      </p:sp>
    </p:spTree>
    <p:extLst>
      <p:ext uri="{BB962C8B-B14F-4D97-AF65-F5344CB8AC3E}">
        <p14:creationId xmlns:p14="http://schemas.microsoft.com/office/powerpoint/2010/main" val="13288847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27C49416-8813-4BA2-9349-C18170BC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トラバースでは、計算の向きで扱いが変わる">
            <a:extLst xmlns:a="http://schemas.openxmlformats.org/drawingml/2006/main">
              <a:ext uri="{FF2B5EF4-FFF2-40B4-BE49-F238E27FC236}">
                <a16:creationId xmlns:a16="http://schemas.microsoft.com/office/drawing/2014/main" id="{8B819ADE-4597-4E01-A449-4AAB1CAC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トラバースでは、計算の向きで扱いが変わる</a:t>
            </a:r>
          </a:p>
        </p:txBody>
      </p:sp>
      <p:sp>
        <p:nvSpPr>
          <p:cNvPr id="3" name="距離・方向角から座標差を求める場合と、その逆を区別する。">
            <a:extLst xmlns:a="http://schemas.openxmlformats.org/drawingml/2006/main">
              <a:ext uri="{FF2B5EF4-FFF2-40B4-BE49-F238E27FC236}">
                <a16:creationId xmlns:a16="http://schemas.microsoft.com/office/drawing/2014/main" id="{AF38861A-025E-43A6-98C3-5CD8373E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距離・方向角から座標差を求める場合と、その逆を区別する。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DDF0E86C-FA53-49AD-AD10-6AD621E7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06</a:t>
            </a:r>
          </a:p>
        </p:txBody>
      </p:sp>
      <p:sp>
        <p:nvSpPr>
          <p:cNvPr id="5" name="距離・方向角から座標差">
            <a:extLst xmlns:a="http://schemas.openxmlformats.org/drawingml/2006/main">
              <a:ext uri="{FF2B5EF4-FFF2-40B4-BE49-F238E27FC236}">
                <a16:creationId xmlns:a16="http://schemas.microsoft.com/office/drawing/2014/main" id="{3E26BAE8-B70C-40A9-90D0-64C97675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距離・方向角から座標差</a:t>
            </a:r>
          </a:p>
        </p:txBody>
      </p:sp>
      <p:sp>
        <p:nvSpPr>
          <p:cNvPr id="6" name="ΔX = L cos θ">
            <a:extLst xmlns:a="http://schemas.openxmlformats.org/drawingml/2006/main">
              <a:ext uri="{FF2B5EF4-FFF2-40B4-BE49-F238E27FC236}">
                <a16:creationId xmlns:a16="http://schemas.microsoft.com/office/drawing/2014/main" id="{440EB371-10C7-444B-B2C6-C6B78001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ΔX = L cos θ</a:t>
            </a:r>
          </a:p>
        </p:txBody>
      </p:sp>
      <p:sp>
        <p:nvSpPr>
          <p:cNvPr id="7" name="ΔY = L sin θ">
            <a:extLst xmlns:a="http://schemas.openxmlformats.org/drawingml/2006/main">
              <a:ext uri="{FF2B5EF4-FFF2-40B4-BE49-F238E27FC236}">
                <a16:creationId xmlns:a16="http://schemas.microsoft.com/office/drawing/2014/main" id="{2E5C6BE3-0EEF-46DF-BA14-38AE3969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575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9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ΔY = L sin θ</a:t>
            </a:r>
          </a:p>
        </p:txBody>
      </p:sp>
      <p:sp>
        <p:nvSpPr>
          <p:cNvPr id="8" name="cos・sin が正負も返す。">
            <a:extLst xmlns:a="http://schemas.openxmlformats.org/drawingml/2006/main">
              <a:ext uri="{FF2B5EF4-FFF2-40B4-BE49-F238E27FC236}">
                <a16:creationId xmlns:a16="http://schemas.microsoft.com/office/drawing/2014/main" id="{6A2D5B2A-2684-4858-8AB3-07AC94F8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386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cos・sin が正負も返す。</a:t>
            </a:r>
          </a:p>
        </p:txBody>
      </p:sp>
      <p:sp>
        <p:nvSpPr>
          <p:cNvPr id="9" name="L = 100 m、θ = 120° の例">
            <a:extLst xmlns:a="http://schemas.openxmlformats.org/drawingml/2006/main">
              <a:ext uri="{FF2B5EF4-FFF2-40B4-BE49-F238E27FC236}">
                <a16:creationId xmlns:a16="http://schemas.microsoft.com/office/drawing/2014/main" id="{71AA0FC4-3A0A-4DFC-BE9A-E7E3E81C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38675"/>
            <a:ext cx="619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L = 100 m、θ = 120° の例</a:t>
            </a:r>
          </a:p>
        </p:txBody>
      </p:sp>
      <p:sp>
        <p:nvSpPr>
          <p:cNvPr id="10" name="ΔX = −50 m,   ΔY ≈ 86.60 m">
            <a:extLst xmlns:a="http://schemas.openxmlformats.org/drawingml/2006/main">
              <a:ext uri="{FF2B5EF4-FFF2-40B4-BE49-F238E27FC236}">
                <a16:creationId xmlns:a16="http://schemas.microsoft.com/office/drawing/2014/main" id="{074E8AC1-2757-40EC-A5FA-B2AFB35F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1492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ΔX = −50 m,   ΔY ≈ 86.60 m</a:t>
            </a:r>
          </a:p>
        </p:txBody>
      </p:sp>
      <p:sp>
        <p:nvSpPr>
          <p:cNvPr id="11" name="座標差から方向角">
            <a:extLst xmlns:a="http://schemas.openxmlformats.org/drawingml/2006/main">
              <a:ext uri="{FF2B5EF4-FFF2-40B4-BE49-F238E27FC236}">
                <a16:creationId xmlns:a16="http://schemas.microsoft.com/office/drawing/2014/main" id="{93E7EDA6-7B6C-4D80-9392-628384FE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478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座標差から方向角</a:t>
            </a:r>
          </a:p>
        </p:txBody>
      </p:sp>
      <p:sp>
        <p:nvSpPr>
          <p:cNvPr id="12" name="α = arctan(ΔY / ΔX)">
            <a:extLst xmlns:a="http://schemas.openxmlformats.org/drawingml/2006/main">
              <a:ext uri="{FF2B5EF4-FFF2-40B4-BE49-F238E27FC236}">
                <a16:creationId xmlns:a16="http://schemas.microsoft.com/office/drawing/2014/main" id="{79C3B8DF-17BA-47AE-9806-D9A1203E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1462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α = arctan(ΔY / ΔX)</a:t>
            </a:r>
          </a:p>
        </p:txBody>
      </p:sp>
      <p:sp>
        <p:nvSpPr>
          <p:cNvPr id="13" name="元の符号を確認し、">
            <a:extLst xmlns:a="http://schemas.openxmlformats.org/drawingml/2006/main">
              <a:ext uri="{FF2B5EF4-FFF2-40B4-BE49-F238E27FC236}">
                <a16:creationId xmlns:a16="http://schemas.microsoft.com/office/drawing/2014/main" id="{4ADF98CD-0E36-4301-82F6-1A07B38B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3377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元の符号を確認し、</a:t>
            </a:r>
          </a:p>
        </p:txBody>
      </p:sp>
      <p:sp>
        <p:nvSpPr>
          <p:cNvPr id="14" name="必要なら180°か360°を加える。">
            <a:extLst xmlns:a="http://schemas.openxmlformats.org/drawingml/2006/main">
              <a:ext uri="{FF2B5EF4-FFF2-40B4-BE49-F238E27FC236}">
                <a16:creationId xmlns:a16="http://schemas.microsoft.com/office/drawing/2014/main" id="{15204FC9-3828-4999-88F9-D8BCE061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005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BB542E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BB542E"/>
                </a:solidFill>
                <a:latin typeface="Meiryo"/>
                <a:ea typeface="Meiryo"/>
                <a:cs typeface="Meiryo"/>
              </a:rPr>
              <a:t>必要なら180°か360°を加える。</a:t>
            </a:r>
          </a:p>
        </p:txBody>
      </p:sp>
      <p:sp>
        <p:nvSpPr>
          <p:cNvPr id="15" name="atan2 なら、この判定も関数が行う。">
            <a:extLst xmlns:a="http://schemas.openxmlformats.org/drawingml/2006/main">
              <a:ext uri="{FF2B5EF4-FFF2-40B4-BE49-F238E27FC236}">
                <a16:creationId xmlns:a16="http://schemas.microsoft.com/office/drawing/2014/main" id="{B3595B66-EB65-47C5-8FD1-9D499355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5775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atan2 なら、この判定も関数が行う。</a:t>
            </a:r>
          </a:p>
        </p:txBody>
      </p:sp>
      <p:sp>
        <p:nvSpPr>
          <p:cNvPr id="16" name="象限分けが必要になるのは、主に「比から向きを戻す」とき。">
            <a:extLst xmlns:a="http://schemas.openxmlformats.org/drawingml/2006/main">
              <a:ext uri="{FF2B5EF4-FFF2-40B4-BE49-F238E27FC236}">
                <a16:creationId xmlns:a16="http://schemas.microsoft.com/office/drawing/2014/main" id="{901407DC-E296-4FF0-97D3-86480754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象限分けが必要になるのは、主に「比から向きを戻す」とき。</a:t>
            </a:r>
          </a:p>
        </p:txBody>
      </p:sp>
    </p:spTree>
    <p:extLst>
      <p:ext uri="{BB962C8B-B14F-4D97-AF65-F5344CB8AC3E}">
        <p14:creationId xmlns:p14="http://schemas.microsoft.com/office/powerpoint/2010/main" val="6084924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9FB58F4F-7264-4C85-A4BD-985AC798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atan2 は、二つの座標差を別々に受け取る">
            <a:extLst xmlns:a="http://schemas.openxmlformats.org/drawingml/2006/main">
              <a:ext uri="{FF2B5EF4-FFF2-40B4-BE49-F238E27FC236}">
                <a16:creationId xmlns:a16="http://schemas.microsoft.com/office/drawing/2014/main" id="{D99CF8D2-4761-4F51-81E8-FA00E57A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atan2 は、二つの座標差を別々に受け取る</a:t>
            </a:r>
          </a:p>
        </p:txBody>
      </p:sp>
      <p:sp>
        <p:nvSpPr>
          <p:cNvPr id="3" name="比にする前の符号を使うため、全周の向きを求められる。">
            <a:extLst xmlns:a="http://schemas.openxmlformats.org/drawingml/2006/main">
              <a:ext uri="{FF2B5EF4-FFF2-40B4-BE49-F238E27FC236}">
                <a16:creationId xmlns:a16="http://schemas.microsoft.com/office/drawing/2014/main" id="{889F5452-9642-4D80-9A6E-801C3C4E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比にする前の符号を使うため、全周の向きを求められる。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68CD2D9C-1A91-4F24-B635-CB6251B8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sp>
        <p:nvSpPr>
          <p:cNvPr id="5" name="Excel の例：B2 に ΔX、C2 に ΔY">
            <a:extLst xmlns:a="http://schemas.openxmlformats.org/drawingml/2006/main">
              <a:ext uri="{FF2B5EF4-FFF2-40B4-BE49-F238E27FC236}">
                <a16:creationId xmlns:a16="http://schemas.microsoft.com/office/drawing/2014/main" id="{494D7D43-0F01-4DAC-A748-CA34773A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Excel の例：B2 に ΔX、C2 に ΔY</a:t>
            </a:r>
          </a:p>
        </p:txBody>
      </p:sp>
      <p:sp>
        <p:nvSpPr>
          <p:cNvPr id="6" name="=MOD(DEGREES(ATAN2(B2,C2)),360)">
            <a:extLst xmlns:a="http://schemas.openxmlformats.org/drawingml/2006/main">
              <a:ext uri="{FF2B5EF4-FFF2-40B4-BE49-F238E27FC236}">
                <a16:creationId xmlns:a16="http://schemas.microsoft.com/office/drawing/2014/main" id="{2CAAEDCA-2442-4707-9FB8-27E1ED40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0">
                <a:solidFill>
                  <a:srgbClr val="245989"/>
                </a:solidFill>
                <a:latin typeface="Cambria Math"/>
                <a:ea typeface="Cambria Math"/>
                <a:cs typeface="Cambria Math"/>
              </a:rPr>
              <a:t>=MOD(DEGREES(ATAN2(B2,C2)),360)</a:t>
            </a:r>
          </a:p>
        </p:txBody>
      </p:sp>
      <p:sp>
        <p:nvSpPr>
          <p:cNvPr id="7" name="引数の順序はソフトによって異なる。返り値を度に直し、0〜360°にそろえる。">
            <a:extLst xmlns:a="http://schemas.openxmlformats.org/drawingml/2006/main">
              <a:ext uri="{FF2B5EF4-FFF2-40B4-BE49-F238E27FC236}">
                <a16:creationId xmlns:a16="http://schemas.microsoft.com/office/drawing/2014/main" id="{CDDD9DC8-09C5-49C9-A9C0-9CA8854A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051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引数の順序はソフトによって異なる。返り値を度に直し、0〜360°にそろえる。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1A986-48F0-4095-BE02-5EEAEF311882}"/>
              </a:ext>
            </a:extLst>
          </p:cNvPr>
          <p:cNvGraphicFramePr/>
          <p:nvPr/>
        </p:nvGraphicFramePr>
        <p:xfrm>
          <a:off xmlns:a="http://schemas.openxmlformats.org/drawingml/2006/main" x="619125" y="3914775"/>
          <a:ext xmlns:a="http://schemas.openxmlformats.org/drawingml/2006/main" cx="10906125" cy="163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047875"/>
                <a:gridCol w="2047875"/>
                <a:gridCol w="2047875"/>
                <a:gridCol w="2095500"/>
              </a:tblGrid>
              <a:tr h="4095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軸上の向き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</a:tr>
              <a:tr h="4095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ΔX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ΔY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  <a:tr h="409575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方向角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90°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180°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270°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ΔX = 0、ΔY = 0 のときは、方向角が定まらない。">
            <a:extLst xmlns:a="http://schemas.openxmlformats.org/drawingml/2006/main">
              <a:ext uri="{FF2B5EF4-FFF2-40B4-BE49-F238E27FC236}">
                <a16:creationId xmlns:a16="http://schemas.microsoft.com/office/drawing/2014/main" id="{D188633A-C803-4947-AAAB-94C48990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ΔX = 0、ΔY = 0 のときは、方向角が定まらない。</a:t>
            </a:r>
          </a:p>
        </p:txBody>
      </p:sp>
    </p:spTree>
    <p:extLst>
      <p:ext uri="{BB962C8B-B14F-4D97-AF65-F5344CB8AC3E}">
        <p14:creationId xmlns:p14="http://schemas.microsoft.com/office/powerpoint/2010/main" val="6278880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測量の座標　方向角と象限">
            <a:extLst xmlns:a="http://schemas.openxmlformats.org/drawingml/2006/main">
              <a:ext uri="{FF2B5EF4-FFF2-40B4-BE49-F238E27FC236}">
                <a16:creationId xmlns:a16="http://schemas.microsoft.com/office/drawing/2014/main" id="{66A37064-8DBE-488E-99CD-4FF98546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測量の座標　方向角と象限</a:t>
            </a:r>
          </a:p>
        </p:txBody>
      </p:sp>
      <p:sp>
        <p:nvSpPr>
          <p:cNvPr id="2" name="確認問題：比の計算前に、向きを予想する">
            <a:extLst xmlns:a="http://schemas.openxmlformats.org/drawingml/2006/main">
              <a:ext uri="{FF2B5EF4-FFF2-40B4-BE49-F238E27FC236}">
                <a16:creationId xmlns:a16="http://schemas.microsoft.com/office/drawing/2014/main" id="{D39154C7-7040-4F9C-ABE9-AE7168F1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153D50"/>
                </a:solidFill>
                <a:latin typeface="Meiryo"/>
                <a:ea typeface="Meiryo"/>
                <a:cs typeface="Meiryo"/>
              </a:rPr>
              <a:t>確認問題：比の計算前に、向きを予想する</a:t>
            </a:r>
          </a:p>
        </p:txBody>
      </p:sp>
      <p:sp>
        <p:nvSpPr>
          <p:cNvPr id="3" name="各行について、向き・arctan の答え α・補正後の方向角 θ を求める。">
            <a:extLst xmlns:a="http://schemas.openxmlformats.org/drawingml/2006/main">
              <a:ext uri="{FF2B5EF4-FFF2-40B4-BE49-F238E27FC236}">
                <a16:creationId xmlns:a16="http://schemas.microsoft.com/office/drawing/2014/main" id="{4771ACCF-C223-414E-ACEA-1EA1D4E3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33500"/>
            <a:ext cx="10991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53D5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153D50"/>
                </a:solidFill>
                <a:latin typeface="Meiryo"/>
                <a:ea typeface="Meiryo"/>
                <a:cs typeface="Meiryo"/>
              </a:rPr>
              <a:t>各行について、向き・arctan の答え α・補正後の方向角 θ を求める。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44FCC841-862C-454C-8F2A-A970C61C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032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350" b="0">
                <a:solidFill>
                  <a:srgbClr val="6376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637680"/>
                </a:solidFill>
                <a:latin typeface="Meiryo"/>
                <a:ea typeface="Meiryo"/>
                <a:cs typeface="Meiryo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50560-2395-4E07-A0DB-E42DBC0DA1E4}"/>
              </a:ext>
            </a:extLst>
          </p:cNvPr>
          <p:cNvGraphicFramePr/>
          <p:nvPr/>
        </p:nvGraphicFramePr>
        <p:xfrm>
          <a:off xmlns:a="http://schemas.openxmlformats.org/drawingml/2006/main" x="619125" y="2162175"/>
          <a:ext xmlns:a="http://schemas.openxmlformats.org/drawingml/2006/main" cx="10906125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1714500"/>
                <a:gridCol w="1714500"/>
                <a:gridCol w="2047875"/>
                <a:gridCol w="2047875"/>
                <a:gridCol w="2047875"/>
              </a:tblGrid>
              <a:tr h="6858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問題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ΔX [m]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ΔY [m]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向き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245989"/>
                          </a:solidFill>
                          <a:latin typeface="Meiryo"/>
                          <a:ea typeface="Meiryo"/>
                          <a:cs typeface="Meiryo"/>
                        </a:rPr>
                        <a:t>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T w="9525">
                      <a:solidFill>
                        <a:srgbClr val="D8E1E5"/>
                      </a:solidFill>
                      <a:prstDash val="solid"/>
                    </a:lnT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EAF0F3"/>
                    </a:solidFill>
                  </a:tcPr>
                </a:tc>
              </a:tr>
              <a:tr h="6858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5F7F7"/>
                    </a:solidFill>
                  </a:tcPr>
                </a:tc>
              </a:tr>
              <a:tr h="685800"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5"/>
                      </a:solidFill>
                      <a:prstDash val="solid"/>
                    </a:lnL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＋30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−40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2175" b="0">
                          <a:solidFill>
                            <a:srgbClr val="153D50"/>
                          </a:solidFill>
                          <a:latin typeface="Meiryo"/>
                          <a:ea typeface="Meiryo"/>
                          <a:cs typeface="Meiryo"/>
                        </a:rPr>
                        <a:t>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5"/>
                      </a:solidFill>
                      <a:prstDash val="solid"/>
                    </a:lnR>
                    <a:lnB w="9525">
                      <a:solidFill>
                        <a:srgbClr val="D8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② と ③ は比が同じ。方向角も同じになるだろうか。">
            <a:extLst xmlns:a="http://schemas.openxmlformats.org/drawingml/2006/main">
              <a:ext uri="{FF2B5EF4-FFF2-40B4-BE49-F238E27FC236}">
                <a16:creationId xmlns:a16="http://schemas.microsoft.com/office/drawing/2014/main" id="{9DA783E2-E5F2-49F7-8F21-2D0F2632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57800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45989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245989"/>
                </a:solidFill>
                <a:latin typeface="Meiryo"/>
                <a:ea typeface="Meiryo"/>
                <a:cs typeface="Meiryo"/>
              </a:rPr>
              <a:t>② と ③ は比が同じ。方向角も同じになるだろうか。</a:t>
            </a:r>
          </a:p>
        </p:txBody>
      </p:sp>
      <p:sp>
        <p:nvSpPr>
          <p:cNvPr id="7" name="「どの象限か」から、「なぜその補正か」まで説明する。">
            <a:extLst xmlns:a="http://schemas.openxmlformats.org/drawingml/2006/main">
              <a:ext uri="{FF2B5EF4-FFF2-40B4-BE49-F238E27FC236}">
                <a16:creationId xmlns:a16="http://schemas.microsoft.com/office/drawing/2014/main" id="{8FEE8F13-6AAE-4739-8F67-73058937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1093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E7A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117E7A"/>
                </a:solidFill>
                <a:latin typeface="Meiryo"/>
                <a:ea typeface="Meiryo"/>
                <a:cs typeface="Meiryo"/>
              </a:rPr>
              <a:t>「どの象限か」から、「なぜその補正か」まで説明する。</a:t>
            </a:r>
          </a:p>
        </p:txBody>
      </p:sp>
    </p:spTree>
    <p:extLst>
      <p:ext uri="{BB962C8B-B14F-4D97-AF65-F5344CB8AC3E}">
        <p14:creationId xmlns:p14="http://schemas.microsoft.com/office/powerpoint/2010/main" val="5739257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2026-10-15T03:00:38.9950000Z</dcterms:created>
  <dcterms:modified xsi:type="dcterms:W3CDTF">2026-10-15T03:00:38.9950000Z</dcterms:modified>
</coreProperties>
</file>