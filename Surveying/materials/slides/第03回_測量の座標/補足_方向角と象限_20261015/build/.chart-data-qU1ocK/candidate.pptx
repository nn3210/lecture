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19f6d14ee4227" /><Relationship Type="http://schemas.openxmlformats.org/officeDocument/2006/relationships/extended-properties" Target="/docProps/app.xml" Id="R4540faf34d8a4e6e" /><Relationship Type="http://schemas.openxmlformats.org/officeDocument/2006/relationships/officeDocument" Target="/ppt/presentation.xml" Id="Rf23d24b51153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61be3026af414a"/>
  </p:sldMasterIdLst>
  <p:notesMasterIdLst>
    <p:notesMasterId xmlns:r="http://schemas.openxmlformats.org/officeDocument/2006/relationships" r:id="Rbf4e140540f34962"/>
  </p:notesMasterIdLst>
  <p:sldIdLst>
    <p:sldId xmlns:r="http://schemas.openxmlformats.org/officeDocument/2006/relationships" id="256" r:id="R1a14f3480808460f"/>
    <p:sldId xmlns:r="http://schemas.openxmlformats.org/officeDocument/2006/relationships" id="257" r:id="Ra4fe518ec38046f3"/>
    <p:sldId xmlns:r="http://schemas.openxmlformats.org/officeDocument/2006/relationships" id="258" r:id="Rf86bddd68cf841a1"/>
    <p:sldId xmlns:r="http://schemas.openxmlformats.org/officeDocument/2006/relationships" id="259" r:id="R7e8fc6e518354ce7"/>
    <p:sldId xmlns:r="http://schemas.openxmlformats.org/officeDocument/2006/relationships" id="260" r:id="R805aac5f8dd94831"/>
    <p:sldId xmlns:r="http://schemas.openxmlformats.org/officeDocument/2006/relationships" id="261" r:id="Raa412ad504e34af4"/>
    <p:sldId xmlns:r="http://schemas.openxmlformats.org/officeDocument/2006/relationships" id="262" r:id="R2b35119192b14856"/>
    <p:sldId xmlns:r="http://schemas.openxmlformats.org/officeDocument/2006/relationships" id="263" r:id="Rda3b849dbce343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fbc3eebff4ae0" /><Relationship Type="http://schemas.openxmlformats.org/officeDocument/2006/relationships/slideMaster" Target="/ppt/slideMasters/slideMaster1.xml" Id="R7c61be3026af414a" /><Relationship Type="http://schemas.openxmlformats.org/officeDocument/2006/relationships/notesMaster" Target="/ppt/notesMasters/notesMaster1.xml" Id="Rbf4e140540f34962" /><Relationship Type="http://schemas.openxmlformats.org/officeDocument/2006/relationships/presProps" Target="/ppt/presProps.xml" Id="R0597584203f94d74" /><Relationship Type="http://schemas.openxmlformats.org/officeDocument/2006/relationships/tableStyles" Target="/ppt/tableStyles.xml" Id="R5405b9dda36a4639" /><Relationship Type="http://schemas.openxmlformats.org/officeDocument/2006/relationships/slide" Target="/ppt/slides/slide1.xml" Id="R1a14f3480808460f" /><Relationship Type="http://schemas.openxmlformats.org/officeDocument/2006/relationships/slide" Target="/ppt/slides/slide2.xml" Id="Ra4fe518ec38046f3" /><Relationship Type="http://schemas.openxmlformats.org/officeDocument/2006/relationships/slide" Target="/ppt/slides/slide3.xml" Id="Rf86bddd68cf841a1" /><Relationship Type="http://schemas.openxmlformats.org/officeDocument/2006/relationships/slide" Target="/ppt/slides/slide4.xml" Id="R7e8fc6e518354ce7" /><Relationship Type="http://schemas.openxmlformats.org/officeDocument/2006/relationships/slide" Target="/ppt/slides/slide5.xml" Id="R805aac5f8dd94831" /><Relationship Type="http://schemas.openxmlformats.org/officeDocument/2006/relationships/slide" Target="/ppt/slides/slide6.xml" Id="Raa412ad504e34af4" /><Relationship Type="http://schemas.openxmlformats.org/officeDocument/2006/relationships/slide" Target="/ppt/slides/slide7.xml" Id="R2b35119192b14856" /><Relationship Type="http://schemas.openxmlformats.org/officeDocument/2006/relationships/slide" Target="/ppt/slides/slide8.xml" Id="Rda3b849dbce3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591ae9814347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bbaebc8dd34414" /><Relationship Type="http://schemas.openxmlformats.org/officeDocument/2006/relationships/notesMaster" Target="/ppt/notesMasters/notesMaster1.xml" Id="R1a7ce422b11948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83abdbf794902" /><Relationship Type="http://schemas.openxmlformats.org/officeDocument/2006/relationships/notesMaster" Target="/ppt/notesMasters/notesMaster1.xml" Id="Rd4c082ec131847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155c2235e54b93" /><Relationship Type="http://schemas.openxmlformats.org/officeDocument/2006/relationships/notesMaster" Target="/ppt/notesMasters/notesMaster1.xml" Id="Rf80ea488719e43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c1bb32677b4d54" /><Relationship Type="http://schemas.openxmlformats.org/officeDocument/2006/relationships/notesMaster" Target="/ppt/notesMasters/notesMaster1.xml" Id="Rd0a6154122564e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de19dee06448e6" /><Relationship Type="http://schemas.openxmlformats.org/officeDocument/2006/relationships/notesMaster" Target="/ppt/notesMasters/notesMaster1.xml" Id="R3d56a4b0729442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8828b5b5fb4160" /><Relationship Type="http://schemas.openxmlformats.org/officeDocument/2006/relationships/notesMaster" Target="/ppt/notesMasters/notesMaster1.xml" Id="Rf1746c4874e5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95ac313f514010" /><Relationship Type="http://schemas.openxmlformats.org/officeDocument/2006/relationships/notesMaster" Target="/ppt/notesMasters/notesMaster1.xml" Id="R1e6c3fbc777649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61cdf09e124a80" /><Relationship Type="http://schemas.openxmlformats.org/officeDocument/2006/relationships/notesMaster" Target="/ppt/notesMasters/notesMaster1.xml" Id="Rf889f999cca0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スライドと同じ測量の約束を使う。X軸は北向き、Y軸は東向き。数学の通常の図のx軸右・y軸上とは異なる。方向角θはX軸の正方向（北）から時計回り。0°以上360°未満で表す。ΔX=X終点−X始点、ΔY=Y終点−Y始点。散布図は横軸ΔY、縦軸ΔX。象限番号は北東から時計回りに第1、第2、第3、第4。図の数値は説明用の座標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東AはΔX=1、ΔY=1で方向角45°。南西BはΔX=−1、ΔY=−1で方向角225°。ともにΔY/ΔX=1。同じ直線上の正反対の方向になる。tanの値だけでは、向きは180°の違いを残してしか決まらない。座標差が持っていた符号の組合せの情報が、比を作る際に失われる。点名A・Bと色を併用し、色だけに依存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の実数rについて、α=arctan(r)の主値は−90°&lt;α&lt;90°。たとえばtan45°=tan225°=1だが、arctan1は45°を返す。同様にtan135°=tan315°=−1だがarctan(−1)は−45°を返す。arctanは全周の方向角を直接返す関数ではない。電卓のtanの逆関数を表すtan⁻¹は、この資料のarctanと同じ意味。1/tanを表すものではない。以後は度数法で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上でない場合の整理。第1象限はΔX&gt;0かつΔY&gt;0でθ=α。第2・第3象限はΔX&lt;0なのでθ=α+180°。第4象限はΔX&gt;0かつΔY&lt;0でα&lt;0なのでθ=α+360°。180°は正反対の向きへの補正、360°は同じ向きの表記を正にそろえる操作であり、意味が異なる。αは絶対値の比から得た鋭角ではなく、符号付きの比の逆正接である。絶対値を使う方位角表とは補正式を混用しない。軸上は7枚目で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座標差。南東AはΔX=−30m、ΔY=40m。北西BはΔX=30m、ΔY=−40m。α=arctan(−4/3)=−53.130102...°。AはΔX&lt;0だからα+180=126.869897...°、Bは北西だからα+360=306.869897...°。表示は小数第2位に四捨五入。南東の角は90〜180°、北西の角は270〜360°に入ることを確認する。散布図の座標差単位は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バースの座標計算で、Lと0〜360°の方向角θが与えられていればΔX=Lcosθ、ΔY=Lsinθを直接計算する。cos・sinが象限に応じた符号を返すので、象限別の公式に分ける必要はない。例L=100m、θ=120°ならΔX=−50m、ΔY=86.60254...mで南東。逆に座標差から方向角を求める際は、比を作ると符号の組合せを失うためarctanの後に補正する。昔の関数表や鋭角だけを扱う手計算では、象限ごとに正負を付ける形で整理できるが、方向角全体のcos・sinを使う計算では不要。観測角から次の辺の方向角を求める漸化計算は別の段階で、0〜360°への正規化を行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atan2は2つの引数の符号を使って象限を判定する。Pythonではdegrees(atan2(ΔY, ΔX)) % 360で北から時計回りの方向角になる。数学でのatan2(y,x)のyに測量のΔY、xに測量のΔXを対応させる。Excelの関数はATAN2(x_num,y_num)で引数順が逆なので、B2=ΔX、C2=ΔYなら=MOD(DEGREES(ATAN2(B2,C2)),360)。ラジアンから度への変換を含む。関数によって負の角を返すため正規化が必要。ΔX=ΔY=0は同一点で方向を定められず、呼び出し前に検査する。Pythonの返り値が0になっても幾何学的に方向角が定まることは意味しない。軸上では比ΔY/ΔXを使わず向きを直接決める。出典：Python公式 math.atan2 https://docs.python.org/3/library/math.html#math.atan2 、Microsoft公式 ATAN2 https://support.microsoft.com/ja-jp/excel/functions/atan2-function （2026-10-15確認）。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の解答。①ΔX=30、ΔY=40：北東、第1象限、α=53.130102...°、補正なし、θ=53.13°。②ΔX=−30、ΔY=40：南東、第2象限、α=−53.130102...°、180°を加えθ=126.87°。③ΔX=30、ΔY=−40：北西、第4象限、α=−53.130102...°、360°を加えθ=306.87°。②と③の比はいずれも−4/3だが方向角は180°異なる。数値の答えだけでなく、どの符号を見て補正したかを説明させる。最後に、arctanが使うのは一つの比、atan2が使うのは二つの座標差であること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4421664fb47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929f360e847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38988b3c348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4bac3bd6b42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ad3a177924f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c2742289d44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E3B577-AD51-4B80-9B72-6883F932D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C28791-718F-4289-8F0E-043742312D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88273B-FAC7-4CF7-869D-4C3EDF158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6986F6-270E-47C9-A287-4136A81BD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3B985D-1FE4-41DC-A853-49D7BD5B4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5ECCC7-D31C-45E3-8A05-74DC756A4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5A6390-B689-40F7-B10F-DC4C5CB0CA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97055D-0783-440B-88F6-891883CF28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2ED155-30B1-4BB6-9CAC-159AF5A56B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EE4102-F710-4793-9BE6-16FB3A03D4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283d31a2c43df" /><Relationship Type="http://schemas.openxmlformats.org/officeDocument/2006/relationships/slideLayout" Target="/ppt/slideLayouts/slideLayout1.xml" Id="Rc3d143d5703242e6" /><Relationship Type="http://schemas.openxmlformats.org/officeDocument/2006/relationships/slideLayout" Target="/ppt/slideLayouts/slideLayout2.xml" Id="R8dcd8fa0664f4290" /><Relationship Type="http://schemas.openxmlformats.org/officeDocument/2006/relationships/slideLayout" Target="/ppt/slideLayouts/slideLayout3.xml" Id="R43e84eba4acd4eda" /><Relationship Type="http://schemas.openxmlformats.org/officeDocument/2006/relationships/slideLayout" Target="/ppt/slideLayouts/slideLayout4.xml" Id="R1d5cdec4c58841ea" /><Relationship Type="http://schemas.openxmlformats.org/officeDocument/2006/relationships/slideLayout" Target="/ppt/slideLayouts/slideLayout5.xml" Id="Rb44a3e3cbd144df1" /><Relationship Type="http://schemas.openxmlformats.org/officeDocument/2006/relationships/slideLayout" Target="/ppt/slideLayouts/slideLayout6.xml" Id="Rbe6eb8502f6247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d143d5703242e6"/>
    <p:sldLayoutId xmlns:r="http://schemas.openxmlformats.org/officeDocument/2006/relationships" id="2147483650" r:id="R8dcd8fa0664f4290"/>
    <p:sldLayoutId xmlns:r="http://schemas.openxmlformats.org/officeDocument/2006/relationships" id="2147483651" r:id="R43e84eba4acd4eda"/>
    <p:sldLayoutId xmlns:r="http://schemas.openxmlformats.org/officeDocument/2006/relationships" id="2147483652" r:id="R1d5cdec4c58841ea"/>
    <p:sldLayoutId xmlns:r="http://schemas.openxmlformats.org/officeDocument/2006/relationships" id="2147483653" r:id="Rb44a3e3cbd144df1"/>
    <p:sldLayoutId xmlns:r="http://schemas.openxmlformats.org/officeDocument/2006/relationships" id="2147483654" r:id="Rbe6eb8502f6247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4e87f92b44147" /><Relationship Type="http://schemas.openxmlformats.org/officeDocument/2006/relationships/chart" Target="/ppt/slides/charts/chart1.xml" Id="R4668c535b2294798" /><Relationship Type="http://schemas.openxmlformats.org/officeDocument/2006/relationships/notesSlide" Target="/ppt/notesSlides/notesSlide1.xml" Id="R9253e08b5b8544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31195683b4117" /><Relationship Type="http://schemas.openxmlformats.org/officeDocument/2006/relationships/chart" Target="/ppt/slides/charts/chart2.xml" Id="R265203b347584ed2" /><Relationship Type="http://schemas.openxmlformats.org/officeDocument/2006/relationships/notesSlide" Target="/ppt/notesSlides/notesSlide2.xml" Id="R546204bf2bd8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ca4b6bb4645c9" /><Relationship Type="http://schemas.openxmlformats.org/officeDocument/2006/relationships/notesSlide" Target="/ppt/notesSlides/notesSlide3.xml" Id="R7ef00476d5ef44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a4d7ab5d24100" /><Relationship Type="http://schemas.openxmlformats.org/officeDocument/2006/relationships/notesSlide" Target="/ppt/notesSlides/notesSlide4.xml" Id="Rb9d79f0d3ae84a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f0d2cf90c4bfb" /><Relationship Type="http://schemas.openxmlformats.org/officeDocument/2006/relationships/chart" Target="/ppt/slides/charts/chart3.xml" Id="Ra6494ac441784345" /><Relationship Type="http://schemas.openxmlformats.org/officeDocument/2006/relationships/notesSlide" Target="/ppt/notesSlides/notesSlide5.xml" Id="R55238b160ccc45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8490d2aa34b78" /><Relationship Type="http://schemas.openxmlformats.org/officeDocument/2006/relationships/notesSlide" Target="/ppt/notesSlides/notesSlide6.xml" Id="R03d68f48c3594f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f6c99f8374de3" /><Relationship Type="http://schemas.openxmlformats.org/officeDocument/2006/relationships/notesSlide" Target="/ppt/notesSlides/notesSlide7.xml" Id="R87057c9349824e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31184bc0c4056" /><Relationship Type="http://schemas.openxmlformats.org/officeDocument/2006/relationships/notesSlide" Target="/ppt/notesSlides/notesSlide8.xml" Id="R6a5dca58441c414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北 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北 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東 90°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東 90°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南 180°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南 180°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3"/>
          <c:order val="3"/>
          <c:tx>
            <c:v>西 270°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西 270°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l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5"/>
          <c:min val="-1.65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45°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A 45°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B 225°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B 225°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南東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A 南東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-30</c:v>
                </c:pt>
              </c:numCache>
            </c:numRef>
          </c:yVal>
        </c:ser>
        <c:ser>
          <c:idx val="1"/>
          <c:order val="1"/>
          <c:tx>
            <c:v>B 北西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B 北西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-40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30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-7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ΔX（北が＋）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40"/>
      </c:valAx>
      <c:valAx>
        <c:axId val="48650112"/>
        <c:scaling>
          <c:orientation val="minMax"/>
          <c:max val="70"/>
          <c:min val="-7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1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45989"/>
                    </a:solidFill>
                    <a:latin typeface="Meiryo"/>
                    <a:ea typeface="Meiryo"/>
                    <a:cs typeface="Meiryo"/>
                  </a:rPr>
                  <a:t>ΔY（東が＋）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5989"/>
                  </a:solidFill>
                  <a:latin typeface="Meiryo"/>
                  <a:ea typeface="Meiryo"/>
                  <a:cs typeface="Meiry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40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E1ECA00C-6EF8-40C2-9010-C39FFA01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方向角は、北から時計回りに測る">
            <a:extLst xmlns:a="http://schemas.openxmlformats.org/drawingml/2006/main">
              <a:ext uri="{FF2B5EF4-FFF2-40B4-BE49-F238E27FC236}">
                <a16:creationId xmlns:a16="http://schemas.microsoft.com/office/drawing/2014/main" id="{E5B9C3D6-FD99-46B9-A8FD-B63AC0D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方向角は、北から時計回りに測る</a:t>
            </a:r>
          </a:p>
        </p:txBody>
      </p:sp>
      <p:sp>
        <p:nvSpPr>
          <p:cNvPr id="3" name="X は北向き、Y は東向き。始点から終点への座標差で向きを表す。">
            <a:extLst xmlns:a="http://schemas.openxmlformats.org/drawingml/2006/main">
              <a:ext uri="{FF2B5EF4-FFF2-40B4-BE49-F238E27FC236}">
                <a16:creationId xmlns:a16="http://schemas.microsoft.com/office/drawing/2014/main" id="{CC5717AE-45EB-4527-904B-BCEA68D9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X は北向き、Y は東向き。始点から終点への座標差で向きを表す。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F2F80D76-823C-424A-A603-F63546B8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ΔX = X終点 − X始点">
            <a:extLst xmlns:a="http://schemas.openxmlformats.org/drawingml/2006/main">
              <a:ext uri="{FF2B5EF4-FFF2-40B4-BE49-F238E27FC236}">
                <a16:creationId xmlns:a16="http://schemas.microsoft.com/office/drawing/2014/main" id="{33595238-17C1-4022-A201-F0C1D62C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X終点 − X始点</a:t>
            </a:r>
          </a:p>
        </p:txBody>
      </p:sp>
      <p:sp>
        <p:nvSpPr>
          <p:cNvPr id="6" name="ΔY = Y終点 − Y始点">
            <a:extLst xmlns:a="http://schemas.openxmlformats.org/drawingml/2006/main">
              <a:ext uri="{FF2B5EF4-FFF2-40B4-BE49-F238E27FC236}">
                <a16:creationId xmlns:a16="http://schemas.microsoft.com/office/drawing/2014/main" id="{A95A01D8-FE78-427C-B4A9-925DA133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Y終点 − Y始点</a:t>
            </a:r>
          </a:p>
        </p:txBody>
      </p:sp>
      <p:sp>
        <p:nvSpPr>
          <p:cNvPr id="7" name="北 0°　　東 90°">
            <a:extLst xmlns:a="http://schemas.openxmlformats.org/drawingml/2006/main">
              <a:ext uri="{FF2B5EF4-FFF2-40B4-BE49-F238E27FC236}">
                <a16:creationId xmlns:a16="http://schemas.microsoft.com/office/drawing/2014/main" id="{C5867540-757C-4A7B-A568-C4739C0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 0°　　東 90°</a:t>
            </a:r>
          </a:p>
        </p:txBody>
      </p:sp>
      <p:sp>
        <p:nvSpPr>
          <p:cNvPr id="8" name="南 180°　西 270°">
            <a:extLst xmlns:a="http://schemas.openxmlformats.org/drawingml/2006/main">
              <a:ext uri="{FF2B5EF4-FFF2-40B4-BE49-F238E27FC236}">
                <a16:creationId xmlns:a16="http://schemas.microsoft.com/office/drawing/2014/main" id="{B446563B-7D83-4285-AF9E-5973CCB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南 180°　西 270°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ED5B941E-BFC6-43B9-9192-314A2EEF69FC}"/>
              </a:ext>
            </a:extLst>
          </p:cNvPr>
          <p:cNvGraphicFramePr/>
          <p:nvPr/>
        </p:nvGraphicFramePr>
        <p:xfrm>
          <a:off xmlns:a="http://schemas.openxmlformats.org/drawingml/2006/main" x="6381750" y="1971675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68c535b2294798"/>
          </a:graphicData>
        </a:graphic>
      </p:graphicFrame>
      <p:sp>
        <p:nvSpPr>
          <p:cNvPr id="10" name="象限は、ΔX・ΔY の符号から向きを確かめるために使う。">
            <a:extLst xmlns:a="http://schemas.openxmlformats.org/drawingml/2006/main">
              <a:ext uri="{FF2B5EF4-FFF2-40B4-BE49-F238E27FC236}">
                <a16:creationId xmlns:a16="http://schemas.microsoft.com/office/drawing/2014/main" id="{9B001A69-A22D-475A-98FD-665FC3F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象限は、ΔX・ΔY の符号から向きを確かめるために使う。</a:t>
            </a:r>
          </a:p>
        </p:txBody>
      </p:sp>
    </p:spTree>
    <p:extLst>
      <p:ext uri="{BB962C8B-B14F-4D97-AF65-F5344CB8AC3E}">
        <p14:creationId xmlns:p14="http://schemas.microsoft.com/office/powerpoint/2010/main" val="1521572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4F77D253-8028-4B67-99A6-0C67927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正反対の方向でも、ΔY / ΔX は同じ">
            <a:extLst xmlns:a="http://schemas.openxmlformats.org/drawingml/2006/main">
              <a:ext uri="{FF2B5EF4-FFF2-40B4-BE49-F238E27FC236}">
                <a16:creationId xmlns:a16="http://schemas.microsoft.com/office/drawing/2014/main" id="{3A39AFF2-E742-414E-B59C-435B0BB4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正反対の方向でも、ΔY / ΔX は同じ</a:t>
            </a:r>
          </a:p>
        </p:txBody>
      </p:sp>
      <p:sp>
        <p:nvSpPr>
          <p:cNvPr id="3" name="比を計算すると、両方が＋なのか、両方が−なのかを区別できない。">
            <a:extLst xmlns:a="http://schemas.openxmlformats.org/drawingml/2006/main">
              <a:ext uri="{FF2B5EF4-FFF2-40B4-BE49-F238E27FC236}">
                <a16:creationId xmlns:a16="http://schemas.microsoft.com/office/drawing/2014/main" id="{38469408-F2FF-41AA-B74C-221740B6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比を計算すると、両方が＋なのか、両方が−なのかを区別できない。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48E17BF9-E30E-491B-A222-BF51964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9DBF534-717C-40CE-A00F-A3A1A5225A89}"/>
              </a:ext>
            </a:extLst>
          </p:cNvPr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5238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5203b347584ed2"/>
          </a:graphicData>
        </a:graphic>
      </p:graphicFrame>
      <p:sp>
        <p:nvSpPr>
          <p:cNvPr id="6" name="A：北東（ΔX, ΔY）=（1, 1）">
            <a:extLst xmlns:a="http://schemas.openxmlformats.org/drawingml/2006/main">
              <a:ext uri="{FF2B5EF4-FFF2-40B4-BE49-F238E27FC236}">
                <a16:creationId xmlns:a16="http://schemas.microsoft.com/office/drawing/2014/main" id="{8DEEE533-88C3-48D0-A4CA-5EB8F001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A：北東（ΔX, ΔY）=（1, 1）</a:t>
            </a:r>
          </a:p>
        </p:txBody>
      </p:sp>
      <p:sp>
        <p:nvSpPr>
          <p:cNvPr id="7" name="ΔY / ΔX = 1 / 1 = 1">
            <a:extLst xmlns:a="http://schemas.openxmlformats.org/drawingml/2006/main">
              <a:ext uri="{FF2B5EF4-FFF2-40B4-BE49-F238E27FC236}">
                <a16:creationId xmlns:a16="http://schemas.microsoft.com/office/drawing/2014/main" id="{0C6A3E05-0FF5-4A46-9556-2C80ED4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ΔY / ΔX = 1 / 1 = 1</a:t>
            </a:r>
          </a:p>
        </p:txBody>
      </p:sp>
      <p:sp>
        <p:nvSpPr>
          <p:cNvPr id="8" name="B：南西（ΔX, ΔY）=（−1, −1）">
            <a:extLst xmlns:a="http://schemas.openxmlformats.org/drawingml/2006/main">
              <a:ext uri="{FF2B5EF4-FFF2-40B4-BE49-F238E27FC236}">
                <a16:creationId xmlns:a16="http://schemas.microsoft.com/office/drawing/2014/main" id="{EDF0226C-86AA-47D2-86F2-747164BE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B：南西（ΔX, ΔY）=（−1, −1）</a:t>
            </a:r>
          </a:p>
        </p:txBody>
      </p:sp>
      <p:sp>
        <p:nvSpPr>
          <p:cNvPr id="9" name="ΔY / ΔX = (−1) / (−1) = 1">
            <a:extLst xmlns:a="http://schemas.openxmlformats.org/drawingml/2006/main">
              <a:ext uri="{FF2B5EF4-FFF2-40B4-BE49-F238E27FC236}">
                <a16:creationId xmlns:a16="http://schemas.microsoft.com/office/drawing/2014/main" id="{64CA1B67-5EF6-4C84-B3F6-B62B0894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ΔY / ΔX = (−1) / (−1) = 1</a:t>
            </a:r>
          </a:p>
        </p:txBody>
      </p:sp>
      <p:sp>
        <p:nvSpPr>
          <p:cNvPr id="10" name="同じ比でも、方向角は 45° と 225°。向きが180°違う。">
            <a:extLst xmlns:a="http://schemas.openxmlformats.org/drawingml/2006/main">
              <a:ext uri="{FF2B5EF4-FFF2-40B4-BE49-F238E27FC236}">
                <a16:creationId xmlns:a16="http://schemas.microsoft.com/office/drawing/2014/main" id="{65A430F4-0C8E-475D-A4C2-5DBCADB1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同じ比でも、方向角は 45° と 225°。向きが180°違う。</a:t>
            </a:r>
          </a:p>
        </p:txBody>
      </p:sp>
    </p:spTree>
    <p:extLst>
      <p:ext uri="{BB962C8B-B14F-4D97-AF65-F5344CB8AC3E}">
        <p14:creationId xmlns:p14="http://schemas.microsoft.com/office/powerpoint/2010/main" val="177174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5EEFC36-7169-475C-8E82-72733143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逆正接が返す角度の範囲">
            <a:extLst xmlns:a="http://schemas.openxmlformats.org/drawingml/2006/main">
              <a:ext uri="{FF2B5EF4-FFF2-40B4-BE49-F238E27FC236}">
                <a16:creationId xmlns:a16="http://schemas.microsoft.com/office/drawing/2014/main" id="{FDDD3B6F-9EC6-44C5-960A-9E91A078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逆正接が返す角度の範囲</a:t>
            </a:r>
          </a:p>
        </p:txBody>
      </p:sp>
      <p:sp>
        <p:nvSpPr>
          <p:cNvPr id="3" name="arctan は、tan が同じ値になる角度のうち、決められた範囲の角を返す。">
            <a:extLst xmlns:a="http://schemas.openxmlformats.org/drawingml/2006/main">
              <a:ext uri="{FF2B5EF4-FFF2-40B4-BE49-F238E27FC236}">
                <a16:creationId xmlns:a16="http://schemas.microsoft.com/office/drawing/2014/main" id="{3E2BB7BD-07AB-49B4-B334-DCD8082C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arctan は、tan が同じ値になる角度のうち、決められた範囲の角を返す。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9CB603A7-FAE6-4D3F-A9BF-C422FBB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9AA83562-3CB8-4B9F-846B-6CB2360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6" name="−90° &lt; α &lt; 90°">
            <a:extLst xmlns:a="http://schemas.openxmlformats.org/drawingml/2006/main">
              <a:ext uri="{FF2B5EF4-FFF2-40B4-BE49-F238E27FC236}">
                <a16:creationId xmlns:a16="http://schemas.microsoft.com/office/drawing/2014/main" id="{35AE81B8-2AD4-4863-B604-FA43C1A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−90° &lt; α &lt; 90°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8B2AE-FA48-43CF-9B59-FF3E8283BFA8}"/>
              </a:ext>
            </a:extLst>
          </p:cNvPr>
          <p:cNvGraphicFramePr/>
          <p:nvPr/>
        </p:nvGraphicFramePr>
        <p:xfrm>
          <a:off xmlns:a="http://schemas.openxmlformats.org/drawingml/2006/main" x="619125" y="3638550"/>
          <a:ext xmlns:a="http://schemas.openxmlformats.org/drawingml/2006/main" cx="10906125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095500"/>
                <a:gridCol w="3571875"/>
              </a:tblGrid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同じ tan の値になる方向角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比の値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arctan の答え 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 と 225°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 と 315°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8" name="α を求めたあと、元の座標差の符号で向きを確定する。">
            <a:extLst xmlns:a="http://schemas.openxmlformats.org/drawingml/2006/main">
              <a:ext uri="{FF2B5EF4-FFF2-40B4-BE49-F238E27FC236}">
                <a16:creationId xmlns:a16="http://schemas.microsoft.com/office/drawing/2014/main" id="{75A96227-72E3-4733-807B-E417AFF8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α を求めたあと、元の座標差の符号で向きを確定する。</a:t>
            </a:r>
          </a:p>
        </p:txBody>
      </p:sp>
    </p:spTree>
    <p:extLst>
      <p:ext uri="{BB962C8B-B14F-4D97-AF65-F5344CB8AC3E}">
        <p14:creationId xmlns:p14="http://schemas.microsoft.com/office/powerpoint/2010/main" val="687396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EF5ECAF7-6B44-491F-913E-22116275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象限の表は、向きを確定する手順">
            <a:extLst xmlns:a="http://schemas.openxmlformats.org/drawingml/2006/main">
              <a:ext uri="{FF2B5EF4-FFF2-40B4-BE49-F238E27FC236}">
                <a16:creationId xmlns:a16="http://schemas.microsoft.com/office/drawing/2014/main" id="{3A2662CC-D304-4572-BFDD-8D9EDCB9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象限の表は、向きを確定する手順</a:t>
            </a:r>
          </a:p>
        </p:txBody>
      </p:sp>
      <p:sp>
        <p:nvSpPr>
          <p:cNvPr id="3" name="α = arctan(ΔY / ΔX) を求め、方向角 θ を 0°以上360°未満にそろえる。">
            <a:extLst xmlns:a="http://schemas.openxmlformats.org/drawingml/2006/main">
              <a:ext uri="{FF2B5EF4-FFF2-40B4-BE49-F238E27FC236}">
                <a16:creationId xmlns:a16="http://schemas.microsoft.com/office/drawing/2014/main" id="{D53C85A8-77E0-45F8-9604-3D2A6F79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α = arctan(ΔY / ΔX) を求め、方向角 θ を 0°以上360°未満にそろえる。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A7449C23-09CB-4FF7-85D0-C834CA5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8B241-BCE6-4E45-99EC-E2C0E90BF1A7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43000"/>
                <a:gridCol w="1143000"/>
                <a:gridCol w="2000250"/>
                <a:gridCol w="2095500"/>
                <a:gridCol w="2047875"/>
              </a:tblGrid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象限・向き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加える角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第1・北東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第2・南東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第3・南西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225°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第4・北西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360°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315°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6" name="180°：正反対の方向へ直す">
            <a:extLst xmlns:a="http://schemas.openxmlformats.org/drawingml/2006/main">
              <a:ext uri="{FF2B5EF4-FFF2-40B4-BE49-F238E27FC236}">
                <a16:creationId xmlns:a16="http://schemas.microsoft.com/office/drawing/2014/main" id="{75058F5F-6BEF-4A96-A3DA-8AF62168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180°：正反対の方向へ直す</a:t>
            </a:r>
          </a:p>
        </p:txBody>
      </p:sp>
      <p:sp>
        <p:nvSpPr>
          <p:cNvPr id="7" name="360°：同じ向きを正の角度で表す">
            <a:extLst xmlns:a="http://schemas.openxmlformats.org/drawingml/2006/main">
              <a:ext uri="{FF2B5EF4-FFF2-40B4-BE49-F238E27FC236}">
                <a16:creationId xmlns:a16="http://schemas.microsoft.com/office/drawing/2014/main" id="{8859DBB9-F421-4A40-BB1D-A9E24DB3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360°：同じ向きを正の角度で表す</a:t>
            </a:r>
          </a:p>
        </p:txBody>
      </p:sp>
      <p:sp>
        <p:nvSpPr>
          <p:cNvPr id="8" name="南向き（ΔX &lt; 0）なら180°。北西なら負の角に360°。">
            <a:extLst xmlns:a="http://schemas.openxmlformats.org/drawingml/2006/main">
              <a:ext uri="{FF2B5EF4-FFF2-40B4-BE49-F238E27FC236}">
                <a16:creationId xmlns:a16="http://schemas.microsoft.com/office/drawing/2014/main" id="{DEBB787B-30DC-45D7-8BCF-7B6C896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南向き（ΔX &lt; 0）なら180°。北西なら負の角に360°。</a:t>
            </a:r>
          </a:p>
        </p:txBody>
      </p:sp>
    </p:spTree>
    <p:extLst>
      <p:ext uri="{BB962C8B-B14F-4D97-AF65-F5344CB8AC3E}">
        <p14:creationId xmlns:p14="http://schemas.microsoft.com/office/powerpoint/2010/main" val="389943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EE2C129F-E748-40F6-A8FA-A84AED5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計算例：同じ比でも、補正は異なる">
            <a:extLst xmlns:a="http://schemas.openxmlformats.org/drawingml/2006/main">
              <a:ext uri="{FF2B5EF4-FFF2-40B4-BE49-F238E27FC236}">
                <a16:creationId xmlns:a16="http://schemas.microsoft.com/office/drawing/2014/main" id="{73FA7E69-55F6-490C-AE56-A5284C7F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計算例：同じ比でも、補正は異なる</a:t>
            </a:r>
          </a:p>
        </p:txBody>
      </p:sp>
      <p:sp>
        <p:nvSpPr>
          <p:cNvPr id="3" name="南東と北西はいずれも ΔY / ΔX = −4 / 3。まず向きの見当をつける。">
            <a:extLst xmlns:a="http://schemas.openxmlformats.org/drawingml/2006/main">
              <a:ext uri="{FF2B5EF4-FFF2-40B4-BE49-F238E27FC236}">
                <a16:creationId xmlns:a16="http://schemas.microsoft.com/office/drawing/2014/main" id="{2F1ACFB5-6BFB-41E1-BF8F-DD6A50D8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南東と北西はいずれも ΔY / ΔX = −4 / 3。まず向きの見当をつける。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A7844DB2-D7F7-493B-A649-1072D22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A：ΔX = −30 m、ΔY = ＋40 m">
            <a:extLst xmlns:a="http://schemas.openxmlformats.org/drawingml/2006/main">
              <a:ext uri="{FF2B5EF4-FFF2-40B4-BE49-F238E27FC236}">
                <a16:creationId xmlns:a16="http://schemas.microsoft.com/office/drawing/2014/main" id="{5E0F9FC3-5142-42CB-8646-FB78D061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A：ΔX = −30 m、ΔY = ＋40 m</a:t>
            </a:r>
          </a:p>
        </p:txBody>
      </p:sp>
      <p:sp>
        <p:nvSpPr>
          <p:cNvPr id="6" name="α = arctan(−4/3) ≈ −53.13°">
            <a:extLst xmlns:a="http://schemas.openxmlformats.org/drawingml/2006/main">
              <a:ext uri="{FF2B5EF4-FFF2-40B4-BE49-F238E27FC236}">
                <a16:creationId xmlns:a16="http://schemas.microsoft.com/office/drawing/2014/main" id="{BC6514B9-A221-41D5-AD2A-729F319E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arctan(−4/3) ≈ −53.13°</a:t>
            </a:r>
          </a:p>
        </p:txBody>
      </p:sp>
      <p:sp>
        <p:nvSpPr>
          <p:cNvPr id="7" name="θ ≈ −53.13° + 180° = 126.87°">
            <a:extLst xmlns:a="http://schemas.openxmlformats.org/drawingml/2006/main">
              <a:ext uri="{FF2B5EF4-FFF2-40B4-BE49-F238E27FC236}">
                <a16:creationId xmlns:a16="http://schemas.microsoft.com/office/drawing/2014/main" id="{26E3B12F-596F-4BB2-A881-2AA23A49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θ ≈ −53.13° + 180° = 126.87°</a:t>
            </a:r>
          </a:p>
        </p:txBody>
      </p:sp>
      <p:sp>
        <p:nvSpPr>
          <p:cNvPr id="8" name="B：ΔX = ＋30 m、ΔY = −40 m">
            <a:extLst xmlns:a="http://schemas.openxmlformats.org/drawingml/2006/main">
              <a:ext uri="{FF2B5EF4-FFF2-40B4-BE49-F238E27FC236}">
                <a16:creationId xmlns:a16="http://schemas.microsoft.com/office/drawing/2014/main" id="{526D8D03-B9FB-4B4B-A39C-1ECEAD0E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B：ΔX = ＋30 m、ΔY = −40 m</a:t>
            </a:r>
          </a:p>
        </p:txBody>
      </p:sp>
      <p:sp>
        <p:nvSpPr>
          <p:cNvPr id="9" name="θ ≈ −53.13° + 360° = 306.87°">
            <a:extLst xmlns:a="http://schemas.openxmlformats.org/drawingml/2006/main">
              <a:ext uri="{FF2B5EF4-FFF2-40B4-BE49-F238E27FC236}">
                <a16:creationId xmlns:a16="http://schemas.microsoft.com/office/drawing/2014/main" id="{FE355A4B-87AA-46C7-920A-7C2E22FD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θ ≈ −53.13° + 360° = 306.87°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C91835A-F04A-4E9C-82BA-1FFD54C99822}"/>
              </a:ext>
            </a:extLst>
          </p:cNvPr>
          <p:cNvGraphicFramePr/>
          <p:nvPr/>
        </p:nvGraphicFramePr>
        <p:xfrm>
          <a:off xmlns:a="http://schemas.openxmlformats.org/drawingml/2006/main" x="7000875" y="2000250"/>
          <a:ext xmlns:a="http://schemas.openxmlformats.org/drawingml/2006/main" cx="45243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494ac441784345"/>
          </a:graphicData>
        </a:graphic>
      </p:graphicFrame>
      <p:sp>
        <p:nvSpPr>
          <p:cNvPr id="11" name="答えの角度が、座標差から予想した向きに入るか確かめる。">
            <a:extLst xmlns:a="http://schemas.openxmlformats.org/drawingml/2006/main">
              <a:ext uri="{FF2B5EF4-FFF2-40B4-BE49-F238E27FC236}">
                <a16:creationId xmlns:a16="http://schemas.microsoft.com/office/drawing/2014/main" id="{19ADBF09-933C-4E45-B321-4FBA0A65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答えの角度が、座標差から予想した向きに入るか確かめる。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1832203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8A60C0F8-DCCD-4F56-8BB7-4C556759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トラバースでは、計算の向きで扱いが変わる">
            <a:extLst xmlns:a="http://schemas.openxmlformats.org/drawingml/2006/main">
              <a:ext uri="{FF2B5EF4-FFF2-40B4-BE49-F238E27FC236}">
                <a16:creationId xmlns:a16="http://schemas.microsoft.com/office/drawing/2014/main" id="{8F7E032F-548E-4150-8790-EBBD6F00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トラバースでは、計算の向きで扱いが変わる</a:t>
            </a:r>
          </a:p>
        </p:txBody>
      </p:sp>
      <p:sp>
        <p:nvSpPr>
          <p:cNvPr id="3" name="距離・方向角から座標差を求める場合と、その逆を区別する。">
            <a:extLst xmlns:a="http://schemas.openxmlformats.org/drawingml/2006/main">
              <a:ext uri="{FF2B5EF4-FFF2-40B4-BE49-F238E27FC236}">
                <a16:creationId xmlns:a16="http://schemas.microsoft.com/office/drawing/2014/main" id="{85C6D712-6778-4C2A-B46A-6195A2F4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距離・方向角から座標差を求める場合と、その逆を区別する。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08B09DDD-7FC3-486F-9B17-1582246B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距離・方向角から座標差">
            <a:extLst xmlns:a="http://schemas.openxmlformats.org/drawingml/2006/main">
              <a:ext uri="{FF2B5EF4-FFF2-40B4-BE49-F238E27FC236}">
                <a16:creationId xmlns:a16="http://schemas.microsoft.com/office/drawing/2014/main" id="{9E161599-B252-4AA2-8795-A378823F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距離・方向角から座標差</a:t>
            </a:r>
          </a:p>
        </p:txBody>
      </p:sp>
      <p:sp>
        <p:nvSpPr>
          <p:cNvPr id="6" name="ΔX = L cos θ">
            <a:extLst xmlns:a="http://schemas.openxmlformats.org/drawingml/2006/main">
              <a:ext uri="{FF2B5EF4-FFF2-40B4-BE49-F238E27FC236}">
                <a16:creationId xmlns:a16="http://schemas.microsoft.com/office/drawing/2014/main" id="{062AC7E6-211C-4E5B-9FA8-7889FC9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L cos θ</a:t>
            </a:r>
          </a:p>
        </p:txBody>
      </p:sp>
      <p:sp>
        <p:nvSpPr>
          <p:cNvPr id="7" name="ΔY = L sin θ">
            <a:extLst xmlns:a="http://schemas.openxmlformats.org/drawingml/2006/main">
              <a:ext uri="{FF2B5EF4-FFF2-40B4-BE49-F238E27FC236}">
                <a16:creationId xmlns:a16="http://schemas.microsoft.com/office/drawing/2014/main" id="{F0388B49-DCAA-4D34-A38E-DBF4B6B6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L sin θ</a:t>
            </a:r>
          </a:p>
        </p:txBody>
      </p:sp>
      <p:sp>
        <p:nvSpPr>
          <p:cNvPr id="8" name="cos・sin が正負も返す。">
            <a:extLst xmlns:a="http://schemas.openxmlformats.org/drawingml/2006/main">
              <a:ext uri="{FF2B5EF4-FFF2-40B4-BE49-F238E27FC236}">
                <a16:creationId xmlns:a16="http://schemas.microsoft.com/office/drawing/2014/main" id="{8125EB65-F638-4A4E-A508-6152F9D5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cos・sin が正負も返す。</a:t>
            </a:r>
          </a:p>
        </p:txBody>
      </p:sp>
      <p:sp>
        <p:nvSpPr>
          <p:cNvPr id="9" name="L = 100 m、θ = 120° の例">
            <a:extLst xmlns:a="http://schemas.openxmlformats.org/drawingml/2006/main">
              <a:ext uri="{FF2B5EF4-FFF2-40B4-BE49-F238E27FC236}">
                <a16:creationId xmlns:a16="http://schemas.microsoft.com/office/drawing/2014/main" id="{80CFBF85-09CA-4737-A637-7C098B9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L = 100 m、θ = 120° の例</a:t>
            </a:r>
          </a:p>
        </p:txBody>
      </p:sp>
      <p:sp>
        <p:nvSpPr>
          <p:cNvPr id="10" name="ΔX = −50 m,   ΔY ≈ 86.60 m">
            <a:extLst xmlns:a="http://schemas.openxmlformats.org/drawingml/2006/main">
              <a:ext uri="{FF2B5EF4-FFF2-40B4-BE49-F238E27FC236}">
                <a16:creationId xmlns:a16="http://schemas.microsoft.com/office/drawing/2014/main" id="{B3B1F7D2-A23C-4E18-B852-E23461E3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−50 m,   ΔY ≈ 86.60 m</a:t>
            </a:r>
          </a:p>
        </p:txBody>
      </p:sp>
      <p:sp>
        <p:nvSpPr>
          <p:cNvPr id="11" name="座標差から方向角">
            <a:extLst xmlns:a="http://schemas.openxmlformats.org/drawingml/2006/main">
              <a:ext uri="{FF2B5EF4-FFF2-40B4-BE49-F238E27FC236}">
                <a16:creationId xmlns:a16="http://schemas.microsoft.com/office/drawing/2014/main" id="{D0BE39AD-D782-45F8-8EC3-538F743C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座標差から方向角</a:t>
            </a:r>
          </a:p>
        </p:txBody>
      </p:sp>
      <p:sp>
        <p:nvSpPr>
          <p:cNvPr id="12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00A09918-5856-4800-BA38-5B3BA77D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13" name="元の符号を確認し、">
            <a:extLst xmlns:a="http://schemas.openxmlformats.org/drawingml/2006/main">
              <a:ext uri="{FF2B5EF4-FFF2-40B4-BE49-F238E27FC236}">
                <a16:creationId xmlns:a16="http://schemas.microsoft.com/office/drawing/2014/main" id="{D952FEE6-AFEA-410A-9EB2-C39BEC88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33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元の符号を確認し、</a:t>
            </a:r>
          </a:p>
        </p:txBody>
      </p:sp>
      <p:sp>
        <p:nvSpPr>
          <p:cNvPr id="14" name="180° または360°を加える。">
            <a:extLst xmlns:a="http://schemas.openxmlformats.org/drawingml/2006/main">
              <a:ext uri="{FF2B5EF4-FFF2-40B4-BE49-F238E27FC236}">
                <a16:creationId xmlns:a16="http://schemas.microsoft.com/office/drawing/2014/main" id="{CA4D60F2-5AAF-44C9-A45E-7E1490E5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 または360°を加える。</a:t>
            </a:r>
          </a:p>
        </p:txBody>
      </p:sp>
      <p:sp>
        <p:nvSpPr>
          <p:cNvPr id="15" name="atan2 なら、この判定も関数が行う。">
            <a:extLst xmlns:a="http://schemas.openxmlformats.org/drawingml/2006/main">
              <a:ext uri="{FF2B5EF4-FFF2-40B4-BE49-F238E27FC236}">
                <a16:creationId xmlns:a16="http://schemas.microsoft.com/office/drawing/2014/main" id="{48C42230-F341-42D2-BA07-D307137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なら、この判定も関数が行う。</a:t>
            </a:r>
          </a:p>
        </p:txBody>
      </p:sp>
      <p:sp>
        <p:nvSpPr>
          <p:cNvPr id="16" name="象限分けが必要になるのは、主に「比から向きを戻す」とき。">
            <a:extLst xmlns:a="http://schemas.openxmlformats.org/drawingml/2006/main">
              <a:ext uri="{FF2B5EF4-FFF2-40B4-BE49-F238E27FC236}">
                <a16:creationId xmlns:a16="http://schemas.microsoft.com/office/drawing/2014/main" id="{250CF2B0-40C9-435C-A8CF-16E48BB3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象限分けが必要になるのは、主に「比から向きを戻す」とき。</a:t>
            </a:r>
          </a:p>
        </p:txBody>
      </p:sp>
    </p:spTree>
    <p:extLst>
      <p:ext uri="{BB962C8B-B14F-4D97-AF65-F5344CB8AC3E}">
        <p14:creationId xmlns:p14="http://schemas.microsoft.com/office/powerpoint/2010/main" val="1699079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069F7CF9-DE2F-40E0-9E49-728BE149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atan2 は、二つの座標差を別々に受け取る">
            <a:extLst xmlns:a="http://schemas.openxmlformats.org/drawingml/2006/main">
              <a:ext uri="{FF2B5EF4-FFF2-40B4-BE49-F238E27FC236}">
                <a16:creationId xmlns:a16="http://schemas.microsoft.com/office/drawing/2014/main" id="{95600EE9-F4E7-407E-B816-285E6AAC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は、二つの座標差を別々に受け取る</a:t>
            </a:r>
          </a:p>
        </p:txBody>
      </p:sp>
      <p:sp>
        <p:nvSpPr>
          <p:cNvPr id="3" name="比にする前の符号を使うため、全周の向きを求められる。">
            <a:extLst xmlns:a="http://schemas.openxmlformats.org/drawingml/2006/main">
              <a:ext uri="{FF2B5EF4-FFF2-40B4-BE49-F238E27FC236}">
                <a16:creationId xmlns:a16="http://schemas.microsoft.com/office/drawing/2014/main" id="{62160307-E730-432A-9F5E-F21D5D3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比にする前の符号を使うため、全周の向きを求められる。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7B2F7290-D192-4A63-881E-5FC4B46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Excel の例：B2 に ΔX、C2 に ΔY">
            <a:extLst xmlns:a="http://schemas.openxmlformats.org/drawingml/2006/main">
              <a:ext uri="{FF2B5EF4-FFF2-40B4-BE49-F238E27FC236}">
                <a16:creationId xmlns:a16="http://schemas.microsoft.com/office/drawing/2014/main" id="{2D1C5B8B-7E94-4D9E-8953-B58EF64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Excel の例：B2 に ΔX、C2 に ΔY</a:t>
            </a:r>
          </a:p>
        </p:txBody>
      </p:sp>
      <p:sp>
        <p:nvSpPr>
          <p:cNvPr id="6" name="=MOD(DEGREES(ATAN2(B2,C2)),360)">
            <a:extLst xmlns:a="http://schemas.openxmlformats.org/drawingml/2006/main">
              <a:ext uri="{FF2B5EF4-FFF2-40B4-BE49-F238E27FC236}">
                <a16:creationId xmlns:a16="http://schemas.microsoft.com/office/drawing/2014/main" id="{47E5F765-7748-43C0-89B0-BF6FE08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=MOD(DEGREES(ATAN2(B2,C2)),360)</a:t>
            </a:r>
          </a:p>
        </p:txBody>
      </p:sp>
      <p:sp>
        <p:nvSpPr>
          <p:cNvPr id="7" name="引数の順序はソフトによって異なる。返り値を度に直し、0〜360°にそろえる。">
            <a:extLst xmlns:a="http://schemas.openxmlformats.org/drawingml/2006/main">
              <a:ext uri="{FF2B5EF4-FFF2-40B4-BE49-F238E27FC236}">
                <a16:creationId xmlns:a16="http://schemas.microsoft.com/office/drawing/2014/main" id="{9339D72F-792E-430C-96E8-47284AA5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引数の順序はソフトによって異なる。返り値を度に直し、0〜360°にそろえる。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F08F7-4BEB-4B33-9DC7-758FBF3E3368}"/>
              </a:ext>
            </a:extLst>
          </p:cNvPr>
          <p:cNvGraphicFramePr/>
          <p:nvPr/>
        </p:nvGraphicFramePr>
        <p:xfrm>
          <a:off xmlns:a="http://schemas.openxmlformats.org/drawingml/2006/main" x="619125" y="3914775"/>
          <a:ext xmlns:a="http://schemas.openxmlformats.org/drawingml/2006/main" cx="10906125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47875"/>
                <a:gridCol w="2047875"/>
                <a:gridCol w="2047875"/>
                <a:gridCol w="2095500"/>
              </a:tblGrid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軸上の向き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90°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270°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ΔX = 0、ΔY = 0 のときは、方向角が定まらない。">
            <a:extLst xmlns:a="http://schemas.openxmlformats.org/drawingml/2006/main">
              <a:ext uri="{FF2B5EF4-FFF2-40B4-BE49-F238E27FC236}">
                <a16:creationId xmlns:a16="http://schemas.microsoft.com/office/drawing/2014/main" id="{2A1E23A1-4A04-4009-9F31-F1407362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ΔX = 0、ΔY = 0 のときは、方向角が定まらない。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1964013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0F7E6B3-C684-49DB-9FAA-1D17B52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確認問題：比の計算前に、向きを予想する">
            <a:extLst xmlns:a="http://schemas.openxmlformats.org/drawingml/2006/main">
              <a:ext uri="{FF2B5EF4-FFF2-40B4-BE49-F238E27FC236}">
                <a16:creationId xmlns:a16="http://schemas.microsoft.com/office/drawing/2014/main" id="{2B12F970-BE6C-44F2-87B8-CB9983C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確認問題：比の計算前に、向きを予想する</a:t>
            </a:r>
          </a:p>
        </p:txBody>
      </p:sp>
      <p:sp>
        <p:nvSpPr>
          <p:cNvPr id="3" name="各行について、向き・arctan の答え α・補正後の方向角 θ を求める。">
            <a:extLst xmlns:a="http://schemas.openxmlformats.org/drawingml/2006/main">
              <a:ext uri="{FF2B5EF4-FFF2-40B4-BE49-F238E27FC236}">
                <a16:creationId xmlns:a16="http://schemas.microsoft.com/office/drawing/2014/main" id="{ABF69464-77E6-4DA2-AC67-8781A639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各行について、向き・arctan の答え α・補正後の方向角 θ を求める。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11914509-D6BD-48E9-A0F6-AF938973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C67F2-75C0-4B34-B07C-5D3ABA494D4B}"/>
              </a:ext>
            </a:extLst>
          </p:cNvPr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061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1714500"/>
                <a:gridCol w="2047875"/>
                <a:gridCol w="2047875"/>
                <a:gridCol w="2047875"/>
              </a:tblGrid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② と ③ は比が同じ。方向角も同じになるだろうか。">
            <a:extLst xmlns:a="http://schemas.openxmlformats.org/drawingml/2006/main">
              <a:ext uri="{FF2B5EF4-FFF2-40B4-BE49-F238E27FC236}">
                <a16:creationId xmlns:a16="http://schemas.microsoft.com/office/drawing/2014/main" id="{E54B5981-965B-436E-876F-993BE13D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② と ③ は比が同じ。方向角も同じになるだろうか。</a:t>
            </a:r>
          </a:p>
        </p:txBody>
      </p:sp>
      <p:sp>
        <p:nvSpPr>
          <p:cNvPr id="7" name="「どの象限か」から、「なぜその補正か」まで説明する。">
            <a:extLst xmlns:a="http://schemas.openxmlformats.org/drawingml/2006/main">
              <a:ext uri="{FF2B5EF4-FFF2-40B4-BE49-F238E27FC236}">
                <a16:creationId xmlns:a16="http://schemas.microsoft.com/office/drawing/2014/main" id="{1AA89F5B-1A08-48BB-AF3A-294A46B2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「どの象限か」から、「なぜその補正か」まで説明する。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461132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2026-10-15T02:58:46.3910000Z</dcterms:created>
  <dcterms:modified xsi:type="dcterms:W3CDTF">2026-10-15T02:58:46.3910000Z</dcterms:modified>
</coreProperties>
</file>