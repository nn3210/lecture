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fb49016d6e43ab" /><Relationship Type="http://schemas.openxmlformats.org/officeDocument/2006/relationships/extended-properties" Target="/docProps/app.xml" Id="R7f84fa5eb3454177" /><Relationship Type="http://schemas.openxmlformats.org/officeDocument/2006/relationships/officeDocument" Target="/ppt/presentation.xml" Id="R116f4dee488e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adce72479346ba"/>
  </p:sldMasterIdLst>
  <p:notesMasterIdLst>
    <p:notesMasterId xmlns:r="http://schemas.openxmlformats.org/officeDocument/2006/relationships" r:id="Rf0a652ca571d4eb6"/>
  </p:notesMasterIdLst>
  <p:sldIdLst>
    <p:sldId xmlns:r="http://schemas.openxmlformats.org/officeDocument/2006/relationships" id="256" r:id="R766108fa100c4955"/>
    <p:sldId xmlns:r="http://schemas.openxmlformats.org/officeDocument/2006/relationships" id="257" r:id="R38355c516d744704"/>
    <p:sldId xmlns:r="http://schemas.openxmlformats.org/officeDocument/2006/relationships" id="258" r:id="R314fb6086b824c6c"/>
    <p:sldId xmlns:r="http://schemas.openxmlformats.org/officeDocument/2006/relationships" id="259" r:id="R695d686b70584b42"/>
    <p:sldId xmlns:r="http://schemas.openxmlformats.org/officeDocument/2006/relationships" id="260" r:id="R14cddbbce71c451e"/>
    <p:sldId xmlns:r="http://schemas.openxmlformats.org/officeDocument/2006/relationships" id="261" r:id="Rcd662f4ec4354965"/>
    <p:sldId xmlns:r="http://schemas.openxmlformats.org/officeDocument/2006/relationships" id="262" r:id="R713587c756694875"/>
    <p:sldId xmlns:r="http://schemas.openxmlformats.org/officeDocument/2006/relationships" id="263" r:id="R63abda2b552248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b9d65347eb4b24" /><Relationship Type="http://schemas.openxmlformats.org/officeDocument/2006/relationships/slideMaster" Target="/ppt/slideMasters/slideMaster1.xml" Id="R2aadce72479346ba" /><Relationship Type="http://schemas.openxmlformats.org/officeDocument/2006/relationships/notesMaster" Target="/ppt/notesMasters/notesMaster1.xml" Id="Rf0a652ca571d4eb6" /><Relationship Type="http://schemas.openxmlformats.org/officeDocument/2006/relationships/presProps" Target="/ppt/presProps.xml" Id="Raf19a8a235364865" /><Relationship Type="http://schemas.openxmlformats.org/officeDocument/2006/relationships/tableStyles" Target="/ppt/tableStyles.xml" Id="R9f864c6715a54154" /><Relationship Type="http://schemas.openxmlformats.org/officeDocument/2006/relationships/slide" Target="/ppt/slides/slide1.xml" Id="R766108fa100c4955" /><Relationship Type="http://schemas.openxmlformats.org/officeDocument/2006/relationships/slide" Target="/ppt/slides/slide2.xml" Id="R38355c516d744704" /><Relationship Type="http://schemas.openxmlformats.org/officeDocument/2006/relationships/slide" Target="/ppt/slides/slide3.xml" Id="R314fb6086b824c6c" /><Relationship Type="http://schemas.openxmlformats.org/officeDocument/2006/relationships/slide" Target="/ppt/slides/slide4.xml" Id="R695d686b70584b42" /><Relationship Type="http://schemas.openxmlformats.org/officeDocument/2006/relationships/slide" Target="/ppt/slides/slide5.xml" Id="R14cddbbce71c451e" /><Relationship Type="http://schemas.openxmlformats.org/officeDocument/2006/relationships/slide" Target="/ppt/slides/slide6.xml" Id="Rcd662f4ec4354965" /><Relationship Type="http://schemas.openxmlformats.org/officeDocument/2006/relationships/slide" Target="/ppt/slides/slide7.xml" Id="R713587c756694875" /><Relationship Type="http://schemas.openxmlformats.org/officeDocument/2006/relationships/slide" Target="/ppt/slides/slide8.xml" Id="R63abda2b552248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ea083645574e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3554cd5a8f4726" /><Relationship Type="http://schemas.openxmlformats.org/officeDocument/2006/relationships/notesMaster" Target="/ppt/notesMasters/notesMaster1.xml" Id="Rb328c692d66d40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c8b5c2c1994980" /><Relationship Type="http://schemas.openxmlformats.org/officeDocument/2006/relationships/notesMaster" Target="/ppt/notesMasters/notesMaster1.xml" Id="Ra3b3b61dcb234b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2fa96b41e4513" /><Relationship Type="http://schemas.openxmlformats.org/officeDocument/2006/relationships/notesMaster" Target="/ppt/notesMasters/notesMaster1.xml" Id="R8d4c30d0d80747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780f05e3c3458f" /><Relationship Type="http://schemas.openxmlformats.org/officeDocument/2006/relationships/notesMaster" Target="/ppt/notesMasters/notesMaster1.xml" Id="R8d11f9f08acb4d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8d7ec5e3934358" /><Relationship Type="http://schemas.openxmlformats.org/officeDocument/2006/relationships/notesMaster" Target="/ppt/notesMasters/notesMaster1.xml" Id="Rd29513e97978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1f8e9d28464bc6" /><Relationship Type="http://schemas.openxmlformats.org/officeDocument/2006/relationships/notesMaster" Target="/ppt/notesMasters/notesMaster1.xml" Id="R366ce54cc7294c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2aec7e74124f6c" /><Relationship Type="http://schemas.openxmlformats.org/officeDocument/2006/relationships/notesMaster" Target="/ppt/notesMasters/notesMaster1.xml" Id="Rc9783193e25a4a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201e5d4caa4d8c" /><Relationship Type="http://schemas.openxmlformats.org/officeDocument/2006/relationships/notesMaster" Target="/ppt/notesMasters/notesMaster1.xml" Id="Rb20fdfaa5b224e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スライドと同じ測量の約束を使う。X軸は北向き、Y軸は東向き。数学の通常の図のx軸右・y軸上とは異なる。方向角θはX軸の正方向（北）から時計回り。0°以上360°未満で表す。ΔX=X終点−X始点、ΔY=Y終点−Y始点。散布図は横軸ΔY、縦軸ΔX。象限番号は北東から時計回りに第1、第2、第3、第4。図の数値は説明用の座標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北東AはΔX=1、ΔY=1で方向角45°。南西BはΔX=−1、ΔY=−1で方向角225°。ともにΔY/ΔX=1。同じ直線上の正反対の方向になる。tanの値だけでは、向きは180°の違いを残してしか決まらない。座標差が持っていた符号の組合せの情報が、比を作る際に失われる。点名A・Bと色を併用し、色だけに依存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の実数rについて、α=arctan(r)の主値は−90°&lt;α&lt;90°。たとえばtan45°=tan225°=1だが、arctan1は45°を返す。同様にtan135°=tan315°=−1だがarctan(−1)は−45°を返す。arctanは全周の方向角を直接返す関数ではない。電卓のtanの逆関数を表すtan⁻¹は、この資料のarctanと同じ意味。1/tanを表すものではない。以後は度数法で計算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軸上でない場合の整理。第1象限はΔX&gt;0かつΔY&gt;0でθ=α。第2・第3象限はΔX&lt;0なのでθ=α+180°。第4象限はΔX&gt;0かつΔY&lt;0でα&lt;0なのでθ=α+360°。180°は正反対の向きへの補正、360°は同じ向きの表記を正にそろえる操作であり、意味が異なる。αは絶対値の比から得た鋭角ではなく、符号付きの比の逆正接である。絶対値を使う方位角表とは補正式を混用しない。軸上は7枚目で扱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用の座標差。南東AはΔX=−30m、ΔY=40m。北西BはΔX=30m、ΔY=−40m。α=arctan(−4/3)=−53.130102...°。AはΔX&lt;0だからα+180=126.869897...°、Bは北西だからα+360=306.869897...°。表示は小数第2位に四捨五入。南東の角は90〜180°、北西の角は270〜360°に入ることを確認する。散布図の座標差単位は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トラバースの座標計算で、Lと0〜360°の方向角θが与えられていればΔX=Lcosθ、ΔY=Lsinθを直接計算する。cos・sinが象限に応じた符号を返すので、象限別の公式に分ける必要はない。例L=100m、θ=120°ならΔX=−50m、ΔY=86.60254...mで南東。逆に座標差から方向角を求める際は、比を作ると符号の組合せを失うためarctanの後に補正する。昔の関数表や鋭角だけを扱う手計算では、象限ごとに正負を付ける形で整理できるが、方向角全体のcos・sinを使う計算では不要。観測角から次の辺の方向角を求める漸化計算は別の段階で、0〜360°への正規化を行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atan2は2つの引数の符号を使って象限を判定する。Pythonではdegrees(atan2(ΔY, ΔX)) % 360で北から時計回りの方向角になる。数学でのatan2(y,x)のyに測量のΔY、xに測量のΔXを対応させる。Excelの関数はATAN2(x_num,y_num)で引数順が逆なので、B2=ΔX、C2=ΔYなら=MOD(DEGREES(ATAN2(B2,C2)),360)。ラジアンから度への変換を含む。関数によって負の角を返すため正規化が必要。ΔX=ΔY=0は同一点で方向を定められず、呼び出し前に検査する。Pythonの返り値が0になっても幾何学的に方向角が定まることは意味しない。軸上では比ΔY/ΔXを使わず向きを直接決める。出典：Python公式 math.atan2 https://docs.python.org/3/library/math.html#math.atan2 、Microsoft公式 ATAN2 https://support.microsoft.com/ja-jp/excel/functions/atan2-function （2026-10-15確認）。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の解答。①ΔX=30、ΔY=40：北東、第1象限、α=53.130102...°、補正なし、θ=53.13°。②ΔX=−30、ΔY=40：南東、第2象限、α=−53.130102...°、180°を加えθ=126.87°。③ΔX=30、ΔY=−40：北西、第4象限、α=−53.130102...°、360°を加えθ=306.87°。②と③の比はいずれも−4/3だが方向角は180°異なる。数値の答えだけでなく、どの符号を見て補正したかを説明させる。最後に、arctanが使うのは一つの比、atan2が使うのは二つの座標差であること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3cc48e0ce4f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ccf9b7fac49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ddfe4379f4e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0fb95943447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345f417334d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281228bc749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1ACBA9-5215-4685-908C-346A7C728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4607E42-F411-4B61-9518-D2CB901E98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179EEC-8299-4773-9EA1-BCEA4E263D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2D6E1E-205A-4A5C-BED3-510D76D13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EE9F97-0009-49E7-B193-81F8114379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240A19-9C55-4BC0-B35E-477B76F0FA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712D93-9024-4E99-947D-A1CD4DDC57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02A501-4B45-476B-8B37-EDDB3C7EB0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1A32DD-5BF8-48AD-870A-3C6E1066A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1BB969-32C9-4E62-BBFD-FFC7001D1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2eb09daee4f94" /><Relationship Type="http://schemas.openxmlformats.org/officeDocument/2006/relationships/slideLayout" Target="/ppt/slideLayouts/slideLayout1.xml" Id="Rd44be89970ea488d" /><Relationship Type="http://schemas.openxmlformats.org/officeDocument/2006/relationships/slideLayout" Target="/ppt/slideLayouts/slideLayout2.xml" Id="R178546e0619e493b" /><Relationship Type="http://schemas.openxmlformats.org/officeDocument/2006/relationships/slideLayout" Target="/ppt/slideLayouts/slideLayout3.xml" Id="R0ed215f66dcc4789" /><Relationship Type="http://schemas.openxmlformats.org/officeDocument/2006/relationships/slideLayout" Target="/ppt/slideLayouts/slideLayout4.xml" Id="R9bb7690139a545f3" /><Relationship Type="http://schemas.openxmlformats.org/officeDocument/2006/relationships/slideLayout" Target="/ppt/slideLayouts/slideLayout5.xml" Id="Rbefc3e8ca14e48ae" /><Relationship Type="http://schemas.openxmlformats.org/officeDocument/2006/relationships/slideLayout" Target="/ppt/slideLayouts/slideLayout6.xml" Id="R78db28c6405f47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4be89970ea488d"/>
    <p:sldLayoutId xmlns:r="http://schemas.openxmlformats.org/officeDocument/2006/relationships" id="2147483650" r:id="R178546e0619e493b"/>
    <p:sldLayoutId xmlns:r="http://schemas.openxmlformats.org/officeDocument/2006/relationships" id="2147483651" r:id="R0ed215f66dcc4789"/>
    <p:sldLayoutId xmlns:r="http://schemas.openxmlformats.org/officeDocument/2006/relationships" id="2147483652" r:id="R9bb7690139a545f3"/>
    <p:sldLayoutId xmlns:r="http://schemas.openxmlformats.org/officeDocument/2006/relationships" id="2147483653" r:id="Rbefc3e8ca14e48ae"/>
    <p:sldLayoutId xmlns:r="http://schemas.openxmlformats.org/officeDocument/2006/relationships" id="2147483654" r:id="R78db28c6405f47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fd6090366411c" /><Relationship Type="http://schemas.openxmlformats.org/officeDocument/2006/relationships/chart" Target="/ppt/slides/charts/chart1.xml" Id="Rcbf0279b695b4483" /><Relationship Type="http://schemas.openxmlformats.org/officeDocument/2006/relationships/notesSlide" Target="/ppt/notesSlides/notesSlide1.xml" Id="R0833a12f98d843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16bc1c7294e2a" /><Relationship Type="http://schemas.openxmlformats.org/officeDocument/2006/relationships/chart" Target="/ppt/slides/charts/chart2.xml" Id="R2877d128a22c4a94" /><Relationship Type="http://schemas.openxmlformats.org/officeDocument/2006/relationships/notesSlide" Target="/ppt/notesSlides/notesSlide2.xml" Id="R807c0baa9e714b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785f0a2f2436e" /><Relationship Type="http://schemas.openxmlformats.org/officeDocument/2006/relationships/notesSlide" Target="/ppt/notesSlides/notesSlide3.xml" Id="R6e8a89a96ea34d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3620a0d254e08" /><Relationship Type="http://schemas.openxmlformats.org/officeDocument/2006/relationships/notesSlide" Target="/ppt/notesSlides/notesSlide4.xml" Id="R39593868010d42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ffc492d454700" /><Relationship Type="http://schemas.openxmlformats.org/officeDocument/2006/relationships/chart" Target="/ppt/slides/charts/chart3.xml" Id="Rd74776cd6ab64837" /><Relationship Type="http://schemas.openxmlformats.org/officeDocument/2006/relationships/notesSlide" Target="/ppt/notesSlides/notesSlide5.xml" Id="R55f624063f4447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43c2c92c5496b" /><Relationship Type="http://schemas.openxmlformats.org/officeDocument/2006/relationships/notesSlide" Target="/ppt/notesSlides/notesSlide6.xml" Id="Rc5d994d036de49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a886229514b92" /><Relationship Type="http://schemas.openxmlformats.org/officeDocument/2006/relationships/notesSlide" Target="/ppt/notesSlides/notesSlide7.xml" Id="Ra2c1f4d5be3149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d49d2b4c94cbb" /><Relationship Type="http://schemas.openxmlformats.org/officeDocument/2006/relationships/notesSlide" Target="/ppt/notesSlides/notesSlide8.xml" Id="Rd0b8139787264b6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北 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45989"/>
                        </a:solidFill>
                        <a:latin typeface="Meiryo"/>
                        <a:ea typeface="Meiryo"/>
                        <a:cs typeface="Meiryo"/>
                      </a:rPr>
                      <a:t>北 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45989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東 90°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東 90°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r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南 180°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45989"/>
                        </a:solidFill>
                        <a:latin typeface="Meiryo"/>
                        <a:ea typeface="Meiryo"/>
                        <a:cs typeface="Meiryo"/>
                      </a:rPr>
                      <a:t>南 180°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45989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b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ser>
          <c:idx val="3"/>
          <c:order val="3"/>
          <c:tx>
            <c:v>西 270°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西 270°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l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Data'!$H$2:$H$3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5"/>
          <c:min val="-1.65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5"/>
          <c:min val="-1.65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45°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A 45°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B 225°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BB542E"/>
                        </a:solidFill>
                        <a:latin typeface="Meiryo"/>
                        <a:ea typeface="Meiryo"/>
                        <a:cs typeface="Meiryo"/>
                      </a:rPr>
                      <a:t>B 225°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BB542E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b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"/>
          <c:min val="-1.6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南東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BB542E"/>
                        </a:solidFill>
                        <a:latin typeface="Meiryo"/>
                        <a:ea typeface="Meiryo"/>
                        <a:cs typeface="Meiryo"/>
                      </a:rPr>
                      <a:t>A 南東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BB542E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r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-30</c:v>
                </c:pt>
              </c:numCache>
            </c:numRef>
          </c:yVal>
        </c:ser>
        <c:ser>
          <c:idx val="1"/>
          <c:order val="1"/>
          <c:tx>
            <c:v>B 北西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B 北西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-40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30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"/>
          <c:min val="-7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40"/>
      </c:valAx>
      <c:valAx>
        <c:axId val="48650112"/>
        <c:scaling>
          <c:orientation val="minMax"/>
          <c:max val="70"/>
          <c:min val="-7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40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6F1285D9-B425-4DF7-86E7-3E0D425C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方向角は、北から時計回りに測る">
            <a:extLst xmlns:a="http://schemas.openxmlformats.org/drawingml/2006/main">
              <a:ext uri="{FF2B5EF4-FFF2-40B4-BE49-F238E27FC236}">
                <a16:creationId xmlns:a16="http://schemas.microsoft.com/office/drawing/2014/main" id="{3FF25B76-F0D9-47D8-AEE0-F176CCC0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方向角は、北から時計回りに測る</a:t>
            </a:r>
          </a:p>
        </p:txBody>
      </p:sp>
      <p:sp>
        <p:nvSpPr>
          <p:cNvPr id="3" name="X は北向き、Y は東向き。始点から終点への座標差で向きを表す。">
            <a:extLst xmlns:a="http://schemas.openxmlformats.org/drawingml/2006/main">
              <a:ext uri="{FF2B5EF4-FFF2-40B4-BE49-F238E27FC236}">
                <a16:creationId xmlns:a16="http://schemas.microsoft.com/office/drawing/2014/main" id="{6B3B7E64-6D45-428A-9819-625E3C98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X は北向き、Y は東向き。始点から終点への座標差で向きを表す。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86CBC20A-467D-4992-8E76-1BAE6E1E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ΔX = X終点 − X始点">
            <a:extLst xmlns:a="http://schemas.openxmlformats.org/drawingml/2006/main">
              <a:ext uri="{FF2B5EF4-FFF2-40B4-BE49-F238E27FC236}">
                <a16:creationId xmlns:a16="http://schemas.microsoft.com/office/drawing/2014/main" id="{97693683-C0DA-45CC-83EC-ADF2661A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X終点 − X始点</a:t>
            </a:r>
          </a:p>
        </p:txBody>
      </p:sp>
      <p:sp>
        <p:nvSpPr>
          <p:cNvPr id="6" name="ΔY = Y終点 − Y始点">
            <a:extLst xmlns:a="http://schemas.openxmlformats.org/drawingml/2006/main">
              <a:ext uri="{FF2B5EF4-FFF2-40B4-BE49-F238E27FC236}">
                <a16:creationId xmlns:a16="http://schemas.microsoft.com/office/drawing/2014/main" id="{389C3DB2-CC09-42F1-95E3-80F5064B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Y終点 − Y始点</a:t>
            </a:r>
          </a:p>
        </p:txBody>
      </p:sp>
      <p:sp>
        <p:nvSpPr>
          <p:cNvPr id="7" name="北 0°　　東 90°">
            <a:extLst xmlns:a="http://schemas.openxmlformats.org/drawingml/2006/main">
              <a:ext uri="{FF2B5EF4-FFF2-40B4-BE49-F238E27FC236}">
                <a16:creationId xmlns:a16="http://schemas.microsoft.com/office/drawing/2014/main" id="{0603D600-8EF9-4772-84DD-11B2A774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 0°　　東 90°</a:t>
            </a:r>
          </a:p>
        </p:txBody>
      </p:sp>
      <p:sp>
        <p:nvSpPr>
          <p:cNvPr id="8" name="南 180°　西 270°">
            <a:extLst xmlns:a="http://schemas.openxmlformats.org/drawingml/2006/main">
              <a:ext uri="{FF2B5EF4-FFF2-40B4-BE49-F238E27FC236}">
                <a16:creationId xmlns:a16="http://schemas.microsoft.com/office/drawing/2014/main" id="{E7F2B20C-14A8-4599-8E78-846077A8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南 180°　西 270°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A765BA46-13DF-44B6-9AD5-8BFB4A4072C9}"/>
              </a:ext>
            </a:extLst>
          </p:cNvPr>
          <p:cNvGraphicFramePr/>
          <p:nvPr/>
        </p:nvGraphicFramePr>
        <p:xfrm>
          <a:off xmlns:a="http://schemas.openxmlformats.org/drawingml/2006/main" x="7239000" y="1971675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f0279b695b4483"/>
          </a:graphicData>
        </a:graphic>
      </p:graphicFrame>
      <p:sp>
        <p:nvSpPr>
          <p:cNvPr id="10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746F2E95-FE9F-48B8-A67D-8446AD61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02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11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327AEB94-72E5-42F3-A6ED-AA1F9A2A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100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12" name="象限は、ΔX・ΔY の符号から向きを確かめるために使う。">
            <a:extLst xmlns:a="http://schemas.openxmlformats.org/drawingml/2006/main">
              <a:ext uri="{FF2B5EF4-FFF2-40B4-BE49-F238E27FC236}">
                <a16:creationId xmlns:a16="http://schemas.microsoft.com/office/drawing/2014/main" id="{CDD3A058-0C5C-4C34-A5B0-A5D81CBD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象限は、ΔX・ΔY の符号から向きを確かめるために使う。</a:t>
            </a:r>
          </a:p>
        </p:txBody>
      </p:sp>
    </p:spTree>
    <p:extLst>
      <p:ext uri="{BB962C8B-B14F-4D97-AF65-F5344CB8AC3E}">
        <p14:creationId xmlns:p14="http://schemas.microsoft.com/office/powerpoint/2010/main" val="2188791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6BDE4FA5-9443-462D-8BA6-60FA5741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正反対の方向でも、ΔY / ΔX は同じ">
            <a:extLst xmlns:a="http://schemas.openxmlformats.org/drawingml/2006/main">
              <a:ext uri="{FF2B5EF4-FFF2-40B4-BE49-F238E27FC236}">
                <a16:creationId xmlns:a16="http://schemas.microsoft.com/office/drawing/2014/main" id="{0C776408-2804-45A5-B028-63669173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正反対の方向でも、ΔY / ΔX は同じ</a:t>
            </a:r>
          </a:p>
        </p:txBody>
      </p:sp>
      <p:sp>
        <p:nvSpPr>
          <p:cNvPr id="3" name="比を計算すると、両方が＋なのか、両方が−なのかを区別できない。">
            <a:extLst xmlns:a="http://schemas.openxmlformats.org/drawingml/2006/main">
              <a:ext uri="{FF2B5EF4-FFF2-40B4-BE49-F238E27FC236}">
                <a16:creationId xmlns:a16="http://schemas.microsoft.com/office/drawing/2014/main" id="{0105FBFA-7987-42F9-9B9F-F8791CDB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比を計算すると、両方が＋なのか、両方が−なのかを区別できない。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27232237-CCD7-4817-AFCD-FF4FDBDF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27BFA71-8B8C-4BC3-B68C-CB1F5732F0F6}"/>
              </a:ext>
            </a:extLst>
          </p:cNvPr>
          <p:cNvGraphicFramePr/>
          <p:nvPr/>
        </p:nvGraphicFramePr>
        <p:xfrm>
          <a:off xmlns:a="http://schemas.openxmlformats.org/drawingml/2006/main" x="1476375" y="1971675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77d128a22c4a94"/>
          </a:graphicData>
        </a:graphic>
      </p:graphicFrame>
      <p:sp>
        <p:nvSpPr>
          <p:cNvPr id="6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77344509-3066-4835-A1A8-4A221B0E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002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7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7D6CF210-3A8F-4599-8442-E424460F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00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8" name="A：北東（ΔX, ΔY）=（1, 1）">
            <a:extLst xmlns:a="http://schemas.openxmlformats.org/drawingml/2006/main">
              <a:ext uri="{FF2B5EF4-FFF2-40B4-BE49-F238E27FC236}">
                <a16:creationId xmlns:a16="http://schemas.microsoft.com/office/drawing/2014/main" id="{5AD74C58-FBEA-4534-A8C5-519694A1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A：北東（ΔX, ΔY）=（1, 1）</a:t>
            </a:r>
          </a:p>
        </p:txBody>
      </p:sp>
      <p:sp>
        <p:nvSpPr>
          <p:cNvPr id="9" name="ΔY / ΔX = 1 / 1 = 1">
            <a:extLst xmlns:a="http://schemas.openxmlformats.org/drawingml/2006/main">
              <a:ext uri="{FF2B5EF4-FFF2-40B4-BE49-F238E27FC236}">
                <a16:creationId xmlns:a16="http://schemas.microsoft.com/office/drawing/2014/main" id="{2B3B647A-9102-4734-9AD7-E384BDAB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ΔY / ΔX = 1 / 1 = 1</a:t>
            </a:r>
          </a:p>
        </p:txBody>
      </p:sp>
      <p:sp>
        <p:nvSpPr>
          <p:cNvPr id="10" name="B：南西（ΔX, ΔY）=（−1, −1）">
            <a:extLst xmlns:a="http://schemas.openxmlformats.org/drawingml/2006/main">
              <a:ext uri="{FF2B5EF4-FFF2-40B4-BE49-F238E27FC236}">
                <a16:creationId xmlns:a16="http://schemas.microsoft.com/office/drawing/2014/main" id="{E051DE43-FD37-4A7C-B876-2155FF6E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909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B：南西（ΔX, ΔY）=（−1, −1）</a:t>
            </a:r>
          </a:p>
        </p:txBody>
      </p:sp>
      <p:sp>
        <p:nvSpPr>
          <p:cNvPr id="11" name="ΔY / ΔX = (−1) / (−1) = 1">
            <a:extLst xmlns:a="http://schemas.openxmlformats.org/drawingml/2006/main">
              <a:ext uri="{FF2B5EF4-FFF2-40B4-BE49-F238E27FC236}">
                <a16:creationId xmlns:a16="http://schemas.microsoft.com/office/drawing/2014/main" id="{D5298CEE-03B7-4844-8CBD-736220B6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ΔY / ΔX = (−1) / (−1) = 1</a:t>
            </a:r>
          </a:p>
        </p:txBody>
      </p:sp>
      <p:sp>
        <p:nvSpPr>
          <p:cNvPr id="12" name="同じ比でも、方向角は 45° と 225°。向きが180°違う。">
            <a:extLst xmlns:a="http://schemas.openxmlformats.org/drawingml/2006/main">
              <a:ext uri="{FF2B5EF4-FFF2-40B4-BE49-F238E27FC236}">
                <a16:creationId xmlns:a16="http://schemas.microsoft.com/office/drawing/2014/main" id="{733619DB-8C86-4181-9595-462D2069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同じ比でも、方向角は 45° と 225°。向きが180°違う。</a:t>
            </a:r>
          </a:p>
        </p:txBody>
      </p:sp>
    </p:spTree>
    <p:extLst>
      <p:ext uri="{BB962C8B-B14F-4D97-AF65-F5344CB8AC3E}">
        <p14:creationId xmlns:p14="http://schemas.microsoft.com/office/powerpoint/2010/main" val="572518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BBEA526A-CE8F-446C-97BA-8CE5EBA4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逆正接が返す角度の範囲">
            <a:extLst xmlns:a="http://schemas.openxmlformats.org/drawingml/2006/main">
              <a:ext uri="{FF2B5EF4-FFF2-40B4-BE49-F238E27FC236}">
                <a16:creationId xmlns:a16="http://schemas.microsoft.com/office/drawing/2014/main" id="{1C94232E-087C-436C-B1E2-74B9B245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逆正接が返す角度の範囲</a:t>
            </a:r>
          </a:p>
        </p:txBody>
      </p:sp>
      <p:sp>
        <p:nvSpPr>
          <p:cNvPr id="3" name="arctan は、tan が同じ値になる角度のうち、決められた範囲の角を返す。">
            <a:extLst xmlns:a="http://schemas.openxmlformats.org/drawingml/2006/main">
              <a:ext uri="{FF2B5EF4-FFF2-40B4-BE49-F238E27FC236}">
                <a16:creationId xmlns:a16="http://schemas.microsoft.com/office/drawing/2014/main" id="{6E2756B0-EB47-4460-9DD3-DC9A078C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arctan は、tan が同じ値になる角度のうち、決められた範囲の角を返す。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8B2494AA-024B-40D4-A2F0-0A6B4D0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5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69BBB89A-C11B-4FEC-840E-79904F8D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6" name="−90° &lt; α &lt; 90°">
            <a:extLst xmlns:a="http://schemas.openxmlformats.org/drawingml/2006/main">
              <a:ext uri="{FF2B5EF4-FFF2-40B4-BE49-F238E27FC236}">
                <a16:creationId xmlns:a16="http://schemas.microsoft.com/office/drawing/2014/main" id="{0C878E67-B558-400E-BB7D-66B3D241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−90° &lt; α &lt; 90°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DB885-45AE-4ABD-899E-8E99BC88A463}"/>
              </a:ext>
            </a:extLst>
          </p:cNvPr>
          <p:cNvGraphicFramePr/>
          <p:nvPr/>
        </p:nvGraphicFramePr>
        <p:xfrm>
          <a:off xmlns:a="http://schemas.openxmlformats.org/drawingml/2006/main" x="619125" y="3638550"/>
          <a:ext xmlns:a="http://schemas.openxmlformats.org/drawingml/2006/main" cx="10906125" cy="1685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095500"/>
                <a:gridCol w="3571875"/>
              </a:tblGrid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同じ tan の値になる方向角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比の値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arctan の答え 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 と 225°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 と 315°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8" name="α を求めたあと、元の座標差の符号で向きを確定する。">
            <a:extLst xmlns:a="http://schemas.openxmlformats.org/drawingml/2006/main">
              <a:ext uri="{FF2B5EF4-FFF2-40B4-BE49-F238E27FC236}">
                <a16:creationId xmlns:a16="http://schemas.microsoft.com/office/drawing/2014/main" id="{099D1AF0-BA1A-4ABB-AA9D-6C45E1CE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α を求めたあと、元の座標差の符号で向きを確定する。</a:t>
            </a:r>
          </a:p>
        </p:txBody>
      </p:sp>
    </p:spTree>
    <p:extLst>
      <p:ext uri="{BB962C8B-B14F-4D97-AF65-F5344CB8AC3E}">
        <p14:creationId xmlns:p14="http://schemas.microsoft.com/office/powerpoint/2010/main" val="1062541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C07EC300-235E-455B-8692-C093553F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象限の表は、向きを確定する手順">
            <a:extLst xmlns:a="http://schemas.openxmlformats.org/drawingml/2006/main">
              <a:ext uri="{FF2B5EF4-FFF2-40B4-BE49-F238E27FC236}">
                <a16:creationId xmlns:a16="http://schemas.microsoft.com/office/drawing/2014/main" id="{1A210143-A1EE-4AFB-91BD-62FD0E43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象限の表は、向きを確定する手順</a:t>
            </a:r>
          </a:p>
        </p:txBody>
      </p:sp>
      <p:sp>
        <p:nvSpPr>
          <p:cNvPr id="3" name="α = arctan(ΔY / ΔX) を求め、方向角 θ を 0°以上360°未満にそろえる。">
            <a:extLst xmlns:a="http://schemas.openxmlformats.org/drawingml/2006/main">
              <a:ext uri="{FF2B5EF4-FFF2-40B4-BE49-F238E27FC236}">
                <a16:creationId xmlns:a16="http://schemas.microsoft.com/office/drawing/2014/main" id="{EF7C8D89-D488-464E-89CE-4DB29634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α = arctan(ΔY / ΔX) を求め、方向角 θ を 0°以上360°未満にそろえる。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A2719717-3A0C-4557-8BF0-F2928959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DB9F5-F6A0-410F-B247-ADB0A7F02BEE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06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143000"/>
                <a:gridCol w="1143000"/>
                <a:gridCol w="2000250"/>
                <a:gridCol w="2095500"/>
                <a:gridCol w="2047875"/>
              </a:tblGrid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象限・向き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加える角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第1・北東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第2・南東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第3・南西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225°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第4・北西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360°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315°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6" name="180°：正反対の方向へ直す">
            <a:extLst xmlns:a="http://schemas.openxmlformats.org/drawingml/2006/main">
              <a:ext uri="{FF2B5EF4-FFF2-40B4-BE49-F238E27FC236}">
                <a16:creationId xmlns:a16="http://schemas.microsoft.com/office/drawing/2014/main" id="{4EA82F43-C75F-413C-A661-0763194A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180°：正反対の方向へ直す</a:t>
            </a:r>
          </a:p>
        </p:txBody>
      </p:sp>
      <p:sp>
        <p:nvSpPr>
          <p:cNvPr id="7" name="360°：同じ向きを正の角度で表す">
            <a:extLst xmlns:a="http://schemas.openxmlformats.org/drawingml/2006/main">
              <a:ext uri="{FF2B5EF4-FFF2-40B4-BE49-F238E27FC236}">
                <a16:creationId xmlns:a16="http://schemas.microsoft.com/office/drawing/2014/main" id="{C417FEAF-9B34-4095-9379-DBA17A47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0542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360°：同じ向きを正の角度で表す</a:t>
            </a:r>
          </a:p>
        </p:txBody>
      </p:sp>
      <p:sp>
        <p:nvSpPr>
          <p:cNvPr id="8" name="南向き（ΔX &lt; 0）なら180°。北西なら負の角に360°。">
            <a:extLst xmlns:a="http://schemas.openxmlformats.org/drawingml/2006/main">
              <a:ext uri="{FF2B5EF4-FFF2-40B4-BE49-F238E27FC236}">
                <a16:creationId xmlns:a16="http://schemas.microsoft.com/office/drawing/2014/main" id="{0DA76385-1427-4BA9-9C10-6BC9E768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南向き（ΔX &lt; 0）なら180°。北西なら負の角に360°。</a:t>
            </a:r>
          </a:p>
        </p:txBody>
      </p:sp>
    </p:spTree>
    <p:extLst>
      <p:ext uri="{BB962C8B-B14F-4D97-AF65-F5344CB8AC3E}">
        <p14:creationId xmlns:p14="http://schemas.microsoft.com/office/powerpoint/2010/main" val="1900460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57C0BB25-63CE-403A-968D-5F7B005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計算例：同じ比でも、補正は異なる">
            <a:extLst xmlns:a="http://schemas.openxmlformats.org/drawingml/2006/main">
              <a:ext uri="{FF2B5EF4-FFF2-40B4-BE49-F238E27FC236}">
                <a16:creationId xmlns:a16="http://schemas.microsoft.com/office/drawing/2014/main" id="{3D8D69C7-1FF8-4623-8BF2-93CBC7E9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計算例：同じ比でも、補正は異なる</a:t>
            </a:r>
          </a:p>
        </p:txBody>
      </p:sp>
      <p:sp>
        <p:nvSpPr>
          <p:cNvPr id="3" name="南東と北西はいずれも ΔY / ΔX = −4 / 3。まず向きの見当をつける。">
            <a:extLst xmlns:a="http://schemas.openxmlformats.org/drawingml/2006/main">
              <a:ext uri="{FF2B5EF4-FFF2-40B4-BE49-F238E27FC236}">
                <a16:creationId xmlns:a16="http://schemas.microsoft.com/office/drawing/2014/main" id="{BF60B2B3-4080-45A9-BB7B-694DC371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南東と北西はいずれも ΔY / ΔX = −4 / 3。まず向きの見当をつける。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E1604E0F-6E89-47CF-B4CE-5BE28D09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5" name="A：ΔX = −30 m、ΔY = ＋40 m">
            <a:extLst xmlns:a="http://schemas.openxmlformats.org/drawingml/2006/main">
              <a:ext uri="{FF2B5EF4-FFF2-40B4-BE49-F238E27FC236}">
                <a16:creationId xmlns:a16="http://schemas.microsoft.com/office/drawing/2014/main" id="{FEE1CD52-DA21-4590-B17A-E8509CAD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A：ΔX = −30 m、ΔY = ＋40 m</a:t>
            </a:r>
          </a:p>
        </p:txBody>
      </p:sp>
      <p:sp>
        <p:nvSpPr>
          <p:cNvPr id="6" name="α = arctan(−4/3) ≈ −53.13°">
            <a:extLst xmlns:a="http://schemas.openxmlformats.org/drawingml/2006/main">
              <a:ext uri="{FF2B5EF4-FFF2-40B4-BE49-F238E27FC236}">
                <a16:creationId xmlns:a16="http://schemas.microsoft.com/office/drawing/2014/main" id="{83FEBF61-9B53-438C-B773-4C6D96AE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arctan(−4/3) ≈ −53.13°</a:t>
            </a:r>
          </a:p>
        </p:txBody>
      </p:sp>
      <p:sp>
        <p:nvSpPr>
          <p:cNvPr id="7" name="θ ≈ −53.13° + 180° = 126.87°">
            <a:extLst xmlns:a="http://schemas.openxmlformats.org/drawingml/2006/main">
              <a:ext uri="{FF2B5EF4-FFF2-40B4-BE49-F238E27FC236}">
                <a16:creationId xmlns:a16="http://schemas.microsoft.com/office/drawing/2014/main" id="{C8DEB1F6-10A3-4E47-9705-C8EF804A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θ ≈ −53.13° + 180° = 126.87°</a:t>
            </a:r>
          </a:p>
        </p:txBody>
      </p:sp>
      <p:sp>
        <p:nvSpPr>
          <p:cNvPr id="8" name="B：ΔX = ＋30 m、ΔY = −40 m">
            <a:extLst xmlns:a="http://schemas.openxmlformats.org/drawingml/2006/main">
              <a:ext uri="{FF2B5EF4-FFF2-40B4-BE49-F238E27FC236}">
                <a16:creationId xmlns:a16="http://schemas.microsoft.com/office/drawing/2014/main" id="{6CA82173-5522-4278-8925-935DF961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B：ΔX = ＋30 m、ΔY = −40 m</a:t>
            </a:r>
          </a:p>
        </p:txBody>
      </p:sp>
      <p:sp>
        <p:nvSpPr>
          <p:cNvPr id="9" name="θ ≈ −53.13° + 360° = 306.87°">
            <a:extLst xmlns:a="http://schemas.openxmlformats.org/drawingml/2006/main">
              <a:ext uri="{FF2B5EF4-FFF2-40B4-BE49-F238E27FC236}">
                <a16:creationId xmlns:a16="http://schemas.microsoft.com/office/drawing/2014/main" id="{82D41A0E-8350-4968-9718-B5F3B766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θ ≈ −53.13° + 360° = 306.87°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215085CC-FE8A-4E74-9018-8E20F6A34C59}"/>
              </a:ext>
            </a:extLst>
          </p:cNvPr>
          <p:cNvGraphicFramePr/>
          <p:nvPr/>
        </p:nvGraphicFramePr>
        <p:xfrm>
          <a:off xmlns:a="http://schemas.openxmlformats.org/drawingml/2006/main" x="7548563" y="2000250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4776cd6ab64837"/>
          </a:graphicData>
        </a:graphic>
      </p:graphicFrame>
      <p:sp>
        <p:nvSpPr>
          <p:cNvPr id="11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A86060FE-ADA0-4A2C-9214-79329103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18288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12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3E1FE0F5-2B67-49BA-831D-C943A14D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38" y="4038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13" name="答えの角度が、座標差から予想した向きに入るか確かめる。">
            <a:extLst xmlns:a="http://schemas.openxmlformats.org/drawingml/2006/main">
              <a:ext uri="{FF2B5EF4-FFF2-40B4-BE49-F238E27FC236}">
                <a16:creationId xmlns:a16="http://schemas.microsoft.com/office/drawing/2014/main" id="{BD0AB9B8-EA8B-49DE-A8F0-04DE8864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答えの角度が、座標差から予想した向きに入るか確かめる。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700014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014EE56D-FD74-4BC1-AC07-23A6772E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トラバースでは、計算の向きで扱いが変わる">
            <a:extLst xmlns:a="http://schemas.openxmlformats.org/drawingml/2006/main">
              <a:ext uri="{FF2B5EF4-FFF2-40B4-BE49-F238E27FC236}">
                <a16:creationId xmlns:a16="http://schemas.microsoft.com/office/drawing/2014/main" id="{2E1DFD11-BFE2-4E56-9801-5F067B6D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トラバースでは、計算の向きで扱いが変わる</a:t>
            </a:r>
          </a:p>
        </p:txBody>
      </p:sp>
      <p:sp>
        <p:nvSpPr>
          <p:cNvPr id="3" name="距離・方向角から座標差を求める場合と、その逆を区別する。">
            <a:extLst xmlns:a="http://schemas.openxmlformats.org/drawingml/2006/main">
              <a:ext uri="{FF2B5EF4-FFF2-40B4-BE49-F238E27FC236}">
                <a16:creationId xmlns:a16="http://schemas.microsoft.com/office/drawing/2014/main" id="{E2EA3938-68F0-40DE-A05C-D04E44EC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距離・方向角から座標差を求める場合と、その逆を区別する。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3507E5D6-9167-4E5D-A93C-70F68098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5" name="距離・方向角から座標差">
            <a:extLst xmlns:a="http://schemas.openxmlformats.org/drawingml/2006/main">
              <a:ext uri="{FF2B5EF4-FFF2-40B4-BE49-F238E27FC236}">
                <a16:creationId xmlns:a16="http://schemas.microsoft.com/office/drawing/2014/main" id="{020DEC72-BD04-49E4-BB5A-D88CB4DB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距離・方向角から座標差</a:t>
            </a:r>
          </a:p>
        </p:txBody>
      </p:sp>
      <p:sp>
        <p:nvSpPr>
          <p:cNvPr id="6" name="ΔX = L cos θ">
            <a:extLst xmlns:a="http://schemas.openxmlformats.org/drawingml/2006/main">
              <a:ext uri="{FF2B5EF4-FFF2-40B4-BE49-F238E27FC236}">
                <a16:creationId xmlns:a16="http://schemas.microsoft.com/office/drawing/2014/main" id="{1BEDB122-8223-4D3A-8457-58AF3AFB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L cos θ</a:t>
            </a:r>
          </a:p>
        </p:txBody>
      </p:sp>
      <p:sp>
        <p:nvSpPr>
          <p:cNvPr id="7" name="ΔY = L sin θ">
            <a:extLst xmlns:a="http://schemas.openxmlformats.org/drawingml/2006/main">
              <a:ext uri="{FF2B5EF4-FFF2-40B4-BE49-F238E27FC236}">
                <a16:creationId xmlns:a16="http://schemas.microsoft.com/office/drawing/2014/main" id="{E392EB5D-2EFD-4840-A6B8-39131216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75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L sin θ</a:t>
            </a:r>
          </a:p>
        </p:txBody>
      </p:sp>
      <p:sp>
        <p:nvSpPr>
          <p:cNvPr id="8" name="cos・sin が正負も返す。">
            <a:extLst xmlns:a="http://schemas.openxmlformats.org/drawingml/2006/main">
              <a:ext uri="{FF2B5EF4-FFF2-40B4-BE49-F238E27FC236}">
                <a16:creationId xmlns:a16="http://schemas.microsoft.com/office/drawing/2014/main" id="{344AB54A-AE7F-4F78-9A7A-30AD6C40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cos・sin が正負も返す。</a:t>
            </a:r>
          </a:p>
        </p:txBody>
      </p:sp>
      <p:sp>
        <p:nvSpPr>
          <p:cNvPr id="9" name="L = 100 m、θ = 120° の例">
            <a:extLst xmlns:a="http://schemas.openxmlformats.org/drawingml/2006/main">
              <a:ext uri="{FF2B5EF4-FFF2-40B4-BE49-F238E27FC236}">
                <a16:creationId xmlns:a16="http://schemas.microsoft.com/office/drawing/2014/main" id="{6F4580AB-21FC-42BB-AEFB-01FEE390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L = 100 m、θ = 120° の例</a:t>
            </a:r>
          </a:p>
        </p:txBody>
      </p:sp>
      <p:sp>
        <p:nvSpPr>
          <p:cNvPr id="10" name="ΔX = −50 m,   ΔY ≈ 86.60 m">
            <a:extLst xmlns:a="http://schemas.openxmlformats.org/drawingml/2006/main">
              <a:ext uri="{FF2B5EF4-FFF2-40B4-BE49-F238E27FC236}">
                <a16:creationId xmlns:a16="http://schemas.microsoft.com/office/drawing/2014/main" id="{BF5BD7BA-443A-44B9-883E-A608D6ED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−50 m,   ΔY ≈ 86.60 m</a:t>
            </a:r>
          </a:p>
        </p:txBody>
      </p:sp>
      <p:sp>
        <p:nvSpPr>
          <p:cNvPr id="11" name="座標差から方向角">
            <a:extLst xmlns:a="http://schemas.openxmlformats.org/drawingml/2006/main">
              <a:ext uri="{FF2B5EF4-FFF2-40B4-BE49-F238E27FC236}">
                <a16:creationId xmlns:a16="http://schemas.microsoft.com/office/drawing/2014/main" id="{DA96A19E-CA24-4290-8088-2A79CB6A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座標差から方向角</a:t>
            </a:r>
          </a:p>
        </p:txBody>
      </p:sp>
      <p:sp>
        <p:nvSpPr>
          <p:cNvPr id="12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2F987CAE-3CB6-439C-98BE-B7EF0675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13" name="元の符号を確認し、">
            <a:extLst xmlns:a="http://schemas.openxmlformats.org/drawingml/2006/main">
              <a:ext uri="{FF2B5EF4-FFF2-40B4-BE49-F238E27FC236}">
                <a16:creationId xmlns:a16="http://schemas.microsoft.com/office/drawing/2014/main" id="{06ACD6C2-E5E1-417F-A1D5-3A67BF29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337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元の符号を確認し、</a:t>
            </a:r>
          </a:p>
        </p:txBody>
      </p:sp>
      <p:sp>
        <p:nvSpPr>
          <p:cNvPr id="14" name="必要なら180°か360°を加える。">
            <a:extLst xmlns:a="http://schemas.openxmlformats.org/drawingml/2006/main">
              <a:ext uri="{FF2B5EF4-FFF2-40B4-BE49-F238E27FC236}">
                <a16:creationId xmlns:a16="http://schemas.microsoft.com/office/drawing/2014/main" id="{F5F7FA1A-8020-40F7-96E2-F7B34FBB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必要なら180°か360°を加える。</a:t>
            </a:r>
          </a:p>
        </p:txBody>
      </p:sp>
      <p:sp>
        <p:nvSpPr>
          <p:cNvPr id="15" name="atan2 なら、この判定も関数が行う。">
            <a:extLst xmlns:a="http://schemas.openxmlformats.org/drawingml/2006/main">
              <a:ext uri="{FF2B5EF4-FFF2-40B4-BE49-F238E27FC236}">
                <a16:creationId xmlns:a16="http://schemas.microsoft.com/office/drawing/2014/main" id="{9232DEE5-84A5-411E-98EA-0EBB4972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なら、この判定も関数が行う。</a:t>
            </a:r>
          </a:p>
        </p:txBody>
      </p:sp>
      <p:sp>
        <p:nvSpPr>
          <p:cNvPr id="16" name="象限分けが必要になるのは、主に「比から向きを戻す」とき。">
            <a:extLst xmlns:a="http://schemas.openxmlformats.org/drawingml/2006/main">
              <a:ext uri="{FF2B5EF4-FFF2-40B4-BE49-F238E27FC236}">
                <a16:creationId xmlns:a16="http://schemas.microsoft.com/office/drawing/2014/main" id="{43E521E7-8EA4-44E4-9A20-DCD04363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象限分けが必要になるのは、主に「比から向きを戻す」とき。</a:t>
            </a:r>
          </a:p>
        </p:txBody>
      </p:sp>
    </p:spTree>
    <p:extLst>
      <p:ext uri="{BB962C8B-B14F-4D97-AF65-F5344CB8AC3E}">
        <p14:creationId xmlns:p14="http://schemas.microsoft.com/office/powerpoint/2010/main" val="1324318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070F7AEF-C112-49B7-9E03-C89E550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atan2 は、二つの座標差を別々に受け取る">
            <a:extLst xmlns:a="http://schemas.openxmlformats.org/drawingml/2006/main">
              <a:ext uri="{FF2B5EF4-FFF2-40B4-BE49-F238E27FC236}">
                <a16:creationId xmlns:a16="http://schemas.microsoft.com/office/drawing/2014/main" id="{6A372A62-9282-4AEC-9021-54A14CBE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は、二つの座標差を別々に受け取る</a:t>
            </a:r>
          </a:p>
        </p:txBody>
      </p:sp>
      <p:sp>
        <p:nvSpPr>
          <p:cNvPr id="3" name="比にする前の符号を使うため、全周の向きを求められる。">
            <a:extLst xmlns:a="http://schemas.openxmlformats.org/drawingml/2006/main">
              <a:ext uri="{FF2B5EF4-FFF2-40B4-BE49-F238E27FC236}">
                <a16:creationId xmlns:a16="http://schemas.microsoft.com/office/drawing/2014/main" id="{ADA975AD-149E-42A6-BB02-90AC482D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比にする前の符号を使うため、全周の向きを求められる。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5C49FD20-C0D6-47C0-A8BE-9CF4292C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5" name="Excel の例：B2 に ΔX、C2 に ΔY">
            <a:extLst xmlns:a="http://schemas.openxmlformats.org/drawingml/2006/main">
              <a:ext uri="{FF2B5EF4-FFF2-40B4-BE49-F238E27FC236}">
                <a16:creationId xmlns:a16="http://schemas.microsoft.com/office/drawing/2014/main" id="{D95B0725-6D8B-4291-AD76-75F6A6DC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Excel の例：B2 に ΔX、C2 に ΔY</a:t>
            </a:r>
          </a:p>
        </p:txBody>
      </p:sp>
      <p:sp>
        <p:nvSpPr>
          <p:cNvPr id="6" name="=MOD(DEGREES(ATAN2(B2,C2)),360)">
            <a:extLst xmlns:a="http://schemas.openxmlformats.org/drawingml/2006/main">
              <a:ext uri="{FF2B5EF4-FFF2-40B4-BE49-F238E27FC236}">
                <a16:creationId xmlns:a16="http://schemas.microsoft.com/office/drawing/2014/main" id="{6E6A8913-F948-4679-9E9C-D19CA0BA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=MOD(DEGREES(ATAN2(B2,C2)),360)</a:t>
            </a:r>
          </a:p>
        </p:txBody>
      </p:sp>
      <p:sp>
        <p:nvSpPr>
          <p:cNvPr id="7" name="引数の順序はソフトによって異なる。返り値を度に直し、0〜360°にそろえる。">
            <a:extLst xmlns:a="http://schemas.openxmlformats.org/drawingml/2006/main">
              <a:ext uri="{FF2B5EF4-FFF2-40B4-BE49-F238E27FC236}">
                <a16:creationId xmlns:a16="http://schemas.microsoft.com/office/drawing/2014/main" id="{FDD0C355-2EB3-4CE4-9E38-0CDB9D6D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引数の順序はソフトによって異なる。返り値を度に直し、0〜360°にそろえる。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03645-C335-4BB7-9694-31EFA8226C99}"/>
              </a:ext>
            </a:extLst>
          </p:cNvPr>
          <p:cNvGraphicFramePr/>
          <p:nvPr/>
        </p:nvGraphicFramePr>
        <p:xfrm>
          <a:off xmlns:a="http://schemas.openxmlformats.org/drawingml/2006/main" x="619125" y="3914775"/>
          <a:ext xmlns:a="http://schemas.openxmlformats.org/drawingml/2006/main" cx="10906125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47875"/>
                <a:gridCol w="2047875"/>
                <a:gridCol w="2047875"/>
                <a:gridCol w="2095500"/>
              </a:tblGrid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軸上の向き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90°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270°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ΔX = 0、ΔY = 0 のときは、方向角が定まらない。">
            <a:extLst xmlns:a="http://schemas.openxmlformats.org/drawingml/2006/main">
              <a:ext uri="{FF2B5EF4-FFF2-40B4-BE49-F238E27FC236}">
                <a16:creationId xmlns:a16="http://schemas.microsoft.com/office/drawing/2014/main" id="{45EB4722-2A09-4320-B1D4-3F9D50CC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ΔX = 0、ΔY = 0 のときは、方向角が定まらない。</a:t>
            </a:r>
          </a:p>
        </p:txBody>
      </p:sp>
    </p:spTree>
    <p:extLst>
      <p:ext uri="{BB962C8B-B14F-4D97-AF65-F5344CB8AC3E}">
        <p14:creationId xmlns:p14="http://schemas.microsoft.com/office/powerpoint/2010/main" val="1995392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EE4A5D8F-5F9D-49E6-8D06-FA49C974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確認問題：比の計算前に、向きを予想する">
            <a:extLst xmlns:a="http://schemas.openxmlformats.org/drawingml/2006/main">
              <a:ext uri="{FF2B5EF4-FFF2-40B4-BE49-F238E27FC236}">
                <a16:creationId xmlns:a16="http://schemas.microsoft.com/office/drawing/2014/main" id="{4A776E25-F696-491D-B9B3-0CF66EF5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確認問題：比の計算前に、向きを予想する</a:t>
            </a:r>
          </a:p>
        </p:txBody>
      </p:sp>
      <p:sp>
        <p:nvSpPr>
          <p:cNvPr id="3" name="各行について、向き・arctan の答え α・補正後の方向角 θ を求める。">
            <a:extLst xmlns:a="http://schemas.openxmlformats.org/drawingml/2006/main">
              <a:ext uri="{FF2B5EF4-FFF2-40B4-BE49-F238E27FC236}">
                <a16:creationId xmlns:a16="http://schemas.microsoft.com/office/drawing/2014/main" id="{50983756-A1CB-49D2-99ED-D598C327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各行について、向き・arctan の答え α・補正後の方向角 θ を求める。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D6492D3B-E0C4-418D-AC76-E073FA6E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82866-8480-48BB-B05C-DF17DCD16A9B}"/>
              </a:ext>
            </a:extLst>
          </p:cNvPr>
          <p:cNvGraphicFramePr/>
          <p:nvPr/>
        </p:nvGraphicFramePr>
        <p:xfrm>
          <a:off xmlns:a="http://schemas.openxmlformats.org/drawingml/2006/main" x="619125" y="2162175"/>
          <a:ext xmlns:a="http://schemas.openxmlformats.org/drawingml/2006/main" cx="10906125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1714500"/>
                <a:gridCol w="2047875"/>
                <a:gridCol w="2047875"/>
                <a:gridCol w="2047875"/>
              </a:tblGrid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向き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② と ③ は比が同じ。方向角も同じになるだろうか。">
            <a:extLst xmlns:a="http://schemas.openxmlformats.org/drawingml/2006/main">
              <a:ext uri="{FF2B5EF4-FFF2-40B4-BE49-F238E27FC236}">
                <a16:creationId xmlns:a16="http://schemas.microsoft.com/office/drawing/2014/main" id="{626B9D21-F5BC-4B08-A6DE-95AAE911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② と ③ は比が同じ。方向角も同じになるだろうか。</a:t>
            </a:r>
          </a:p>
        </p:txBody>
      </p:sp>
      <p:sp>
        <p:nvSpPr>
          <p:cNvPr id="7" name="「どの象限か」から、「なぜその補正か」まで説明する。">
            <a:extLst xmlns:a="http://schemas.openxmlformats.org/drawingml/2006/main">
              <a:ext uri="{FF2B5EF4-FFF2-40B4-BE49-F238E27FC236}">
                <a16:creationId xmlns:a16="http://schemas.microsoft.com/office/drawing/2014/main" id="{77502A48-BD95-49BF-A360-8647E28F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「どの象限か」から、「なぜその補正か」まで説明する。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119588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2026-10-15T03:01:50.2010000Z</dcterms:created>
  <dcterms:modified xsi:type="dcterms:W3CDTF">2026-10-15T03:01:50.2010000Z</dcterms:modified>
</coreProperties>
</file>