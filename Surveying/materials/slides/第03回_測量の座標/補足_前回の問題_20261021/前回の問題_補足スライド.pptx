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第2回の手計算テスト（25分・10点満点）の問1を、配布用紙と同じ数値で再掲します。解答は次の「前回の解答①」です。残差を mm に直してから二乗すること、1観測の標準偏差の分母が n−1 の 5 になること、最確値の標準偏差は √6 で割って小さくなることを、答えを見せる前に思い出させます。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問2の再掲です。解答は次の「前回の解答②」です。重みは観測回数に比例（群平均の分散に反比例）することが根拠で、w1:w2=1:4 になります。通常の残差和は −9 mm で 0 になりませんが、重み付き残差和は 0 になります。σ0 の式の n は群数の 2 で、元の総観測回数 5 ではないことを再確認します。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Yu Gothic"/>
              </a:rPr>
              <a:t>3-0 前回の問題①：反復観測（第2回 問1・4点）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1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308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Yu Gothic"/>
              </a:rPr>
              <a:t>同一距離を</a:t>
            </a:r>
            <a:r>
              <a:rPr sz="2000" b="1">
                <a:latin typeface="Yu Gothic"/>
              </a:rPr>
              <a:t>独立・同精度</a:t>
            </a:r>
            <a:r>
              <a:rPr sz="2000" b="0">
                <a:latin typeface="Yu Gothic"/>
              </a:rPr>
              <a:t>で6回観測した。過失と定誤差は処理済みとする。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02460"/>
          <a:ext cx="11094415" cy="8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回 </a:t>
                      </a:r>
                      <a:r>
                        <a:rPr sz="1600" b="1">
                          <a:solidFill>
                            <a:srgbClr val="1F1F1F"/>
                          </a:solidFill>
                          <a:latin typeface="Cambria Math"/>
                        </a:rPr>
                        <a:t>i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1F1F"/>
                          </a:solidFill>
                          <a:latin typeface="Yu Gothic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観測値 </a:t>
                      </a:r>
                      <a:r>
                        <a:rPr sz="1600" b="0">
                          <a:latin typeface="Cambria Math"/>
                        </a:rPr>
                        <a:t>x</a:t>
                      </a:r>
                      <a:r>
                        <a:rPr sz="1600" b="0" baseline="-25000">
                          <a:latin typeface="Cambria Math"/>
                        </a:rPr>
                        <a:t>i</a:t>
                      </a:r>
                      <a:r>
                        <a:rPr sz="1600" b="0">
                          <a:latin typeface="Yu Gothic"/>
                        </a:rPr>
                        <a:t>（m）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30.003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30.004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30.005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30.007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30.008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latin typeface="Yu Gothic"/>
                        </a:rPr>
                        <a:t>30.009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52420"/>
            <a:ext cx="11094415" cy="1711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Yu Gothic"/>
              </a:rPr>
              <a:t>求めるもの：</a:t>
            </a:r>
          </a:p>
          <a:p>
            <a:pPr>
              <a:spcAft>
                <a:spcPts val="400"/>
              </a:spcAft>
            </a:pPr>
            <a:r>
              <a:rPr sz="2000" b="0">
                <a:latin typeface="Yu Gothic"/>
              </a:rPr>
              <a:t>• </a:t>
            </a:r>
            <a:r>
              <a:rPr sz="2000" b="0">
                <a:latin typeface="Yu Gothic"/>
              </a:rPr>
              <a:t>最確値 </a:t>
            </a:r>
            <a:r>
              <a:rPr sz="2000" b="0">
                <a:latin typeface="Cambria Math"/>
              </a:rPr>
              <a:t>x̄</a:t>
            </a:r>
            <a:r>
              <a:rPr sz="2000" b="0">
                <a:latin typeface="Yu Gothic"/>
              </a:rPr>
              <a:t>、各残差 </a:t>
            </a:r>
            <a:r>
              <a:rPr sz="2000" b="0">
                <a:latin typeface="Cambria Math"/>
              </a:rPr>
              <a:t>v</a:t>
            </a:r>
            <a:r>
              <a:rPr sz="2000" b="0" baseline="-25000">
                <a:latin typeface="Cambria Math"/>
              </a:rPr>
              <a:t>i</a:t>
            </a:r>
            <a:r>
              <a:rPr sz="2000" b="0">
                <a:latin typeface="Yu Gothic"/>
              </a:rPr>
              <a:t>、</a:t>
            </a:r>
            <a:r>
              <a:rPr sz="2000" b="0">
                <a:latin typeface="Cambria Math"/>
              </a:rPr>
              <a:t>Σ v</a:t>
            </a:r>
            <a:r>
              <a:rPr sz="2000" b="0" baseline="-25000">
                <a:latin typeface="Cambria Math"/>
              </a:rPr>
              <a:t>i</a:t>
            </a:r>
            <a:r>
              <a:rPr sz="2000" b="0">
                <a:latin typeface="Yu Gothic"/>
              </a:rPr>
              <a:t>、</a:t>
            </a:r>
            <a:r>
              <a:rPr sz="2000" b="0">
                <a:latin typeface="Cambria Math"/>
              </a:rPr>
              <a:t>Σ v</a:t>
            </a:r>
            <a:r>
              <a:rPr sz="2000" b="0" baseline="-25000">
                <a:latin typeface="Cambria Math"/>
              </a:rPr>
              <a:t>i</a:t>
            </a:r>
            <a:r>
              <a:rPr sz="2000" b="0" baseline="30000">
                <a:latin typeface="Cambria Math"/>
              </a:rPr>
              <a:t>2</a:t>
            </a:r>
          </a:p>
          <a:p>
            <a:pPr>
              <a:spcAft>
                <a:spcPts val="400"/>
              </a:spcAft>
            </a:pPr>
            <a:r>
              <a:rPr sz="2000" b="0">
                <a:latin typeface="Yu Gothic"/>
              </a:rPr>
              <a:t>• </a:t>
            </a:r>
            <a:r>
              <a:rPr sz="2000" b="0">
                <a:latin typeface="Yu Gothic"/>
              </a:rPr>
              <a:t>1観測の標準偏差 </a:t>
            </a:r>
            <a:r>
              <a:rPr sz="2000" b="0">
                <a:latin typeface="Cambria Math"/>
              </a:rPr>
              <a:t>σ</a:t>
            </a:r>
            <a:r>
              <a:rPr sz="2000" b="0">
                <a:latin typeface="Yu Gothic"/>
              </a:rPr>
              <a:t>、最確値の標準偏差 </a:t>
            </a:r>
            <a:r>
              <a:rPr sz="2000" b="0">
                <a:latin typeface="Cambria Math"/>
              </a:rPr>
              <a:t>σ</a:t>
            </a:r>
            <a:r>
              <a:rPr sz="2000" b="0" baseline="-25000">
                <a:latin typeface="Cambria Math"/>
              </a:rPr>
              <a:t>x̄</a:t>
            </a:r>
          </a:p>
          <a:p>
            <a:r>
              <a:rPr sz="2000" b="0">
                <a:solidFill>
                  <a:srgbClr val="555555"/>
                </a:solidFill>
                <a:latin typeface="Yu Gothic"/>
              </a:rPr>
              <a:t>検算：残差の和 </a:t>
            </a:r>
            <a:r>
              <a:rPr sz="2000" b="0">
                <a:solidFill>
                  <a:srgbClr val="555555"/>
                </a:solidFill>
                <a:latin typeface="Cambria Math"/>
              </a:rPr>
              <a:t>Σ v</a:t>
            </a:r>
            <a:r>
              <a:rPr sz="2000" b="0" baseline="-25000">
                <a:solidFill>
                  <a:srgbClr val="555555"/>
                </a:solidFill>
                <a:latin typeface="Cambria Math"/>
              </a:rPr>
              <a:t>i</a:t>
            </a:r>
            <a:r>
              <a:rPr sz="2000" b="0">
                <a:solidFill>
                  <a:srgbClr val="555555"/>
                </a:solidFill>
                <a:latin typeface="Yu Gothic"/>
              </a:rPr>
              <a:t> が 0 になるか。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Yu Gothic"/>
              </a:rPr>
              <a:t>測量学 第3回 前回の問題（第2回 手計算テスト 問1・問2）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Yu Gothic"/>
              </a:rPr>
              <a:t>3-0 前回の問題②：精度の異なる2組（第2回 問2・4点）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1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14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Yu Gothic"/>
              </a:rPr>
              <a:t>圃場の同一辺を測った2組の</a:t>
            </a:r>
            <a:r>
              <a:rPr sz="1800" b="1">
                <a:latin typeface="Yu Gothic"/>
              </a:rPr>
              <a:t>群平均</a:t>
            </a:r>
            <a:r>
              <a:rPr sz="1800" b="0">
                <a:latin typeface="Yu Gothic"/>
              </a:rPr>
              <a:t>を統合する。各観測は同精度・独立、過失と定誤差は処理済み。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63090"/>
          <a:ext cx="11094415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Yu Gothic"/>
                        </a:rPr>
                        <a:t>組 </a:t>
                      </a:r>
                      <a:r>
                        <a:rPr sz="1400" b="1">
                          <a:solidFill>
                            <a:srgbClr val="1F1F1F"/>
                          </a:solidFill>
                          <a:latin typeface="Cambria Math"/>
                        </a:rPr>
                        <a:t>i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Yu Gothic"/>
                        </a:rPr>
                        <a:t>観測回数 </a:t>
                      </a:r>
                      <a:r>
                        <a:rPr sz="1400" b="1">
                          <a:solidFill>
                            <a:srgbClr val="1F1F1F"/>
                          </a:solidFill>
                          <a:latin typeface="Cambria Math"/>
                        </a:rPr>
                        <a:t>n</a:t>
                      </a:r>
                      <a:r>
                        <a:rPr sz="1400" b="1" baseline="-25000">
                          <a:solidFill>
                            <a:srgbClr val="1F1F1F"/>
                          </a:solidFill>
                          <a:latin typeface="Cambria Math"/>
                        </a:rPr>
                        <a:t>i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Yu Gothic"/>
                        </a:rPr>
                        <a:t>群平均 </a:t>
                      </a:r>
                      <a:r>
                        <a:rPr sz="1400" b="1">
                          <a:solidFill>
                            <a:srgbClr val="1F1F1F"/>
                          </a:solidFill>
                          <a:latin typeface="Cambria Math"/>
                        </a:rPr>
                        <a:t>x</a:t>
                      </a:r>
                      <a:r>
                        <a:rPr sz="1400" b="1" baseline="-25000">
                          <a:solidFill>
                            <a:srgbClr val="1F1F1F"/>
                          </a:solidFill>
                          <a:latin typeface="Cambria Math"/>
                        </a:rPr>
                        <a:t>i</a:t>
                      </a:r>
                      <a:r>
                        <a:rPr sz="1400" b="1">
                          <a:solidFill>
                            <a:srgbClr val="1F1F1F"/>
                          </a:solidFill>
                          <a:latin typeface="Yu Gothic"/>
                        </a:rPr>
                        <a:t>（m）</a:t>
                      </a:r>
                    </a:p>
                  </a:txBody>
                  <a:tcPr marL="54864" marR="54864" marT="27432" marB="27432">
                    <a:solidFill>
                      <a:srgbClr val="DCE6F1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400" b="0">
                          <a:latin typeface="Yu Gothic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latin typeface="Yu Gothic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latin typeface="Yu Gothic"/>
                        </a:rPr>
                        <a:t>80.000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400" b="0">
                          <a:latin typeface="Yu Gothic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latin typeface="Yu Gothic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latin typeface="Yu Gothic"/>
                        </a:rPr>
                        <a:t>80.015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67050"/>
            <a:ext cx="11094415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Yu Gothic"/>
              </a:rPr>
              <a:t>求めるもの：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Yu Gothic"/>
              </a:rPr>
              <a:t>• </a:t>
            </a:r>
            <a:r>
              <a:rPr sz="1800" b="0">
                <a:latin typeface="Cambria Math"/>
              </a:rPr>
              <a:t>w</a:t>
            </a:r>
            <a:r>
              <a:rPr sz="1800" b="0" baseline="-25000">
                <a:latin typeface="Cambria Math"/>
              </a:rPr>
              <a:t>1</a:t>
            </a:r>
            <a:r>
              <a:rPr sz="1800" b="0">
                <a:latin typeface="Cambria Math"/>
              </a:rPr>
              <a:t>=1</a:t>
            </a:r>
            <a:r>
              <a:rPr sz="1800" b="0">
                <a:latin typeface="Yu Gothic"/>
              </a:rPr>
              <a:t> としたときの </a:t>
            </a:r>
            <a:r>
              <a:rPr sz="1800" b="0">
                <a:latin typeface="Cambria Math"/>
              </a:rPr>
              <a:t>w</a:t>
            </a:r>
            <a:r>
              <a:rPr sz="1800" b="0" baseline="-25000">
                <a:latin typeface="Cambria Math"/>
              </a:rPr>
              <a:t>2</a:t>
            </a:r>
            <a:r>
              <a:rPr sz="1800" b="0">
                <a:latin typeface="Yu Gothic"/>
              </a:rPr>
              <a:t> と</a:t>
            </a:r>
            <a:r>
              <a:rPr sz="1800" b="1">
                <a:latin typeface="Yu Gothic"/>
              </a:rPr>
              <a:t>その根拠</a:t>
            </a:r>
            <a:r>
              <a:rPr sz="1800" b="0">
                <a:latin typeface="Yu Gothic"/>
              </a:rPr>
              <a:t>、重み付き平均 </a:t>
            </a:r>
            <a:r>
              <a:rPr sz="1800" b="0">
                <a:latin typeface="Cambria Math"/>
              </a:rPr>
              <a:t>x̄</a:t>
            </a:r>
            <a:r>
              <a:rPr sz="1800" b="0" baseline="-25000">
                <a:latin typeface="Cambria Math"/>
              </a:rPr>
              <a:t>w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Yu Gothic"/>
              </a:rPr>
              <a:t>• </a:t>
            </a:r>
            <a:r>
              <a:rPr sz="1800" b="0">
                <a:latin typeface="Yu Gothic"/>
              </a:rPr>
              <a:t>各残差 </a:t>
            </a:r>
            <a:r>
              <a:rPr sz="1800" b="0">
                <a:latin typeface="Cambria Math"/>
              </a:rPr>
              <a:t>v</a:t>
            </a:r>
            <a:r>
              <a:rPr sz="1800" b="0" baseline="-25000">
                <a:latin typeface="Cambria Math"/>
              </a:rPr>
              <a:t>i</a:t>
            </a:r>
            <a:r>
              <a:rPr sz="1800" b="0">
                <a:latin typeface="Yu Gothic"/>
              </a:rPr>
              <a:t>、</a:t>
            </a:r>
            <a:r>
              <a:rPr sz="1800" b="0">
                <a:latin typeface="Cambria Math"/>
              </a:rPr>
              <a:t>Σ w</a:t>
            </a:r>
            <a:r>
              <a:rPr sz="1800" b="0" baseline="-25000">
                <a:latin typeface="Cambria Math"/>
              </a:rPr>
              <a:t>i</a:t>
            </a:r>
            <a:r>
              <a:rPr sz="1800" b="0">
                <a:latin typeface="Cambria Math"/>
              </a:rPr>
              <a:t> v</a:t>
            </a:r>
            <a:r>
              <a:rPr sz="1800" b="0" baseline="-25000">
                <a:latin typeface="Cambria Math"/>
              </a:rPr>
              <a:t>i</a:t>
            </a:r>
            <a:r>
              <a:rPr sz="1800" b="0">
                <a:latin typeface="Yu Gothic"/>
              </a:rPr>
              <a:t>、</a:t>
            </a:r>
            <a:r>
              <a:rPr sz="1800" b="0">
                <a:latin typeface="Cambria Math"/>
              </a:rPr>
              <a:t>Σ w</a:t>
            </a:r>
            <a:r>
              <a:rPr sz="1800" b="0" baseline="-25000">
                <a:latin typeface="Cambria Math"/>
              </a:rPr>
              <a:t>i</a:t>
            </a:r>
            <a:r>
              <a:rPr sz="1800" b="0">
                <a:latin typeface="Cambria Math"/>
              </a:rPr>
              <a:t> v</a:t>
            </a:r>
            <a:r>
              <a:rPr sz="1800" b="0" baseline="-25000">
                <a:latin typeface="Cambria Math"/>
              </a:rPr>
              <a:t>i</a:t>
            </a:r>
            <a:r>
              <a:rPr sz="1800" b="0" baseline="30000">
                <a:latin typeface="Cambria Math"/>
              </a:rPr>
              <a:t>2</a:t>
            </a:r>
            <a:r>
              <a:rPr sz="1800" b="0">
                <a:latin typeface="Yu Gothic"/>
              </a:rPr>
              <a:t>、</a:t>
            </a:r>
            <a:r>
              <a:rPr sz="1800" b="0">
                <a:latin typeface="Cambria Math"/>
              </a:rPr>
              <a:t>σ</a:t>
            </a:r>
            <a:r>
              <a:rPr sz="1800" b="0" baseline="-25000">
                <a:latin typeface="Cambria Math"/>
              </a:rPr>
              <a:t>0</a:t>
            </a:r>
            <a:r>
              <a:rPr sz="1800" b="0">
                <a:latin typeface="Yu Gothic"/>
              </a:rPr>
              <a:t>、</a:t>
            </a:r>
            <a:r>
              <a:rPr sz="1800" b="0">
                <a:latin typeface="Cambria Math"/>
              </a:rPr>
              <a:t>σ</a:t>
            </a:r>
            <a:r>
              <a:rPr sz="1800" b="0" baseline="-25000">
                <a:latin typeface="Cambria Math"/>
              </a:rPr>
              <a:t>x̄</a:t>
            </a:r>
            <a:r>
              <a:rPr sz="1800" b="0" baseline="-25000">
                <a:latin typeface="Cambria Math"/>
              </a:rPr>
              <a:t>w</a:t>
            </a:r>
          </a:p>
          <a:p>
            <a:r>
              <a:rPr sz="1800" b="0">
                <a:solidFill>
                  <a:srgbClr val="555555"/>
                </a:solidFill>
                <a:latin typeface="Yu Gothic"/>
              </a:rPr>
              <a:t>絶対的な標準偏差は未知。2個の群平均の残差から推定し、式の </a:t>
            </a:r>
            <a:r>
              <a:rPr sz="1800" b="0">
                <a:solidFill>
                  <a:srgbClr val="555555"/>
                </a:solidFill>
                <a:latin typeface="Cambria Math"/>
              </a:rPr>
              <a:t>n</a:t>
            </a:r>
            <a:r>
              <a:rPr sz="1800" b="0">
                <a:solidFill>
                  <a:srgbClr val="555555"/>
                </a:solidFill>
                <a:latin typeface="Yu Gothic"/>
              </a:rPr>
              <a:t> は群数の 2。検算は</a:t>
            </a:r>
            <a:r>
              <a:rPr sz="1800" b="1">
                <a:solidFill>
                  <a:srgbClr val="555555"/>
                </a:solidFill>
                <a:latin typeface="Yu Gothic"/>
              </a:rPr>
              <a:t>重み付き</a:t>
            </a:r>
            <a:r>
              <a:rPr sz="1800" b="0">
                <a:solidFill>
                  <a:srgbClr val="555555"/>
                </a:solidFill>
                <a:latin typeface="Yu Gothic"/>
              </a:rPr>
              <a:t>残差の和。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Yu Gothic"/>
              </a:rPr>
              <a:t>測量学 第3回 前回の問題（第2回 手計算テスト 問1・問2）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