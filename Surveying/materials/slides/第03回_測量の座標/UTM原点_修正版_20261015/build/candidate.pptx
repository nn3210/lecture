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3e892372645db" /><Relationship Type="http://schemas.openxmlformats.org/officeDocument/2006/relationships/extended-properties" Target="/docProps/app.xml" Id="Rb729d49cc5894844" /><Relationship Type="http://schemas.openxmlformats.org/officeDocument/2006/relationships/officeDocument" Target="/ppt/presentation.xml" Id="R0e03c89c8a7c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fa87019b346a0"/>
  </p:sldMasterIdLst>
  <p:notesMasterIdLst>
    <p:notesMasterId xmlns:r="http://schemas.openxmlformats.org/officeDocument/2006/relationships" r:id="R34bd3cc2e55046a1"/>
  </p:notesMasterIdLst>
  <p:sldIdLst>
    <p:sldId xmlns:r="http://schemas.openxmlformats.org/officeDocument/2006/relationships" id="256" r:id="R3811825fcbe44c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91d400f1f149c9" /><Relationship Type="http://schemas.openxmlformats.org/officeDocument/2006/relationships/slideMaster" Target="/ppt/slideMasters/slideMaster1.xml" Id="R091fa87019b346a0" /><Relationship Type="http://schemas.openxmlformats.org/officeDocument/2006/relationships/notesMaster" Target="/ppt/notesMasters/notesMaster1.xml" Id="R34bd3cc2e55046a1" /><Relationship Type="http://schemas.openxmlformats.org/officeDocument/2006/relationships/presProps" Target="/ppt/presProps.xml" Id="Rab0c078dbd1443f0" /><Relationship Type="http://schemas.openxmlformats.org/officeDocument/2006/relationships/tableStyles" Target="/ppt/tableStyles.xml" Id="R7fa78a0f484b4da9" /><Relationship Type="http://schemas.openxmlformats.org/officeDocument/2006/relationships/slide" Target="/ppt/slides/slide1.xml" Id="R3811825fcbe4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91b30dfac44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534e0a2944e6e" /><Relationship Type="http://schemas.openxmlformats.org/officeDocument/2006/relationships/notesMaster" Target="/ppt/notesMasters/notesMaster1.xml" Id="R9d9f2f663fa541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UTMの原点と座標の読み方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各帯の原点はどこか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Mは、基本的に経度6°ごとの60帯に分け、各帯の中央子午線と赤道の交点を投影原点とする。日本にかかる第51〜56帯の原点は、すべて緯度0°にあり、経度は順に東経123°、129°、135°、141°、147°、153°となる。第54帯は東経138〜144°で、帯広はこの帯に入る。日本付近だけを描いた元図では、赤道上の原点は図の南側の外に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日本の経緯度原点や、地球中心とは別の、投影計算のために定める原点である。各帯で投影原点が違っても、それだけで測地系まで別になるわけではない。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原点なのにEが500,000 mなのはなぜか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中央子午線からの投影面上の東西座標を、東を正、西を負として計算した後、500,000 mを足して東距Eを表す。通常の帯内でEが負になることを避けるためで、地上の位置や2点間の距離を変える操作ではない。中央子午線上はすべてE=500,000 mであり、北半球の投影原点の表示座標は(E,N)=(500,000 m,0 m)になる。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「投影原点」と「表示座標が(E,N)=(0,0)になる点」を区別する。北半球の表示座標のゼロ点は、投影面上で投影原点から西へ500 kmずらした赤道上の点に対応し、その帯の外側にある。この500 kmは地表上の実距離という意味ではない。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Nは北距で、日本では赤道を基準に北向きに増える投影座標である。中央子午線から離れた地点では、Nを赤道からの地表の実距離と厳密に同一視しない。南半球では負の北距を避けるため10,000,000 mを加え、赤道のNを10,000,000 mとする。本スライドの本体は日本を含む北半球を扱う。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同じ(E,N)の値は別の帯にも現れる。座標を渡すときは帯番号・半球・測地系も明記する。UTMのNは北距の記号であり、半球表示やMGRSの緯度帯文字とは役割が異なる。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右上の枠の意味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「6°幅×60帯」：経度方向の分割。360°を6°ずつに分ける。</a:t>
            </a:r>
          </a:p>
          <a:p xmlns:a="http://schemas.openxmlformats.org/drawingml/2006/main">
            <a:r>
              <a:t>- 「原点の縮尺係数0.9996」：より正確には、中央子午線上全体の縮尺係数が0.9996。楕円体上の微小距離に対する投影面上の微小距離の比であり、紙の地図の縮尺1:25,000とは別の数値である。中央子午線に沿う楕円体上1,000 mは、平面上999.6 mになる。中央付近を少し縮め、東西に離れると大きくなる投影の性質と釣り合わせて、帯全体の距離のひずみを抑える。帯内のすべての点で0.9996という意味ではない。</a:t>
            </a:r>
          </a:p>
          <a:p xmlns:a="http://schemas.openxmlformats.org/drawingml/2006/main">
            <a:r>
              <a:t>- 「Eは500,000 mを足して負を避ける」：東西座標の表示に共通の加算値を設ける。中央子午線の西側でも通常の帯内では正値になる。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右下の枠の意味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日本の平面直角座標系は、国内の測量のために19系を設け、各系に緯度・経度で原点を定める。各原点を(X,Y)=(0,0)とし、中央子午線上の縮尺係数は0.9999である。中央子午線上の楕円体上1,000 mは平面上999.9 mとなる。「東西約130 km」は、投影による距離の相対的なひずみを約1/10,000以内に収めるための適用範囲の目安であり、19系すべてが等幅の帯や四角形になっているという意味ではない。適用区域は別途定めている。UTMと日本の平面直角座標系は、どちらも横メルカトル投影を使うが、原点・縮尺係数・区分・座標表示の約束が違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一次資料（2026-10-15確認）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[国土地理院：令和2年測量士試験、午前No.22（PDFの23ページ）](https://web1.gsi.go.jp/common/000229468.pdf) 原点、帯、加算値、適用緯度。</a:t>
            </a:r>
          </a:p>
          <a:p xmlns:a="http://schemas.openxmlformats.org/drawingml/2006/main">
            <a:r>
              <a:t>- [国土地理院：地理情報標準第2版の解説（PDFの156ページ、本文146ページ）](https://www.gsi.go.jp/GIS/stdind/stdindpdf/jsgi_inst) 中央子午線と赤道の交点、中央子午線上0.9996、EとNの意味。UTMの定義の確認に使用。</a:t>
            </a:r>
          </a:p>
          <a:p xmlns:a="http://schemas.openxmlformats.org/drawingml/2006/main">
            <a:r>
              <a:t>- [国土地理院：日本の測地系](https://www.gsi.go.jp/sokuchikijun/datum-main.html) 平面直角座標系の19系、原点の座標、中央子午線上0.9999、東西約130 km。</a:t>
            </a:r>
          </a:p>
          <a:p xmlns:a="http://schemas.openxmlformats.org/drawingml/2006/main">
            <a:r>
              <a:t>- [国土地理院：わかりやすい平面直角座標系](https://www.gsi.go.jp/sokuchikijun/jpc.html) 各系の原点と適用区域。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88d8b341848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f78dd3a0646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71347960d46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cea91a1f644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f7fab50e449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2e42a9219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9FC4E-F624-4D9B-8A40-B11FB17FB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AF821B-FAE0-40F2-A60D-EFEC11BE72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050D12-6F68-44B3-8D96-DB9AC96656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140F7A-0543-4843-B230-5FCA25C49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FB1D7A-1506-4EE1-8BE3-AD97F3689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9CEA0B-403C-429B-84B1-3E9D92BFD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DAA3EB-FEC4-4AC9-B174-65E514D54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60DE5B-D16D-41B5-A721-20AD0E8DDB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161F5F-2EC3-42E5-B97A-927E5A03E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5EA30D-A33A-4E7F-BA16-B0B9F64FFE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82d343231446d" /><Relationship Type="http://schemas.openxmlformats.org/officeDocument/2006/relationships/slideLayout" Target="/ppt/slideLayouts/slideLayout1.xml" Id="Re9b61b1bad494ee9" /><Relationship Type="http://schemas.openxmlformats.org/officeDocument/2006/relationships/slideLayout" Target="/ppt/slideLayouts/slideLayout2.xml" Id="Re3daf098b4fc4dca" /><Relationship Type="http://schemas.openxmlformats.org/officeDocument/2006/relationships/slideLayout" Target="/ppt/slideLayouts/slideLayout3.xml" Id="Rc0ead85517bf4499" /><Relationship Type="http://schemas.openxmlformats.org/officeDocument/2006/relationships/slideLayout" Target="/ppt/slideLayouts/slideLayout4.xml" Id="R4420dca0a36249eb" /><Relationship Type="http://schemas.openxmlformats.org/officeDocument/2006/relationships/slideLayout" Target="/ppt/slideLayouts/slideLayout5.xml" Id="Rc699f7bb7ea540d2" /><Relationship Type="http://schemas.openxmlformats.org/officeDocument/2006/relationships/slideLayout" Target="/ppt/slideLayouts/slideLayout6.xml" Id="R9a19dc74958f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61b1bad494ee9"/>
    <p:sldLayoutId xmlns:r="http://schemas.openxmlformats.org/officeDocument/2006/relationships" id="2147483650" r:id="Re3daf098b4fc4dca"/>
    <p:sldLayoutId xmlns:r="http://schemas.openxmlformats.org/officeDocument/2006/relationships" id="2147483651" r:id="Rc0ead85517bf4499"/>
    <p:sldLayoutId xmlns:r="http://schemas.openxmlformats.org/officeDocument/2006/relationships" id="2147483652" r:id="R4420dca0a36249eb"/>
    <p:sldLayoutId xmlns:r="http://schemas.openxmlformats.org/officeDocument/2006/relationships" id="2147483653" r:id="Rc699f7bb7ea540d2"/>
    <p:sldLayoutId xmlns:r="http://schemas.openxmlformats.org/officeDocument/2006/relationships" id="2147483654" r:id="R9a19dc74958f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00a1e23e740ea" /><Relationship Type="http://schemas.openxmlformats.org/officeDocument/2006/relationships/notesSlide" Target="/ppt/notesSlides/notesSlide1.xml" Id="R8d33d2c1d419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測量の座標　3-3">
            <a:extLst xmlns:a="http://schemas.openxmlformats.org/drawingml/2006/main">
              <a:ext uri="{FF2B5EF4-FFF2-40B4-BE49-F238E27FC236}">
                <a16:creationId xmlns:a16="http://schemas.microsoft.com/office/drawing/2014/main" id="{73ECF6D4-8A51-4817-BF64-3415CCED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測量の座標　3-3</a:t>
            </a:r>
          </a:p>
        </p:txBody>
      </p:sp>
      <p:sp>
        <p:nvSpPr>
          <p:cNvPr id="2" name="UTMの原点：中央子午線と赤道の交点">
            <a:extLst xmlns:a="http://schemas.openxmlformats.org/drawingml/2006/main">
              <a:ext uri="{FF2B5EF4-FFF2-40B4-BE49-F238E27FC236}">
                <a16:creationId xmlns:a16="http://schemas.microsoft.com/office/drawing/2014/main" id="{32263D78-39D2-422D-B3AE-0CC78D1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UTMの原点：中央子午線と赤道の交点</a:t>
            </a:r>
          </a:p>
        </p:txBody>
      </p:sp>
      <p:sp>
        <p:nvSpPr>
          <p:cNvPr id="3" name="各帯に別々の原点がある。北半球では、その座標を E = 500,000 m、N ">
            <a:extLst xmlns:a="http://schemas.openxmlformats.org/drawingml/2006/main">
              <a:ext uri="{FF2B5EF4-FFF2-40B4-BE49-F238E27FC236}">
                <a16:creationId xmlns:a16="http://schemas.microsoft.com/office/drawing/2014/main" id="{2AA4A0C8-EF66-4D3A-8621-84F5D76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各帯に別々の原点がある。北半球では、その座標を E = 500,000 m、N = 0 m とする。</a:t>
            </a:r>
          </a:p>
        </p:txBody>
      </p:sp>
      <p:sp>
        <p:nvSpPr>
          <p:cNvPr id="4" name="日本にかかる6帯と、それぞれの投影原点">
            <a:extLst xmlns:a="http://schemas.openxmlformats.org/drawingml/2006/main">
              <a:ext uri="{FF2B5EF4-FFF2-40B4-BE49-F238E27FC236}">
                <a16:creationId xmlns:a16="http://schemas.microsoft.com/office/drawing/2014/main" id="{3672EAC5-CBC4-4269-8095-6B3895C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日本にかかる6帯と、それぞれの投影原点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93112-48E0-4FF6-81CD-356ACD17A5A3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645795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2705100"/>
                <a:gridCol w="3067050"/>
              </a:tblGrid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経度の範囲（東経）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原点（緯度, 経度）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120°〜126°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126°〜132°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129°E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132°〜138°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135°E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138°〜144°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0°, 141°E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144°〜150°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147°E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150°〜156°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153°E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</a:tbl>
          </a:graphicData>
        </a:graphic>
      </p:graphicFrame>
      <p:sp>
        <p:nvSpPr>
          <p:cNvPr id="6" name="帯広は第54帯。原点は赤道上の東経141°。">
            <a:extLst xmlns:a="http://schemas.openxmlformats.org/drawingml/2006/main">
              <a:ext uri="{FF2B5EF4-FFF2-40B4-BE49-F238E27FC236}">
                <a16:creationId xmlns:a16="http://schemas.microsoft.com/office/drawing/2014/main" id="{2CB697A0-E84F-479C-841C-A314F70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D4A24"/>
                </a:solidFill>
                <a:latin typeface="Meiryo"/>
                <a:ea typeface="Meiryo"/>
                <a:cs typeface="Meiryo"/>
              </a:rPr>
              <a:t>帯広は第54帯。原点は赤道上の東経141°。</a:t>
            </a:r>
          </a:p>
        </p:txBody>
      </p:sp>
      <p:sp>
        <p:nvSpPr>
          <p:cNvPr id="7" name="元の日本付近の図では、赤道は図の南側の外にある。">
            <a:extLst xmlns:a="http://schemas.openxmlformats.org/drawingml/2006/main">
              <a:ext uri="{FF2B5EF4-FFF2-40B4-BE49-F238E27FC236}">
                <a16:creationId xmlns:a16="http://schemas.microsoft.com/office/drawing/2014/main" id="{3F7DAD96-2136-4643-8621-5BA4D8E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元の日本付近の図では、赤道は図の南側の外にある。</a:t>
            </a:r>
          </a:p>
        </p:txBody>
      </p:sp>
      <p:sp>
        <p:nvSpPr>
          <p:cNvPr id="8" name="E：中央子午線を500,000 mにする">
            <a:extLst xmlns:a="http://schemas.openxmlformats.org/drawingml/2006/main">
              <a:ext uri="{FF2B5EF4-FFF2-40B4-BE49-F238E27FC236}">
                <a16:creationId xmlns:a16="http://schemas.microsoft.com/office/drawing/2014/main" id="{EE989636-B9AC-4961-934E-DA33435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E：中央子午線を500,000 mにする</a:t>
            </a:r>
          </a:p>
        </p:txBody>
      </p:sp>
      <p:sp>
        <p:nvSpPr>
          <p:cNvPr id="9" name="E = 中央子午線からの東西座標">
            <a:extLst xmlns:a="http://schemas.openxmlformats.org/drawingml/2006/main">
              <a:ext uri="{FF2B5EF4-FFF2-40B4-BE49-F238E27FC236}">
                <a16:creationId xmlns:a16="http://schemas.microsoft.com/office/drawing/2014/main" id="{521E24C8-FD17-41FA-A05F-D7791CF4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76475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E = 中央子午線からの東西座標</a:t>
            </a:r>
          </a:p>
        </p:txBody>
      </p:sp>
      <p:sp>
        <p:nvSpPr>
          <p:cNvPr id="10" name="       ＋ 500,000 m（西側の負値を避ける）">
            <a:extLst xmlns:a="http://schemas.openxmlformats.org/drawingml/2006/main">
              <a:ext uri="{FF2B5EF4-FFF2-40B4-BE49-F238E27FC236}">
                <a16:creationId xmlns:a16="http://schemas.microsoft.com/office/drawing/2014/main" id="{F5A797F4-8502-4E03-A796-60D573B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       ＋ 500,000 m（西側の負値を避ける）</a:t>
            </a:r>
          </a:p>
        </p:txBody>
      </p:sp>
      <p:sp>
        <p:nvSpPr>
          <p:cNvPr id="11" name="例：投影面上で西へ100 kmなら">
            <a:extLst xmlns:a="http://schemas.openxmlformats.org/drawingml/2006/main">
              <a:ext uri="{FF2B5EF4-FFF2-40B4-BE49-F238E27FC236}">
                <a16:creationId xmlns:a16="http://schemas.microsoft.com/office/drawing/2014/main" id="{BD2CB7DA-7C44-4ABD-B54E-6AC79AE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813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例：投影面上で西へ100 kmなら</a:t>
            </a:r>
          </a:p>
        </p:txBody>
      </p:sp>
      <p:sp>
        <p:nvSpPr>
          <p:cNvPr id="12" name="E = −100,000 + 500,000 = 400,000 m">
            <a:extLst xmlns:a="http://schemas.openxmlformats.org/drawingml/2006/main">
              <a:ext uri="{FF2B5EF4-FFF2-40B4-BE49-F238E27FC236}">
                <a16:creationId xmlns:a16="http://schemas.microsoft.com/office/drawing/2014/main" id="{5E8E62FE-B836-44A9-817B-617702D0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 = −100,000 + 500,000 = 400,000 m</a:t>
            </a:r>
          </a:p>
        </p:txBody>
      </p:sp>
      <p:sp>
        <p:nvSpPr>
          <p:cNvPr id="13" name="縮尺係数0.9996：距離を少し縮める">
            <a:extLst xmlns:a="http://schemas.openxmlformats.org/drawingml/2006/main">
              <a:ext uri="{FF2B5EF4-FFF2-40B4-BE49-F238E27FC236}">
                <a16:creationId xmlns:a16="http://schemas.microsoft.com/office/drawing/2014/main" id="{7DE94C00-D161-4ECF-B386-7EF5D09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57625"/>
            <a:ext cx="433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縮尺係数0.9996：距離を少し縮める</a:t>
            </a:r>
          </a:p>
        </p:txBody>
      </p:sp>
      <p:sp>
        <p:nvSpPr>
          <p:cNvPr id="14" name="中央子午線上の楕円体上1,000 mを">
            <a:extLst xmlns:a="http://schemas.openxmlformats.org/drawingml/2006/main">
              <a:ext uri="{FF2B5EF4-FFF2-40B4-BE49-F238E27FC236}">
                <a16:creationId xmlns:a16="http://schemas.microsoft.com/office/drawing/2014/main" id="{F37B40DE-2EFF-4387-B42A-23A62102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中央子午線上の楕円体上1,000 mを</a:t>
            </a:r>
          </a:p>
        </p:txBody>
      </p:sp>
      <p:sp>
        <p:nvSpPr>
          <p:cNvPr id="15" name="平面上999.6 mにする（0.4 m短い）。">
            <a:extLst xmlns:a="http://schemas.openxmlformats.org/drawingml/2006/main">
              <a:ext uri="{FF2B5EF4-FFF2-40B4-BE49-F238E27FC236}">
                <a16:creationId xmlns:a16="http://schemas.microsoft.com/office/drawing/2014/main" id="{DCA9E6B4-8283-43EE-B7A1-DB6F4F82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平面上999.6 mにする（0.4 m短い）。</a:t>
            </a:r>
          </a:p>
        </p:txBody>
      </p:sp>
      <p:sp>
        <p:nvSpPr>
          <p:cNvPr id="16" name="帯全体の距離のひずみを抑えるため。">
            <a:extLst xmlns:a="http://schemas.openxmlformats.org/drawingml/2006/main">
              <a:ext uri="{FF2B5EF4-FFF2-40B4-BE49-F238E27FC236}">
                <a16:creationId xmlns:a16="http://schemas.microsoft.com/office/drawing/2014/main" id="{80DD2537-AC5F-472C-B57E-D3C0E50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5777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帯全体の距離のひずみを抑えるため。</a:t>
            </a:r>
          </a:p>
        </p:txBody>
      </p:sp>
      <p:sp>
        <p:nvSpPr>
          <p:cNvPr id="17" name="平面直角座標系との比較：日本を19系に分け、各系の原点は (X, Y) = (0">
            <a:extLst xmlns:a="http://schemas.openxmlformats.org/drawingml/2006/main">
              <a:ext uri="{FF2B5EF4-FFF2-40B4-BE49-F238E27FC236}">
                <a16:creationId xmlns:a16="http://schemas.microsoft.com/office/drawing/2014/main" id="{1ECD9BD5-F36D-4D41-83FE-E9F817D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9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平面直角座標系との比較：日本を19系に分け、各系の原点は (X, Y) = (0, 0)。</a:t>
            </a:r>
          </a:p>
        </p:txBody>
      </p:sp>
      <p:sp>
        <p:nvSpPr>
          <p:cNvPr id="18" name="中央子午線上の縮尺係数は0.9999、東西それぞれ約130 kmが適用範囲の目安">
            <a:extLst xmlns:a="http://schemas.openxmlformats.org/drawingml/2006/main">
              <a:ext uri="{FF2B5EF4-FFF2-40B4-BE49-F238E27FC236}">
                <a16:creationId xmlns:a16="http://schemas.microsoft.com/office/drawing/2014/main" id="{AE7218EB-1716-4C2F-B92F-62E84CB0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中央子午線上の縮尺係数は0.9999、東西それぞれ約130 kmが適用範囲の目安。</a:t>
            </a:r>
          </a:p>
        </p:txBody>
      </p:sp>
    </p:spTree>
    <p:extLst>
      <p:ext uri="{BB962C8B-B14F-4D97-AF65-F5344CB8AC3E}">
        <p14:creationId xmlns:p14="http://schemas.microsoft.com/office/powerpoint/2010/main" val="1855988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2026-10-15T02:33:21.6610000Z</dcterms:created>
  <dcterms:modified xsi:type="dcterms:W3CDTF">2026-10-15T02:33:21.6610000Z</dcterms:modified>
</coreProperties>
</file>