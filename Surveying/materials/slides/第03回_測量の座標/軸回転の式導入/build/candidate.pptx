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32d27970954b5c" /><Relationship Type="http://schemas.openxmlformats.org/officeDocument/2006/relationships/extended-properties" Target="/docProps/app.xml" Id="R439b784234504df8" /><Relationship Type="http://schemas.openxmlformats.org/officeDocument/2006/relationships/officeDocument" Target="/ppt/presentation.xml" Id="R5e3e2ddbbd9a4e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3ed5ff51fb4e82"/>
  </p:sldMasterIdLst>
  <p:notesMasterIdLst>
    <p:notesMasterId xmlns:r="http://schemas.openxmlformats.org/officeDocument/2006/relationships" r:id="R2debf3519f404771"/>
  </p:notesMasterIdLst>
  <p:sldIdLst>
    <p:sldId xmlns:r="http://schemas.openxmlformats.org/officeDocument/2006/relationships" id="256" r:id="Ra54f268702564e40"/>
    <p:sldId xmlns:r="http://schemas.openxmlformats.org/officeDocument/2006/relationships" id="257" r:id="R89714fffe62d4bc8"/>
    <p:sldId xmlns:r="http://schemas.openxmlformats.org/officeDocument/2006/relationships" id="258" r:id="R3e6ca30add0f4fba"/>
    <p:sldId xmlns:r="http://schemas.openxmlformats.org/officeDocument/2006/relationships" id="259" r:id="Rf6e6628d067d4fb9"/>
    <p:sldId xmlns:r="http://schemas.openxmlformats.org/officeDocument/2006/relationships" id="260" r:id="Ree3a51bfaf7b4915"/>
    <p:sldId xmlns:r="http://schemas.openxmlformats.org/officeDocument/2006/relationships" id="261" r:id="R7833deb3b84b427f"/>
    <p:sldId xmlns:r="http://schemas.openxmlformats.org/officeDocument/2006/relationships" id="262" r:id="R3e3511d50aef432d"/>
    <p:sldId xmlns:r="http://schemas.openxmlformats.org/officeDocument/2006/relationships" id="263" r:id="Ree44a350941647a3"/>
    <p:sldId xmlns:r="http://schemas.openxmlformats.org/officeDocument/2006/relationships" id="264" r:id="R51dadd5c479c4be0"/>
    <p:sldId xmlns:r="http://schemas.openxmlformats.org/officeDocument/2006/relationships" id="265" r:id="R6dce4df15d544179"/>
    <p:sldId xmlns:r="http://schemas.openxmlformats.org/officeDocument/2006/relationships" id="266" r:id="R7c02e2cdcaef4a80"/>
    <p:sldId xmlns:r="http://schemas.openxmlformats.org/officeDocument/2006/relationships" id="267" r:id="R38c1b09929794fdb"/>
    <p:sldId xmlns:r="http://schemas.openxmlformats.org/officeDocument/2006/relationships" id="268" r:id="Rc15e6b7d215b46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0c85de49c14448" /><Relationship Type="http://schemas.openxmlformats.org/officeDocument/2006/relationships/slideMaster" Target="/ppt/slideMasters/slideMaster1.xml" Id="R013ed5ff51fb4e82" /><Relationship Type="http://schemas.openxmlformats.org/officeDocument/2006/relationships/notesMaster" Target="/ppt/notesMasters/notesMaster1.xml" Id="R2debf3519f404771" /><Relationship Type="http://schemas.openxmlformats.org/officeDocument/2006/relationships/presProps" Target="/ppt/presProps.xml" Id="R3a591ac6fead4f78" /><Relationship Type="http://schemas.openxmlformats.org/officeDocument/2006/relationships/tableStyles" Target="/ppt/tableStyles.xml" Id="R7dd83cbf2f884f9f" /><Relationship Type="http://schemas.openxmlformats.org/officeDocument/2006/relationships/slide" Target="/ppt/slides/slide1.xml" Id="Ra54f268702564e40" /><Relationship Type="http://schemas.openxmlformats.org/officeDocument/2006/relationships/slide" Target="/ppt/slides/slide2.xml" Id="R89714fffe62d4bc8" /><Relationship Type="http://schemas.openxmlformats.org/officeDocument/2006/relationships/slide" Target="/ppt/slides/slide3.xml" Id="R3e6ca30add0f4fba" /><Relationship Type="http://schemas.openxmlformats.org/officeDocument/2006/relationships/slide" Target="/ppt/slides/slide4.xml" Id="Rf6e6628d067d4fb9" /><Relationship Type="http://schemas.openxmlformats.org/officeDocument/2006/relationships/slide" Target="/ppt/slides/slide5.xml" Id="Ree3a51bfaf7b4915" /><Relationship Type="http://schemas.openxmlformats.org/officeDocument/2006/relationships/slide" Target="/ppt/slides/slide6.xml" Id="R7833deb3b84b427f" /><Relationship Type="http://schemas.openxmlformats.org/officeDocument/2006/relationships/slide" Target="/ppt/slides/slide7.xml" Id="R3e3511d50aef432d" /><Relationship Type="http://schemas.openxmlformats.org/officeDocument/2006/relationships/slide" Target="/ppt/slides/slide8.xml" Id="Ree44a350941647a3" /><Relationship Type="http://schemas.openxmlformats.org/officeDocument/2006/relationships/slide" Target="/ppt/slides/slide9.xml" Id="R51dadd5c479c4be0" /><Relationship Type="http://schemas.openxmlformats.org/officeDocument/2006/relationships/slide" Target="/ppt/slides/slide10.xml" Id="R6dce4df15d544179" /><Relationship Type="http://schemas.openxmlformats.org/officeDocument/2006/relationships/slide" Target="/ppt/slides/slide11.xml" Id="R7c02e2cdcaef4a80" /><Relationship Type="http://schemas.openxmlformats.org/officeDocument/2006/relationships/slide" Target="/ppt/slides/slide12.xml" Id="R38c1b09929794fdb" /><Relationship Type="http://schemas.openxmlformats.org/officeDocument/2006/relationships/slide" Target="/ppt/slides/slide13.xml" Id="Rc15e6b7d215b46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a3db9ec051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0deb08f20943a2" /><Relationship Type="http://schemas.openxmlformats.org/officeDocument/2006/relationships/notesMaster" Target="/ppt/notesMasters/notesMaster1.xml" Id="R05fff7e6cfdb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bd7887a2745c5" /><Relationship Type="http://schemas.openxmlformats.org/officeDocument/2006/relationships/notesMaster" Target="/ppt/notesMasters/notesMaster1.xml" Id="Rf0ad5a27a0cf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e38927d7f40ad" /><Relationship Type="http://schemas.openxmlformats.org/officeDocument/2006/relationships/notesMaster" Target="/ppt/notesMasters/notesMaster1.xml" Id="R04698d367a72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0036f18e544fe0" /><Relationship Type="http://schemas.openxmlformats.org/officeDocument/2006/relationships/notesMaster" Target="/ppt/notesMasters/notesMaster1.xml" Id="R8f39ebfa4ef2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b16164fec4ed3" /><Relationship Type="http://schemas.openxmlformats.org/officeDocument/2006/relationships/notesMaster" Target="/ppt/notesMasters/notesMaster1.xml" Id="R0cdda61eee0d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d55ab17294c49" /><Relationship Type="http://schemas.openxmlformats.org/officeDocument/2006/relationships/notesMaster" Target="/ppt/notesMasters/notesMaster1.xml" Id="R04de46323ed947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2f9939c84a4ef9" /><Relationship Type="http://schemas.openxmlformats.org/officeDocument/2006/relationships/notesMaster" Target="/ppt/notesMasters/notesMaster1.xml" Id="R608c80849de946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59faeff5ee4a23" /><Relationship Type="http://schemas.openxmlformats.org/officeDocument/2006/relationships/notesMaster" Target="/ppt/notesMasters/notesMaster1.xml" Id="R183d63a09f53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b16cbd013d4d06" /><Relationship Type="http://schemas.openxmlformats.org/officeDocument/2006/relationships/notesMaster" Target="/ppt/notesMasters/notesMaster1.xml" Id="R11dae6afd12d40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8b4f8892904e6e" /><Relationship Type="http://schemas.openxmlformats.org/officeDocument/2006/relationships/notesMaster" Target="/ppt/notesMasters/notesMaster1.xml" Id="R879064d314bc4a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471c3f1a5b481c" /><Relationship Type="http://schemas.openxmlformats.org/officeDocument/2006/relationships/notesMaster" Target="/ppt/notesMasters/notesMaster1.xml" Id="Rc513fa3beb1a44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4630e8df0f45c4" /><Relationship Type="http://schemas.openxmlformats.org/officeDocument/2006/relationships/notesMaster" Target="/ppt/notesMasters/notesMaster1.xml" Id="R69c71f03013e45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3378b405834832" /><Relationship Type="http://schemas.openxmlformats.org/officeDocument/2006/relationships/notesMaster" Target="/ppt/notesMasters/notesMaster1.xml" Id="R4dd285eca5f2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画像と、このスレッドで説明した導出をもとにした補足教材。一般的な平面直交座標の約束として、x軸を右向き、y軸を上向き、角度を反時計回り正とする。日本の測量のX軸北向き・Y軸東向きや方向角の約束と混同しない。点そのものは移動させ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出典：ユーザー添付の座標変換の図（原図）。原図のQの新座標(1.54,2.33)は誤記。O′=(1,0.5)、θ=30度、Q=(1,3)からは(1.25,2.1650635…)となる。Pの新座標は原図と一致する。図は模式図として読む。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もとの原点Oから見たPとO′の座標を用意する。O′からPへのベクトルは、Pの位置ベクトルからO′の位置ベクトルを引いたもの。原点だけを移した座標を一時的に大文字X,Yで表し、軸回転と分けて計算する。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新しいx′軸はもとのx軸から反時計回りにθの方向を向く。この軸に沿って1だけ進むと、もとのx方向にはcosθ、y方向にはsinθ進む。したがって新しいx′軸の単位ベクトルは(cosθ,sinθ)。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y′軸はx′軸からさらに反時計回りに90度の方向。cos(θ+90度)=-sinθ、sin(θ+90度)=cosθを用いる。0&lt;θ&lt;90度ならy′軸は左上向きなので、横成分の符号は負、縦成分は正になる。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新しい座標(x′,y′)は、x′軸とy′軸を基底としたベクトルの係数である。O′P=x′e_x′+y′e_y′と書き、もとの軸での成分(X,Y)と比較する。次の2枚ではこの連立方程式を解く。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式(1)をcosθ倍、式(2)をsinθ倍して加える。-y′sinθcosθと+y′cosθsinθが打ち消し合う。残ったx′(cos²θ+sin²θ)は三角関数の恒等式によりx′となる。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式(1)を-sinθ倍、式(2)をcosθ倍して加える。-x′cosθsinθと+x′sinθcosθが打ち消し合う。残ったy′(sin²θ+cos²θ)はy′となる。x′の式と同じ恒等式を使う。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X=x−x0、Y=y−y0を、導出したx′とy′の式に代入する。計算の順は、元の座標から新しい原点を引き、続いて軸回転の式を適用する。平面内の剛体的な座標系変更であり、長さの単位は共通とする。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原点移動後のベクトルを極座標でX=r cosφ、Y=r sinφとする。軸をθ回すと、新しいx′軸から測る点の方向はφ−θになる。加法定理から同じ座標変換式を確認できる。θ=90度、X=1、Y=0ならx′=0、y′=−1となり、新しい軸では下側に位置する。点を回す能動回転とは符号の組合せが異な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条件はP=(3,2)、O′=(1,0.5)、θ=30度。原点移動後は(X,Y)=(2,1.5)。cos30度=√3/2、sin30度=1/2を代入するとx′=√3+0.75=2.4820508…、y′=−1+3√3/4=0.2990381…。小数第2位へ丸める。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はQ=(1,3)、O′=(1,0.5)、θ=30度。原点移動後は(X,Y)=(0,2.5)なので、x′=1.25、y′=5√3/4=2.1650635…。元画像の(1.54,2.33)は同じ条件を満たさない。原点O′からの距離は元も新も2.5で、1.25²+(5√3/4)²=6.25を確認でき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出した2式を行列にまとめる。軸を反時計回りにθ回した座標の変換行列は、成分で見た点の回転行列R(−θ)に対応する。逆変換ではθの符号を反転し、最後に原点の座標を足す。回転行列の逆行列は転置行列であり、距離と角度を保つ。日本の測量の軸・方向角へ適用するときは、その約束に合わせて符号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85b03383e40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85331ed6d4e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cddb171c54a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2076c86cc4b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18601bcb941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40af63d7e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071D6D-FFE4-4FFE-9416-E58E58B5B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D38D2A-E590-4A6A-80C5-71ECD5191D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D6ED25-B86D-40C5-BCA3-2D7084251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771E46-1967-45F1-9AD7-BF1E380BD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64338D-D466-4861-B5A1-CA884DF2FE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D7D3FD-D957-4B0B-906E-C6857CD09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6B75DA-7674-4D23-AAA6-E85B395AF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CC07B8-D5A9-483C-BCC5-8A29CB8866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FE91B0-8718-4A15-93AE-803478AAB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3BA47A-F8DC-4447-A7EC-A3BA29960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d6c0ad67294edb" /><Relationship Type="http://schemas.openxmlformats.org/officeDocument/2006/relationships/slideLayout" Target="/ppt/slideLayouts/slideLayout1.xml" Id="R35338bdf0a674351" /><Relationship Type="http://schemas.openxmlformats.org/officeDocument/2006/relationships/slideLayout" Target="/ppt/slideLayouts/slideLayout2.xml" Id="R50e30994936c4c22" /><Relationship Type="http://schemas.openxmlformats.org/officeDocument/2006/relationships/slideLayout" Target="/ppt/slideLayouts/slideLayout3.xml" Id="Re22d69053d5d4463" /><Relationship Type="http://schemas.openxmlformats.org/officeDocument/2006/relationships/slideLayout" Target="/ppt/slideLayouts/slideLayout4.xml" Id="Rea33d1e9b5ba49d6" /><Relationship Type="http://schemas.openxmlformats.org/officeDocument/2006/relationships/slideLayout" Target="/ppt/slideLayouts/slideLayout5.xml" Id="Ra7fd1db235494ea1" /><Relationship Type="http://schemas.openxmlformats.org/officeDocument/2006/relationships/slideLayout" Target="/ppt/slideLayouts/slideLayout6.xml" Id="R28c60447ef1249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38bdf0a674351"/>
    <p:sldLayoutId xmlns:r="http://schemas.openxmlformats.org/officeDocument/2006/relationships" id="2147483650" r:id="R50e30994936c4c22"/>
    <p:sldLayoutId xmlns:r="http://schemas.openxmlformats.org/officeDocument/2006/relationships" id="2147483651" r:id="Re22d69053d5d4463"/>
    <p:sldLayoutId xmlns:r="http://schemas.openxmlformats.org/officeDocument/2006/relationships" id="2147483652" r:id="Rea33d1e9b5ba49d6"/>
    <p:sldLayoutId xmlns:r="http://schemas.openxmlformats.org/officeDocument/2006/relationships" id="2147483653" r:id="Ra7fd1db235494ea1"/>
    <p:sldLayoutId xmlns:r="http://schemas.openxmlformats.org/officeDocument/2006/relationships" id="2147483654" r:id="R28c60447ef1249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252b3186f431b" /><Relationship Type="http://schemas.openxmlformats.org/officeDocument/2006/relationships/notesSlide" Target="/ppt/notesSlides/notesSlide1.xml" Id="R6d3ee965657d46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51d4baa0f4bb2" /><Relationship Type="http://schemas.openxmlformats.org/officeDocument/2006/relationships/image" Target="/ppt/media/image.png" Id="R47a7cfe31d2f4309" /><Relationship Type="http://schemas.openxmlformats.org/officeDocument/2006/relationships/notesSlide" Target="/ppt/notesSlides/notesSlide2.xml" Id="R8831592946c2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c26b7ec9e4fdd" /><Relationship Type="http://schemas.openxmlformats.org/officeDocument/2006/relationships/notesSlide" Target="/ppt/notesSlides/notesSlide3.xml" Id="Rba71fd760f854e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3194221ef4b44" /><Relationship Type="http://schemas.openxmlformats.org/officeDocument/2006/relationships/notesSlide" Target="/ppt/notesSlides/notesSlide4.xml" Id="Re36c76f2bb294a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243fec1bf4712" /><Relationship Type="http://schemas.openxmlformats.org/officeDocument/2006/relationships/notesSlide" Target="/ppt/notesSlides/notesSlide5.xml" Id="Rda44b3bc74c449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ab21ef15640a9" /><Relationship Type="http://schemas.openxmlformats.org/officeDocument/2006/relationships/notesSlide" Target="/ppt/notesSlides/notesSlide6.xml" Id="R7e2badea27f840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d2cf2f4444186" /><Relationship Type="http://schemas.openxmlformats.org/officeDocument/2006/relationships/notesSlide" Target="/ppt/notesSlides/notesSlide7.xml" Id="Rd3dd8462c1f84c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2c203bb494d4a" /><Relationship Type="http://schemas.openxmlformats.org/officeDocument/2006/relationships/notesSlide" Target="/ppt/notesSlides/notesSlide8.xml" Id="Rc82d3493e87f4f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d16a222d64816" /><Relationship Type="http://schemas.openxmlformats.org/officeDocument/2006/relationships/notesSlide" Target="/ppt/notesSlides/notesSlide9.xml" Id="R79693b1c58214f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ed6a1ea8d425b" /><Relationship Type="http://schemas.openxmlformats.org/officeDocument/2006/relationships/notesSlide" Target="/ppt/notesSlides/notesSlide10.xml" Id="R428cff5eab004a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ad081953a4e78" /><Relationship Type="http://schemas.openxmlformats.org/officeDocument/2006/relationships/notesSlide" Target="/ppt/notesSlides/notesSlide11.xml" Id="R872ee35df23f4d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146120a88479e" /><Relationship Type="http://schemas.openxmlformats.org/officeDocument/2006/relationships/notesSlide" Target="/ppt/notesSlides/notesSlide12.xml" Id="Rf7afb0c13e574d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72d95394b4cbd" /><Relationship Type="http://schemas.openxmlformats.org/officeDocument/2006/relationships/notesSlide" Target="/ppt/notesSlides/notesSlide13.xml" Id="R316dc842201f4b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本文1">
            <a:extLst xmlns:a="http://schemas.openxmlformats.org/drawingml/2006/main">
              <a:ext uri="{FF2B5EF4-FFF2-40B4-BE49-F238E27FC236}">
                <a16:creationId xmlns:a16="http://schemas.microsoft.com/office/drawing/2014/main" id="{39B8302B-CFD9-43D5-8747-69C6E34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70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37D78"/>
                </a:solidFill>
                <a:latin typeface="Meiryo"/>
                <a:ea typeface="Meiryo"/>
                <a:cs typeface="Meiryo"/>
              </a:rPr>
              <a:t>測量学　第3回「測量の座標」補足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560592DD-94DE-4AD9-B9D5-14A0328B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8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軸回転の式の導出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56BA5454-F1B9-41F8-9DA9-FDA5D76C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原点の移動と、反時計回りの座標軸の回転</a:t>
            </a:r>
          </a:p>
        </p:txBody>
      </p:sp>
      <p:sp>
        <p:nvSpPr>
          <p:cNvPr id="4" name="本文4">
            <a:extLst xmlns:a="http://schemas.openxmlformats.org/drawingml/2006/main">
              <a:ext uri="{FF2B5EF4-FFF2-40B4-BE49-F238E27FC236}">
                <a16:creationId xmlns:a16="http://schemas.microsoft.com/office/drawing/2014/main" id="{8ADD3AA6-D45E-438C-A090-A5C50FD1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点の位置を保ったまま、新しい座標を求める</a:t>
            </a:r>
          </a:p>
        </p:txBody>
      </p:sp>
    </p:spTree>
    <p:extLst>
      <p:ext uri="{BB962C8B-B14F-4D97-AF65-F5344CB8AC3E}">
        <p14:creationId xmlns:p14="http://schemas.microsoft.com/office/powerpoint/2010/main" val="900128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本文1">
            <a:extLst xmlns:a="http://schemas.openxmlformats.org/drawingml/2006/main">
              <a:ext uri="{FF2B5EF4-FFF2-40B4-BE49-F238E27FC236}">
                <a16:creationId xmlns:a16="http://schemas.microsoft.com/office/drawing/2014/main" id="{36CA6DE5-C4AE-491A-A5E0-9BFEB5A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同じ点を、新しい座標で読む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56F07DF2-5D0D-4B96-8724-4697EE3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4DBD3-8330-490C-AA7B-8FEC46183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7cfe31d2f4309"/>
          <a:stretch xmlns:a="http://schemas.openxmlformats.org/drawingml/2006/main"/>
        </p:blipFill>
        <p:spPr>
          <a:xfrm xmlns:a="http://schemas.openxmlformats.org/drawingml/2006/main">
            <a:off x="1040246" y="1333500"/>
            <a:ext cx="644438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本文3">
            <a:extLst xmlns:a="http://schemas.openxmlformats.org/drawingml/2006/main">
              <a:ext uri="{FF2B5EF4-FFF2-40B4-BE49-F238E27FC236}">
                <a16:creationId xmlns:a16="http://schemas.microsoft.com/office/drawing/2014/main" id="{38B1CE64-ED83-44A3-AE31-7E73850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13C4B"/>
                </a:solidFill>
                <a:latin typeface="Meiryo"/>
                <a:ea typeface="Meiryo"/>
                <a:cs typeface="Meiryo"/>
              </a:rPr>
              <a:t>もとの座標</a:t>
            </a:r>
          </a:p>
        </p:txBody>
      </p:sp>
      <p:sp>
        <p:nvSpPr>
          <p:cNvPr id="5" name="EQM00001">
            <a:extLst xmlns:a="http://schemas.openxmlformats.org/drawingml/2006/main">
              <a:ext uri="{FF2B5EF4-FFF2-40B4-BE49-F238E27FC236}">
                <a16:creationId xmlns:a16="http://schemas.microsoft.com/office/drawing/2014/main" id="{0AB3333F-C70C-4C5D-A4EC-E6D4139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19325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EQM00001</a:t>
            </a:r>
          </a:p>
        </p:txBody>
      </p:sp>
      <p:sp>
        <p:nvSpPr>
          <p:cNvPr id="6" name="本文5">
            <a:extLst xmlns:a="http://schemas.openxmlformats.org/drawingml/2006/main">
              <a:ext uri="{FF2B5EF4-FFF2-40B4-BE49-F238E27FC236}">
                <a16:creationId xmlns:a16="http://schemas.microsoft.com/office/drawing/2014/main" id="{6C08219E-26F4-4F84-809F-33BAD86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新しい原点と回転角</a:t>
            </a:r>
          </a:p>
        </p:txBody>
      </p:sp>
      <p:sp>
        <p:nvSpPr>
          <p:cNvPr id="7" name="EQM00002">
            <a:extLst xmlns:a="http://schemas.openxmlformats.org/drawingml/2006/main">
              <a:ext uri="{FF2B5EF4-FFF2-40B4-BE49-F238E27FC236}">
                <a16:creationId xmlns:a16="http://schemas.microsoft.com/office/drawing/2014/main" id="{BF234392-4CF2-46B9-A08E-9984770B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27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EQM00002</a:t>
            </a:r>
          </a:p>
        </p:txBody>
      </p:sp>
      <p:sp>
        <p:nvSpPr>
          <p:cNvPr id="8" name="EQM00003">
            <a:extLst xmlns:a="http://schemas.openxmlformats.org/drawingml/2006/main">
              <a:ext uri="{FF2B5EF4-FFF2-40B4-BE49-F238E27FC236}">
                <a16:creationId xmlns:a16="http://schemas.microsoft.com/office/drawing/2014/main" id="{892A9E2F-1FA6-42D8-8304-98B8E239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27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EQM00003</a:t>
            </a:r>
          </a:p>
        </p:txBody>
      </p:sp>
      <p:sp>
        <p:nvSpPr>
          <p:cNvPr id="9" name="本文8">
            <a:extLst xmlns:a="http://schemas.openxmlformats.org/drawingml/2006/main">
              <a:ext uri="{FF2B5EF4-FFF2-40B4-BE49-F238E27FC236}">
                <a16:creationId xmlns:a16="http://schemas.microsoft.com/office/drawing/2014/main" id="{0443D570-5CA6-4940-A8CE-EF792B9B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AC492D"/>
                </a:solidFill>
                <a:latin typeface="Meiryo"/>
                <a:ea typeface="Meiryo"/>
                <a:cs typeface="Meiryo"/>
              </a:rPr>
              <a:t>原図の Q の新座標を訂正：正しくは (1.25, 2.17)</a:t>
            </a:r>
          </a:p>
        </p:txBody>
      </p:sp>
    </p:spTree>
    <p:extLst>
      <p:ext uri="{BB962C8B-B14F-4D97-AF65-F5344CB8AC3E}">
        <p14:creationId xmlns:p14="http://schemas.microsoft.com/office/powerpoint/2010/main" val="261613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5E96E6A4-643F-44B3-AB1E-B4553CE2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① 原点を移す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EB421581-1E63-42AD-87D0-352EA5A0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EAB8975C-756D-4FA1-A771-22596B07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新しい原点から点までの差を取る</a:t>
            </a:r>
          </a:p>
        </p:txBody>
      </p:sp>
      <p:sp>
        <p:nvSpPr>
          <p:cNvPr id="4" name="EQM00004">
            <a:extLst xmlns:a="http://schemas.openxmlformats.org/drawingml/2006/main">
              <a:ext uri="{FF2B5EF4-FFF2-40B4-BE49-F238E27FC236}">
                <a16:creationId xmlns:a16="http://schemas.microsoft.com/office/drawing/2014/main" id="{4ED117F5-629B-42C3-9496-A8AC9503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0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EQM00004</a:t>
            </a:r>
          </a:p>
        </p:txBody>
      </p:sp>
      <p:sp>
        <p:nvSpPr>
          <p:cNvPr id="5" name="EQM00005">
            <a:extLst xmlns:a="http://schemas.openxmlformats.org/drawingml/2006/main">
              <a:ext uri="{FF2B5EF4-FFF2-40B4-BE49-F238E27FC236}">
                <a16:creationId xmlns:a16="http://schemas.microsoft.com/office/drawing/2014/main" id="{2787B470-5AC3-444A-9829-6E1E23C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744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EQM00005</a:t>
            </a:r>
          </a:p>
        </p:txBody>
      </p:sp>
      <p:sp>
        <p:nvSpPr>
          <p:cNvPr id="6" name="EQM00006">
            <a:extLst xmlns:a="http://schemas.openxmlformats.org/drawingml/2006/main">
              <a:ext uri="{FF2B5EF4-FFF2-40B4-BE49-F238E27FC236}">
                <a16:creationId xmlns:a16="http://schemas.microsoft.com/office/drawing/2014/main" id="{F0399D28-A1C8-4482-B256-7FA4C54C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15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15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rPr>
              <a:t>EQM00006</a:t>
            </a:r>
          </a:p>
        </p:txBody>
      </p:sp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93D478A0-5BF9-4401-8390-8DAFB32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この段階では、軸の向きはもとのまま</a:t>
            </a:r>
          </a:p>
        </p:txBody>
      </p:sp>
    </p:spTree>
    <p:extLst>
      <p:ext uri="{BB962C8B-B14F-4D97-AF65-F5344CB8AC3E}">
        <p14:creationId xmlns:p14="http://schemas.microsoft.com/office/powerpoint/2010/main" val="1677344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9E7738D8-13D0-4956-ACFE-40100580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② 新しい x′ 軸の向き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8142D846-47CC-4C74-A4B4-BFCC5C5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2B1CAD22-4863-42AA-804D-8A2B178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x′ 軸は、もとの x 軸から反時計回りに θ 回した方向</a:t>
            </a:r>
          </a:p>
        </p:txBody>
      </p:sp>
      <p:sp>
        <p:nvSpPr>
          <p:cNvPr id="4" name="EQM00007">
            <a:extLst xmlns:a="http://schemas.openxmlformats.org/drawingml/2006/main">
              <a:ext uri="{FF2B5EF4-FFF2-40B4-BE49-F238E27FC236}">
                <a16:creationId xmlns:a16="http://schemas.microsoft.com/office/drawing/2014/main" id="{4A86BE94-2D17-4F7F-A35E-F064952E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744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3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33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EQM00007</a:t>
            </a:r>
          </a:p>
        </p:txBody>
      </p:sp>
      <p:sp>
        <p:nvSpPr>
          <p:cNvPr id="5" name="本文5">
            <a:extLst xmlns:a="http://schemas.openxmlformats.org/drawingml/2006/main">
              <a:ext uri="{FF2B5EF4-FFF2-40B4-BE49-F238E27FC236}">
                <a16:creationId xmlns:a16="http://schemas.microsoft.com/office/drawing/2014/main" id="{B1C1E66C-9CAC-404C-8E3D-2FC77DA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x′ 軸に沿って 1 だけ進むときの、もとの軸方向の成分</a:t>
            </a:r>
          </a:p>
        </p:txBody>
      </p:sp>
      <p:sp>
        <p:nvSpPr>
          <p:cNvPr id="6" name="EQM00008">
            <a:extLst xmlns:a="http://schemas.openxmlformats.org/drawingml/2006/main">
              <a:ext uri="{FF2B5EF4-FFF2-40B4-BE49-F238E27FC236}">
                <a16:creationId xmlns:a16="http://schemas.microsoft.com/office/drawing/2014/main" id="{4A567551-4844-4CEC-A6FB-D41986EE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EQM00008</a:t>
            </a:r>
          </a:p>
        </p:txBody>
      </p:sp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1A6CFF83-3578-48A7-B7C8-520CA11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単位ベクトルで、新しい軸の向きを表す</a:t>
            </a:r>
          </a:p>
        </p:txBody>
      </p:sp>
    </p:spTree>
    <p:extLst>
      <p:ext uri="{BB962C8B-B14F-4D97-AF65-F5344CB8AC3E}">
        <p14:creationId xmlns:p14="http://schemas.microsoft.com/office/powerpoint/2010/main" val="971470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B2AEE397-11A6-47B1-BCFD-BB8A55CD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③ 新しい y′ 軸の向き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7BA08157-7B4E-4C8A-BB67-DD9997F4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013B4539-E281-4E99-B9A5-8E19A37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y′ 軸は、もとの x 軸から θ + 90° の方向</a:t>
            </a:r>
          </a:p>
        </p:txBody>
      </p:sp>
      <p:sp>
        <p:nvSpPr>
          <p:cNvPr id="4" name="EQM00009">
            <a:extLst xmlns:a="http://schemas.openxmlformats.org/drawingml/2006/main">
              <a:ext uri="{FF2B5EF4-FFF2-40B4-BE49-F238E27FC236}">
                <a16:creationId xmlns:a16="http://schemas.microsoft.com/office/drawing/2014/main" id="{46448B8E-DE77-486F-98A1-EB884018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74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1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1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EQM00009</a:t>
            </a:r>
          </a:p>
        </p:txBody>
      </p:sp>
      <p:sp>
        <p:nvSpPr>
          <p:cNvPr id="5" name="EQM00010">
            <a:extLst xmlns:a="http://schemas.openxmlformats.org/drawingml/2006/main">
              <a:ext uri="{FF2B5EF4-FFF2-40B4-BE49-F238E27FC236}">
                <a16:creationId xmlns:a16="http://schemas.microsoft.com/office/drawing/2014/main" id="{EB213DD4-9B1B-4E32-8F77-27374A71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EQM00010</a:t>
            </a:r>
          </a:p>
        </p:txBody>
      </p:sp>
      <p:sp>
        <p:nvSpPr>
          <p:cNvPr id="6" name="EQM00011">
            <a:extLst xmlns:a="http://schemas.openxmlformats.org/drawingml/2006/main">
              <a:ext uri="{FF2B5EF4-FFF2-40B4-BE49-F238E27FC236}">
                <a16:creationId xmlns:a16="http://schemas.microsoft.com/office/drawing/2014/main" id="{F269E022-91E0-47F3-9E24-FE552B8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EQM00011</a:t>
            </a:r>
          </a:p>
        </p:txBody>
      </p:sp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C6E71808-781F-477F-981D-481E5F00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0 &lt; θ &lt; 90° では左上向きなので、横成分が負になる</a:t>
            </a:r>
          </a:p>
        </p:txBody>
      </p:sp>
    </p:spTree>
    <p:extLst>
      <p:ext uri="{BB962C8B-B14F-4D97-AF65-F5344CB8AC3E}">
        <p14:creationId xmlns:p14="http://schemas.microsoft.com/office/powerpoint/2010/main" val="149623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88353186-34C5-4286-9AA1-46245DC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④ 同じベクトルを二通りに表す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D713E324-EDEE-4CA9-ACD4-A47791C9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3" name="EQM00012">
            <a:extLst xmlns:a="http://schemas.openxmlformats.org/drawingml/2006/main">
              <a:ext uri="{FF2B5EF4-FFF2-40B4-BE49-F238E27FC236}">
                <a16:creationId xmlns:a16="http://schemas.microsoft.com/office/drawing/2014/main" id="{3949B44E-1BAD-4B2D-A650-C2F5013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EQM00012</a:t>
            </a:r>
          </a:p>
        </p:txBody>
      </p:sp>
      <p:sp>
        <p:nvSpPr>
          <p:cNvPr id="4" name="EQM00013">
            <a:extLst xmlns:a="http://schemas.openxmlformats.org/drawingml/2006/main">
              <a:ext uri="{FF2B5EF4-FFF2-40B4-BE49-F238E27FC236}">
                <a16:creationId xmlns:a16="http://schemas.microsoft.com/office/drawing/2014/main" id="{5674EFBB-89DD-4C5C-B839-CD15C22A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7442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0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EQM00013</a:t>
            </a:r>
          </a:p>
        </p:txBody>
      </p:sp>
      <p:sp>
        <p:nvSpPr>
          <p:cNvPr id="5" name="本文5">
            <a:extLst xmlns:a="http://schemas.openxmlformats.org/drawingml/2006/main">
              <a:ext uri="{FF2B5EF4-FFF2-40B4-BE49-F238E27FC236}">
                <a16:creationId xmlns:a16="http://schemas.microsoft.com/office/drawing/2014/main" id="{F842EB9B-469D-4859-8E74-D659097B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横方向と縦方向の成分を、それぞれ比較する</a:t>
            </a:r>
          </a:p>
        </p:txBody>
      </p:sp>
      <p:sp>
        <p:nvSpPr>
          <p:cNvPr id="6" name="EQM00014">
            <a:extLst xmlns:a="http://schemas.openxmlformats.org/drawingml/2006/main">
              <a:ext uri="{FF2B5EF4-FFF2-40B4-BE49-F238E27FC236}">
                <a16:creationId xmlns:a16="http://schemas.microsoft.com/office/drawing/2014/main" id="{EC785FAE-B6CD-4F54-B05F-FD9AAEE9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EQM00014</a:t>
            </a:r>
          </a:p>
        </p:txBody>
      </p:sp>
      <p:sp>
        <p:nvSpPr>
          <p:cNvPr id="7" name="EQM00015">
            <a:extLst xmlns:a="http://schemas.openxmlformats.org/drawingml/2006/main">
              <a:ext uri="{FF2B5EF4-FFF2-40B4-BE49-F238E27FC236}">
                <a16:creationId xmlns:a16="http://schemas.microsoft.com/office/drawing/2014/main" id="{4F5FBA6D-B0F1-4B32-8E57-B9018D5E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EQM00015</a:t>
            </a:r>
          </a:p>
        </p:txBody>
      </p:sp>
    </p:spTree>
    <p:extLst>
      <p:ext uri="{BB962C8B-B14F-4D97-AF65-F5344CB8AC3E}">
        <p14:creationId xmlns:p14="http://schemas.microsoft.com/office/powerpoint/2010/main" val="1875083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文1">
            <a:extLst xmlns:a="http://schemas.openxmlformats.org/drawingml/2006/main">
              <a:ext uri="{FF2B5EF4-FFF2-40B4-BE49-F238E27FC236}">
                <a16:creationId xmlns:a16="http://schemas.microsoft.com/office/drawing/2014/main" id="{F2272FB6-3B8C-46EF-B0E3-3E3F871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⑤ x′ の導出：y′ を消去する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EF9AFB31-F2E6-484D-BE8C-17F44C14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D497DFC3-57B3-49DF-8426-3332148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式 (1) を cos θ 倍し、式 (2) を sin θ 倍して足す</a:t>
            </a:r>
          </a:p>
        </p:txBody>
      </p:sp>
      <p:sp>
        <p:nvSpPr>
          <p:cNvPr id="4" name="EQM00016">
            <a:extLst xmlns:a="http://schemas.openxmlformats.org/drawingml/2006/main">
              <a:ext uri="{FF2B5EF4-FFF2-40B4-BE49-F238E27FC236}">
                <a16:creationId xmlns:a16="http://schemas.microsoft.com/office/drawing/2014/main" id="{2082480E-E340-473E-A824-AC0A3EEC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EQM00016</a:t>
            </a:r>
          </a:p>
        </p:txBody>
      </p:sp>
      <p:sp>
        <p:nvSpPr>
          <p:cNvPr id="5" name="EQM00017">
            <a:extLst xmlns:a="http://schemas.openxmlformats.org/drawingml/2006/main">
              <a:ext uri="{FF2B5EF4-FFF2-40B4-BE49-F238E27FC236}">
                <a16:creationId xmlns:a16="http://schemas.microsoft.com/office/drawing/2014/main" id="{709AD4BF-4423-4C8B-86D4-5FCD6DCB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EQM00017</a:t>
            </a:r>
          </a:p>
        </p:txBody>
      </p:sp>
      <p:sp>
        <p:nvSpPr>
          <p:cNvPr id="6" name="EQM00018">
            <a:extLst xmlns:a="http://schemas.openxmlformats.org/drawingml/2006/main">
              <a:ext uri="{FF2B5EF4-FFF2-40B4-BE49-F238E27FC236}">
                <a16:creationId xmlns:a16="http://schemas.microsoft.com/office/drawing/2014/main" id="{09573317-69DC-461E-A234-F29B7267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EQM00018</a:t>
            </a:r>
          </a:p>
        </p:txBody>
      </p:sp>
      <p:sp>
        <p:nvSpPr>
          <p:cNvPr id="7" name="EQM00019">
            <a:extLst xmlns:a="http://schemas.openxmlformats.org/drawingml/2006/main">
              <a:ext uri="{FF2B5EF4-FFF2-40B4-BE49-F238E27FC236}">
                <a16:creationId xmlns:a16="http://schemas.microsoft.com/office/drawing/2014/main" id="{088433E7-E7FB-4793-891B-919843A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EQM00019</a:t>
            </a:r>
          </a:p>
        </p:txBody>
      </p:sp>
      <p:sp>
        <p:nvSpPr>
          <p:cNvPr id="8" name="EQM00020">
            <a:extLst xmlns:a="http://schemas.openxmlformats.org/drawingml/2006/main">
              <a:ext uri="{FF2B5EF4-FFF2-40B4-BE49-F238E27FC236}">
                <a16:creationId xmlns:a16="http://schemas.microsoft.com/office/drawing/2014/main" id="{6E7A94BD-964D-4749-BE4E-ABD069C7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3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pPr>
            <a:r>
              <a:rPr sz="33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rPr>
              <a:t>EQM00020</a:t>
            </a:r>
          </a:p>
        </p:txBody>
      </p:sp>
    </p:spTree>
    <p:extLst>
      <p:ext uri="{BB962C8B-B14F-4D97-AF65-F5344CB8AC3E}">
        <p14:creationId xmlns:p14="http://schemas.microsoft.com/office/powerpoint/2010/main" val="1744527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文1">
            <a:extLst xmlns:a="http://schemas.openxmlformats.org/drawingml/2006/main">
              <a:ext uri="{FF2B5EF4-FFF2-40B4-BE49-F238E27FC236}">
                <a16:creationId xmlns:a16="http://schemas.microsoft.com/office/drawing/2014/main" id="{DFBF991E-285D-46FE-B0BF-D0DECDEC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⑥ y′ の導出：x′ を消去する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19D69C5D-938E-4DB1-A868-7814C468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226D0719-1182-4972-B4F1-A90B1E23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式 (1) を −sin θ 倍し、式 (2) を cos θ 倍して足す</a:t>
            </a:r>
          </a:p>
        </p:txBody>
      </p:sp>
      <p:sp>
        <p:nvSpPr>
          <p:cNvPr id="4" name="EQM00021">
            <a:extLst xmlns:a="http://schemas.openxmlformats.org/drawingml/2006/main">
              <a:ext uri="{FF2B5EF4-FFF2-40B4-BE49-F238E27FC236}">
                <a16:creationId xmlns:a16="http://schemas.microsoft.com/office/drawing/2014/main" id="{C25B6A12-9DE5-44DF-B552-A5213C7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EQM00021</a:t>
            </a:r>
          </a:p>
        </p:txBody>
      </p:sp>
      <p:sp>
        <p:nvSpPr>
          <p:cNvPr id="5" name="EQM00022">
            <a:extLst xmlns:a="http://schemas.openxmlformats.org/drawingml/2006/main">
              <a:ext uri="{FF2B5EF4-FFF2-40B4-BE49-F238E27FC236}">
                <a16:creationId xmlns:a16="http://schemas.microsoft.com/office/drawing/2014/main" id="{15EFDD92-1732-4CCB-B591-69E4F0B6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EQM00022</a:t>
            </a:r>
          </a:p>
        </p:txBody>
      </p:sp>
      <p:sp>
        <p:nvSpPr>
          <p:cNvPr id="6" name="EQM00023">
            <a:extLst xmlns:a="http://schemas.openxmlformats.org/drawingml/2006/main">
              <a:ext uri="{FF2B5EF4-FFF2-40B4-BE49-F238E27FC236}">
                <a16:creationId xmlns:a16="http://schemas.microsoft.com/office/drawing/2014/main" id="{D265FC44-284E-4A2A-8FE0-94432671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EQM00023</a:t>
            </a:r>
          </a:p>
        </p:txBody>
      </p:sp>
      <p:sp>
        <p:nvSpPr>
          <p:cNvPr id="7" name="EQM00024">
            <a:extLst xmlns:a="http://schemas.openxmlformats.org/drawingml/2006/main">
              <a:ext uri="{FF2B5EF4-FFF2-40B4-BE49-F238E27FC236}">
                <a16:creationId xmlns:a16="http://schemas.microsoft.com/office/drawing/2014/main" id="{E6ADE11A-F785-49A8-9526-0A8B921B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EQM00024</a:t>
            </a:r>
          </a:p>
        </p:txBody>
      </p:sp>
      <p:sp>
        <p:nvSpPr>
          <p:cNvPr id="8" name="EQM00025">
            <a:extLst xmlns:a="http://schemas.openxmlformats.org/drawingml/2006/main">
              <a:ext uri="{FF2B5EF4-FFF2-40B4-BE49-F238E27FC236}">
                <a16:creationId xmlns:a16="http://schemas.microsoft.com/office/drawing/2014/main" id="{FFC1CB7F-4ECE-4D6A-8050-367E34DE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3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pPr>
            <a:r>
              <a:rPr sz="33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rPr>
              <a:t>EQM00025</a:t>
            </a:r>
          </a:p>
        </p:txBody>
      </p:sp>
    </p:spTree>
    <p:extLst>
      <p:ext uri="{BB962C8B-B14F-4D97-AF65-F5344CB8AC3E}">
        <p14:creationId xmlns:p14="http://schemas.microsoft.com/office/powerpoint/2010/main" val="1324195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13893DEC-841A-4214-AA00-AD0AE7B2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⑦ 原点移動と軸回転を合わせる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7053E710-852C-4550-9E80-4BC08423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3" name="EQM00026">
            <a:extLst xmlns:a="http://schemas.openxmlformats.org/drawingml/2006/main">
              <a:ext uri="{FF2B5EF4-FFF2-40B4-BE49-F238E27FC236}">
                <a16:creationId xmlns:a16="http://schemas.microsoft.com/office/drawing/2014/main" id="{E64A2B7C-FB6B-42CD-8997-4A30BEEE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EQM00026</a:t>
            </a:r>
          </a:p>
        </p:txBody>
      </p:sp>
      <p:sp>
        <p:nvSpPr>
          <p:cNvPr id="4" name="本文4">
            <a:extLst xmlns:a="http://schemas.openxmlformats.org/drawingml/2006/main">
              <a:ext uri="{FF2B5EF4-FFF2-40B4-BE49-F238E27FC236}">
                <a16:creationId xmlns:a16="http://schemas.microsoft.com/office/drawing/2014/main" id="{3CE31C80-6890-4E73-8DB0-E1F133F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導出した式に代入する</a:t>
            </a:r>
          </a:p>
        </p:txBody>
      </p:sp>
      <p:sp>
        <p:nvSpPr>
          <p:cNvPr id="5" name="EQM00027">
            <a:extLst xmlns:a="http://schemas.openxmlformats.org/drawingml/2006/main">
              <a:ext uri="{FF2B5EF4-FFF2-40B4-BE49-F238E27FC236}">
                <a16:creationId xmlns:a16="http://schemas.microsoft.com/office/drawing/2014/main" id="{2E91A011-A79C-4F6E-AE70-B5539177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1074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25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225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37D78"/>
                </a:solidFill>
                <a:latin typeface="Cambria Math"/>
                <a:ea typeface="Cambria Math"/>
                <a:cs typeface="Cambria Math"/>
              </a:rPr>
              <a:t>EQM00027</a:t>
            </a:r>
          </a:p>
        </p:txBody>
      </p:sp>
      <p:sp>
        <p:nvSpPr>
          <p:cNvPr id="6" name="EQM00028">
            <a:extLst xmlns:a="http://schemas.openxmlformats.org/drawingml/2006/main">
              <a:ext uri="{FF2B5EF4-FFF2-40B4-BE49-F238E27FC236}">
                <a16:creationId xmlns:a16="http://schemas.microsoft.com/office/drawing/2014/main" id="{61AF21B1-89A4-4397-92D8-B4640F8E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4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25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3225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37D78"/>
                </a:solidFill>
                <a:latin typeface="Cambria Math"/>
                <a:ea typeface="Cambria Math"/>
                <a:cs typeface="Cambria Math"/>
              </a:rPr>
              <a:t>EQM00028</a:t>
            </a:r>
          </a:p>
        </p:txBody>
      </p:sp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ED5733A3-560C-4231-ABAB-F73D512B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先に原点を引き、その差を新しい軸方向に分ける</a:t>
            </a:r>
          </a:p>
        </p:txBody>
      </p:sp>
    </p:spTree>
    <p:extLst>
      <p:ext uri="{BB962C8B-B14F-4D97-AF65-F5344CB8AC3E}">
        <p14:creationId xmlns:p14="http://schemas.microsoft.com/office/powerpoint/2010/main" val="1659543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A7D43DF6-3128-4ACA-97EE-9EE9A58D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符号の確認：軸を回すと、角度を引く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E880ACF8-3E85-4A3F-ACE3-E6434D40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3" name="EQM00029">
            <a:extLst xmlns:a="http://schemas.openxmlformats.org/drawingml/2006/main">
              <a:ext uri="{FF2B5EF4-FFF2-40B4-BE49-F238E27FC236}">
                <a16:creationId xmlns:a16="http://schemas.microsoft.com/office/drawing/2014/main" id="{5C948B58-9058-4E90-A131-EBC826E8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EQM00029</a:t>
            </a:r>
          </a:p>
        </p:txBody>
      </p:sp>
      <p:sp>
        <p:nvSpPr>
          <p:cNvPr id="4" name="EQM00030">
            <a:extLst xmlns:a="http://schemas.openxmlformats.org/drawingml/2006/main">
              <a:ext uri="{FF2B5EF4-FFF2-40B4-BE49-F238E27FC236}">
                <a16:creationId xmlns:a16="http://schemas.microsoft.com/office/drawing/2014/main" id="{993404DE-00C6-4A74-B7ED-9DD45169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EQM00030</a:t>
            </a:r>
          </a:p>
        </p:txBody>
      </p:sp>
      <p:sp>
        <p:nvSpPr>
          <p:cNvPr id="5" name="EQM00031">
            <a:extLst xmlns:a="http://schemas.openxmlformats.org/drawingml/2006/main">
              <a:ext uri="{FF2B5EF4-FFF2-40B4-BE49-F238E27FC236}">
                <a16:creationId xmlns:a16="http://schemas.microsoft.com/office/drawing/2014/main" id="{E5377F70-7712-438B-A9A8-754D3B55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EQM00031</a:t>
            </a:r>
          </a:p>
        </p:txBody>
      </p:sp>
      <p:sp>
        <p:nvSpPr>
          <p:cNvPr id="6" name="本文6">
            <a:extLst xmlns:a="http://schemas.openxmlformats.org/drawingml/2006/main">
              <a:ext uri="{FF2B5EF4-FFF2-40B4-BE49-F238E27FC236}">
                <a16:creationId xmlns:a16="http://schemas.microsoft.com/office/drawing/2014/main" id="{E965397F-2625-477E-8333-054C3817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例：もとの x 軸上の点を、90° 回した軸で読む</a:t>
            </a:r>
          </a:p>
        </p:txBody>
      </p:sp>
      <p:sp>
        <p:nvSpPr>
          <p:cNvPr id="7" name="EQM00032">
            <a:extLst xmlns:a="http://schemas.openxmlformats.org/drawingml/2006/main">
              <a:ext uri="{FF2B5EF4-FFF2-40B4-BE49-F238E27FC236}">
                <a16:creationId xmlns:a16="http://schemas.microsoft.com/office/drawing/2014/main" id="{BF62F6BA-0B9B-4962-8A8A-A18A459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0">
                <a:solidFill>
                  <a:srgbClr val="137D78"/>
                </a:solidFill>
                <a:latin typeface="Cambria Math"/>
                <a:ea typeface="Cambria Math"/>
                <a:cs typeface="Cambria Math"/>
              </a:rPr>
              <a:t>EQM00032</a:t>
            </a:r>
          </a:p>
        </p:txBody>
      </p:sp>
    </p:spTree>
    <p:extLst>
      <p:ext uri="{BB962C8B-B14F-4D97-AF65-F5344CB8AC3E}">
        <p14:creationId xmlns:p14="http://schemas.microsoft.com/office/powerpoint/2010/main" val="8355046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EA7ABBDC-D000-442A-A16D-8D2F2055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 P：原点を移して回転する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CA36E1F0-4426-4ABA-A43D-372F67B7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3" name="EQM00033">
            <a:extLst xmlns:a="http://schemas.openxmlformats.org/drawingml/2006/main">
              <a:ext uri="{FF2B5EF4-FFF2-40B4-BE49-F238E27FC236}">
                <a16:creationId xmlns:a16="http://schemas.microsoft.com/office/drawing/2014/main" id="{27ADAE07-8F60-4ABF-AA44-EF55B4C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EQM00033</a:t>
            </a:r>
          </a:p>
        </p:txBody>
      </p:sp>
      <p:sp>
        <p:nvSpPr>
          <p:cNvPr id="4" name="EQM00034">
            <a:extLst xmlns:a="http://schemas.openxmlformats.org/drawingml/2006/main">
              <a:ext uri="{FF2B5EF4-FFF2-40B4-BE49-F238E27FC236}">
                <a16:creationId xmlns:a16="http://schemas.microsoft.com/office/drawing/2014/main" id="{6B02C52B-67B3-48F7-9BAE-A4C95C3A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EQM00034</a:t>
            </a:r>
          </a:p>
        </p:txBody>
      </p:sp>
      <p:sp>
        <p:nvSpPr>
          <p:cNvPr id="5" name="EQM00035">
            <a:extLst xmlns:a="http://schemas.openxmlformats.org/drawingml/2006/main">
              <a:ext uri="{FF2B5EF4-FFF2-40B4-BE49-F238E27FC236}">
                <a16:creationId xmlns:a16="http://schemas.microsoft.com/office/drawing/2014/main" id="{48F93CF6-E8AB-41D6-9E27-FD030B1D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10744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EQM00035</a:t>
            </a:r>
          </a:p>
        </p:txBody>
      </p:sp>
      <p:sp>
        <p:nvSpPr>
          <p:cNvPr id="6" name="EQM00036">
            <a:extLst xmlns:a="http://schemas.openxmlformats.org/drawingml/2006/main">
              <a:ext uri="{FF2B5EF4-FFF2-40B4-BE49-F238E27FC236}">
                <a16:creationId xmlns:a16="http://schemas.microsoft.com/office/drawing/2014/main" id="{A99C5099-8807-456C-9760-B45F9BB8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44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EQM00036</a:t>
            </a:r>
          </a:p>
        </p:txBody>
      </p:sp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19939A5B-614F-48E5-8FC2-ADDA2B73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新しい座標は (2.48, 0.30)</a:t>
            </a:r>
          </a:p>
        </p:txBody>
      </p:sp>
    </p:spTree>
    <p:extLst>
      <p:ext uri="{BB962C8B-B14F-4D97-AF65-F5344CB8AC3E}">
        <p14:creationId xmlns:p14="http://schemas.microsoft.com/office/powerpoint/2010/main" val="1370889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52FC8F3F-36DF-444B-9534-FA58D901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 Q：同じ式で確かめる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1FA64909-3A45-40A5-972D-D5AE6140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3" name="EQM00037">
            <a:extLst xmlns:a="http://schemas.openxmlformats.org/drawingml/2006/main">
              <a:ext uri="{FF2B5EF4-FFF2-40B4-BE49-F238E27FC236}">
                <a16:creationId xmlns:a16="http://schemas.microsoft.com/office/drawing/2014/main" id="{6EB0CEF3-65C2-4D75-B83C-102CEAAF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EQM00037</a:t>
            </a:r>
          </a:p>
        </p:txBody>
      </p:sp>
      <p:sp>
        <p:nvSpPr>
          <p:cNvPr id="4" name="EQM00038">
            <a:extLst xmlns:a="http://schemas.openxmlformats.org/drawingml/2006/main">
              <a:ext uri="{FF2B5EF4-FFF2-40B4-BE49-F238E27FC236}">
                <a16:creationId xmlns:a16="http://schemas.microsoft.com/office/drawing/2014/main" id="{388750BB-DE66-4F95-9953-DC1DEDB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EQM00038</a:t>
            </a:r>
          </a:p>
        </p:txBody>
      </p:sp>
      <p:sp>
        <p:nvSpPr>
          <p:cNvPr id="5" name="EQM00039">
            <a:extLst xmlns:a="http://schemas.openxmlformats.org/drawingml/2006/main">
              <a:ext uri="{FF2B5EF4-FFF2-40B4-BE49-F238E27FC236}">
                <a16:creationId xmlns:a16="http://schemas.microsoft.com/office/drawing/2014/main" id="{C60F9672-F42E-41B4-8757-F02F3EC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10744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EQM00039</a:t>
            </a:r>
          </a:p>
        </p:txBody>
      </p:sp>
      <p:sp>
        <p:nvSpPr>
          <p:cNvPr id="6" name="EQM00040">
            <a:extLst xmlns:a="http://schemas.openxmlformats.org/drawingml/2006/main">
              <a:ext uri="{FF2B5EF4-FFF2-40B4-BE49-F238E27FC236}">
                <a16:creationId xmlns:a16="http://schemas.microsoft.com/office/drawing/2014/main" id="{AB0212DF-2ECD-4ECD-81A0-1FC68BE3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44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EQM00040</a:t>
            </a:r>
          </a:p>
        </p:txBody>
      </p:sp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5A89881C-0662-4BF6-932E-368B4E5C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AC492D"/>
                </a:solidFill>
                <a:latin typeface="Meiryo"/>
                <a:ea typeface="Meiryo"/>
                <a:cs typeface="Meiryo"/>
              </a:rPr>
              <a:t>新しい座標は (1.25, 2.17)。添付図の Q の表示を訂正</a:t>
            </a:r>
          </a:p>
        </p:txBody>
      </p:sp>
    </p:spTree>
    <p:extLst>
      <p:ext uri="{BB962C8B-B14F-4D97-AF65-F5344CB8AC3E}">
        <p14:creationId xmlns:p14="http://schemas.microsoft.com/office/powerpoint/2010/main" val="1753809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EBAFE6D3-DECE-49A9-86A4-C3F47171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行列での表現と逆変換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8360D058-9072-44B7-A3DC-49B571CB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3BBCA44F-D411-4CBA-A590-130C1FB2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もとの座標から、新しい座標へ</a:t>
            </a:r>
          </a:p>
        </p:txBody>
      </p:sp>
      <p:sp>
        <p:nvSpPr>
          <p:cNvPr id="4" name="EQM00041">
            <a:extLst xmlns:a="http://schemas.openxmlformats.org/drawingml/2006/main">
              <a:ext uri="{FF2B5EF4-FFF2-40B4-BE49-F238E27FC236}">
                <a16:creationId xmlns:a16="http://schemas.microsoft.com/office/drawing/2014/main" id="{2200201E-3C4E-4193-AA74-AAE126C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744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EQM00041</a:t>
            </a:r>
          </a:p>
        </p:txBody>
      </p:sp>
      <p:sp>
        <p:nvSpPr>
          <p:cNvPr id="5" name="本文5">
            <a:extLst xmlns:a="http://schemas.openxmlformats.org/drawingml/2006/main">
              <a:ext uri="{FF2B5EF4-FFF2-40B4-BE49-F238E27FC236}">
                <a16:creationId xmlns:a16="http://schemas.microsoft.com/office/drawing/2014/main" id="{BB024381-1FA8-4ED5-B5D8-915412E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新しい座標から、もとの座標へ</a:t>
            </a:r>
          </a:p>
        </p:txBody>
      </p:sp>
      <p:sp>
        <p:nvSpPr>
          <p:cNvPr id="6" name="EQM00042">
            <a:extLst xmlns:a="http://schemas.openxmlformats.org/drawingml/2006/main">
              <a:ext uri="{FF2B5EF4-FFF2-40B4-BE49-F238E27FC236}">
                <a16:creationId xmlns:a16="http://schemas.microsoft.com/office/drawing/2014/main" id="{0306A215-4020-4872-AB35-156328D7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744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153D50"/>
                </a:solidFill>
                <a:latin typeface="Cambria Math"/>
                <a:ea typeface="Cambria Math"/>
                <a:cs typeface="Cambria Math"/>
              </a:rPr>
              <a:t>EQM00042</a:t>
            </a:r>
          </a:p>
        </p:txBody>
      </p:sp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BDB96BC5-2C1F-4A3F-81F8-C2F645A5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逆変換は、回転を戻してから原点の座標を足す</a:t>
            </a:r>
          </a:p>
        </p:txBody>
      </p:sp>
    </p:spTree>
    <p:extLst>
      <p:ext uri="{BB962C8B-B14F-4D97-AF65-F5344CB8AC3E}">
        <p14:creationId xmlns:p14="http://schemas.microsoft.com/office/powerpoint/2010/main" val="1947541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2026-10-15T01:26:28.4210000Z</dcterms:created>
  <dcterms:modified xsi:type="dcterms:W3CDTF">2026-10-15T01:26:28.4210000Z</dcterms:modified>
</coreProperties>
</file>