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391235a9d34f3c" /><Relationship Type="http://schemas.openxmlformats.org/officeDocument/2006/relationships/extended-properties" Target="/docProps/app.xml" Id="Rdecba25261ab4527" /><Relationship Type="http://schemas.openxmlformats.org/officeDocument/2006/relationships/officeDocument" Target="/ppt/presentation.xml" Id="Rb239b73efb5048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c9d4996f404170"/>
  </p:sldMasterIdLst>
  <p:notesMasterIdLst>
    <p:notesMasterId xmlns:r="http://schemas.openxmlformats.org/officeDocument/2006/relationships" r:id="R04184aedc0e14cad"/>
  </p:notesMasterIdLst>
  <p:sldIdLst>
    <p:sldId xmlns:r="http://schemas.openxmlformats.org/officeDocument/2006/relationships" id="256" r:id="R9dbe133b5f8c4295"/>
    <p:sldId xmlns:r="http://schemas.openxmlformats.org/officeDocument/2006/relationships" id="257" r:id="R5f68755f5b7f44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004bf6852d48bd" /><Relationship Type="http://schemas.openxmlformats.org/officeDocument/2006/relationships/slideMaster" Target="/ppt/slideMasters/slideMaster1.xml" Id="R05c9d4996f404170" /><Relationship Type="http://schemas.openxmlformats.org/officeDocument/2006/relationships/notesMaster" Target="/ppt/notesMasters/notesMaster1.xml" Id="R04184aedc0e14cad" /><Relationship Type="http://schemas.openxmlformats.org/officeDocument/2006/relationships/presProps" Target="/ppt/presProps.xml" Id="R54292445f8e942cc" /><Relationship Type="http://schemas.openxmlformats.org/officeDocument/2006/relationships/tableStyles" Target="/ppt/tableStyles.xml" Id="R1692544f04084b82" /><Relationship Type="http://schemas.openxmlformats.org/officeDocument/2006/relationships/slide" Target="/ppt/slides/slide1.xml" Id="R9dbe133b5f8c4295" /><Relationship Type="http://schemas.openxmlformats.org/officeDocument/2006/relationships/slide" Target="/ppt/slides/slide2.xml" Id="R5f68755f5b7f44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c738f70f1e42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68f507d3674016" /><Relationship Type="http://schemas.openxmlformats.org/officeDocument/2006/relationships/notesMaster" Target="/ppt/notesMasters/notesMaster1.xml" Id="R5588aee1507d48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6a7512b045489e" /><Relationship Type="http://schemas.openxmlformats.org/officeDocument/2006/relationships/notesMaster" Target="/ppt/notesMasters/notesMaster1.xml" Id="Rac61cda6881948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常の数学の座標系（x軸は右向き、y軸は上向き）。φはもとのx軸から点Pまでの反時計回りの角。rは原点から点までの距離。角度がφ+θになるので、三角関数の加法定理を適用する。x′,y′は、固定した同じ座標軸で表す回転後の点の座標。θ=90°、P=(1,0)ならP′=(0,1)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常の数学の座標系（x軸は右向き、y軸は上向き）。点は動かさず、軸だけを反時計回りに回す。新しいx′軸から点までの角度はφ−θ。加法定理cos(φ−θ)=cosφcosθ+sinφsinθ、sin(φ−θ)=sinφcosθ−cosφsinθを使う。x′,y′は同じ点の新しい座標。図ではx′軸が上、y′軸が左なので、右側の点はy′が負になる。原点を(x₀,y₀)に移す場合は、先にu=x−x₀、v=y−y₀と置き、x′=u cosθ+v sinθ、y′=−u sinθ+v cosθ。R(−θ)=R(θ)の逆行列=R(θ)の転置。測量のX北・Y東・方向角の約束とは区別して説明する。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3d74cdb9e48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8127d549b4c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3e46cbdf64c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71538f66f48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cc1d05bd044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9bf59d81b40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A1EC4F-C0F8-4E99-886B-3190C133B2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237DB0-6D1F-462A-A358-2AB22B23B8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1181D8-5B1D-4BC1-8DA1-647690D46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1F4A7D-D68E-4563-99EB-6EBE9AFDFD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42FF39-66EB-495A-AA52-1DBFE0DC2F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46EB86-AC1F-40E6-A3D6-7BD9EF19D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459313-127D-4C37-AEFD-94C07A9CA9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42A830-D770-4B9A-8531-D973F8431A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7A82DE-7E29-4AF6-9629-FE9EFBB3C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64FD41-9383-4059-AF16-9651085959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a37d0cc31e4ebc" /><Relationship Type="http://schemas.openxmlformats.org/officeDocument/2006/relationships/slideLayout" Target="/ppt/slideLayouts/slideLayout1.xml" Id="R3b70147bf5a54ae2" /><Relationship Type="http://schemas.openxmlformats.org/officeDocument/2006/relationships/slideLayout" Target="/ppt/slideLayouts/slideLayout2.xml" Id="R873f45cc9cff4891" /><Relationship Type="http://schemas.openxmlformats.org/officeDocument/2006/relationships/slideLayout" Target="/ppt/slideLayouts/slideLayout3.xml" Id="Rddd46c68f0944e71" /><Relationship Type="http://schemas.openxmlformats.org/officeDocument/2006/relationships/slideLayout" Target="/ppt/slideLayouts/slideLayout4.xml" Id="R1530202a96dc42d6" /><Relationship Type="http://schemas.openxmlformats.org/officeDocument/2006/relationships/slideLayout" Target="/ppt/slideLayouts/slideLayout5.xml" Id="R0e5cf6262b0d4037" /><Relationship Type="http://schemas.openxmlformats.org/officeDocument/2006/relationships/slideLayout" Target="/ppt/slideLayouts/slideLayout6.xml" Id="R8010b93f865549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70147bf5a54ae2"/>
    <p:sldLayoutId xmlns:r="http://schemas.openxmlformats.org/officeDocument/2006/relationships" id="2147483650" r:id="R873f45cc9cff4891"/>
    <p:sldLayoutId xmlns:r="http://schemas.openxmlformats.org/officeDocument/2006/relationships" id="2147483651" r:id="Rddd46c68f0944e71"/>
    <p:sldLayoutId xmlns:r="http://schemas.openxmlformats.org/officeDocument/2006/relationships" id="2147483652" r:id="R1530202a96dc42d6"/>
    <p:sldLayoutId xmlns:r="http://schemas.openxmlformats.org/officeDocument/2006/relationships" id="2147483653" r:id="R0e5cf6262b0d4037"/>
    <p:sldLayoutId xmlns:r="http://schemas.openxmlformats.org/officeDocument/2006/relationships" id="2147483654" r:id="R8010b93f865549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4e16d5e694276" /><Relationship Type="http://schemas.openxmlformats.org/officeDocument/2006/relationships/notesSlide" Target="/ppt/notesSlides/notesSlide1.xml" Id="Rea97b96fe39c4b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15f3b18de400d" /><Relationship Type="http://schemas.openxmlformats.org/officeDocument/2006/relationships/notesSlide" Target="/ppt/notesSlides/notesSlide2.xml" Id="Rc06ebba5a8884d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点を反時計回りに回す">
            <a:extLst xmlns:a="http://schemas.openxmlformats.org/drawingml/2006/main">
              <a:ext uri="{FF2B5EF4-FFF2-40B4-BE49-F238E27FC236}">
                <a16:creationId xmlns:a16="http://schemas.microsoft.com/office/drawing/2014/main" id="{0CD8022C-32C7-40EE-AD38-B70D36B1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203E4C"/>
                </a:solidFill>
                <a:latin typeface="Meiryo"/>
                <a:ea typeface="Meiryo"/>
                <a:cs typeface="Meiryo"/>
              </a:rPr>
              <a:t>点を反時計回りに回す</a:t>
            </a:r>
          </a:p>
        </p:txBody>
      </p:sp>
      <p:sp>
        <p:nvSpPr>
          <p:cNvPr id="2" name="座標軸を固定し、点 P を原点のまわりに θ 回す。">
            <a:extLst xmlns:a="http://schemas.openxmlformats.org/drawingml/2006/main">
              <a:ext uri="{FF2B5EF4-FFF2-40B4-BE49-F238E27FC236}">
                <a16:creationId xmlns:a16="http://schemas.microsoft.com/office/drawing/2014/main" id="{8213F95C-8C85-462D-9A24-DC637782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144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座標軸を固定し、点 P を原点のまわりに θ 回す。</a:t>
            </a:r>
          </a:p>
        </p:txBody>
      </p:sp>
      <p:sp>
        <p:nvSpPr>
          <p:cNvPr id="3" name="r：原点からの距離　φ：元の x 軸から測った角度">
            <a:extLst xmlns:a="http://schemas.openxmlformats.org/drawingml/2006/main">
              <a:ext uri="{FF2B5EF4-FFF2-40B4-BE49-F238E27FC236}">
                <a16:creationId xmlns:a16="http://schemas.microsoft.com/office/drawing/2014/main" id="{2E21D36F-E4AD-4FDF-8E35-C898B19F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r：原点からの距離　φ：元の x 軸から測った角度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M00000">
                <a:extLst xmlns:a="http://schemas.openxmlformats.org/drawingml/2006/main">
                  <a:ext uri="{FF2B5EF4-FFF2-40B4-BE49-F238E27FC236}">
                    <a16:creationId xmlns:a16="http://schemas.microsoft.com/office/drawing/2014/main" id="{1E818004-63C7-4155-AC63-CB2F1332F7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1943100"/>
                <a:ext cx="6667500" cy="4476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x=r</m:t>
                      </m:r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⁡ϕ,</m:t>
                      </m:r>
                      <m:r>
                        <m:rPr>
                          <m:nor/>
                        </m:rP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  </m:t>
                      </m:r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y=r</m:t>
                      </m:r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⁡ϕ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EQM00000">
                <a:extLst xmlns:a="http://schemas.openxmlformats.org/drawingml/2006/main">
                  <a:ext uri="{FF2B5EF4-FFF2-40B4-BE49-F238E27FC236}">
                    <a16:creationId xmlns:a16="http://schemas.microsoft.com/office/drawing/2014/main" id="{1E818004-63C7-4155-AC63-CB2F1332F7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1943100"/>
                <a:ext cx="6667500" cy="4476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x=r\cos\phi,\qquad y=r\sin\phi</a:t>
                </a:r>
              </a:p>
            </p:txBody>
          </p:sp>
        </mc:Fallback>
      </mc:AlternateContent>
      <p:sp>
        <p:nvSpPr>
          <p:cNvPr id="5" name="回転後の角度は φ + θ">
            <a:extLst xmlns:a="http://schemas.openxmlformats.org/drawingml/2006/main">
              <a:ext uri="{FF2B5EF4-FFF2-40B4-BE49-F238E27FC236}">
                <a16:creationId xmlns:a16="http://schemas.microsoft.com/office/drawing/2014/main" id="{3D710889-4001-4A18-9E85-DA07449B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回転後の角度は φ + 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01">
                <a:extLst xmlns:a="http://schemas.openxmlformats.org/drawingml/2006/main">
                  <a:ext uri="{FF2B5EF4-FFF2-40B4-BE49-F238E27FC236}">
                    <a16:creationId xmlns:a16="http://schemas.microsoft.com/office/drawing/2014/main" id="{5654070D-A40D-43D7-B8A8-A362F63AF9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29241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=r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⁡(ϕ+θ)=x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⁡θ−y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QM00001">
                <a:extLst xmlns:a="http://schemas.openxmlformats.org/drawingml/2006/main">
                  <a:ext uri="{FF2B5EF4-FFF2-40B4-BE49-F238E27FC236}">
                    <a16:creationId xmlns:a16="http://schemas.microsoft.com/office/drawing/2014/main" id="{5654070D-A40D-43D7-B8A8-A362F63AF9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29241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x'=r\cos(\phi+\theta)=x\cos\theta-y\sin\theta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M00002">
                <a:extLst xmlns:a="http://schemas.openxmlformats.org/drawingml/2006/main">
                  <a:ext uri="{FF2B5EF4-FFF2-40B4-BE49-F238E27FC236}">
                    <a16:creationId xmlns:a16="http://schemas.microsoft.com/office/drawing/2014/main" id="{536E7296-5EF5-41AC-98FC-DD0FAA98B52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34956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=r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⁡(ϕ+θ)=x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⁡θ+y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QM00002">
                <a:extLst xmlns:a="http://schemas.openxmlformats.org/drawingml/2006/main">
                  <a:ext uri="{FF2B5EF4-FFF2-40B4-BE49-F238E27FC236}">
                    <a16:creationId xmlns:a16="http://schemas.microsoft.com/office/drawing/2014/main" id="{536E7296-5EF5-41AC-98FC-DD0FAA98B52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34956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y'=r\sin(\phi+\theta)=x\sin\theta+y\cos\theta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M00003">
                <a:extLst xmlns:a="http://schemas.openxmlformats.org/drawingml/2006/main">
                  <a:ext uri="{FF2B5EF4-FFF2-40B4-BE49-F238E27FC236}">
                    <a16:creationId xmlns:a16="http://schemas.microsoft.com/office/drawing/2014/main" id="{3A67EA4A-EECE-4944-8344-F137E286520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4375" y="4295775"/>
                <a:ext cx="6572250" cy="1143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d>
                        <m:dPr>
                          <m:sepChr m:val=""/>
                        </m:dPr>
                        <m:e>
                          <m:eqArr>
                            <m:e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x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m:rPr>
                                      <m:sty m:val="p"/>
                                    </m:rP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y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m:rPr>
                                      <m:sty m:val="p"/>
                                    </m:rP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sz="2550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d>
                        <m:dPr>
                          <m:sepChr m:val=""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2"/>
                                  </m:mcPr>
                                </m:mc>
                              </m:mcs>
                            </m:mPr>
                            <m:mr>
                              <m:e>
                                <m:func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sz="2550" b="0" lang="en-US">
                                        <a:solidFill>
                                          <a:srgbClr val="203E4C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sz="2550" b="0" lang="en-US">
                                        <a:solidFill>
                                          <a:srgbClr val="203E4C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sz="2550" b="0" lang="en-US">
                                    <a:solidFill>
                                      <a:srgbClr val="203E4C"/>
                                    </a:solidFill>
                                    <a:latin typeface="Cambria Math"/>
                                    <a:ea typeface="Meiryo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sz="2550" b="0" lang="en-US">
                                    <a:solidFill>
                                      <a:srgbClr val="203E4C"/>
                                    </a:solidFill>
                                    <a:latin typeface="Cambria Math"/>
                                    <a:ea typeface="Meiryo"/>
                                  </a:rPr>
                                  <m:t>sin</m:t>
                                </m:r>
                                <m:r>
                                  <a:rPr sz="2550" b="0" lang="en-US">
                                    <a:solidFill>
                                      <a:srgbClr val="203E4C"/>
                                    </a:solidFill>
                                    <a:latin typeface="Cambria Math"/>
                                    <a:ea typeface="Meiryo"/>
                                  </a:rPr>
                                  <m:t>⁡θ</m:t>
                                </m:r>
                              </m:e>
                            </m:mr>
                            <m:mr>
                              <m:e>
                                <m:func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sz="2550" b="0" lang="en-US">
                                        <a:solidFill>
                                          <a:srgbClr val="203E4C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sz="2550" b="0" lang="en-US">
                                        <a:solidFill>
                                          <a:srgbClr val="203E4C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sz="2550" b="0" lang="en-US">
                                        <a:solidFill>
                                          <a:srgbClr val="203E4C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sz="2550" b="0" lang="en-US">
                                        <a:solidFill>
                                          <a:srgbClr val="203E4C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sepChr m:val=""/>
                        </m:dPr>
                        <m:e>
                          <m:eqArr>
                            <m:e>
                              <m:r>
                                <a:rPr sz="2550" b="0" lang="en-US">
                                  <a:solidFill>
                                    <a:srgbClr val="203E4C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e>
                              <m:r>
                                <a:rPr sz="2550" b="0" lang="en-US">
                                  <a:solidFill>
                                    <a:srgbClr val="203E4C"/>
                                  </a:solidFill>
                                  <a:latin typeface="Cambria Math"/>
                                  <a:ea typeface="Meiryo"/>
                                </a:rPr>
                                <m:t>y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8" name="EQM00003">
                <a:extLst xmlns:a="http://schemas.openxmlformats.org/drawingml/2006/main">
                  <a:ext uri="{FF2B5EF4-FFF2-40B4-BE49-F238E27FC236}">
                    <a16:creationId xmlns:a16="http://schemas.microsoft.com/office/drawing/2014/main" id="{3A67EA4A-EECE-4944-8344-F137E286520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4375" y="4295775"/>
                <a:ext cx="6572250" cy="1143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\begin{pmatrix}x'\\y'\end{pmatrix}=\begin{pmatrix}\cos\theta&amp;-\sin\theta\\\sin\theta&amp;\cos\theta\end{pmatrix}\begin{pmatrix}x\\y\end{pmatrix}</a:t>
                </a:r>
              </a:p>
            </p:txBody>
          </p:sp>
        </mc:Fallback>
      </mc:AlternateContent>
      <p:sp>
        <p:nvSpPr>
          <p:cNvPr id="9" name="θ = 90°、原点は固定">
            <a:extLst xmlns:a="http://schemas.openxmlformats.org/drawingml/2006/main">
              <a:ext uri="{FF2B5EF4-FFF2-40B4-BE49-F238E27FC236}">
                <a16:creationId xmlns:a16="http://schemas.microsoft.com/office/drawing/2014/main" id="{1B709E91-E86F-4ACD-A261-3D93C28D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66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θ = 90°、原点は固定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95CBD-EA26-4A80-B2F0-2CFC4B4CCEB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4019550"/>
            <a:ext cx="3476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959A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97030-21FA-4DCB-960A-88CCDE05F44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53550" y="2181225"/>
            <a:ext cx="0" cy="2247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959A"/>
            </a:solidFill>
            <a:tailEnd type="triangle" w="sm" len="sm"/>
          </a:ln>
        </p:spPr>
      </p:cxnSp>
      <p:sp>
        <p:nvSpPr>
          <p:cNvPr id="12" name="x">
            <a:extLst xmlns:a="http://schemas.openxmlformats.org/drawingml/2006/main">
              <a:ext uri="{FF2B5EF4-FFF2-40B4-BE49-F238E27FC236}">
                <a16:creationId xmlns:a16="http://schemas.microsoft.com/office/drawing/2014/main" id="{A9340FF9-A921-4D98-AC77-0DEED4A5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8290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13" name="y">
            <a:extLst xmlns:a="http://schemas.openxmlformats.org/drawingml/2006/main">
              <a:ext uri="{FF2B5EF4-FFF2-40B4-BE49-F238E27FC236}">
                <a16:creationId xmlns:a16="http://schemas.microsoft.com/office/drawing/2014/main" id="{58C831A2-4476-419F-A5F0-60A35D9A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192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rPr>
              <a:t>y</a:t>
            </a:r>
          </a:p>
        </p:txBody>
      </p:sp>
      <p:sp>
        <p:nvSpPr>
          <p:cNvPr id="14" name="O">
            <a:extLst xmlns:a="http://schemas.openxmlformats.org/drawingml/2006/main">
              <a:ext uri="{FF2B5EF4-FFF2-40B4-BE49-F238E27FC236}">
                <a16:creationId xmlns:a16="http://schemas.microsoft.com/office/drawing/2014/main" id="{41E6E0CB-08B0-4D78-88AA-B011862B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433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O</a:t>
            </a:r>
          </a:p>
        </p:txBody>
      </p:sp>
      <p:sp>
        <p:nvSpPr>
          <p:cNvPr id="15" name="点">
            <a:extLst xmlns:a="http://schemas.openxmlformats.org/drawingml/2006/main">
              <a:ext uri="{FF2B5EF4-FFF2-40B4-BE49-F238E27FC236}">
                <a16:creationId xmlns:a16="http://schemas.microsoft.com/office/drawing/2014/main" id="{E4B721FC-D253-45C9-9146-63A0B5A1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962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763A"/>
          </a:solidFill>
          <a:ln xmlns:a="http://schemas.openxmlformats.org/drawingml/2006/main" w="9525">
            <a:solidFill>
              <a:srgbClr val="AD763A"/>
            </a:solidFill>
          </a:ln>
        </p:spPr>
      </p:sp>
      <p:sp>
        <p:nvSpPr>
          <p:cNvPr id="16" name="点">
            <a:extLst xmlns:a="http://schemas.openxmlformats.org/drawingml/2006/main">
              <a:ext uri="{FF2B5EF4-FFF2-40B4-BE49-F238E27FC236}">
                <a16:creationId xmlns:a16="http://schemas.microsoft.com/office/drawing/2014/main" id="{3E154E0E-AE49-4B77-8024-DCF46AAF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81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E7A"/>
          </a:solidFill>
          <a:ln xmlns:a="http://schemas.openxmlformats.org/drawingml/2006/main" w="9525">
            <a:solidFill>
              <a:srgbClr val="117E7A"/>
            </a:solidFill>
          </a:ln>
        </p:spPr>
      </p:sp>
      <p:sp>
        <p:nvSpPr>
          <p:cNvPr id="17" name="P (1, 0)">
            <a:extLst xmlns:a="http://schemas.openxmlformats.org/drawingml/2006/main">
              <a:ext uri="{FF2B5EF4-FFF2-40B4-BE49-F238E27FC236}">
                <a16:creationId xmlns:a16="http://schemas.microsoft.com/office/drawing/2014/main" id="{A352BE37-88D1-417A-8184-E1A012CD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91000"/>
            <a:ext cx="166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D763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D763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AD763A"/>
                </a:solidFill>
                <a:latin typeface="Cambria Math"/>
                <a:ea typeface="Cambria Math"/>
                <a:cs typeface="Cambria Math"/>
              </a:rPr>
              <a:t>P (1, 0)</a:t>
            </a:r>
          </a:p>
        </p:txBody>
      </p:sp>
      <p:sp>
        <p:nvSpPr>
          <p:cNvPr id="18" name="P′ (0, 1)">
            <a:extLst xmlns:a="http://schemas.openxmlformats.org/drawingml/2006/main">
              <a:ext uri="{FF2B5EF4-FFF2-40B4-BE49-F238E27FC236}">
                <a16:creationId xmlns:a16="http://schemas.microsoft.com/office/drawing/2014/main" id="{06B445AF-8F2C-408B-B5D9-02D355A9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431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P′ (0, 1)</a:t>
            </a:r>
          </a:p>
        </p:txBody>
      </p:sp>
      <p:sp>
        <p:nvSpPr>
          <p:cNvPr id="19" name="反時計回りの90度">
            <a:extLst xmlns:a="http://schemas.openxmlformats.org/drawingml/2006/main">
              <a:ext uri="{FF2B5EF4-FFF2-40B4-BE49-F238E27FC236}">
                <a16:creationId xmlns:a16="http://schemas.microsoft.com/office/drawing/2014/main" id="{7CA8BA6D-ACCD-4DD7-B63E-A6B30A8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38425"/>
            <a:ext cx="1381125" cy="1381125"/>
          </a:xfrm>
          <a:custGeom xmlns:a="http://schemas.openxmlformats.org/drawingml/2006/main">
            <a:pathLst>
              <a:path w="1381125" h="1381125">
                <a:moveTo>
                  <a:pt x="1381125" y="1381125"/>
                </a:moveTo>
                <a:cubicBezTo>
                  <a:pt x="1381125" y="618351"/>
                  <a:pt x="762774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7E7A"/>
            </a:solidFill>
          </a:ln>
        </p:spPr>
      </p:sp>
      <p:sp>
        <p:nvSpPr>
          <p:cNvPr id="20" name="反時計回りの矢印">
            <a:extLst xmlns:a="http://schemas.openxmlformats.org/drawingml/2006/main">
              <a:ext uri="{FF2B5EF4-FFF2-40B4-BE49-F238E27FC236}">
                <a16:creationId xmlns:a16="http://schemas.microsoft.com/office/drawing/2014/main" id="{AC6EE0C9-B506-4C4C-9AB1-E341C87A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113" y="2823461"/>
            <a:ext cx="152400" cy="114300"/>
          </a:xfrm>
          <a:custGeom xmlns:a="http://schemas.openxmlformats.org/drawingml/2006/main">
            <a:pathLst>
              <a:path w="152400" h="114300">
                <a:moveTo>
                  <a:pt x="0" y="0"/>
                </a:moveTo>
                <a:lnTo>
                  <a:pt x="152400" y="9525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117E7A"/>
          </a:solidFill>
          <a:ln xmlns:a="http://schemas.openxmlformats.org/drawingml/2006/main" w="0">
            <a:solidFill>
              <a:srgbClr val="117E7A"/>
            </a:solidFill>
          </a:ln>
        </p:spPr>
      </p:sp>
      <p:sp>
        <p:nvSpPr>
          <p:cNvPr id="21" name="90°">
            <a:extLst xmlns:a="http://schemas.openxmlformats.org/drawingml/2006/main">
              <a:ext uri="{FF2B5EF4-FFF2-40B4-BE49-F238E27FC236}">
                <a16:creationId xmlns:a16="http://schemas.microsoft.com/office/drawing/2014/main" id="{572AA63A-F7DC-4FD1-9619-18CA0B0D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099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90°</a:t>
            </a:r>
          </a:p>
        </p:txBody>
      </p:sp>
      <p:sp>
        <p:nvSpPr>
          <p:cNvPr id="22" name="点が右から上へ移る">
            <a:extLst xmlns:a="http://schemas.openxmlformats.org/drawingml/2006/main">
              <a:ext uri="{FF2B5EF4-FFF2-40B4-BE49-F238E27FC236}">
                <a16:creationId xmlns:a16="http://schemas.microsoft.com/office/drawing/2014/main" id="{5B44FB79-616B-440D-A47E-1E53EAEA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点が右から上へ移る</a:t>
            </a:r>
          </a:p>
        </p:txBody>
      </p:sp>
      <p:sp>
        <p:nvSpPr>
          <p:cNvPr id="23" name="点の角度に θ を足すので、回転行列は R(θ)。">
            <a:extLst xmlns:a="http://schemas.openxmlformats.org/drawingml/2006/main">
              <a:ext uri="{FF2B5EF4-FFF2-40B4-BE49-F238E27FC236}">
                <a16:creationId xmlns:a16="http://schemas.microsoft.com/office/drawing/2014/main" id="{F3B8D063-3385-43EF-824D-0984C3F6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点の角度に θ を足すので、回転行列は R(θ)。</a:t>
            </a:r>
          </a:p>
        </p:txBody>
      </p:sp>
    </p:spTree>
    <p:extLst>
      <p:ext uri="{BB962C8B-B14F-4D97-AF65-F5344CB8AC3E}">
        <p14:creationId xmlns:p14="http://schemas.microsoft.com/office/powerpoint/2010/main" val="910600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座標軸を反時計回りに回す">
            <a:extLst xmlns:a="http://schemas.openxmlformats.org/drawingml/2006/main">
              <a:ext uri="{FF2B5EF4-FFF2-40B4-BE49-F238E27FC236}">
                <a16:creationId xmlns:a16="http://schemas.microsoft.com/office/drawing/2014/main" id="{959018CA-EAC5-4407-80EF-8080607B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203E4C"/>
                </a:solidFill>
                <a:latin typeface="Meiryo"/>
                <a:ea typeface="Meiryo"/>
                <a:cs typeface="Meiryo"/>
              </a:rPr>
              <a:t>座標軸を反時計回りに回す</a:t>
            </a:r>
          </a:p>
        </p:txBody>
      </p:sp>
      <p:sp>
        <p:nvSpPr>
          <p:cNvPr id="2" name="点 P を固定し、座標軸を原点のまわりに θ 回す。">
            <a:extLst xmlns:a="http://schemas.openxmlformats.org/drawingml/2006/main">
              <a:ext uri="{FF2B5EF4-FFF2-40B4-BE49-F238E27FC236}">
                <a16:creationId xmlns:a16="http://schemas.microsoft.com/office/drawing/2014/main" id="{2F7BCD49-2F65-48C2-B92E-45A088F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144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点 P を固定し、座標軸を原点のまわりに θ 回す。</a:t>
            </a:r>
          </a:p>
        </p:txBody>
      </p:sp>
      <p:sp>
        <p:nvSpPr>
          <p:cNvPr id="3" name="r：原点からの距離　φ：元の x 軸から測った角度">
            <a:extLst xmlns:a="http://schemas.openxmlformats.org/drawingml/2006/main">
              <a:ext uri="{FF2B5EF4-FFF2-40B4-BE49-F238E27FC236}">
                <a16:creationId xmlns:a16="http://schemas.microsoft.com/office/drawing/2014/main" id="{F2F5701F-4E2D-4AA6-825B-B3085B88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r：原点からの距離　φ：元の x 軸から測った角度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M00004">
                <a:extLst xmlns:a="http://schemas.openxmlformats.org/drawingml/2006/main">
                  <a:ext uri="{FF2B5EF4-FFF2-40B4-BE49-F238E27FC236}">
                    <a16:creationId xmlns:a16="http://schemas.microsoft.com/office/drawing/2014/main" id="{F946437F-E726-4D26-A359-0A8DC56AB08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1943100"/>
                <a:ext cx="6667500" cy="4476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x=r</m:t>
                      </m:r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⁡ϕ,</m:t>
                      </m:r>
                      <m:r>
                        <m:rPr>
                          <m:nor/>
                        </m:rP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  </m:t>
                      </m:r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y=r</m:t>
                      </m:r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32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⁡ϕ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EQM00004">
                <a:extLst xmlns:a="http://schemas.openxmlformats.org/drawingml/2006/main">
                  <a:ext uri="{FF2B5EF4-FFF2-40B4-BE49-F238E27FC236}">
                    <a16:creationId xmlns:a16="http://schemas.microsoft.com/office/drawing/2014/main" id="{F946437F-E726-4D26-A359-0A8DC56AB08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1943100"/>
                <a:ext cx="6667500" cy="4476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x=r\cos\phi,\qquad y=r\sin\phi</a:t>
                </a:r>
              </a:p>
            </p:txBody>
          </p:sp>
        </mc:Fallback>
      </mc:AlternateContent>
      <p:sp>
        <p:nvSpPr>
          <p:cNvPr id="5" name="新しい x′ 軸から見た角度は φ − θ">
            <a:extLst xmlns:a="http://schemas.openxmlformats.org/drawingml/2006/main">
              <a:ext uri="{FF2B5EF4-FFF2-40B4-BE49-F238E27FC236}">
                <a16:creationId xmlns:a16="http://schemas.microsoft.com/office/drawing/2014/main" id="{BB45EF49-703E-45A2-9674-8FDD8234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新しい x′ 軸から見た角度は φ − 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05">
                <a:extLst xmlns:a="http://schemas.openxmlformats.org/drawingml/2006/main">
                  <a:ext uri="{FF2B5EF4-FFF2-40B4-BE49-F238E27FC236}">
                    <a16:creationId xmlns:a16="http://schemas.microsoft.com/office/drawing/2014/main" id="{34E51579-411B-4A81-9E0E-CE068881FF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29241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=r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⁡(ϕ−θ)=x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⁡θ+y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QM00005">
                <a:extLst xmlns:a="http://schemas.openxmlformats.org/drawingml/2006/main">
                  <a:ext uri="{FF2B5EF4-FFF2-40B4-BE49-F238E27FC236}">
                    <a16:creationId xmlns:a16="http://schemas.microsoft.com/office/drawing/2014/main" id="{34E51579-411B-4A81-9E0E-CE068881FF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29241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x'=r\cos(\phi-\theta)=x\cos\theta+y\sin\theta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M00006">
                <a:extLst xmlns:a="http://schemas.openxmlformats.org/drawingml/2006/main">
                  <a:ext uri="{FF2B5EF4-FFF2-40B4-BE49-F238E27FC236}">
                    <a16:creationId xmlns:a16="http://schemas.microsoft.com/office/drawing/2014/main" id="{890FCF84-12FC-47E8-AD69-7393FC0FA3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34956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175" b="0" lang="en-US">
                              <a:solidFill>
                                <a:srgbClr val="203E4C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=r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⁡(ϕ−θ)=−x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⁡θ+y</m:t>
                      </m:r>
                      <m:r>
                        <m:rPr>
                          <m:sty m:val="p"/>
                        </m:rP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175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QM00006">
                <a:extLst xmlns:a="http://schemas.openxmlformats.org/drawingml/2006/main">
                  <a:ext uri="{FF2B5EF4-FFF2-40B4-BE49-F238E27FC236}">
                    <a16:creationId xmlns:a16="http://schemas.microsoft.com/office/drawing/2014/main" id="{890FCF84-12FC-47E8-AD69-7393FC0FA3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19125" y="3495675"/>
                <a:ext cx="6810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y'=r\sin(\phi-\theta)=-x\sin\theta+y\cos\theta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M00007">
                <a:extLst xmlns:a="http://schemas.openxmlformats.org/drawingml/2006/main">
                  <a:ext uri="{FF2B5EF4-FFF2-40B4-BE49-F238E27FC236}">
                    <a16:creationId xmlns:a16="http://schemas.microsoft.com/office/drawing/2014/main" id="{5AE1FD15-D626-454C-98C3-098B53B4A7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4375" y="4295775"/>
                <a:ext cx="6572250" cy="1143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d>
                        <m:dPr>
                          <m:sepChr m:val=""/>
                        </m:dPr>
                        <m:e>
                          <m:eqArr>
                            <m:e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x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m:rPr>
                                      <m:sty m:val="p"/>
                                    </m:rP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y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m:rPr>
                                      <m:sty m:val="p"/>
                                    </m:rPr>
                                    <a:rPr sz="2550" b="0" lang="en-US">
                                      <a:solidFill>
                                        <a:srgbClr val="203E4C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sz="2550" b="0" lang="en-US">
                          <a:solidFill>
                            <a:srgbClr val="203E4C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d>
                        <m:dPr>
                          <m:sepChr m:val=""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2"/>
                                  </m:mcPr>
                                </m:mc>
                              </m:mcs>
                            </m:mPr>
                            <m:mr>
                              <m:e>
                                <m:func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sz="2550" b="0" lang="en-US">
                                        <a:solidFill>
                                          <a:srgbClr val="203E4C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sz="2550" b="0" lang="en-US">
                                        <a:solidFill>
                                          <a:srgbClr val="203E4C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sz="2550" b="0" lang="en-US">
                                        <a:solidFill>
                                          <a:srgbClr val="203E4C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sz="2550" b="0" lang="en-US">
                                        <a:solidFill>
                                          <a:srgbClr val="203E4C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sz="2550" b="0" lang="en-US">
                                    <a:solidFill>
                                      <a:srgbClr val="203E4C"/>
                                    </a:solidFill>
                                    <a:latin typeface="Cambria Math"/>
                                    <a:ea typeface="Meiryo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sz="2550" b="0" lang="en-US">
                                    <a:solidFill>
                                      <a:srgbClr val="203E4C"/>
                                    </a:solidFill>
                                    <a:latin typeface="Cambria Math"/>
                                    <a:ea typeface="Meiryo"/>
                                  </a:rPr>
                                  <m:t>sin</m:t>
                                </m:r>
                                <m:r>
                                  <a:rPr sz="2550" b="0" lang="en-US">
                                    <a:solidFill>
                                      <a:srgbClr val="203E4C"/>
                                    </a:solidFill>
                                    <a:latin typeface="Cambria Math"/>
                                    <a:ea typeface="Meiryo"/>
                                  </a:rPr>
                                  <m:t>⁡θ</m:t>
                                </m:r>
                              </m:e>
                              <m:e>
                                <m:func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sz="2550" b="0" lang="en-US">
                                        <a:solidFill>
                                          <a:srgbClr val="203E4C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sz="2550" b="0" lang="en-US">
                                        <a:solidFill>
                                          <a:srgbClr val="203E4C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sepChr m:val=""/>
                        </m:dPr>
                        <m:e>
                          <m:eqArr>
                            <m:e>
                              <m:r>
                                <a:rPr sz="2550" b="0" lang="en-US">
                                  <a:solidFill>
                                    <a:srgbClr val="203E4C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e>
                              <m:r>
                                <a:rPr sz="2550" b="0" lang="en-US">
                                  <a:solidFill>
                                    <a:srgbClr val="203E4C"/>
                                  </a:solidFill>
                                  <a:latin typeface="Cambria Math"/>
                                  <a:ea typeface="Meiryo"/>
                                </a:rPr>
                                <m:t>y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8" name="EQM00007">
                <a:extLst xmlns:a="http://schemas.openxmlformats.org/drawingml/2006/main">
                  <a:ext uri="{FF2B5EF4-FFF2-40B4-BE49-F238E27FC236}">
                    <a16:creationId xmlns:a16="http://schemas.microsoft.com/office/drawing/2014/main" id="{5AE1FD15-D626-454C-98C3-098B53B4A7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4375" y="4295775"/>
                <a:ext cx="6572250" cy="1143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 b="0">
                    <a:solidFill>
                      <a:srgbClr val="203E4C"/>
                    </a:solidFill>
                    <a:latin typeface="Cambria Math"/>
                    <a:ea typeface="Cambria Math"/>
                    <a:cs typeface="Cambria Math"/>
                  </a:rPr>
                  <a:t>\begin{pmatrix}x'\\y'\end{pmatrix}=\begin{pmatrix}\cos\theta&amp;\sin\theta\\-\sin\theta&amp;\cos\theta\end{pmatrix}\begin{pmatrix}x\\y\end{pmatrix}</a:t>
                </a:r>
              </a:p>
            </p:txBody>
          </p:sp>
        </mc:Fallback>
      </mc:AlternateContent>
      <p:sp>
        <p:nvSpPr>
          <p:cNvPr id="9" name="θ = 90°、原点は固定">
            <a:extLst xmlns:a="http://schemas.openxmlformats.org/drawingml/2006/main">
              <a:ext uri="{FF2B5EF4-FFF2-40B4-BE49-F238E27FC236}">
                <a16:creationId xmlns:a16="http://schemas.microsoft.com/office/drawing/2014/main" id="{B16706EB-A358-4245-88E8-0AE3BCD1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66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θ = 90°、原点は固定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162D9-F9AE-460A-A698-CA78CFA050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4019550"/>
            <a:ext cx="3476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959A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A4DDF-E5C4-44DD-82FC-944485236F8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53550" y="2181225"/>
            <a:ext cx="0" cy="2247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959A"/>
            </a:solidFill>
            <a:tailEnd type="triangle" w="sm" len="sm"/>
          </a:ln>
        </p:spPr>
      </p:cxnSp>
      <p:sp>
        <p:nvSpPr>
          <p:cNvPr id="12" name="x">
            <a:extLst xmlns:a="http://schemas.openxmlformats.org/drawingml/2006/main">
              <a:ext uri="{FF2B5EF4-FFF2-40B4-BE49-F238E27FC236}">
                <a16:creationId xmlns:a16="http://schemas.microsoft.com/office/drawing/2014/main" id="{4183D17B-8298-4FCC-8465-F31A2DDF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8290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13" name="y">
            <a:extLst xmlns:a="http://schemas.openxmlformats.org/drawingml/2006/main">
              <a:ext uri="{FF2B5EF4-FFF2-40B4-BE49-F238E27FC236}">
                <a16:creationId xmlns:a16="http://schemas.microsoft.com/office/drawing/2014/main" id="{F34B81B5-4640-4372-ADAB-712556DE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192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rPr>
              <a:t>y</a:t>
            </a:r>
          </a:p>
        </p:txBody>
      </p:sp>
      <p:sp>
        <p:nvSpPr>
          <p:cNvPr id="14" name="O">
            <a:extLst xmlns:a="http://schemas.openxmlformats.org/drawingml/2006/main">
              <a:ext uri="{FF2B5EF4-FFF2-40B4-BE49-F238E27FC236}">
                <a16:creationId xmlns:a16="http://schemas.microsoft.com/office/drawing/2014/main" id="{E594B97F-4AA2-489F-8BA9-5F2740D6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433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O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A2DFF-B832-4A7D-9525-933CC9A0CA8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53550" y="2181225"/>
            <a:ext cx="0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7E7A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CF10F-DA2F-42AD-B134-F2C94BBF9B7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905750" y="40195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7E7A"/>
            </a:solidFill>
            <a:tailEnd type="triangle" w="sm" len="sm"/>
          </a:ln>
        </p:spPr>
      </p:cxnSp>
      <p:sp>
        <p:nvSpPr>
          <p:cNvPr id="17" name="x′">
            <a:extLst xmlns:a="http://schemas.openxmlformats.org/drawingml/2006/main">
              <a:ext uri="{FF2B5EF4-FFF2-40B4-BE49-F238E27FC236}">
                <a16:creationId xmlns:a16="http://schemas.microsoft.com/office/drawing/2014/main" id="{4E26818D-CCB3-4166-9F2D-1A0BE6B2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x′</a:t>
            </a:r>
          </a:p>
        </p:txBody>
      </p:sp>
      <p:sp>
        <p:nvSpPr>
          <p:cNvPr id="18" name="y′">
            <a:extLst xmlns:a="http://schemas.openxmlformats.org/drawingml/2006/main">
              <a:ext uri="{FF2B5EF4-FFF2-40B4-BE49-F238E27FC236}">
                <a16:creationId xmlns:a16="http://schemas.microsoft.com/office/drawing/2014/main" id="{A30B965B-6B89-46A7-9303-62A961AB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337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y′</a:t>
            </a:r>
          </a:p>
        </p:txBody>
      </p:sp>
      <p:sp>
        <p:nvSpPr>
          <p:cNvPr id="19" name="点">
            <a:extLst xmlns:a="http://schemas.openxmlformats.org/drawingml/2006/main">
              <a:ext uri="{FF2B5EF4-FFF2-40B4-BE49-F238E27FC236}">
                <a16:creationId xmlns:a16="http://schemas.microsoft.com/office/drawing/2014/main" id="{76DF86E2-7DB9-430C-96D9-6E0CC86C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962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E4C"/>
          </a:solidFill>
          <a:ln xmlns:a="http://schemas.openxmlformats.org/drawingml/2006/main" w="9525">
            <a:solidFill>
              <a:srgbClr val="203E4C"/>
            </a:solidFill>
          </a:ln>
        </p:spPr>
      </p:sp>
      <p:sp>
        <p:nvSpPr>
          <p:cNvPr id="20" name="P (1, 0)">
            <a:extLst xmlns:a="http://schemas.openxmlformats.org/drawingml/2006/main">
              <a:ext uri="{FF2B5EF4-FFF2-40B4-BE49-F238E27FC236}">
                <a16:creationId xmlns:a16="http://schemas.microsoft.com/office/drawing/2014/main" id="{266A71B3-2584-42E3-845A-D1D3F083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48150"/>
            <a:ext cx="1524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P (1, 0)</a:t>
            </a:r>
          </a:p>
        </p:txBody>
      </p:sp>
      <p:sp>
        <p:nvSpPr>
          <p:cNvPr id="21" name="反時計回りの90度">
            <a:extLst xmlns:a="http://schemas.openxmlformats.org/drawingml/2006/main">
              <a:ext uri="{FF2B5EF4-FFF2-40B4-BE49-F238E27FC236}">
                <a16:creationId xmlns:a16="http://schemas.microsoft.com/office/drawing/2014/main" id="{DB7464D8-06A3-4988-B223-DED06D81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05175"/>
            <a:ext cx="714375" cy="714375"/>
          </a:xfrm>
          <a:custGeom xmlns:a="http://schemas.openxmlformats.org/drawingml/2006/main">
            <a:pathLst>
              <a:path w="714375" h="714375">
                <a:moveTo>
                  <a:pt x="714375" y="714375"/>
                </a:moveTo>
                <a:cubicBezTo>
                  <a:pt x="714375" y="319837"/>
                  <a:pt x="394538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7E7A"/>
            </a:solidFill>
          </a:ln>
        </p:spPr>
      </p:sp>
      <p:sp>
        <p:nvSpPr>
          <p:cNvPr id="22" name="反時計回りの矢印">
            <a:extLst xmlns:a="http://schemas.openxmlformats.org/drawingml/2006/main">
              <a:ext uri="{FF2B5EF4-FFF2-40B4-BE49-F238E27FC236}">
                <a16:creationId xmlns:a16="http://schemas.microsoft.com/office/drawing/2014/main" id="{B9DA4666-3F01-4099-A414-83C21D6C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738" y="3400883"/>
            <a:ext cx="152400" cy="114300"/>
          </a:xfrm>
          <a:custGeom xmlns:a="http://schemas.openxmlformats.org/drawingml/2006/main">
            <a:pathLst>
              <a:path w="152400" h="114300">
                <a:moveTo>
                  <a:pt x="0" y="0"/>
                </a:moveTo>
                <a:lnTo>
                  <a:pt x="152400" y="9525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117E7A"/>
          </a:solidFill>
          <a:ln xmlns:a="http://schemas.openxmlformats.org/drawingml/2006/main" w="0">
            <a:solidFill>
              <a:srgbClr val="117E7A"/>
            </a:solidFill>
          </a:ln>
        </p:spPr>
      </p:sp>
      <p:sp>
        <p:nvSpPr>
          <p:cNvPr id="23" name="90°">
            <a:extLst xmlns:a="http://schemas.openxmlformats.org/drawingml/2006/main">
              <a:ext uri="{FF2B5EF4-FFF2-40B4-BE49-F238E27FC236}">
                <a16:creationId xmlns:a16="http://schemas.microsoft.com/office/drawing/2014/main" id="{EABD6020-CA12-4987-ADEF-A440E44B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908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90°</a:t>
            </a:r>
          </a:p>
        </p:txBody>
      </p:sp>
      <p:sp>
        <p:nvSpPr>
          <p:cNvPr id="24" name="新しい座標は (0, −1)">
            <a:extLst xmlns:a="http://schemas.openxmlformats.org/drawingml/2006/main">
              <a:ext uri="{FF2B5EF4-FFF2-40B4-BE49-F238E27FC236}">
                <a16:creationId xmlns:a16="http://schemas.microsoft.com/office/drawing/2014/main" id="{748F4403-726A-4134-B8BB-69086F0E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953000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新しい座標は (0, −1)</a:t>
            </a:r>
          </a:p>
        </p:txBody>
      </p:sp>
      <p:sp>
        <p:nvSpPr>
          <p:cNvPr id="25" name="原点も (x₀, y₀) に移す場合：x, y を x − ">
            <a:extLst xmlns:a="http://schemas.openxmlformats.org/drawingml/2006/main">
              <a:ext uri="{FF2B5EF4-FFF2-40B4-BE49-F238E27FC236}">
                <a16:creationId xmlns:a16="http://schemas.microsoft.com/office/drawing/2014/main" id="{5643469B-8498-41D9-B15D-B3A129E3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原点も (x₀, y₀) に移す場合：x, y を x − x₀, y − y₀ に置き換える。</a:t>
            </a:r>
          </a:p>
        </p:txBody>
      </p:sp>
      <p:sp>
        <p:nvSpPr>
          <p:cNvPr id="26" name="軸が θ 回ると、点の相対角度は θ 減る。回転行列は R(">
            <a:extLst xmlns:a="http://schemas.openxmlformats.org/drawingml/2006/main">
              <a:ext uri="{FF2B5EF4-FFF2-40B4-BE49-F238E27FC236}">
                <a16:creationId xmlns:a16="http://schemas.microsoft.com/office/drawing/2014/main" id="{482BEFC1-2485-4CC8-BB6D-021B421F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軸が θ 回ると、点の相対角度は θ 減る。回転行列は R(−θ)。</a:t>
            </a:r>
          </a:p>
        </p:txBody>
      </p:sp>
    </p:spTree>
    <p:extLst>
      <p:ext uri="{BB962C8B-B14F-4D97-AF65-F5344CB8AC3E}">
        <p14:creationId xmlns:p14="http://schemas.microsoft.com/office/powerpoint/2010/main" val="1998091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Presentation</dc:title>
  <dcterms:created xsi:type="dcterms:W3CDTF">2026-10-15T01:30:35.9970000Z</dcterms:created>
  <dcterms:modified xsi:type="dcterms:W3CDTF">2026-10-15T01:30:35.9970000Z</dcterms:modified>
</coreProperties>
</file>