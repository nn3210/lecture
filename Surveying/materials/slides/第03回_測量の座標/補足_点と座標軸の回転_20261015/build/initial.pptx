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4f996840fb46da" /><Relationship Type="http://schemas.openxmlformats.org/officeDocument/2006/relationships/extended-properties" Target="/docProps/app.xml" Id="R2761582f3a4149af" /><Relationship Type="http://schemas.openxmlformats.org/officeDocument/2006/relationships/officeDocument" Target="/ppt/presentation.xml" Id="Rc84645177e34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6afe1085f84aa1"/>
  </p:sldMasterIdLst>
  <p:notesMasterIdLst>
    <p:notesMasterId xmlns:r="http://schemas.openxmlformats.org/officeDocument/2006/relationships" r:id="R6accebfb17d4474e"/>
  </p:notesMasterIdLst>
  <p:sldIdLst>
    <p:sldId xmlns:r="http://schemas.openxmlformats.org/officeDocument/2006/relationships" id="256" r:id="R5e6619c4b170477e"/>
    <p:sldId xmlns:r="http://schemas.openxmlformats.org/officeDocument/2006/relationships" id="257" r:id="Rd348ecbbf03a4d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784a73003c411b" /><Relationship Type="http://schemas.openxmlformats.org/officeDocument/2006/relationships/slideMaster" Target="/ppt/slideMasters/slideMaster1.xml" Id="R5c6afe1085f84aa1" /><Relationship Type="http://schemas.openxmlformats.org/officeDocument/2006/relationships/notesMaster" Target="/ppt/notesMasters/notesMaster1.xml" Id="R6accebfb17d4474e" /><Relationship Type="http://schemas.openxmlformats.org/officeDocument/2006/relationships/presProps" Target="/ppt/presProps.xml" Id="Rd90122753daf4f62" /><Relationship Type="http://schemas.openxmlformats.org/officeDocument/2006/relationships/tableStyles" Target="/ppt/tableStyles.xml" Id="R600ac7b47d7c4cd0" /><Relationship Type="http://schemas.openxmlformats.org/officeDocument/2006/relationships/slide" Target="/ppt/slides/slide1.xml" Id="R5e6619c4b170477e" /><Relationship Type="http://schemas.openxmlformats.org/officeDocument/2006/relationships/slide" Target="/ppt/slides/slide2.xml" Id="Rd348ecbbf03a4d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4d83aa3e33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600c3b830d48cd" /><Relationship Type="http://schemas.openxmlformats.org/officeDocument/2006/relationships/notesMaster" Target="/ppt/notesMasters/notesMaster1.xml" Id="Ra5bf0915adaa4b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ff95f4b24b4cf3" /><Relationship Type="http://schemas.openxmlformats.org/officeDocument/2006/relationships/notesMaster" Target="/ppt/notesMasters/notesMaster1.xml" Id="R7b7971f24e8548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の数学の座標系（x軸は右向き、y軸は上向き）。φはもとのx軸から点Pまでの反時計回りの角。rは原点から点までの距離。角度がφ+θになるので、三角関数の加法定理を適用する。x′,y′は、固定した同じ座標軸で表す回転後の点の座標。θ=90°、P=(1,0)ならP′=(0,1)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の数学の座標系（x軸は右向き、y軸は上向き）。点は動かさず、軸だけを反時計回りに回す。新しいx′軸から点までの角度はφ−θ。加法定理cos(φ−θ)=cosφcosθ+sinφsinθ、sin(φ−θ)=sinφcosθ−cosφsinθを使う。x′,y′は同じ点の新しい座標。図ではx′軸が上、y′軸が左なので、右側の点はy′が負になる。原点を(x₀,y₀)に移す場合は、先にu=x−x₀、v=y−y₀と置き、x′=u cosθ+v sinθ、y′=−u sinθ+v cosθ。R(−θ)=R(θ)の逆行列=R(θ)の転置。測量のX北・Y東・方向角の約束とは区別して説明する。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b35d92df94a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976e2c6e54b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ecbedea7947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93a7aa81a4a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f78a3d4e144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7287048e24f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C68ABC-9342-4B16-B3ED-8DE02548E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E2CF53-9781-4B63-BB97-A6C3F54043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443A71-D136-47CB-9CE2-FB684A6AB9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A717EE-340D-4507-9986-F5C65E6505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EF6ED2-6397-4C3C-A811-0BCD861E0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981639-1224-43D8-91D0-0F8299C8B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8126F8-6E30-406C-8FDF-E675968E3C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CBA439-E153-44A2-9357-86D17C3252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2F6F9F-8080-4A1E-BDE7-B691805E1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4E91EF-86B6-4CBE-BF79-8C44304E74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369329375b4acb" /><Relationship Type="http://schemas.openxmlformats.org/officeDocument/2006/relationships/slideLayout" Target="/ppt/slideLayouts/slideLayout1.xml" Id="Rc3a346261c954db6" /><Relationship Type="http://schemas.openxmlformats.org/officeDocument/2006/relationships/slideLayout" Target="/ppt/slideLayouts/slideLayout2.xml" Id="R73123ec990a74d8e" /><Relationship Type="http://schemas.openxmlformats.org/officeDocument/2006/relationships/slideLayout" Target="/ppt/slideLayouts/slideLayout3.xml" Id="R8f48801773bf46d8" /><Relationship Type="http://schemas.openxmlformats.org/officeDocument/2006/relationships/slideLayout" Target="/ppt/slideLayouts/slideLayout4.xml" Id="Rd9d3465ee5164896" /><Relationship Type="http://schemas.openxmlformats.org/officeDocument/2006/relationships/slideLayout" Target="/ppt/slideLayouts/slideLayout5.xml" Id="Radd408f5816943cc" /><Relationship Type="http://schemas.openxmlformats.org/officeDocument/2006/relationships/slideLayout" Target="/ppt/slideLayouts/slideLayout6.xml" Id="R6f1a7d5459c74a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a346261c954db6"/>
    <p:sldLayoutId xmlns:r="http://schemas.openxmlformats.org/officeDocument/2006/relationships" id="2147483650" r:id="R73123ec990a74d8e"/>
    <p:sldLayoutId xmlns:r="http://schemas.openxmlformats.org/officeDocument/2006/relationships" id="2147483651" r:id="R8f48801773bf46d8"/>
    <p:sldLayoutId xmlns:r="http://schemas.openxmlformats.org/officeDocument/2006/relationships" id="2147483652" r:id="Rd9d3465ee5164896"/>
    <p:sldLayoutId xmlns:r="http://schemas.openxmlformats.org/officeDocument/2006/relationships" id="2147483653" r:id="Radd408f5816943cc"/>
    <p:sldLayoutId xmlns:r="http://schemas.openxmlformats.org/officeDocument/2006/relationships" id="2147483654" r:id="R6f1a7d5459c74a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54ccabc444a6a" /><Relationship Type="http://schemas.openxmlformats.org/officeDocument/2006/relationships/notesSlide" Target="/ppt/notesSlides/notesSlide1.xml" Id="R9b7f74fc1c294b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9133fa3544fa6" /><Relationship Type="http://schemas.openxmlformats.org/officeDocument/2006/relationships/notesSlide" Target="/ppt/notesSlides/notesSlide2.xml" Id="R3973fe0e329c43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点を反時計回りに回す">
            <a:extLst xmlns:a="http://schemas.openxmlformats.org/drawingml/2006/main">
              <a:ext uri="{FF2B5EF4-FFF2-40B4-BE49-F238E27FC236}">
                <a16:creationId xmlns:a16="http://schemas.microsoft.com/office/drawing/2014/main" id="{12ECF34C-2136-4FEB-967C-0E0036AA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3E4C"/>
                </a:solidFill>
                <a:latin typeface="Meiryo"/>
                <a:ea typeface="Meiryo"/>
                <a:cs typeface="Meiryo"/>
              </a:rPr>
              <a:t>点を反時計回りに回す</a:t>
            </a:r>
          </a:p>
        </p:txBody>
      </p:sp>
      <p:sp>
        <p:nvSpPr>
          <p:cNvPr id="2" name="座標軸を固定し、点 P を原点のまわりに θ 回す。">
            <a:extLst xmlns:a="http://schemas.openxmlformats.org/drawingml/2006/main">
              <a:ext uri="{FF2B5EF4-FFF2-40B4-BE49-F238E27FC236}">
                <a16:creationId xmlns:a16="http://schemas.microsoft.com/office/drawing/2014/main" id="{F9BAA592-BB2E-4491-A3CD-1407FC54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144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座標軸を固定し、点 P を原点のまわりに θ 回す。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M00000">
                <a:extLst xmlns:a="http://schemas.openxmlformats.org/drawingml/2006/main">
                  <a:ext uri="{FF2B5EF4-FFF2-40B4-BE49-F238E27FC236}">
                    <a16:creationId xmlns:a16="http://schemas.microsoft.com/office/drawing/2014/main" id="{6B41217B-DFEC-416F-ABED-90FF1C380D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1809750"/>
                <a:ext cx="666750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x=r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⁡ϕ,</m:t>
                      </m:r>
                      <m:r>
                        <m:rPr>
                          <m:nor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y=r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⁡ϕ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EQM00000">
                <a:extLst xmlns:a="http://schemas.openxmlformats.org/drawingml/2006/main">
                  <a:ext uri="{FF2B5EF4-FFF2-40B4-BE49-F238E27FC236}">
                    <a16:creationId xmlns:a16="http://schemas.microsoft.com/office/drawing/2014/main" id="{6B41217B-DFEC-416F-ABED-90FF1C380D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1809750"/>
                <a:ext cx="666750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x=r\cos\phi,\qquad y=r\sin\phi</a:t>
                </a:r>
              </a:p>
            </p:txBody>
          </p:sp>
        </mc:Fallback>
      </mc:AlternateContent>
      <p:sp>
        <p:nvSpPr>
          <p:cNvPr id="4" name="回転後の角度は φ + θ">
            <a:extLst xmlns:a="http://schemas.openxmlformats.org/drawingml/2006/main">
              <a:ext uri="{FF2B5EF4-FFF2-40B4-BE49-F238E27FC236}">
                <a16:creationId xmlns:a16="http://schemas.microsoft.com/office/drawing/2014/main" id="{6AE82002-88D6-4FEC-8082-4DDF2825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回転後の角度は φ + 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01">
                <a:extLst xmlns:a="http://schemas.openxmlformats.org/drawingml/2006/main">
                  <a:ext uri="{FF2B5EF4-FFF2-40B4-BE49-F238E27FC236}">
                    <a16:creationId xmlns:a16="http://schemas.microsoft.com/office/drawing/2014/main" id="{88476EBF-4813-405C-9057-530B8E0D39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29241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⁡(ϕ+θ)=x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⁡θ−y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01">
                <a:extLst xmlns:a="http://schemas.openxmlformats.org/drawingml/2006/main">
                  <a:ext uri="{FF2B5EF4-FFF2-40B4-BE49-F238E27FC236}">
                    <a16:creationId xmlns:a16="http://schemas.microsoft.com/office/drawing/2014/main" id="{88476EBF-4813-405C-9057-530B8E0D39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29241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x'=r\cos(\phi+\theta)=x\cos\theta-y\sin\theta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02">
                <a:extLst xmlns:a="http://schemas.openxmlformats.org/drawingml/2006/main">
                  <a:ext uri="{FF2B5EF4-FFF2-40B4-BE49-F238E27FC236}">
                    <a16:creationId xmlns:a16="http://schemas.microsoft.com/office/drawing/2014/main" id="{7B3CC3F9-E512-4BE7-865F-D520278C0C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4956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⁡(ϕ+θ)=x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02">
                <a:extLst xmlns:a="http://schemas.openxmlformats.org/drawingml/2006/main">
                  <a:ext uri="{FF2B5EF4-FFF2-40B4-BE49-F238E27FC236}">
                    <a16:creationId xmlns:a16="http://schemas.microsoft.com/office/drawing/2014/main" id="{7B3CC3F9-E512-4BE7-865F-D520278C0C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4956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y'=r\sin(\phi+\theta)=x\sin\theta+y\cos\theta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03">
                <a:extLst xmlns:a="http://schemas.openxmlformats.org/drawingml/2006/main">
                  <a:ext uri="{FF2B5EF4-FFF2-40B4-BE49-F238E27FC236}">
                    <a16:creationId xmlns:a16="http://schemas.microsoft.com/office/drawing/2014/main" id="{5C4A1F9B-C243-4C1A-A9E7-9E80B30A0DA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" y="4295775"/>
                <a:ext cx="6572250" cy="1143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d>
                        <m:dPr>
                          <m:sepChr m:val=""/>
                        </m:dPr>
                        <m:e>
                          <m:eqArr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sz="2550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limLow>
                        <m:e>
                          <m:limLow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m>
                                    <m:mPr>
                                      <m:baseJc m:val="center"/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</m:mcPr>
                                        </m:mc>
                                      </m:mcs>
                                    </m:mPr>
                                    <m:mr>
                                      <m:e>
                                        <m:func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θ</m:t>
                                            </m:r>
                                          </m:e>
                                        </m:func>
                                      </m:e>
                                      <m:e>
                                        <m:r>
                                          <a:rPr sz="2550" b="0" lang="en-US">
                                            <a:solidFill>
                                              <a:srgbClr val="203E4C"/>
                                            </a:solidFill>
                                            <a:latin typeface="Cambria Math"/>
                                            <a:ea typeface="Meiryo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sz="2550" b="0" lang="en-US">
                                            <a:solidFill>
                                              <a:srgbClr val="203E4C"/>
                                            </a:solidFill>
                                            <a:latin typeface="Cambria Math"/>
                                            <a:ea typeface="Meiryo"/>
                                          </a:rPr>
                                          <m:t>sin</m:t>
                                        </m:r>
                                        <m:r>
                                          <a:rPr sz="2550" b="0" lang="en-US">
                                            <a:solidFill>
                                              <a:srgbClr val="203E4C"/>
                                            </a:solidFill>
                                            <a:latin typeface="Cambria Math"/>
                                            <a:ea typeface="Meiryo"/>
                                          </a:rPr>
                                          <m:t>⁡θ</m:t>
                                        </m:r>
                                      </m:e>
                                    </m:mr>
                                    <m:mr>
                                      <m:e>
                                        <m:func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θ</m:t>
                                            </m:r>
                                          </m:e>
                                        </m:func>
                                      </m:e>
                                      <m:e>
                                        <m:func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θ</m:t>
                                            </m:r>
                                          </m:e>
                                        </m:func>
                                      </m:e>
                                    </m:mr>
                                  </m:m>
                                </m:e>
                              </m:d>
                            </m:e>
                            <m:lim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a:rPr sz="2550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R(θ)</m:t>
                          </m:r>
                        </m:lim>
                      </m:limLow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e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y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7" name="EQM00003">
                <a:extLst xmlns:a="http://schemas.openxmlformats.org/drawingml/2006/main">
                  <a:ext uri="{FF2B5EF4-FFF2-40B4-BE49-F238E27FC236}">
                    <a16:creationId xmlns:a16="http://schemas.microsoft.com/office/drawing/2014/main" id="{5C4A1F9B-C243-4C1A-A9E7-9E80B30A0DA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" y="4295775"/>
                <a:ext cx="6572250" cy="1143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\begin{pmatrix}x'\\y'\end{pmatrix}=\underbrace{\begin{pmatrix}\cos\theta&amp;-\sin\theta\\\sin\theta&amp;\cos\theta\end{pmatrix}}_{R(\theta)}\begin{pmatrix}x\\y\end{pmatrix}</a:t>
                </a:r>
              </a:p>
            </p:txBody>
          </p:sp>
        </mc:Fallback>
      </mc:AlternateContent>
      <p:sp>
        <p:nvSpPr>
          <p:cNvPr id="8" name="θ = 90°、原点は固定">
            <a:extLst xmlns:a="http://schemas.openxmlformats.org/drawingml/2006/main">
              <a:ext uri="{FF2B5EF4-FFF2-40B4-BE49-F238E27FC236}">
                <a16:creationId xmlns:a16="http://schemas.microsoft.com/office/drawing/2014/main" id="{131BB5EF-6013-4CE2-B552-459B32B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θ = 90°、原点は固定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6BD84-491B-405C-9C24-3CAED9F4C2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4019550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8178B-BA7A-4C79-BA3C-854804ED079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2247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sp>
        <p:nvSpPr>
          <p:cNvPr id="11" name="x">
            <a:extLst xmlns:a="http://schemas.openxmlformats.org/drawingml/2006/main">
              <a:ext uri="{FF2B5EF4-FFF2-40B4-BE49-F238E27FC236}">
                <a16:creationId xmlns:a16="http://schemas.microsoft.com/office/drawing/2014/main" id="{C0357C67-C508-4729-8E1B-82A518EE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290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12" name="y">
            <a:extLst xmlns:a="http://schemas.openxmlformats.org/drawingml/2006/main">
              <a:ext uri="{FF2B5EF4-FFF2-40B4-BE49-F238E27FC236}">
                <a16:creationId xmlns:a16="http://schemas.microsoft.com/office/drawing/2014/main" id="{B06548FA-0F35-476B-91DE-08E4D7D4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192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13" name="O">
            <a:extLst xmlns:a="http://schemas.openxmlformats.org/drawingml/2006/main">
              <a:ext uri="{FF2B5EF4-FFF2-40B4-BE49-F238E27FC236}">
                <a16:creationId xmlns:a16="http://schemas.microsoft.com/office/drawing/2014/main" id="{36EC5D37-79FC-4B5A-8C0B-26384E42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433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O</a:t>
            </a:r>
          </a:p>
        </p:txBody>
      </p:sp>
      <p:sp>
        <p:nvSpPr>
          <p:cNvPr id="14" name="点">
            <a:extLst xmlns:a="http://schemas.openxmlformats.org/drawingml/2006/main">
              <a:ext uri="{FF2B5EF4-FFF2-40B4-BE49-F238E27FC236}">
                <a16:creationId xmlns:a16="http://schemas.microsoft.com/office/drawing/2014/main" id="{2C44744C-FCCD-4632-9DB1-419BF9D0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763A"/>
          </a:solidFill>
          <a:ln xmlns:a="http://schemas.openxmlformats.org/drawingml/2006/main" w="9525">
            <a:solidFill>
              <a:srgbClr val="AD763A"/>
            </a:solidFill>
          </a:ln>
        </p:spPr>
      </p:sp>
      <p:sp>
        <p:nvSpPr>
          <p:cNvPr id="15" name="点">
            <a:extLst xmlns:a="http://schemas.openxmlformats.org/drawingml/2006/main">
              <a:ext uri="{FF2B5EF4-FFF2-40B4-BE49-F238E27FC236}">
                <a16:creationId xmlns:a16="http://schemas.microsoft.com/office/drawing/2014/main" id="{A6B4AA41-847A-4B07-AD3D-203AD493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E7A"/>
          </a:solidFill>
          <a:ln xmlns:a="http://schemas.openxmlformats.org/drawingml/2006/main" w="9525">
            <a:solidFill>
              <a:srgbClr val="117E7A"/>
            </a:solidFill>
          </a:ln>
        </p:spPr>
      </p:sp>
      <p:sp>
        <p:nvSpPr>
          <p:cNvPr id="16" name="P (1, 0)">
            <a:extLst xmlns:a="http://schemas.openxmlformats.org/drawingml/2006/main">
              <a:ext uri="{FF2B5EF4-FFF2-40B4-BE49-F238E27FC236}">
                <a16:creationId xmlns:a16="http://schemas.microsoft.com/office/drawing/2014/main" id="{94A5855B-657E-41E0-8608-AA0E5E1E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166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rPr>
              <a:t>P (1, 0)</a:t>
            </a:r>
          </a:p>
        </p:txBody>
      </p:sp>
      <p:sp>
        <p:nvSpPr>
          <p:cNvPr id="17" name="P′ (0, 1)">
            <a:extLst xmlns:a="http://schemas.openxmlformats.org/drawingml/2006/main">
              <a:ext uri="{FF2B5EF4-FFF2-40B4-BE49-F238E27FC236}">
                <a16:creationId xmlns:a16="http://schemas.microsoft.com/office/drawing/2014/main" id="{D00C695F-DE8A-4EDC-9682-00EDB47C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431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P′ (0, 1)</a:t>
            </a:r>
          </a:p>
        </p:txBody>
      </p:sp>
      <p:sp>
        <p:nvSpPr>
          <p:cNvPr id="18" name="反時計回りの90度">
            <a:extLst xmlns:a="http://schemas.openxmlformats.org/drawingml/2006/main">
              <a:ext uri="{FF2B5EF4-FFF2-40B4-BE49-F238E27FC236}">
                <a16:creationId xmlns:a16="http://schemas.microsoft.com/office/drawing/2014/main" id="{85DF7A7C-D20A-4CA1-AA90-5F536AF7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38425"/>
            <a:ext cx="1381125" cy="1381125"/>
          </a:xfrm>
          <a:custGeom xmlns:a="http://schemas.openxmlformats.org/drawingml/2006/main">
            <a:pathLst>
              <a:path w="1381125" h="1381125">
                <a:moveTo>
                  <a:pt x="1381125" y="1381125"/>
                </a:moveTo>
                <a:cubicBezTo>
                  <a:pt x="1381125" y="618351"/>
                  <a:pt x="762774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7E7A"/>
            </a:solidFill>
          </a:ln>
        </p:spPr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020C3-FF4A-4F7A-BAC2-6DF800EB7F90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9353550" y="2638425"/>
            <a:ext cx="1238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7E7A"/>
            </a:solidFill>
            <a:tailEnd type="triangle" w="sm" len="sm"/>
          </a:ln>
        </p:spPr>
      </p:cxnSp>
      <p:sp>
        <p:nvSpPr>
          <p:cNvPr id="20" name="90°">
            <a:extLst xmlns:a="http://schemas.openxmlformats.org/drawingml/2006/main">
              <a:ext uri="{FF2B5EF4-FFF2-40B4-BE49-F238E27FC236}">
                <a16:creationId xmlns:a16="http://schemas.microsoft.com/office/drawing/2014/main" id="{1D04E014-BDAD-48FA-9B2C-3C4233F3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90°</a:t>
            </a:r>
          </a:p>
        </p:txBody>
      </p:sp>
      <p:sp>
        <p:nvSpPr>
          <p:cNvPr id="21" name="点が右から上へ移る">
            <a:extLst xmlns:a="http://schemas.openxmlformats.org/drawingml/2006/main">
              <a:ext uri="{FF2B5EF4-FFF2-40B4-BE49-F238E27FC236}">
                <a16:creationId xmlns:a16="http://schemas.microsoft.com/office/drawing/2014/main" id="{EE2603FD-3B6E-401C-BE0C-CAB61BD5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点が右から上へ移る</a:t>
            </a:r>
          </a:p>
        </p:txBody>
      </p:sp>
      <p:sp>
        <p:nvSpPr>
          <p:cNvPr id="22" name="点の角度に θ を足すので、回転行列は R(θ)。">
            <a:extLst xmlns:a="http://schemas.openxmlformats.org/drawingml/2006/main">
              <a:ext uri="{FF2B5EF4-FFF2-40B4-BE49-F238E27FC236}">
                <a16:creationId xmlns:a16="http://schemas.microsoft.com/office/drawing/2014/main" id="{E845EDBF-D4C1-431A-9D8E-FEB6D20D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点の角度に θ を足すので、回転行列は R(θ)。</a:t>
            </a:r>
          </a:p>
        </p:txBody>
      </p:sp>
    </p:spTree>
    <p:extLst>
      <p:ext uri="{BB962C8B-B14F-4D97-AF65-F5344CB8AC3E}">
        <p14:creationId xmlns:p14="http://schemas.microsoft.com/office/powerpoint/2010/main" val="474353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座標軸を反時計回りに回す">
            <a:extLst xmlns:a="http://schemas.openxmlformats.org/drawingml/2006/main">
              <a:ext uri="{FF2B5EF4-FFF2-40B4-BE49-F238E27FC236}">
                <a16:creationId xmlns:a16="http://schemas.microsoft.com/office/drawing/2014/main" id="{CAAA92D3-F4AA-489C-AC7A-E7D8E676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座標軸を反時計回りに回す</a:t>
            </a:r>
          </a:p>
        </p:txBody>
      </p:sp>
      <p:sp>
        <p:nvSpPr>
          <p:cNvPr id="2" name="点 P を固定し、座標軸を原点のまわりに θ 回す。">
            <a:extLst xmlns:a="http://schemas.openxmlformats.org/drawingml/2006/main">
              <a:ext uri="{FF2B5EF4-FFF2-40B4-BE49-F238E27FC236}">
                <a16:creationId xmlns:a16="http://schemas.microsoft.com/office/drawing/2014/main" id="{93C0930E-017A-4BF3-B63F-4415E016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144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点 P を固定し、座標軸を原点のまわりに θ 回す。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M00004">
                <a:extLst xmlns:a="http://schemas.openxmlformats.org/drawingml/2006/main">
                  <a:ext uri="{FF2B5EF4-FFF2-40B4-BE49-F238E27FC236}">
                    <a16:creationId xmlns:a16="http://schemas.microsoft.com/office/drawing/2014/main" id="{96D6E8A5-CDF4-4C8B-B305-E4E876E42B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1809750"/>
                <a:ext cx="666750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x=r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⁡ϕ,</m:t>
                      </m:r>
                      <m:r>
                        <m:rPr>
                          <m:nor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y=r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⁡ϕ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EQM00004">
                <a:extLst xmlns:a="http://schemas.openxmlformats.org/drawingml/2006/main">
                  <a:ext uri="{FF2B5EF4-FFF2-40B4-BE49-F238E27FC236}">
                    <a16:creationId xmlns:a16="http://schemas.microsoft.com/office/drawing/2014/main" id="{96D6E8A5-CDF4-4C8B-B305-E4E876E42B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1809750"/>
                <a:ext cx="666750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x=r\cos\phi,\qquad y=r\sin\phi</a:t>
                </a:r>
              </a:p>
            </p:txBody>
          </p:sp>
        </mc:Fallback>
      </mc:AlternateContent>
      <p:sp>
        <p:nvSpPr>
          <p:cNvPr id="4" name="新しい x′ 軸から見た角度は φ − θ">
            <a:extLst xmlns:a="http://schemas.openxmlformats.org/drawingml/2006/main">
              <a:ext uri="{FF2B5EF4-FFF2-40B4-BE49-F238E27FC236}">
                <a16:creationId xmlns:a16="http://schemas.microsoft.com/office/drawing/2014/main" id="{3E32A446-8B7A-4F5D-BADD-F427A2D4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新しい x′ 軸から見た角度は φ − 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05">
                <a:extLst xmlns:a="http://schemas.openxmlformats.org/drawingml/2006/main">
                  <a:ext uri="{FF2B5EF4-FFF2-40B4-BE49-F238E27FC236}">
                    <a16:creationId xmlns:a16="http://schemas.microsoft.com/office/drawing/2014/main" id="{84DFC1FF-7251-40E8-A953-A83E6C5A72E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29241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⁡(ϕ−θ)=x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05">
                <a:extLst xmlns:a="http://schemas.openxmlformats.org/drawingml/2006/main">
                  <a:ext uri="{FF2B5EF4-FFF2-40B4-BE49-F238E27FC236}">
                    <a16:creationId xmlns:a16="http://schemas.microsoft.com/office/drawing/2014/main" id="{84DFC1FF-7251-40E8-A953-A83E6C5A72E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29241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x'=r\cos(\phi-\theta)=x\cos\theta+y\sin\theta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06">
                <a:extLst xmlns:a="http://schemas.openxmlformats.org/drawingml/2006/main">
                  <a:ext uri="{FF2B5EF4-FFF2-40B4-BE49-F238E27FC236}">
                    <a16:creationId xmlns:a16="http://schemas.microsoft.com/office/drawing/2014/main" id="{A9CF0314-F02D-43A2-B602-A3892D2E24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4956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⁡(ϕ−θ)=−x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06">
                <a:extLst xmlns:a="http://schemas.openxmlformats.org/drawingml/2006/main">
                  <a:ext uri="{FF2B5EF4-FFF2-40B4-BE49-F238E27FC236}">
                    <a16:creationId xmlns:a16="http://schemas.microsoft.com/office/drawing/2014/main" id="{A9CF0314-F02D-43A2-B602-A3892D2E24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4956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y'=r\sin(\phi-\theta)=-x\sin\theta+y\cos\theta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07">
                <a:extLst xmlns:a="http://schemas.openxmlformats.org/drawingml/2006/main">
                  <a:ext uri="{FF2B5EF4-FFF2-40B4-BE49-F238E27FC236}">
                    <a16:creationId xmlns:a16="http://schemas.microsoft.com/office/drawing/2014/main" id="{C5B7D103-11AB-498F-BFB6-CE5B148CEE8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" y="4295775"/>
                <a:ext cx="6572250" cy="1143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d>
                        <m:dPr>
                          <m:sepChr m:val=""/>
                        </m:dPr>
                        <m:e>
                          <m:eqArr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sz="2550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limLow>
                        <m:e>
                          <m:limLow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m>
                                    <m:mPr>
                                      <m:baseJc m:val="center"/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</m:mcPr>
                                        </m:mc>
                                      </m:mcs>
                                    </m:mPr>
                                    <m:mr>
                                      <m:e>
                                        <m:func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θ</m:t>
                                            </m:r>
                                          </m:e>
                                        </m:func>
                                      </m:e>
                                      <m:e>
                                        <m:func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θ</m:t>
                                            </m:r>
                                          </m:e>
                                        </m:func>
                                      </m:e>
                                    </m:mr>
                                    <m:mr>
                                      <m:e>
                                        <m:r>
                                          <a:rPr sz="2550" b="0" lang="en-US">
                                            <a:solidFill>
                                              <a:srgbClr val="203E4C"/>
                                            </a:solidFill>
                                            <a:latin typeface="Cambria Math"/>
                                            <a:ea typeface="Meiryo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sz="2550" b="0" lang="en-US">
                                            <a:solidFill>
                                              <a:srgbClr val="203E4C"/>
                                            </a:solidFill>
                                            <a:latin typeface="Cambria Math"/>
                                            <a:ea typeface="Meiryo"/>
                                          </a:rPr>
                                          <m:t>sin</m:t>
                                        </m:r>
                                        <m:r>
                                          <a:rPr sz="2550" b="0" lang="en-US">
                                            <a:solidFill>
                                              <a:srgbClr val="203E4C"/>
                                            </a:solidFill>
                                            <a:latin typeface="Cambria Math"/>
                                            <a:ea typeface="Meiryo"/>
                                          </a:rPr>
                                          <m:t>⁡θ</m:t>
                                        </m:r>
                                      </m:e>
                                      <m:e>
                                        <m:func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sz="2550" b="0" lang="en-US">
                                                <a:solidFill>
                                                  <a:srgbClr val="203E4C"/>
                                                </a:solidFill>
                                                <a:latin typeface="Cambria Math"/>
                                                <a:ea typeface="Meiryo"/>
                                              </a:rPr>
                                              <m:t>θ</m:t>
                                            </m:r>
                                          </m:e>
                                        </m:func>
                                      </m:e>
                                    </m:mr>
                                  </m:m>
                                </m:e>
                              </m:d>
                            </m:e>
                            <m:lim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a:rPr sz="2550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R(−θ)</m:t>
                          </m:r>
                        </m:lim>
                      </m:limLow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e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y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7" name="EQM00007">
                <a:extLst xmlns:a="http://schemas.openxmlformats.org/drawingml/2006/main">
                  <a:ext uri="{FF2B5EF4-FFF2-40B4-BE49-F238E27FC236}">
                    <a16:creationId xmlns:a16="http://schemas.microsoft.com/office/drawing/2014/main" id="{C5B7D103-11AB-498F-BFB6-CE5B148CEE8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" y="4295775"/>
                <a:ext cx="6572250" cy="1143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\begin{pmatrix}x'\\y'\end{pmatrix}=\underbrace{\begin{pmatrix}\cos\theta&amp;\sin\theta\\-\sin\theta&amp;\cos\theta\end{pmatrix}}_{R(-\theta)}\begin{pmatrix}x\\y\end{pmatrix}</a:t>
                </a:r>
              </a:p>
            </p:txBody>
          </p:sp>
        </mc:Fallback>
      </mc:AlternateContent>
      <p:sp>
        <p:nvSpPr>
          <p:cNvPr id="8" name="θ = 90°、原点は固定">
            <a:extLst xmlns:a="http://schemas.openxmlformats.org/drawingml/2006/main">
              <a:ext uri="{FF2B5EF4-FFF2-40B4-BE49-F238E27FC236}">
                <a16:creationId xmlns:a16="http://schemas.microsoft.com/office/drawing/2014/main" id="{8FEB338E-C64D-476C-BF54-A2797AAF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θ = 90°、原点は固定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8B575-13FE-44BB-BA00-60C67587906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4019550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F16E6-396C-4A09-B872-2204438ADEB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2247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sp>
        <p:nvSpPr>
          <p:cNvPr id="11" name="x">
            <a:extLst xmlns:a="http://schemas.openxmlformats.org/drawingml/2006/main">
              <a:ext uri="{FF2B5EF4-FFF2-40B4-BE49-F238E27FC236}">
                <a16:creationId xmlns:a16="http://schemas.microsoft.com/office/drawing/2014/main" id="{1208EAFB-0AA9-4B8E-BC80-B3C8F1DA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290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12" name="y">
            <a:extLst xmlns:a="http://schemas.openxmlformats.org/drawingml/2006/main">
              <a:ext uri="{FF2B5EF4-FFF2-40B4-BE49-F238E27FC236}">
                <a16:creationId xmlns:a16="http://schemas.microsoft.com/office/drawing/2014/main" id="{BDCD759C-5E2B-4DC5-871F-29C63478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192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13" name="O">
            <a:extLst xmlns:a="http://schemas.openxmlformats.org/drawingml/2006/main">
              <a:ext uri="{FF2B5EF4-FFF2-40B4-BE49-F238E27FC236}">
                <a16:creationId xmlns:a16="http://schemas.microsoft.com/office/drawing/2014/main" id="{AEC13B7D-ADE0-4D4B-A129-418C67C3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433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O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1ED0B-8F7B-4DD0-B6BC-0D678D4A140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7E7A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1EE6B-9B25-49A6-BEB8-1491982E6BA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905750" y="40195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7E7A"/>
            </a:solidFill>
            <a:tailEnd type="triangle" w="sm" len="sm"/>
          </a:ln>
        </p:spPr>
      </p:cxnSp>
      <p:sp>
        <p:nvSpPr>
          <p:cNvPr id="16" name="x′">
            <a:extLst xmlns:a="http://schemas.openxmlformats.org/drawingml/2006/main">
              <a:ext uri="{FF2B5EF4-FFF2-40B4-BE49-F238E27FC236}">
                <a16:creationId xmlns:a16="http://schemas.microsoft.com/office/drawing/2014/main" id="{BB242D7E-A899-4E7C-9812-B04B5638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x′</a:t>
            </a:r>
          </a:p>
        </p:txBody>
      </p:sp>
      <p:sp>
        <p:nvSpPr>
          <p:cNvPr id="17" name="y′">
            <a:extLst xmlns:a="http://schemas.openxmlformats.org/drawingml/2006/main">
              <a:ext uri="{FF2B5EF4-FFF2-40B4-BE49-F238E27FC236}">
                <a16:creationId xmlns:a16="http://schemas.microsoft.com/office/drawing/2014/main" id="{B3848F29-A63D-411E-80AB-F397C7ED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337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y′</a:t>
            </a:r>
          </a:p>
        </p:txBody>
      </p:sp>
      <p:sp>
        <p:nvSpPr>
          <p:cNvPr id="18" name="点">
            <a:extLst xmlns:a="http://schemas.openxmlformats.org/drawingml/2006/main">
              <a:ext uri="{FF2B5EF4-FFF2-40B4-BE49-F238E27FC236}">
                <a16:creationId xmlns:a16="http://schemas.microsoft.com/office/drawing/2014/main" id="{A7545BF9-0482-483D-B99A-41870ECC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E4C"/>
          </a:solidFill>
          <a:ln xmlns:a="http://schemas.openxmlformats.org/drawingml/2006/main" w="9525">
            <a:solidFill>
              <a:srgbClr val="203E4C"/>
            </a:solidFill>
          </a:ln>
        </p:spPr>
      </p:sp>
      <p:sp>
        <p:nvSpPr>
          <p:cNvPr id="19" name="P (1, 0)">
            <a:extLst xmlns:a="http://schemas.openxmlformats.org/drawingml/2006/main">
              <a:ext uri="{FF2B5EF4-FFF2-40B4-BE49-F238E27FC236}">
                <a16:creationId xmlns:a16="http://schemas.microsoft.com/office/drawing/2014/main" id="{D6207B7E-29FE-4934-8E7E-9EA5264A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48150"/>
            <a:ext cx="1524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P (1, 0)</a:t>
            </a:r>
          </a:p>
        </p:txBody>
      </p:sp>
      <p:sp>
        <p:nvSpPr>
          <p:cNvPr id="20" name="反時計回りの90度">
            <a:extLst xmlns:a="http://schemas.openxmlformats.org/drawingml/2006/main">
              <a:ext uri="{FF2B5EF4-FFF2-40B4-BE49-F238E27FC236}">
                <a16:creationId xmlns:a16="http://schemas.microsoft.com/office/drawing/2014/main" id="{A3E543ED-307E-4685-986B-30263169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05175"/>
            <a:ext cx="714375" cy="714375"/>
          </a:xfrm>
          <a:custGeom xmlns:a="http://schemas.openxmlformats.org/drawingml/2006/main">
            <a:pathLst>
              <a:path w="714375" h="714375">
                <a:moveTo>
                  <a:pt x="714375" y="714375"/>
                </a:moveTo>
                <a:cubicBezTo>
                  <a:pt x="714375" y="319837"/>
                  <a:pt x="394538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7E7A"/>
            </a:solidFill>
          </a:ln>
        </p:spPr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B52D4-3CB9-4593-9B1C-D412F8D4FAC4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9353550" y="3305175"/>
            <a:ext cx="1238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7E7A"/>
            </a:solidFill>
            <a:tailEnd type="triangle" w="sm" len="sm"/>
          </a:ln>
        </p:spPr>
      </p:cxnSp>
      <p:sp>
        <p:nvSpPr>
          <p:cNvPr id="22" name="90°">
            <a:extLst xmlns:a="http://schemas.openxmlformats.org/drawingml/2006/main">
              <a:ext uri="{FF2B5EF4-FFF2-40B4-BE49-F238E27FC236}">
                <a16:creationId xmlns:a16="http://schemas.microsoft.com/office/drawing/2014/main" id="{7ACC0C36-2D7D-43E7-9D0C-9D244C1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908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90°</a:t>
            </a:r>
          </a:p>
        </p:txBody>
      </p:sp>
      <p:sp>
        <p:nvSpPr>
          <p:cNvPr id="23" name="新しい座標は (0, −1)">
            <a:extLst xmlns:a="http://schemas.openxmlformats.org/drawingml/2006/main">
              <a:ext uri="{FF2B5EF4-FFF2-40B4-BE49-F238E27FC236}">
                <a16:creationId xmlns:a16="http://schemas.microsoft.com/office/drawing/2014/main" id="{F1C541EE-ED77-423C-8872-5A220E1B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953000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新しい座標は (0, −1)</a:t>
            </a:r>
          </a:p>
        </p:txBody>
      </p:sp>
      <p:sp>
        <p:nvSpPr>
          <p:cNvPr id="24" name="原点も (x₀, y₀) に移す場合：x, y を x − ">
            <a:extLst xmlns:a="http://schemas.openxmlformats.org/drawingml/2006/main">
              <a:ext uri="{FF2B5EF4-FFF2-40B4-BE49-F238E27FC236}">
                <a16:creationId xmlns:a16="http://schemas.microsoft.com/office/drawing/2014/main" id="{385351C1-0FED-463C-9234-A624675C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原点も (x₀, y₀) に移す場合：x, y を x − x₀, y − y₀ に置き換える。</a:t>
            </a:r>
          </a:p>
        </p:txBody>
      </p:sp>
      <p:sp>
        <p:nvSpPr>
          <p:cNvPr id="25" name="軸が θ 回ると、点の相対角度は θ 減る。回転行列は R(">
            <a:extLst xmlns:a="http://schemas.openxmlformats.org/drawingml/2006/main">
              <a:ext uri="{FF2B5EF4-FFF2-40B4-BE49-F238E27FC236}">
                <a16:creationId xmlns:a16="http://schemas.microsoft.com/office/drawing/2014/main" id="{248A9A18-25DA-4B69-A8CD-3AF7FF30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軸が θ 回ると、点の相対角度は θ 減る。回転行列は R(−θ)。</a:t>
            </a:r>
          </a:p>
        </p:txBody>
      </p:sp>
    </p:spTree>
    <p:extLst>
      <p:ext uri="{BB962C8B-B14F-4D97-AF65-F5344CB8AC3E}">
        <p14:creationId xmlns:p14="http://schemas.microsoft.com/office/powerpoint/2010/main" val="108307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2026-10-15T01:27:38.1680000Z</dcterms:created>
  <dcterms:modified xsi:type="dcterms:W3CDTF">2026-10-15T01:27:38.1680000Z</dcterms:modified>
</coreProperties>
</file>