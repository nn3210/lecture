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6d5aa69a79a4264" /><Relationship Type="http://schemas.openxmlformats.org/officeDocument/2006/relationships/extended-properties" Target="/docProps/app.xml" Id="R1768c7d9e4704a19" /><Relationship Type="http://schemas.openxmlformats.org/officeDocument/2006/relationships/officeDocument" Target="/ppt/presentation.xml" Id="R29ad0f13ef4e44a9" /></Relationships>
</file>

<file path=ppt/presentation.xml><?xml version="1.0" encoding="utf-8"?>
<p:presentation xmlns:p="http://schemas.openxmlformats.org/presentationml/2006/main">
  <p:sldMasterIdLst>
    <p:sldMasterId xmlns:r="http://schemas.openxmlformats.org/officeDocument/2006/relationships" id="2147483648" r:id="R8b2a3c27e8c84b51"/>
  </p:sldMasterIdLst>
  <p:notesMasterIdLst>
    <p:notesMasterId xmlns:r="http://schemas.openxmlformats.org/officeDocument/2006/relationships" r:id="R0065c749122e4291"/>
  </p:notesMasterIdLst>
  <p:sldIdLst>
    <p:sldId xmlns:r="http://schemas.openxmlformats.org/officeDocument/2006/relationships" id="256" r:id="R65133690cb6441a2"/>
    <p:sldId xmlns:r="http://schemas.openxmlformats.org/officeDocument/2006/relationships" id="257" r:id="Rcde5d301b7fe4842"/>
    <p:sldId xmlns:r="http://schemas.openxmlformats.org/officeDocument/2006/relationships" id="258" r:id="Rad222575f5c74326"/>
    <p:sldId xmlns:r="http://schemas.openxmlformats.org/officeDocument/2006/relationships" id="259" r:id="Ra47379edc8bf41e0"/>
    <p:sldId xmlns:r="http://schemas.openxmlformats.org/officeDocument/2006/relationships" id="260" r:id="R16656c285bf845ac"/>
    <p:sldId xmlns:r="http://schemas.openxmlformats.org/officeDocument/2006/relationships" id="261" r:id="R9ca12530d4ef463d"/>
    <p:sldId xmlns:r="http://schemas.openxmlformats.org/officeDocument/2006/relationships" id="262" r:id="R8166c1e4396e4276"/>
    <p:sldId xmlns:r="http://schemas.openxmlformats.org/officeDocument/2006/relationships" id="263" r:id="Rf0df15402dbc4445"/>
    <p:sldId xmlns:r="http://schemas.openxmlformats.org/officeDocument/2006/relationships" id="264" r:id="Red3076f05a3b4222"/>
    <p:sldId xmlns:r="http://schemas.openxmlformats.org/officeDocument/2006/relationships" id="265" r:id="Rf275e76717aa421f"/>
    <p:sldId xmlns:r="http://schemas.openxmlformats.org/officeDocument/2006/relationships" id="266" r:id="Ra14734fe13124c1e"/>
    <p:sldId xmlns:r="http://schemas.openxmlformats.org/officeDocument/2006/relationships" id="267" r:id="R86a0f02730834e85"/>
    <p:sldId xmlns:r="http://schemas.openxmlformats.org/officeDocument/2006/relationships" id="268" r:id="R95aed0b1fabd4e5c"/>
    <p:sldId xmlns:r="http://schemas.openxmlformats.org/officeDocument/2006/relationships" id="269" r:id="R4b67f8ed20bb43a0"/>
    <p:sldId xmlns:r="http://schemas.openxmlformats.org/officeDocument/2006/relationships" id="270" r:id="Rb81dee22e9944618"/>
    <p:sldId xmlns:r="http://schemas.openxmlformats.org/officeDocument/2006/relationships" id="271" r:id="R0cad2929697d4103"/>
    <p:sldId xmlns:r="http://schemas.openxmlformats.org/officeDocument/2006/relationships" id="272" r:id="R1b340db50ccd4078"/>
    <p:sldId xmlns:r="http://schemas.openxmlformats.org/officeDocument/2006/relationships" id="273" r:id="R0f10d7c5973f4b9e"/>
    <p:sldId xmlns:r="http://schemas.openxmlformats.org/officeDocument/2006/relationships" id="274" r:id="Rc0170c92499b4a25"/>
    <p:sldId xmlns:r="http://schemas.openxmlformats.org/officeDocument/2006/relationships" id="275" r:id="R76ee2634ddd54d0e"/>
    <p:sldId xmlns:r="http://schemas.openxmlformats.org/officeDocument/2006/relationships" id="276" r:id="Re6e1ef08ad5a4cc1"/>
    <p:sldId xmlns:r="http://schemas.openxmlformats.org/officeDocument/2006/relationships" id="277" r:id="Re00392171edb45b4"/>
    <p:sldId xmlns:r="http://schemas.openxmlformats.org/officeDocument/2006/relationships" id="278" r:id="Rb82a2e81c32446c3"/>
    <p:sldId xmlns:r="http://schemas.openxmlformats.org/officeDocument/2006/relationships" id="279" r:id="R41db66a687544497"/>
    <p:sldId xmlns:r="http://schemas.openxmlformats.org/officeDocument/2006/relationships" id="280" r:id="R5ccc4ad3edf34803"/>
    <p:sldId xmlns:r="http://schemas.openxmlformats.org/officeDocument/2006/relationships" id="281" r:id="R4182044cc5dd49c9"/>
    <p:sldId xmlns:r="http://schemas.openxmlformats.org/officeDocument/2006/relationships" id="282" r:id="R4ca3c221acfe4e35"/>
    <p:sldId xmlns:r="http://schemas.openxmlformats.org/officeDocument/2006/relationships" id="283" r:id="Rf788bb1513344ce3"/>
    <p:sldId xmlns:r="http://schemas.openxmlformats.org/officeDocument/2006/relationships" id="284" r:id="R2c88a35d5207496f"/>
    <p:sldId xmlns:r="http://schemas.openxmlformats.org/officeDocument/2006/relationships" id="285" r:id="Ra78074e9e70f4ca5"/>
    <p:sldId xmlns:r="http://schemas.openxmlformats.org/officeDocument/2006/relationships" id="286" r:id="R921238447b654c69"/>
    <p:sldId xmlns:r="http://schemas.openxmlformats.org/officeDocument/2006/relationships" id="287" r:id="R66bc4c1b5a964f1e"/>
    <p:sldId xmlns:r="http://schemas.openxmlformats.org/officeDocument/2006/relationships" id="288" r:id="Re886eb18c87a4ad1"/>
    <p:sldId xmlns:r="http://schemas.openxmlformats.org/officeDocument/2006/relationships" id="289" r:id="R8cdc35e053db47c0"/>
    <p:sldId xmlns:r="http://schemas.openxmlformats.org/officeDocument/2006/relationships" id="290" r:id="R6019f1879ebc4f19"/>
    <p:sldId xmlns:r="http://schemas.openxmlformats.org/officeDocument/2006/relationships" id="291" r:id="R76d84d2938584ffe"/>
    <p:sldId xmlns:r="http://schemas.openxmlformats.org/officeDocument/2006/relationships" id="292" r:id="R40f3d4ac442543aa"/>
    <p:sldId xmlns:r="http://schemas.openxmlformats.org/officeDocument/2006/relationships" id="293" r:id="R25a2766f94da4ccf"/>
    <p:sldId xmlns:r="http://schemas.openxmlformats.org/officeDocument/2006/relationships" id="294" r:id="R72ccfb895df042ea"/>
    <p:sldId xmlns:r="http://schemas.openxmlformats.org/officeDocument/2006/relationships" id="295" r:id="R7997f5cc008049b1"/>
    <p:sldId xmlns:r="http://schemas.openxmlformats.org/officeDocument/2006/relationships" id="296" r:id="R9fb41a8da2a84f03"/>
    <p:sldId xmlns:r="http://schemas.openxmlformats.org/officeDocument/2006/relationships" id="297" r:id="Rabd5b95c050b4564"/>
    <p:sldId xmlns:r="http://schemas.openxmlformats.org/officeDocument/2006/relationships" id="298" r:id="R57f184e6056847bc"/>
    <p:sldId xmlns:r="http://schemas.openxmlformats.org/officeDocument/2006/relationships" id="299" r:id="R9069567875bf423c"/>
    <p:sldId xmlns:r="http://schemas.openxmlformats.org/officeDocument/2006/relationships" id="300" r:id="Rf9a9103577354479"/>
    <p:sldId xmlns:r="http://schemas.openxmlformats.org/officeDocument/2006/relationships" id="301" r:id="R1959eee16fc745f0"/>
    <p:sldId xmlns:r="http://schemas.openxmlformats.org/officeDocument/2006/relationships" id="302" r:id="Rce9fbdd54a6d4cc8"/>
    <p:sldId xmlns:r="http://schemas.openxmlformats.org/officeDocument/2006/relationships" id="303" r:id="Rf2fb8c7bdf3545f7"/>
    <p:sldId xmlns:r="http://schemas.openxmlformats.org/officeDocument/2006/relationships" id="304" r:id="R397a611dbfc34409"/>
    <p:sldId xmlns:r="http://schemas.openxmlformats.org/officeDocument/2006/relationships" id="305" r:id="Rfbdf61a39ebe42fd"/>
    <p:sldId xmlns:r="http://schemas.openxmlformats.org/officeDocument/2006/relationships" id="306" r:id="R6fd76977212e4c81"/>
    <p:sldId xmlns:r="http://schemas.openxmlformats.org/officeDocument/2006/relationships" id="307" r:id="R4cff6cd96f2e4212"/>
    <p:sldId xmlns:r="http://schemas.openxmlformats.org/officeDocument/2006/relationships" id="308" r:id="R0d1b7489341d4f7a"/>
    <p:sldId xmlns:r="http://schemas.openxmlformats.org/officeDocument/2006/relationships" id="309" r:id="Rc1e2b0aae4c741ff"/>
    <p:sldId xmlns:r="http://schemas.openxmlformats.org/officeDocument/2006/relationships" id="310" r:id="R0e609f8b360b476f"/>
    <p:sldId xmlns:r="http://schemas.openxmlformats.org/officeDocument/2006/relationships" id="311" r:id="R09a9d4f5a4a14b1c"/>
    <p:sldId xmlns:r="http://schemas.openxmlformats.org/officeDocument/2006/relationships" id="312" r:id="R2dd521a0ff474f40"/>
    <p:sldId xmlns:r="http://schemas.openxmlformats.org/officeDocument/2006/relationships" id="313" r:id="Rd998d4df2f514694"/>
    <p:sldId xmlns:r="http://schemas.openxmlformats.org/officeDocument/2006/relationships" id="314" r:id="Rcaa7a28b2e03475e"/>
    <p:sldId xmlns:r="http://schemas.openxmlformats.org/officeDocument/2006/relationships" id="315" r:id="Rf21b0b2010ca4be8"/>
    <p:sldId xmlns:r="http://schemas.openxmlformats.org/officeDocument/2006/relationships" id="316" r:id="R6e9033011713461e"/>
    <p:sldId xmlns:r="http://schemas.openxmlformats.org/officeDocument/2006/relationships" id="317" r:id="R5b031f691ef945b7"/>
    <p:sldId xmlns:r="http://schemas.openxmlformats.org/officeDocument/2006/relationships" id="318" r:id="Rea8601003ea145a8"/>
    <p:sldId xmlns:r="http://schemas.openxmlformats.org/officeDocument/2006/relationships" id="319" r:id="Raf5d5462affd4891"/>
    <p:sldId xmlns:r="http://schemas.openxmlformats.org/officeDocument/2006/relationships" id="320" r:id="R5736928871104ae0"/>
    <p:sldId xmlns:r="http://schemas.openxmlformats.org/officeDocument/2006/relationships" id="321" r:id="R71787c3f42ca4549"/>
    <p:sldId xmlns:r="http://schemas.openxmlformats.org/officeDocument/2006/relationships" id="322" r:id="R8eb01a3af2fa4778"/>
    <p:sldId xmlns:r="http://schemas.openxmlformats.org/officeDocument/2006/relationships" id="323" r:id="R98ce5b5743764749"/>
    <p:sldId xmlns:r="http://schemas.openxmlformats.org/officeDocument/2006/relationships" id="324" r:id="Rbddfb713526d4a99"/>
    <p:sldId xmlns:r="http://schemas.openxmlformats.org/officeDocument/2006/relationships" id="325" r:id="R23a656099bbe4a49"/>
    <p:sldId xmlns:r="http://schemas.openxmlformats.org/officeDocument/2006/relationships" id="326" r:id="Rcf37f108419a4034"/>
    <p:sldId xmlns:r="http://schemas.openxmlformats.org/officeDocument/2006/relationships" id="327" r:id="Re0371b3dc9784801"/>
    <p:sldId xmlns:r="http://schemas.openxmlformats.org/officeDocument/2006/relationships" id="328" r:id="R4dab56851a444112"/>
    <p:sldId xmlns:r="http://schemas.openxmlformats.org/officeDocument/2006/relationships" id="329" r:id="Rc866a65a10974e85"/>
    <p:sldId xmlns:r="http://schemas.openxmlformats.org/officeDocument/2006/relationships" id="330" r:id="R4579b2fbd43845cd"/>
    <p:sldId xmlns:r="http://schemas.openxmlformats.org/officeDocument/2006/relationships" id="331" r:id="Ra9e6040faad1417a"/>
    <p:sldId xmlns:r="http://schemas.openxmlformats.org/officeDocument/2006/relationships" id="332" r:id="Red00bf39dcb64fa0"/>
    <p:sldId xmlns:r="http://schemas.openxmlformats.org/officeDocument/2006/relationships" id="333" r:id="R226ebf295b984a02"/>
    <p:sldId xmlns:r="http://schemas.openxmlformats.org/officeDocument/2006/relationships" id="334" r:id="R2d4f0cd08f7e47de"/>
    <p:sldId xmlns:r="http://schemas.openxmlformats.org/officeDocument/2006/relationships" id="335" r:id="Rc8c47f3cb1204f8a"/>
    <p:sldId xmlns:r="http://schemas.openxmlformats.org/officeDocument/2006/relationships" id="336" r:id="R85a9c0df5f68444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dc1ef97a906487c" /><Relationship Type="http://schemas.openxmlformats.org/officeDocument/2006/relationships/slideMaster" Target="/ppt/slideMasters/slideMaster1.xml" Id="R8b2a3c27e8c84b51" /><Relationship Type="http://schemas.openxmlformats.org/officeDocument/2006/relationships/notesMaster" Target="/ppt/notesMasters/notesMaster1.xml" Id="R0065c749122e4291" /><Relationship Type="http://schemas.openxmlformats.org/officeDocument/2006/relationships/presProps" Target="/ppt/presProps.xml" Id="R21f99dc7dcc04ba8" /><Relationship Type="http://schemas.openxmlformats.org/officeDocument/2006/relationships/tableStyles" Target="/ppt/tableStyles.xml" Id="R562c10fa12b1483f" /><Relationship Type="http://schemas.openxmlformats.org/officeDocument/2006/relationships/slide" Target="/ppt/slides/slide1.xml" Id="R65133690cb6441a2" /><Relationship Type="http://schemas.openxmlformats.org/officeDocument/2006/relationships/slide" Target="/ppt/slides/slide2.xml" Id="Rcde5d301b7fe4842" /><Relationship Type="http://schemas.openxmlformats.org/officeDocument/2006/relationships/slide" Target="/ppt/slides/slide3.xml" Id="Rad222575f5c74326" /><Relationship Type="http://schemas.openxmlformats.org/officeDocument/2006/relationships/slide" Target="/ppt/slides/slide4.xml" Id="Ra47379edc8bf41e0" /><Relationship Type="http://schemas.openxmlformats.org/officeDocument/2006/relationships/slide" Target="/ppt/slides/slide5.xml" Id="R16656c285bf845ac" /><Relationship Type="http://schemas.openxmlformats.org/officeDocument/2006/relationships/slide" Target="/ppt/slides/slide6.xml" Id="R9ca12530d4ef463d" /><Relationship Type="http://schemas.openxmlformats.org/officeDocument/2006/relationships/slide" Target="/ppt/slides/slide7.xml" Id="R8166c1e4396e4276" /><Relationship Type="http://schemas.openxmlformats.org/officeDocument/2006/relationships/slide" Target="/ppt/slides/slide8.xml" Id="Rf0df15402dbc4445" /><Relationship Type="http://schemas.openxmlformats.org/officeDocument/2006/relationships/slide" Target="/ppt/slides/slide9.xml" Id="Red3076f05a3b4222" /><Relationship Type="http://schemas.openxmlformats.org/officeDocument/2006/relationships/slide" Target="/ppt/slides/slide10.xml" Id="Rf275e76717aa421f" /><Relationship Type="http://schemas.openxmlformats.org/officeDocument/2006/relationships/slide" Target="/ppt/slides/slide11.xml" Id="Ra14734fe13124c1e" /><Relationship Type="http://schemas.openxmlformats.org/officeDocument/2006/relationships/slide" Target="/ppt/slides/slide12.xml" Id="R86a0f02730834e85" /><Relationship Type="http://schemas.openxmlformats.org/officeDocument/2006/relationships/slide" Target="/ppt/slides/slide13.xml" Id="R95aed0b1fabd4e5c" /><Relationship Type="http://schemas.openxmlformats.org/officeDocument/2006/relationships/slide" Target="/ppt/slides/slide14.xml" Id="R4b67f8ed20bb43a0" /><Relationship Type="http://schemas.openxmlformats.org/officeDocument/2006/relationships/slide" Target="/ppt/slides/slide15.xml" Id="Rb81dee22e9944618" /><Relationship Type="http://schemas.openxmlformats.org/officeDocument/2006/relationships/slide" Target="/ppt/slides/slide16.xml" Id="R0cad2929697d4103" /><Relationship Type="http://schemas.openxmlformats.org/officeDocument/2006/relationships/slide" Target="/ppt/slides/slide17.xml" Id="R1b340db50ccd4078" /><Relationship Type="http://schemas.openxmlformats.org/officeDocument/2006/relationships/slide" Target="/ppt/slides/slide18.xml" Id="R0f10d7c5973f4b9e" /><Relationship Type="http://schemas.openxmlformats.org/officeDocument/2006/relationships/slide" Target="/ppt/slides/slide19.xml" Id="Rc0170c92499b4a25" /><Relationship Type="http://schemas.openxmlformats.org/officeDocument/2006/relationships/slide" Target="/ppt/slides/slide20.xml" Id="R76ee2634ddd54d0e" /><Relationship Type="http://schemas.openxmlformats.org/officeDocument/2006/relationships/slide" Target="/ppt/slides/slide21.xml" Id="Re6e1ef08ad5a4cc1" /><Relationship Type="http://schemas.openxmlformats.org/officeDocument/2006/relationships/slide" Target="/ppt/slides/slide22.xml" Id="Re00392171edb45b4" /><Relationship Type="http://schemas.openxmlformats.org/officeDocument/2006/relationships/slide" Target="/ppt/slides/slide23.xml" Id="Rb82a2e81c32446c3" /><Relationship Type="http://schemas.openxmlformats.org/officeDocument/2006/relationships/slide" Target="/ppt/slides/slide24.xml" Id="R41db66a687544497" /><Relationship Type="http://schemas.openxmlformats.org/officeDocument/2006/relationships/slide" Target="/ppt/slides/slide25.xml" Id="R5ccc4ad3edf34803" /><Relationship Type="http://schemas.openxmlformats.org/officeDocument/2006/relationships/slide" Target="/ppt/slides/slide26.xml" Id="R4182044cc5dd49c9" /><Relationship Type="http://schemas.openxmlformats.org/officeDocument/2006/relationships/slide" Target="/ppt/slides/slide27.xml" Id="R4ca3c221acfe4e35" /><Relationship Type="http://schemas.openxmlformats.org/officeDocument/2006/relationships/slide" Target="/ppt/slides/slide28.xml" Id="Rf788bb1513344ce3" /><Relationship Type="http://schemas.openxmlformats.org/officeDocument/2006/relationships/slide" Target="/ppt/slides/slide29.xml" Id="R2c88a35d5207496f" /><Relationship Type="http://schemas.openxmlformats.org/officeDocument/2006/relationships/slide" Target="/ppt/slides/slide30.xml" Id="Ra78074e9e70f4ca5" /><Relationship Type="http://schemas.openxmlformats.org/officeDocument/2006/relationships/slide" Target="/ppt/slides/slide31.xml" Id="R921238447b654c69" /><Relationship Type="http://schemas.openxmlformats.org/officeDocument/2006/relationships/slide" Target="/ppt/slides/slide32.xml" Id="R66bc4c1b5a964f1e" /><Relationship Type="http://schemas.openxmlformats.org/officeDocument/2006/relationships/slide" Target="/ppt/slides/slide33.xml" Id="Re886eb18c87a4ad1" /><Relationship Type="http://schemas.openxmlformats.org/officeDocument/2006/relationships/slide" Target="/ppt/slides/slide34.xml" Id="R8cdc35e053db47c0" /><Relationship Type="http://schemas.openxmlformats.org/officeDocument/2006/relationships/slide" Target="/ppt/slides/slide35.xml" Id="R6019f1879ebc4f19" /><Relationship Type="http://schemas.openxmlformats.org/officeDocument/2006/relationships/slide" Target="/ppt/slides/slide36.xml" Id="R76d84d2938584ffe" /><Relationship Type="http://schemas.openxmlformats.org/officeDocument/2006/relationships/slide" Target="/ppt/slides/slide37.xml" Id="R40f3d4ac442543aa" /><Relationship Type="http://schemas.openxmlformats.org/officeDocument/2006/relationships/slide" Target="/ppt/slides/slide38.xml" Id="R25a2766f94da4ccf" /><Relationship Type="http://schemas.openxmlformats.org/officeDocument/2006/relationships/slide" Target="/ppt/slides/slide39.xml" Id="R72ccfb895df042ea" /><Relationship Type="http://schemas.openxmlformats.org/officeDocument/2006/relationships/slide" Target="/ppt/slides/slide40.xml" Id="R7997f5cc008049b1" /><Relationship Type="http://schemas.openxmlformats.org/officeDocument/2006/relationships/slide" Target="/ppt/slides/slide41.xml" Id="R9fb41a8da2a84f03" /><Relationship Type="http://schemas.openxmlformats.org/officeDocument/2006/relationships/slide" Target="/ppt/slides/slide42.xml" Id="Rabd5b95c050b4564" /><Relationship Type="http://schemas.openxmlformats.org/officeDocument/2006/relationships/slide" Target="/ppt/slides/slide43.xml" Id="R57f184e6056847bc" /><Relationship Type="http://schemas.openxmlformats.org/officeDocument/2006/relationships/slide" Target="/ppt/slides/slide44.xml" Id="R9069567875bf423c" /><Relationship Type="http://schemas.openxmlformats.org/officeDocument/2006/relationships/slide" Target="/ppt/slides/slide45.xml" Id="Rf9a9103577354479" /><Relationship Type="http://schemas.openxmlformats.org/officeDocument/2006/relationships/slide" Target="/ppt/slides/slide46.xml" Id="R1959eee16fc745f0" /><Relationship Type="http://schemas.openxmlformats.org/officeDocument/2006/relationships/slide" Target="/ppt/slides/slide47.xml" Id="Rce9fbdd54a6d4cc8" /><Relationship Type="http://schemas.openxmlformats.org/officeDocument/2006/relationships/slide" Target="/ppt/slides/slide48.xml" Id="Rf2fb8c7bdf3545f7" /><Relationship Type="http://schemas.openxmlformats.org/officeDocument/2006/relationships/slide" Target="/ppt/slides/slide49.xml" Id="R397a611dbfc34409" /><Relationship Type="http://schemas.openxmlformats.org/officeDocument/2006/relationships/slide" Target="/ppt/slides/slide50.xml" Id="Rfbdf61a39ebe42fd" /><Relationship Type="http://schemas.openxmlformats.org/officeDocument/2006/relationships/slide" Target="/ppt/slides/slide51.xml" Id="R6fd76977212e4c81" /><Relationship Type="http://schemas.openxmlformats.org/officeDocument/2006/relationships/slide" Target="/ppt/slides/slide52.xml" Id="R4cff6cd96f2e4212" /><Relationship Type="http://schemas.openxmlformats.org/officeDocument/2006/relationships/slide" Target="/ppt/slides/slide53.xml" Id="R0d1b7489341d4f7a" /><Relationship Type="http://schemas.openxmlformats.org/officeDocument/2006/relationships/slide" Target="/ppt/slides/slide54.xml" Id="Rc1e2b0aae4c741ff" /><Relationship Type="http://schemas.openxmlformats.org/officeDocument/2006/relationships/slide" Target="/ppt/slides/slide55.xml" Id="R0e609f8b360b476f" /><Relationship Type="http://schemas.openxmlformats.org/officeDocument/2006/relationships/slide" Target="/ppt/slides/slide56.xml" Id="R09a9d4f5a4a14b1c" /><Relationship Type="http://schemas.openxmlformats.org/officeDocument/2006/relationships/slide" Target="/ppt/slides/slide57.xml" Id="R2dd521a0ff474f40" /><Relationship Type="http://schemas.openxmlformats.org/officeDocument/2006/relationships/slide" Target="/ppt/slides/slide58.xml" Id="Rd998d4df2f514694" /><Relationship Type="http://schemas.openxmlformats.org/officeDocument/2006/relationships/slide" Target="/ppt/slides/slide59.xml" Id="Rcaa7a28b2e03475e" /><Relationship Type="http://schemas.openxmlformats.org/officeDocument/2006/relationships/slide" Target="/ppt/slides/slide60.xml" Id="Rf21b0b2010ca4be8" /><Relationship Type="http://schemas.openxmlformats.org/officeDocument/2006/relationships/slide" Target="/ppt/slides/slide61.xml" Id="R6e9033011713461e" /><Relationship Type="http://schemas.openxmlformats.org/officeDocument/2006/relationships/slide" Target="/ppt/slides/slide62.xml" Id="R5b031f691ef945b7" /><Relationship Type="http://schemas.openxmlformats.org/officeDocument/2006/relationships/slide" Target="/ppt/slides/slide63.xml" Id="Rea8601003ea145a8" /><Relationship Type="http://schemas.openxmlformats.org/officeDocument/2006/relationships/slide" Target="/ppt/slides/slide64.xml" Id="Raf5d5462affd4891" /><Relationship Type="http://schemas.openxmlformats.org/officeDocument/2006/relationships/slide" Target="/ppt/slides/slide65.xml" Id="R5736928871104ae0" /><Relationship Type="http://schemas.openxmlformats.org/officeDocument/2006/relationships/slide" Target="/ppt/slides/slide66.xml" Id="R71787c3f42ca4549" /><Relationship Type="http://schemas.openxmlformats.org/officeDocument/2006/relationships/slide" Target="/ppt/slides/slide67.xml" Id="R8eb01a3af2fa4778" /><Relationship Type="http://schemas.openxmlformats.org/officeDocument/2006/relationships/slide" Target="/ppt/slides/slide68.xml" Id="R98ce5b5743764749" /><Relationship Type="http://schemas.openxmlformats.org/officeDocument/2006/relationships/slide" Target="/ppt/slides/slide69.xml" Id="Rbddfb713526d4a99" /><Relationship Type="http://schemas.openxmlformats.org/officeDocument/2006/relationships/slide" Target="/ppt/slides/slide70.xml" Id="R23a656099bbe4a49" /><Relationship Type="http://schemas.openxmlformats.org/officeDocument/2006/relationships/slide" Target="/ppt/slides/slide71.xml" Id="Rcf37f108419a4034" /><Relationship Type="http://schemas.openxmlformats.org/officeDocument/2006/relationships/slide" Target="/ppt/slides/slide72.xml" Id="Re0371b3dc9784801" /><Relationship Type="http://schemas.openxmlformats.org/officeDocument/2006/relationships/slide" Target="/ppt/slides/slide73.xml" Id="R4dab56851a444112" /><Relationship Type="http://schemas.openxmlformats.org/officeDocument/2006/relationships/slide" Target="/ppt/slides/slide74.xml" Id="Rc866a65a10974e85" /><Relationship Type="http://schemas.openxmlformats.org/officeDocument/2006/relationships/slide" Target="/ppt/slides/slide75.xml" Id="R4579b2fbd43845cd" /><Relationship Type="http://schemas.openxmlformats.org/officeDocument/2006/relationships/slide" Target="/ppt/slides/slide76.xml" Id="Ra9e6040faad1417a" /><Relationship Type="http://schemas.openxmlformats.org/officeDocument/2006/relationships/slide" Target="/ppt/slides/slide77.xml" Id="Red00bf39dcb64fa0" /><Relationship Type="http://schemas.openxmlformats.org/officeDocument/2006/relationships/slide" Target="/ppt/slides/slide78.xml" Id="R226ebf295b984a02" /><Relationship Type="http://schemas.openxmlformats.org/officeDocument/2006/relationships/slide" Target="/ppt/slides/slide79.xml" Id="R2d4f0cd08f7e47de" /><Relationship Type="http://schemas.openxmlformats.org/officeDocument/2006/relationships/slide" Target="/ppt/slides/slide80.xml" Id="Rc8c47f3cb1204f8a" /><Relationship Type="http://schemas.openxmlformats.org/officeDocument/2006/relationships/slide" Target="/ppt/slides/slide81.xml" Id="R85a9c0df5f68444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7e88c4b69c4aa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86fb40e40b54acd" /><Relationship Type="http://schemas.openxmlformats.org/officeDocument/2006/relationships/notesMaster" Target="/ppt/notesMasters/notesMaster1.xml" Id="Rf68ddacc4ab44bbb" /></Relationships>
</file>

<file path=ppt/notesSlides/_rels/notesSlide2.xml.rels>&#65279;<?xml version="1.0" encoding="utf-8"?><Relationships xmlns="http://schemas.openxmlformats.org/package/2006/relationships"><Relationship Type="http://schemas.openxmlformats.org/officeDocument/2006/relationships/slide" Target="/ppt/slides/slide2.xml" Id="R8799520341d64984" /><Relationship Type="http://schemas.openxmlformats.org/officeDocument/2006/relationships/notesMaster" Target="/ppt/notesMasters/notesMaster1.xml" Id="R8638d2fa7dcd4e28" /></Relationships>
</file>

<file path=ppt/notesSlides/_rels/notesSlide3.xml.rels>&#65279;<?xml version="1.0" encoding="utf-8"?><Relationships xmlns="http://schemas.openxmlformats.org/package/2006/relationships"><Relationship Type="http://schemas.openxmlformats.org/officeDocument/2006/relationships/slide" Target="/ppt/slides/slide3.xml" Id="R00fc1d0cbd214ad3" /><Relationship Type="http://schemas.openxmlformats.org/officeDocument/2006/relationships/notesMaster" Target="/ppt/notesMasters/notesMaster1.xml" Id="R7b892997bebd42a7" /></Relationships>
</file>

<file path=ppt/notesSlides/_rels/notesSlide4.xml.rels>&#65279;<?xml version="1.0" encoding="utf-8"?><Relationships xmlns="http://schemas.openxmlformats.org/package/2006/relationships"><Relationship Type="http://schemas.openxmlformats.org/officeDocument/2006/relationships/slide" Target="/ppt/slides/slide4.xml" Id="R5eb2009a5f0b4a33" /><Relationship Type="http://schemas.openxmlformats.org/officeDocument/2006/relationships/notesMaster" Target="/ppt/notesMasters/notesMaster1.xml" Id="R103caea1b6e44a7a" /></Relationships>
</file>

<file path=ppt/notesSlides/_rels/notesSlide5.xml.rels>&#65279;<?xml version="1.0" encoding="utf-8"?><Relationships xmlns="http://schemas.openxmlformats.org/package/2006/relationships"><Relationship Type="http://schemas.openxmlformats.org/officeDocument/2006/relationships/slide" Target="/ppt/slides/slide5.xml" Id="R80632f136b7241f8" /><Relationship Type="http://schemas.openxmlformats.org/officeDocument/2006/relationships/notesMaster" Target="/ppt/notesMasters/notesMaster1.xml" Id="R839736eff40b4de3" /></Relationships>
</file>

<file path=ppt/notesSlides/_rels/notesSlide6.xml.rels>&#65279;<?xml version="1.0" encoding="utf-8"?><Relationships xmlns="http://schemas.openxmlformats.org/package/2006/relationships"><Relationship Type="http://schemas.openxmlformats.org/officeDocument/2006/relationships/slide" Target="/ppt/slides/slide6.xml" Id="R563bdd48c4d14100" /><Relationship Type="http://schemas.openxmlformats.org/officeDocument/2006/relationships/notesMaster" Target="/ppt/notesMasters/notesMaster1.xml" Id="Rf6048597bbcf4ab0" /></Relationships>
</file>

<file path=ppt/notesSlides/_rels/notesSlide7.xml.rels>&#65279;<?xml version="1.0" encoding="utf-8"?><Relationships xmlns="http://schemas.openxmlformats.org/package/2006/relationships"><Relationship Type="http://schemas.openxmlformats.org/officeDocument/2006/relationships/slide" Target="/ppt/slides/slide7.xml" Id="Rdaabe65b8447445d" /><Relationship Type="http://schemas.openxmlformats.org/officeDocument/2006/relationships/notesMaster" Target="/ppt/notesMasters/notesMaster1.xml" Id="R89f512c97369427b" /></Relationships>
</file>

<file path=ppt/notesSlides/_rels/notesSlide8.xml.rels>&#65279;<?xml version="1.0" encoding="utf-8"?><Relationships xmlns="http://schemas.openxmlformats.org/package/2006/relationships"><Relationship Type="http://schemas.openxmlformats.org/officeDocument/2006/relationships/slide" Target="/ppt/slides/slide8.xml" Id="R3a8ec1872b834ced" /><Relationship Type="http://schemas.openxmlformats.org/officeDocument/2006/relationships/notesMaster" Target="/ppt/notesMasters/notesMaster1.xml" Id="R55e7004f510649a3" /></Relationships>
</file>

<file path=ppt/notesSlides/_rels/notesSlide9.xml.rels>&#65279;<?xml version="1.0" encoding="utf-8"?><Relationships xmlns="http://schemas.openxmlformats.org/package/2006/relationships"><Relationship Type="http://schemas.openxmlformats.org/officeDocument/2006/relationships/slide" Target="/ppt/slides/slide9.xml" Id="R86aa0474840c431c" /><Relationship Type="http://schemas.openxmlformats.org/officeDocument/2006/relationships/notesMaster" Target="/ppt/notesMasters/notesMaster1.xml" Id="R9ec39b38a8e04c6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1ada15060fe4019" /><Relationship Type="http://schemas.openxmlformats.org/officeDocument/2006/relationships/notesMaster" Target="/ppt/notesMasters/notesMaster1.xml" Id="R155c5e63139541d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a572090cf314958" /><Relationship Type="http://schemas.openxmlformats.org/officeDocument/2006/relationships/notesMaster" Target="/ppt/notesMasters/notesMaster1.xml" Id="Ra14abdde01004dc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dca862d96c2428e" /><Relationship Type="http://schemas.openxmlformats.org/officeDocument/2006/relationships/notesMaster" Target="/ppt/notesMasters/notesMaster1.xml" Id="R346311948209417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6228a5dd3724170" /><Relationship Type="http://schemas.openxmlformats.org/officeDocument/2006/relationships/notesMaster" Target="/ppt/notesMasters/notesMaster1.xml" Id="Rf13d495cc72c40b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2786ecbd29b4fcf" /><Relationship Type="http://schemas.openxmlformats.org/officeDocument/2006/relationships/notesMaster" Target="/ppt/notesMasters/notesMaster1.xml" Id="R0cce049c87a947f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a5d5c62619b4d28" /><Relationship Type="http://schemas.openxmlformats.org/officeDocument/2006/relationships/notesMaster" Target="/ppt/notesMasters/notesMaster1.xml" Id="R94dccd5391d34db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6910125763944cb" /><Relationship Type="http://schemas.openxmlformats.org/officeDocument/2006/relationships/notesMaster" Target="/ppt/notesMasters/notesMaster1.xml" Id="R264d4f636be448d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fb689add4724f92" /><Relationship Type="http://schemas.openxmlformats.org/officeDocument/2006/relationships/notesMaster" Target="/ppt/notesMasters/notesMaster1.xml" Id="R98e63979d9d5407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369958247094146" /><Relationship Type="http://schemas.openxmlformats.org/officeDocument/2006/relationships/notesMaster" Target="/ppt/notesMasters/notesMaster1.xml" Id="Rebb47f8059a9433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62a0c324eaf4bf7" /><Relationship Type="http://schemas.openxmlformats.org/officeDocument/2006/relationships/notesMaster" Target="/ppt/notesMasters/notesMaster1.xml" Id="R0d552640108d4db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e6c02be22f54f15" /><Relationship Type="http://schemas.openxmlformats.org/officeDocument/2006/relationships/notesMaster" Target="/ppt/notesMasters/notesMaster1.xml" Id="Rd850cd3dc6df4b6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21a90b2a2454b92" /><Relationship Type="http://schemas.openxmlformats.org/officeDocument/2006/relationships/notesMaster" Target="/ppt/notesMasters/notesMaster1.xml" Id="R80ee094e017e497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6a84dff1d5b4c7c" /><Relationship Type="http://schemas.openxmlformats.org/officeDocument/2006/relationships/notesMaster" Target="/ppt/notesMasters/notesMaster1.xml" Id="R6c3c0d1238274f4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c670b4f256442c3" /><Relationship Type="http://schemas.openxmlformats.org/officeDocument/2006/relationships/notesMaster" Target="/ppt/notesMasters/notesMaster1.xml" Id="Ra2462caa15f0484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dfbf6b58bde4156" /><Relationship Type="http://schemas.openxmlformats.org/officeDocument/2006/relationships/notesMaster" Target="/ppt/notesMasters/notesMaster1.xml" Id="R4b7bd28f48ee484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a269006971c4fbe" /><Relationship Type="http://schemas.openxmlformats.org/officeDocument/2006/relationships/notesMaster" Target="/ppt/notesMasters/notesMaster1.xml" Id="R36a6f9fbda2b4a0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5a9f90bff5d44f7" /><Relationship Type="http://schemas.openxmlformats.org/officeDocument/2006/relationships/notesMaster" Target="/ppt/notesMasters/notesMaster1.xml" Id="R499fcd76268847d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76c29e799384268" /><Relationship Type="http://schemas.openxmlformats.org/officeDocument/2006/relationships/notesMaster" Target="/ppt/notesMasters/notesMaster1.xml" Id="R492f3aa78969486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b70e85169ea4ec2" /><Relationship Type="http://schemas.openxmlformats.org/officeDocument/2006/relationships/notesMaster" Target="/ppt/notesMasters/notesMaster1.xml" Id="R5c0ef2b15ad7432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0b379660186413b" /><Relationship Type="http://schemas.openxmlformats.org/officeDocument/2006/relationships/notesMaster" Target="/ppt/notesMasters/notesMaster1.xml" Id="Re402c2199fe04b8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c73800cf96a4f31" /><Relationship Type="http://schemas.openxmlformats.org/officeDocument/2006/relationships/notesMaster" Target="/ppt/notesMasters/notesMaster1.xml" Id="R4f6b568bae98406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d78dcd56ad849e2" /><Relationship Type="http://schemas.openxmlformats.org/officeDocument/2006/relationships/notesMaster" Target="/ppt/notesMasters/notesMaster1.xml" Id="Rec1d040249514c6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5707ab3853d49a0" /><Relationship Type="http://schemas.openxmlformats.org/officeDocument/2006/relationships/notesMaster" Target="/ppt/notesMasters/notesMaster1.xml" Id="Rd698f28d0fe646c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06e89dcd59f43b5" /><Relationship Type="http://schemas.openxmlformats.org/officeDocument/2006/relationships/notesMaster" Target="/ppt/notesMasters/notesMaster1.xml" Id="R51dc49f9a3f7424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c4188945a2747c6" /><Relationship Type="http://schemas.openxmlformats.org/officeDocument/2006/relationships/notesMaster" Target="/ppt/notesMasters/notesMaster1.xml" Id="R4e15bec2706248e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07c3b3aecbc4619" /><Relationship Type="http://schemas.openxmlformats.org/officeDocument/2006/relationships/notesMaster" Target="/ppt/notesMasters/notesMaster1.xml" Id="Re77632b91a4d424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a215af609314b08" /><Relationship Type="http://schemas.openxmlformats.org/officeDocument/2006/relationships/notesMaster" Target="/ppt/notesMasters/notesMaster1.xml" Id="Rfe0cf91fb985479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509cd5d6c404cc5" /><Relationship Type="http://schemas.openxmlformats.org/officeDocument/2006/relationships/notesMaster" Target="/ppt/notesMasters/notesMaster1.xml" Id="Rd744b331e1d7478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33888b0a25234fc3" /><Relationship Type="http://schemas.openxmlformats.org/officeDocument/2006/relationships/notesMaster" Target="/ppt/notesMasters/notesMaster1.xml" Id="R236e0f9342f3453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2c66f84b9cb4a33" /><Relationship Type="http://schemas.openxmlformats.org/officeDocument/2006/relationships/notesMaster" Target="/ppt/notesMasters/notesMaster1.xml" Id="R6269f477cb1b4df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9b72c09a9624c67" /><Relationship Type="http://schemas.openxmlformats.org/officeDocument/2006/relationships/notesMaster" Target="/ppt/notesMasters/notesMaster1.xml" Id="Ra3847fa1fe7443d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80f91ea9a6b74ce8" /><Relationship Type="http://schemas.openxmlformats.org/officeDocument/2006/relationships/notesMaster" Target="/ppt/notesMasters/notesMaster1.xml" Id="R40d1322f616f447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0c58b53768143d5" /><Relationship Type="http://schemas.openxmlformats.org/officeDocument/2006/relationships/notesMaster" Target="/ppt/notesMasters/notesMaster1.xml" Id="R9858451809f34c49"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4a07a7f332849f1" /><Relationship Type="http://schemas.openxmlformats.org/officeDocument/2006/relationships/notesMaster" Target="/ppt/notesMasters/notesMaster1.xml" Id="R76e007a7115347a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f1bf44bf4ac406f" /><Relationship Type="http://schemas.openxmlformats.org/officeDocument/2006/relationships/notesMaster" Target="/ppt/notesMasters/notesMaster1.xml" Id="Rf571464a055d44b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e35559500e7490b" /><Relationship Type="http://schemas.openxmlformats.org/officeDocument/2006/relationships/notesMaster" Target="/ppt/notesMasters/notesMaster1.xml" Id="Raf417d378f3e47bb"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1fb92808d2d2415c" /><Relationship Type="http://schemas.openxmlformats.org/officeDocument/2006/relationships/notesMaster" Target="/ppt/notesMasters/notesMaster1.xml" Id="R6419346e7bfa49f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07a5e7efae44bfb" /><Relationship Type="http://schemas.openxmlformats.org/officeDocument/2006/relationships/notesMaster" Target="/ppt/notesMasters/notesMaster1.xml" Id="Rc57e0478c8984240"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ee1d81188d5d4091" /><Relationship Type="http://schemas.openxmlformats.org/officeDocument/2006/relationships/notesMaster" Target="/ppt/notesMasters/notesMaster1.xml" Id="R2206842923054b4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71f93e49b6c4b51" /><Relationship Type="http://schemas.openxmlformats.org/officeDocument/2006/relationships/notesMaster" Target="/ppt/notesMasters/notesMaster1.xml" Id="R0451d86d53014cf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d20d2dbfeda149d6" /><Relationship Type="http://schemas.openxmlformats.org/officeDocument/2006/relationships/notesMaster" Target="/ppt/notesMasters/notesMaster1.xml" Id="Raa65e778c89b433b"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6fb49725cd644218" /><Relationship Type="http://schemas.openxmlformats.org/officeDocument/2006/relationships/notesMaster" Target="/ppt/notesMasters/notesMaster1.xml" Id="Rc86e318b24d94956"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97435f7a051449e" /><Relationship Type="http://schemas.openxmlformats.org/officeDocument/2006/relationships/notesMaster" Target="/ppt/notesMasters/notesMaster1.xml" Id="Rcb3332526bc24efa"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6d0678a41eb54a0c" /><Relationship Type="http://schemas.openxmlformats.org/officeDocument/2006/relationships/notesMaster" Target="/ppt/notesMasters/notesMaster1.xml" Id="R65360e7fcfea4a39"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e0a3c9d2a434375" /><Relationship Type="http://schemas.openxmlformats.org/officeDocument/2006/relationships/notesMaster" Target="/ppt/notesMasters/notesMaster1.xml" Id="Ra9aba3e47cc64f0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900ac6d6c2342d3" /><Relationship Type="http://schemas.openxmlformats.org/officeDocument/2006/relationships/notesMaster" Target="/ppt/notesMasters/notesMaster1.xml" Id="Rfd4faa75f9204568"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fe69ce690c704ace" /><Relationship Type="http://schemas.openxmlformats.org/officeDocument/2006/relationships/notesMaster" Target="/ppt/notesMasters/notesMaster1.xml" Id="R116f961de7aa4165"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7d582419ceab45aa" /><Relationship Type="http://schemas.openxmlformats.org/officeDocument/2006/relationships/notesMaster" Target="/ppt/notesMasters/notesMaster1.xml" Id="R05c74ef76fc24d86"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ace1ee0fe38453e" /><Relationship Type="http://schemas.openxmlformats.org/officeDocument/2006/relationships/notesMaster" Target="/ppt/notesMasters/notesMaster1.xml" Id="R820ba1e98ed041f9"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d214d11d85e7458f" /><Relationship Type="http://schemas.openxmlformats.org/officeDocument/2006/relationships/notesMaster" Target="/ppt/notesMasters/notesMaster1.xml" Id="Rf5a2e98c03e14817"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eb79d844348c4fbc" /><Relationship Type="http://schemas.openxmlformats.org/officeDocument/2006/relationships/notesMaster" Target="/ppt/notesMasters/notesMaster1.xml" Id="R6802bdb1ab114533"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95474c475e04406" /><Relationship Type="http://schemas.openxmlformats.org/officeDocument/2006/relationships/notesMaster" Target="/ppt/notesMasters/notesMaster1.xml" Id="R57c3935cccc84d9f"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d1abad68cac24f66" /><Relationship Type="http://schemas.openxmlformats.org/officeDocument/2006/relationships/notesMaster" Target="/ppt/notesMasters/notesMaster1.xml" Id="R238c069b51c14a29"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e458ff9a10ac418f" /><Relationship Type="http://schemas.openxmlformats.org/officeDocument/2006/relationships/notesMaster" Target="/ppt/notesMasters/notesMaster1.xml" Id="R3199eed5dc914be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e3b8638946b54a89" /><Relationship Type="http://schemas.openxmlformats.org/officeDocument/2006/relationships/notesMaster" Target="/ppt/notesMasters/notesMaster1.xml" Id="Ree93f89e341f4049"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4e639945446f460b" /><Relationship Type="http://schemas.openxmlformats.org/officeDocument/2006/relationships/notesMaster" Target="/ppt/notesMasters/notesMaster1.xml" Id="R29531ea5c81d425d"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6fdcea5bb5844293" /><Relationship Type="http://schemas.openxmlformats.org/officeDocument/2006/relationships/notesMaster" Target="/ppt/notesMasters/notesMaster1.xml" Id="R2a0ef3d3dcb14e20"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dd490b46a0f7443d" /><Relationship Type="http://schemas.openxmlformats.org/officeDocument/2006/relationships/notesMaster" Target="/ppt/notesMasters/notesMaster1.xml" Id="R3a7c15e462a348b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68b0f360741d4a2a" /><Relationship Type="http://schemas.openxmlformats.org/officeDocument/2006/relationships/notesMaster" Target="/ppt/notesMasters/notesMaster1.xml" Id="Rc5e2ea7e52f14e51"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836b0419d6e344ae" /><Relationship Type="http://schemas.openxmlformats.org/officeDocument/2006/relationships/notesMaster" Target="/ppt/notesMasters/notesMaster1.xml" Id="Rbdadb745d67f4f02"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b182057cf87a40d8" /><Relationship Type="http://schemas.openxmlformats.org/officeDocument/2006/relationships/notesMaster" Target="/ppt/notesMasters/notesMaster1.xml" Id="R1f7efdc2efba4b8d"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426b6bd90072435c" /><Relationship Type="http://schemas.openxmlformats.org/officeDocument/2006/relationships/notesMaster" Target="/ppt/notesMasters/notesMaster1.xml" Id="Rdaa896a521104abb"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2ebfa02c27434acd" /><Relationship Type="http://schemas.openxmlformats.org/officeDocument/2006/relationships/notesMaster" Target="/ppt/notesMasters/notesMaster1.xml" Id="R400d413d7bc54b3e"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bf980e4682bb4189" /><Relationship Type="http://schemas.openxmlformats.org/officeDocument/2006/relationships/notesMaster" Target="/ppt/notesMasters/notesMaster1.xml" Id="Rcd87865a0f0048b3"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079ff5a2ed8849dc" /><Relationship Type="http://schemas.openxmlformats.org/officeDocument/2006/relationships/notesMaster" Target="/ppt/notesMasters/notesMaster1.xml" Id="Ree74dfe746f9497c"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e6598568bdd34507" /><Relationship Type="http://schemas.openxmlformats.org/officeDocument/2006/relationships/notesMaster" Target="/ppt/notesMasters/notesMaster1.xml" Id="Rcafd16e76a5a4a23"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a5a6f9c4c5374769" /><Relationship Type="http://schemas.openxmlformats.org/officeDocument/2006/relationships/notesMaster" Target="/ppt/notesMasters/notesMaster1.xml" Id="R31c9ee686a774303"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9726957d041b4396" /><Relationship Type="http://schemas.openxmlformats.org/officeDocument/2006/relationships/notesMaster" Target="/ppt/notesMasters/notesMaster1.xml" Id="R31517a7992d54f80"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b89112df67e54628" /><Relationship Type="http://schemas.openxmlformats.org/officeDocument/2006/relationships/notesMaster" Target="/ppt/notesMasters/notesMaster1.xml" Id="R0093d2ae367b4ac5"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39b3361e4108429f" /><Relationship Type="http://schemas.openxmlformats.org/officeDocument/2006/relationships/notesMaster" Target="/ppt/notesMasters/notesMaster1.xml" Id="R4d9ed33eda7c4739"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434d1a457e164886" /><Relationship Type="http://schemas.openxmlformats.org/officeDocument/2006/relationships/notesMaster" Target="/ppt/notesMasters/notesMaster1.xml" Id="Rf43c4d317d16428b"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a1e9204d3c83428b" /><Relationship Type="http://schemas.openxmlformats.org/officeDocument/2006/relationships/notesMaster" Target="/ppt/notesMasters/notesMaster1.xml" Id="R22ba2bab12fe4ab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導入の1枚目です。前回は観測値のばらつきを扱いました。今回は「座標とは何か」から始めて、地球の形（ジオイド）、測地系と投影、平面直角座標系、座標計算までを順に学びます。実習で TS や GNSS の画面に出る X・Y・標高の意味が分かるようになります。表紙の絵は AI（Codex の画像生成）で作った概念イラストで、実際の現場の写真ではありません。</a:t>
            </a:r>
          </a:p>
          <a:p xmlns:a="http://schemas.openxmlformats.org/drawingml/2006/main">
            <a:r>
              <a:t>補足（従来の本文）：</a:t>
            </a:r>
          </a:p>
          <a:p xmlns:a="http://schemas.openxmlformats.org/drawingml/2006/main">
            <a:r>
              <a:t>## 測量の座標</a:t>
            </a:r>
          </a:p>
          <a:p xmlns:a="http://schemas.openxmlformats.org/drawingml/2006/main">
            <a:r>
              <a:t/>
            </a:r>
          </a:p>
          <a:p xmlns:a="http://schemas.openxmlformats.org/drawingml/2006/main">
            <a:r>
              <a:t>農業農村工学系の学部講義｜図解版 改訂（2026-10-15）</a:t>
            </a:r>
          </a:p>
          <a:p xmlns:a="http://schemas.openxmlformats.org/drawingml/2006/main">
            <a:r>
              <a:t/>
            </a:r>
          </a:p>
          <a:p xmlns:a="http://schemas.openxmlformats.org/drawingml/2006/main">
            <a:r>
              <a:t>![農地で GNSS 受信機とトータルステーションを据えた測量の情景（AI 生成の概念イラスト）](illustrations/title_hero.png)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残差和が0になることと、分母が n−1 の5であることを確認します。最確値の標準偏差は観測回数の平方根で小さくなります。</a:t>
            </a:r>
          </a:p>
          <a:p xmlns:a="http://schemas.openxmlformats.org/drawingml/2006/main">
            <a:r>
              <a:t>補足（従来の本文）：</a:t>
            </a:r>
          </a:p>
          <a:p xmlns:a="http://schemas.openxmlformats.org/drawingml/2006/main">
            <a:r>
              <a:t>| 項目 | 値 |</a:t>
            </a:r>
          </a:p>
          <a:p xmlns:a="http://schemas.openxmlformats.org/drawingml/2006/main">
            <a:r>
              <a:t>| --- | ---: |</a:t>
            </a:r>
          </a:p>
          <a:p xmlns:a="http://schemas.openxmlformats.org/drawingml/2006/main">
            <a:r>
              <a:t>| 最確値 $\bar{x}=\sum x_i/6$ | 30.006 m |</a:t>
            </a:r>
          </a:p>
          <a:p xmlns:a="http://schemas.openxmlformats.org/drawingml/2006/main">
            <a:r>
              <a:t>| 残差 $v_i$（mm） | −3, −2, −1, +1, +2, +3（和 0） |</a:t>
            </a:r>
          </a:p>
          <a:p xmlns:a="http://schemas.openxmlformats.org/drawingml/2006/main">
            <a:r>
              <a:t>| $\sum v_i^2$ | 28 mm² |</a:t>
            </a:r>
          </a:p>
          <a:p xmlns:a="http://schemas.openxmlformats.org/drawingml/2006/main">
            <a:r>
              <a:t>| 1観測の標準偏差 $\sigma=\sqrt{28/5}$ | 2.37 mm |</a:t>
            </a:r>
          </a:p>
          <a:p xmlns:a="http://schemas.openxmlformats.org/drawingml/2006/main">
            <a:r>
              <a:t>| 最確値の標準偏差 $\sigma/\sqrt{6}$ | 0.97 mm |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通常の残差和は −9 で0になりませんが、重み付き残差和は0になります。重みの根拠を書けていたかを重点的に見ました。詳しい採点基準は配布した解答に書いてあります。</a:t>
            </a:r>
          </a:p>
          <a:p xmlns:a="http://schemas.openxmlformats.org/drawingml/2006/main">
            <a:r>
              <a:t>補足（従来の本文）：</a:t>
            </a:r>
          </a:p>
          <a:p xmlns:a="http://schemas.openxmlformats.org/drawingml/2006/main">
            <a:r>
              <a:t>| 項目 | 値 |</a:t>
            </a:r>
          </a:p>
          <a:p xmlns:a="http://schemas.openxmlformats.org/drawingml/2006/main">
            <a:r>
              <a:t>| --- | ---: |</a:t>
            </a:r>
          </a:p>
          <a:p xmlns:a="http://schemas.openxmlformats.org/drawingml/2006/main">
            <a:r>
              <a:t>| 重み（回数に比例） | $w_1:w_2=1:4$ |</a:t>
            </a:r>
          </a:p>
          <a:p xmlns:a="http://schemas.openxmlformats.org/drawingml/2006/main">
            <a:r>
              <a:t>| 重み付き平均 $(1\times80.000+4\times80.015)/5$ | 80.012 m |</a:t>
            </a:r>
          </a:p>
          <a:p xmlns:a="http://schemas.openxmlformats.org/drawingml/2006/main">
            <a:r>
              <a:t>| 残差 $v_i$（mm） | −12, +3（$\sum w_iv_i=0$） |</a:t>
            </a:r>
          </a:p>
          <a:p xmlns:a="http://schemas.openxmlformats.org/drawingml/2006/main">
            <a:r>
              <a:t>| $\sum w_iv_i^2$ | 180 mm² |</a:t>
            </a:r>
          </a:p>
          <a:p xmlns:a="http://schemas.openxmlformats.org/drawingml/2006/main">
            <a:r>
              <a:t>| $\sigma_0=\sqrt{180/1}$、$\sigma_{\bar{x}_w}=\sigma_0/\sqrt{5}$ | 13.42 mm、6.00 mm |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今日は6つの到達目標があります。6 つ目は国家試験との対応で、各節末の「試験で問われる型」で確認します。前半（1〜3）は「考え方」で、図を見ながら理解することが中心です。後半（4〜5）は計算で、最後の演習で確認します。1〜4 は次回の冒頭小テストでも問います。</a:t>
            </a:r>
          </a:p>
          <a:p xmlns:a="http://schemas.openxmlformats.org/drawingml/2006/main">
            <a:r>
              <a:t>補足（従来の本文）：</a:t>
            </a:r>
          </a:p>
          <a:p xmlns:a="http://schemas.openxmlformats.org/drawingml/2006/main">
            <a:r>
              <a:t>- 「座標」を数学（点と数の組の対応）と測量（位置を共有する約束）の両面から説明できる。</a:t>
            </a:r>
          </a:p>
          <a:p xmlns:a="http://schemas.openxmlformats.org/drawingml/2006/main">
            <a:r>
              <a:t>- **ジオイドとは何か**を自分の言葉で説明でき、$h=H+N$ の関係を図と式で示せる。</a:t>
            </a:r>
          </a:p>
          <a:p xmlns:a="http://schemas.openxmlformats.org/drawingml/2006/main">
            <a:r>
              <a:t>- 測地系・地理座標・投影座標（メルカトル、UTM、平面直角座標系）の違いを図で説明できる。</a:t>
            </a:r>
          </a:p>
          <a:p xmlns:a="http://schemas.openxmlformats.org/drawingml/2006/main">
            <a:r>
              <a:t>- 平面直角座標系の約束（X が北、Y が東、原点の縮尺係数 0.9999）を説明できる。</a:t>
            </a:r>
          </a:p>
          <a:p xmlns:a="http://schemas.openxmlformats.org/drawingml/2006/main">
            <a:r>
              <a:t>- 既知点から新点の座標を計算し、2点から距離と方向角を求め、斜距離を平面距離まで換算できる。</a:t>
            </a:r>
          </a:p>
          <a:p xmlns:a="http://schemas.openxmlformats.org/drawingml/2006/main">
            <a:r>
              <a:t>- 測量士補 No.4（地球の形状）・No.22（投影法）・No.6（座標計算）、測量士 No.2（ITRF）の定番の誤文と数値を見抜ける。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今回から冒頭に前回範囲の小テストを入れます。測量士補試験と同じ五肢択一で、電卓は使いません。講義は理論（座標・ジオイド・投影）と実務（平面直角座標系・座標計算）の2部構成で、各節の終わりに短い確認問題を置きます。</a:t>
            </a:r>
          </a:p>
          <a:p xmlns:a="http://schemas.openxmlformats.org/drawingml/2006/main">
            <a:r>
              <a:t>補足（従来の本文）：</a:t>
            </a:r>
          </a:p>
          <a:p xmlns:a="http://schemas.openxmlformats.org/drawingml/2006/main">
            <a:r>
              <a:t>| 時間 | 内容 |</a:t>
            </a:r>
          </a:p>
          <a:p xmlns:a="http://schemas.openxmlformats.org/drawingml/2006/main">
            <a:r>
              <a:t>| --- | --- |</a:t>
            </a:r>
          </a:p>
          <a:p xmlns:a="http://schemas.openxmlformats.org/drawingml/2006/main">
            <a:r>
              <a:t>| 0〜4分 | 前回の確認・到達目標 |</a:t>
            </a:r>
          </a:p>
          <a:p xmlns:a="http://schemas.openxmlformats.org/drawingml/2006/main">
            <a:r>
              <a:t>| 4〜16分 | 小テスト（前回範囲、測量士補形式）10分＋解説2分 |</a:t>
            </a:r>
          </a:p>
          <a:p xmlns:a="http://schemas.openxmlformats.org/drawingml/2006/main">
            <a:r>
              <a:t>| 16〜34分 | 座標とは何か → 地球の形とジオイド |</a:t>
            </a:r>
          </a:p>
          <a:p xmlns:a="http://schemas.openxmlformats.org/drawingml/2006/main">
            <a:r>
              <a:t>| 34〜56分 | 測地系と投影（メルカトル・UTM） → 平面直角座標系 |</a:t>
            </a:r>
          </a:p>
          <a:p xmlns:a="http://schemas.openxmlformats.org/drawingml/2006/main">
            <a:r>
              <a:t>| 56〜68分 | 方向角と座標計算 → GNSS・TS との接続 |</a:t>
            </a:r>
          </a:p>
          <a:p xmlns:a="http://schemas.openxmlformats.org/drawingml/2006/main">
            <a:r>
              <a:t>| 68〜86分 | 手計算テスト18分 |</a:t>
            </a:r>
          </a:p>
          <a:p xmlns:a="http://schemas.openxmlformats.org/drawingml/2006/main">
            <a:r>
              <a:t>| 86〜90分 | 要点確認・提出・次回予告 |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測量士補試験は国土地理院が行う国家試験で、合格すると測量士補として登録できます。計算問題も電卓なしで解ける数値になっているので、今日の小テストも同じ条件にします。詳しい試験の要項は配布資料の注記を見てください。</a:t>
            </a:r>
          </a:p>
          <a:p xmlns:a="http://schemas.openxmlformats.org/drawingml/2006/main">
            <a:r>
              <a:t>補足（従来の本文）：</a:t>
            </a:r>
          </a:p>
          <a:p xmlns:a="http://schemas.openxmlformats.org/drawingml/2006/main">
            <a:r>
              <a:t>- 国家試験「測量士補」は択一式（五肢）28問・3時間・700点満点、450点以上で合格。**電卓は使えない**（関数表が付く）。</a:t>
            </a:r>
          </a:p>
          <a:p xmlns:a="http://schemas.openxmlformats.org/drawingml/2006/main">
            <a:r>
              <a:t>- 出題区分（令和7年〜）：測量に関する法規、測地測量、測図測量、応用測量（三次元点群測量も出題）。</a:t>
            </a:r>
          </a:p>
          <a:p xmlns:a="http://schemas.openxmlformats.org/drawingml/2006/main">
            <a:r>
              <a:t>- 本日の小テストは前回範囲（誤差論）から5問・10分・各2点。</a:t>
            </a:r>
          </a:p>
          <a:p xmlns:a="http://schemas.openxmlformats.org/drawingml/2006/main">
            <a:r>
              <a:t>- 問題文は配布用紙と同じ。答は番号で書く。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1問2分の目安で進めます。選択肢の番号は a から順に1〜5です。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末尾の mm だけを足すと早く計算できます。残差の和が0になるかで検算できます。</a:t>
            </a:r>
          </a:p>
          <a:p xmlns:a="http://schemas.openxmlformats.org/drawingml/2006/main">
            <a:r>
              <a:t>補足（従来の本文）：</a:t>
            </a:r>
          </a:p>
          <a:p xmlns:a="http://schemas.openxmlformats.org/drawingml/2006/main">
            <a:r>
              <a:t>同一の距離を同精度で独立に5回観測した（過失・定誤差は処理済み）。最確値はどれか。</a:t>
            </a:r>
          </a:p>
          <a:p xmlns:a="http://schemas.openxmlformats.org/drawingml/2006/main">
            <a:r>
              <a:t/>
            </a:r>
          </a:p>
          <a:p xmlns:a="http://schemas.openxmlformats.org/drawingml/2006/main">
            <a:r>
              <a:t>観測値（m）：50.003、50.005、50.006、50.008、50.008</a:t>
            </a:r>
          </a:p>
          <a:p xmlns:a="http://schemas.openxmlformats.org/drawingml/2006/main">
            <a:r>
              <a:t/>
            </a:r>
          </a:p>
          <a:p xmlns:a="http://schemas.openxmlformats.org/drawingml/2006/main">
            <a:r>
              <a:t>選択肢　1. 50.005 m　2. 50.006 m　3. 50.007 m　4. 50.008 m　5. 50.0055 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1観測の標準偏差と最確値の標準偏差の区別を問う問題です。分母が n−1 であることにも注意させます。</a:t>
            </a:r>
          </a:p>
          <a:p xmlns:a="http://schemas.openxmlformats.org/drawingml/2006/main">
            <a:r>
              <a:t>補足（従来の本文）：</a:t>
            </a:r>
          </a:p>
          <a:p xmlns:a="http://schemas.openxmlformats.org/drawingml/2006/main">
            <a:r>
              <a:t>同精度で独立に4回観測し、残差の二乗の和が $\sum v_i^2=27\ \mathrm{mm^2}$ であった。最確値の標準偏差はどれか。</a:t>
            </a:r>
          </a:p>
          <a:p xmlns:a="http://schemas.openxmlformats.org/drawingml/2006/main">
            <a:r>
              <a:t/>
            </a:r>
          </a:p>
          <a:p xmlns:a="http://schemas.openxmlformats.org/drawingml/2006/main">
            <a:r>
              <a:t>選択肢　1. 0.75 mm　2. 1.5 mm　3. 2.6 mm　4. 3.0 mm　5. 6.0 mm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路線長に反比例なので、短い路線の重みが大きくなります。単純平均の 10.015 を選ばないよう、比を作ってから計算させます。</a:t>
            </a:r>
          </a:p>
          <a:p xmlns:a="http://schemas.openxmlformats.org/drawingml/2006/main">
            <a:r>
              <a:t>補足（従来の本文）：</a:t>
            </a:r>
          </a:p>
          <a:p xmlns:a="http://schemas.openxmlformats.org/drawingml/2006/main">
            <a:r>
              <a:t>新点 P の標高を2本の水準路線で観測した。路線1（2 km）は 10.012 m、路線2（4 km）は 10.018 m。重みを路線長に反比例させるとき、最確値はどれか。</a:t>
            </a:r>
          </a:p>
          <a:p xmlns:a="http://schemas.openxmlformats.org/drawingml/2006/main">
            <a:r>
              <a:t/>
            </a:r>
          </a:p>
          <a:p xmlns:a="http://schemas.openxmlformats.org/drawingml/2006/main">
            <a:r>
              <a:t>選択肢　1. 10.012 m　2. 10.013 m　3. 10.014 m　4. 10.015 m　5. 10.016 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ppm は100万分の1です。1 km は 10⁶ mm なので、2 ppm は 2 mm になります。残り1分で解答欄を確認させ、用紙を回収します。</a:t>
            </a:r>
          </a:p>
          <a:p xmlns:a="http://schemas.openxmlformats.org/drawingml/2006/main">
            <a:r>
              <a:t>補足（従来の本文）：</a:t>
            </a:r>
          </a:p>
          <a:p xmlns:a="http://schemas.openxmlformats.org/drawingml/2006/main">
            <a:r>
              <a:t>TS の測距精度が「±(2 mm + 2 ppm × D)」と表示されている。1 km の距離を測ったとき、この表示が示す標準偏差はどれか。</a:t>
            </a:r>
          </a:p>
          <a:p xmlns:a="http://schemas.openxmlformats.org/drawingml/2006/main">
            <a:r>
              <a:t/>
            </a:r>
          </a:p>
          <a:p xmlns:a="http://schemas.openxmlformats.org/drawingml/2006/main">
            <a:r>
              <a:t>選択肢　1. 2 mm　2. 4 mm　3. 6 mm　4. 22 mm　5. 202 mm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問1は「減らない」が誤りです。問3で 3.0 mm を選んだ人は、1観測の標準偏差で止まっています。士補試験では残差が整数 mm、平方和が平方数になるように作られているので、根号が開けなければ計算ミスを疑ってください。</a:t>
            </a:r>
          </a:p>
          <a:p xmlns:a="http://schemas.openxmlformats.org/drawingml/2006/main">
            <a:r>
              <a:t>補足（従来の本文）：</a:t>
            </a:r>
          </a:p>
          <a:p xmlns:a="http://schemas.openxmlformats.org/drawingml/2006/main">
            <a:r>
              <a:t>| 問 | 正答 | 根拠 |</a:t>
            </a:r>
          </a:p>
          <a:p xmlns:a="http://schemas.openxmlformats.org/drawingml/2006/main">
            <a:r>
              <a:t>| --- | --- | --- |</a:t>
            </a:r>
          </a:p>
          <a:p xmlns:a="http://schemas.openxmlformats.org/drawingml/2006/main">
            <a:r>
              <a:t>| 1 | 3（c） | 独立・同精度なら平均の標準偏差は $\sigma/\sqrt{n}$ で減る |</a:t>
            </a:r>
          </a:p>
          <a:p xmlns:a="http://schemas.openxmlformats.org/drawingml/2006/main">
            <a:r>
              <a:t>| 2 | 2（50.006 m） | 合計 250.030 ÷ 5。残差 −3,−1,0,+2,+2 の和は 0 |</a:t>
            </a:r>
          </a:p>
          <a:p xmlns:a="http://schemas.openxmlformats.org/drawingml/2006/main">
            <a:r>
              <a:t>| 3 | 2（1.5 mm） | $\sigma=\sqrt{27/3}=3.0$ mm、$\sigma_{\bar{x}}=3.0/\sqrt{4}=1.5$ mm |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問4で 10.015 を選んだ人は単純平均です。問5は 2 ppm と 1 km の単位を合わせる問題で、実習で使う TS のカタログにも同じ書き方があります。</a:t>
            </a:r>
          </a:p>
          <a:p xmlns:a="http://schemas.openxmlformats.org/drawingml/2006/main">
            <a:r>
              <a:t>補足（従来の本文）：</a:t>
            </a:r>
          </a:p>
          <a:p xmlns:a="http://schemas.openxmlformats.org/drawingml/2006/main">
            <a:r>
              <a:t>| 問 | 正答 | 根拠 |</a:t>
            </a:r>
          </a:p>
          <a:p xmlns:a="http://schemas.openxmlformats.org/drawingml/2006/main">
            <a:r>
              <a:t>| --- | --- | --- |</a:t>
            </a:r>
          </a:p>
          <a:p xmlns:a="http://schemas.openxmlformats.org/drawingml/2006/main">
            <a:r>
              <a:t>| 4 | 3（10.014 m） | 重み 2:1。(2×10.012+10.018)/3 |</a:t>
            </a:r>
          </a:p>
          <a:p xmlns:a="http://schemas.openxmlformats.org/drawingml/2006/main">
            <a:r>
              <a:t>| 5 | 2（4 mm） | 2 mm + 2×10⁻⁶×10⁶ mm |</a:t>
            </a:r>
          </a:p>
          <a:p xmlns:a="http://schemas.openxmlformats.org/drawingml/2006/main">
            <a:r>
              <a:t/>
            </a:r>
          </a:p>
          <a:p xmlns:a="http://schemas.openxmlformats.org/drawingml/2006/main">
            <a:r>
              <a:t>- 士補の型：水準測量は「路線長に反比例」、多角測量の反復は「回数に比例」。</a:t>
            </a:r>
          </a:p>
          <a:p xmlns:a="http://schemas.openxmlformats.org/drawingml/2006/main">
            <a:r>
              <a:t>- 機器の性能表示は距離に応じて読む。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デカルト以来の考え方です。平面の点の集合と実数の組の集合の間に、原点と2本の軸を決めることで1対1の対応（全単射）ができます。対応は「約束」なので、約束を変えれば同じ点の数は変わります。図の右の軸は原点を (1.0, 0.5) に動かし、30° 回したもので、P の座標は (2.48, 0.30) になります。</a:t>
            </a:r>
          </a:p>
          <a:p xmlns:a="http://schemas.openxmlformats.org/drawingml/2006/main">
            <a:r>
              <a:t>補足（従来の本文）：</a:t>
            </a:r>
          </a:p>
          <a:p xmlns:a="http://schemas.openxmlformats.org/drawingml/2006/main">
            <a:r>
              <a:t>- 座標＝**点と「数の組」を 1 対 1 に対応させる約束**。平面なら 2 つ、空間なら 3 つの実数。</a:t>
            </a:r>
          </a:p>
          <a:p xmlns:a="http://schemas.openxmlformats.org/drawingml/2006/main">
            <a:r>
              <a:t>- 対応のしかたを決めるのが**座標系**：原点 O、軸の向き、単位（物差し）。</a:t>
            </a:r>
          </a:p>
          <a:p xmlns:a="http://schemas.openxmlformats.org/drawingml/2006/main">
            <a:r>
              <a:t>- 点は 1 つでも、座標系を変えれば数は変わる。図の P は左の軸では (3, 2)、右の軸では別の値。</a:t>
            </a:r>
          </a:p>
          <a:p xmlns:a="http://schemas.openxmlformats.org/drawingml/2006/main">
            <a:r>
              <a:t>- 「点そのもの」と「点の座標」は別物。測量が決めたいのは位置、記録するのは座標。</a:t>
            </a:r>
          </a:p>
          <a:p xmlns:a="http://schemas.openxmlformats.org/drawingml/2006/main">
            <a:r>
              <a:t/>
            </a:r>
          </a:p>
          <a:p xmlns:a="http://schemas.openxmlformats.org/drawingml/2006/main">
            <a:r>
              <a:t>![同じ点 P を 2 組の座標軸で表す。座標系＝原点＋軸の向き＋単位](diagrams/coord_concept.svg)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数学的には、平面直角座標系の変換は平行移動と回転の合成（合同変換）に、必要なら一様な縮尺を加えたものです。距離と角が保たれるので、現地で測った形はどの座標系でも同じ形として表せます。測量が「距離と角の観測」でできているのはこのためです。式の導出は線形代数で学んだ回転行列そのものです。</a:t>
            </a:r>
          </a:p>
          <a:p xmlns:a="http://schemas.openxmlformats.org/drawingml/2006/main">
            <a:r>
              <a:t>補足（従来の本文）：</a:t>
            </a:r>
          </a:p>
          <a:p xmlns:a="http://schemas.openxmlformats.org/drawingml/2006/main">
            <a:r>
              <a:t>原点を $(x_0, y_0)$ に移し、軸を角 $\theta$ だけ回した座標系では：</a:t>
            </a:r>
          </a:p>
          <a:p xmlns:a="http://schemas.openxmlformats.org/drawingml/2006/main">
            <a:r>
              <a:t/>
            </a:r>
          </a:p>
          <a:p xmlns:a="http://schemas.openxmlformats.org/drawingml/2006/main">
            <a:r>
              <a:t>$$</a:t>
            </a:r>
          </a:p>
          <a:p xmlns:a="http://schemas.openxmlformats.org/drawingml/2006/main">
            <a:r>
              <a:t>x' = (x-x_0)\cos\theta + (y-y_0)\sin\theta,\qquad</a:t>
            </a:r>
          </a:p>
          <a:p xmlns:a="http://schemas.openxmlformats.org/drawingml/2006/main">
            <a:r>
              <a:t>y' = -(x-x_0)\sin\theta + (y-y_0)\cos\theta</a:t>
            </a:r>
          </a:p>
          <a:p xmlns:a="http://schemas.openxmlformats.org/drawingml/2006/main">
            <a:r>
              <a:t>$$</a:t>
            </a:r>
          </a:p>
          <a:p xmlns:a="http://schemas.openxmlformats.org/drawingml/2006/main">
            <a:r>
              <a:t/>
            </a:r>
          </a:p>
          <a:p xmlns:a="http://schemas.openxmlformats.org/drawingml/2006/main">
            <a:r>
              <a:t>- 2 点間の**距離**と 2 直線のなす**角**は変わらない（座標変換の**不変量**）。数は変わっても「形」は変わらない。</a:t>
            </a:r>
          </a:p>
          <a:p xmlns:a="http://schemas.openxmlformats.org/drawingml/2006/main">
            <a:r>
              <a:t>- 測量で出てくる座標変換（器械座標 → 平面直角座標、旧測地系 → 世界測地系）は、この式の仲間（3 次元では平行移動 3 ＋ 回転 3 ＋ 縮尺 1 の 7 パラメータ）。</a:t>
            </a:r>
          </a:p>
          <a:p xmlns:a="http://schemas.openxmlformats.org/drawingml/2006/main">
            <a:r>
              <a:t>- だから測量では、距離と角を測って「形」を決め、既知点の座標で「置き場所」を決める。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測量士試験（午前 No.4〜5）で毎年のように出る型です。2 次元の回転行列を書けること、反時計回りが正であること、原点以外のまわりの回転は「ずらして、回して、戻す」ことの 3 点を押さえます。測量士補では出ません。時間が押していれば飛ばしてよい枚です。</a:t>
            </a:r>
          </a:p>
          <a:p xmlns:a="http://schemas.openxmlformats.org/drawingml/2006/main">
            <a:r>
              <a:t>補足（従来の本文）：</a:t>
            </a:r>
          </a:p>
          <a:p xmlns:a="http://schemas.openxmlformats.org/drawingml/2006/main">
            <a:r>
              <a:t>点 $(x, y)$ を原点のまわりに**反時計回り**に角 $\theta$ だけ回した点 $(x', y')$：</a:t>
            </a:r>
          </a:p>
          <a:p xmlns:a="http://schemas.openxmlformats.org/drawingml/2006/main">
            <a:r>
              <a:t/>
            </a:r>
          </a:p>
          <a:p xmlns:a="http://schemas.openxmlformats.org/drawingml/2006/main">
            <a:r>
              <a:t>$$</a:t>
            </a:r>
          </a:p>
          <a:p xmlns:a="http://schemas.openxmlformats.org/drawingml/2006/main">
            <a:r>
              <a:t>x' = x\cos\theta - y\sin\theta,\qquad y' = x\sin\theta + y\cos\theta</a:t>
            </a:r>
          </a:p>
          <a:p xmlns:a="http://schemas.openxmlformats.org/drawingml/2006/main">
            <a:r>
              <a:t>$$</a:t>
            </a:r>
          </a:p>
          <a:p xmlns:a="http://schemas.openxmlformats.org/drawingml/2006/main">
            <a:r>
              <a:t/>
            </a:r>
          </a:p>
          <a:p xmlns:a="http://schemas.openxmlformats.org/drawingml/2006/main">
            <a:r>
              <a:t>- 行列で書くと 1 行目が $(\cos\theta,\ -\sin\theta)$、2 行目が $(\sin\theta,\ \cos\theta)$ の**回転行列** $R(\theta)$。</a:t>
            </a:r>
          </a:p>
          <a:p xmlns:a="http://schemas.openxmlformats.org/drawingml/2006/main">
            <a:r>
              <a:t>- 前の枚の「軸を回す」式は、この逆回転（$\theta \to -\theta$）。**点を回す**のか**軸を回す**のかで $\sin$ の符号が入れ替わる。</a:t>
            </a:r>
          </a:p>
          <a:p xmlns:a="http://schemas.openxmlformats.org/drawingml/2006/main">
            <a:r>
              <a:t>- 例：$P(1.08,\ 0.91)$ を反時計回りに $30°$ → $x'=1.08\times0.866-0.91\times0.5=0.48$、$y'=1.08\times0.5+0.91\times0.866=1.33$。</a:t>
            </a:r>
          </a:p>
          <a:p xmlns:a="http://schemas.openxmlformats.org/drawingml/2006/main">
            <a:r>
              <a:t>- 原点以外の点 A のまわりに回すときは、A を原点に平行移動 → 回転 → 平行移動して戻す。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数学ではガウスの「驚異の定理」として知られています。曲率が違う面どうしは、長さを保ったまま写し合えません。球面（曲率が正）を平面（曲率ゼロ）に写すと、必ず長さか角か面積のどれかがひずみます。この絵は AI（Codex の画像生成）で作った概念イラストです。後半の投影の話は、このひずみをどう扱うかの話です。</a:t>
            </a:r>
          </a:p>
          <a:p xmlns:a="http://schemas.openxmlformats.org/drawingml/2006/main">
            <a:r>
              <a:t>補足（従来の本文）：</a:t>
            </a:r>
          </a:p>
          <a:p xmlns:a="http://schemas.openxmlformats.org/drawingml/2006/main">
            <a:r>
              <a:t>- 球面に平面の直角座標をそのまま貼ることはできない。みかんの皮を平らに押すと必ず裂ける（または伸びる）。</a:t>
            </a:r>
          </a:p>
          <a:p xmlns:a="http://schemas.openxmlformats.org/drawingml/2006/main">
            <a:r>
              <a:t>- だから地球の座標には工夫が要る：**曲面のまま**表す座標（緯度・経度）と、**ひずみを管理して平面に写す**座標（投影座標）。</a:t>
            </a:r>
          </a:p>
          <a:p xmlns:a="http://schemas.openxmlformats.org/drawingml/2006/main">
            <a:r>
              <a:t/>
            </a:r>
          </a:p>
          <a:p xmlns:a="http://schemas.openxmlformats.org/drawingml/2006/main">
            <a:r>
              <a:t>![みかんの皮を平らに押し広げると裂ける（AI 生成の概念イラスト）](illustrations/orange_peel.png)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数学の座標は頭の中の約束で済みますが、測量の座標は地面に打った基準点という「実物」で約束を支えています。GIS で「CRS」や「EPSG コード」を選ぶ画面は、この3点セットを指定しているのです。今日の後半の内容は、この3つの約束を順に具体化していくものです。</a:t>
            </a:r>
          </a:p>
          <a:p xmlns:a="http://schemas.openxmlformats.org/drawingml/2006/main">
            <a:r>
              <a:t>補足（従来の本文）：</a:t>
            </a:r>
          </a:p>
          <a:p xmlns:a="http://schemas.openxmlformats.org/drawingml/2006/main">
            <a:r>
              <a:t>- 測量＝地球上の点の位置を、**誰がいつ測っても再現できる形**で決め、他の人と共有すること。</a:t>
            </a:r>
          </a:p>
          <a:p xmlns:a="http://schemas.openxmlformats.org/drawingml/2006/main">
            <a:r>
              <a:t>- 共有に必要な「約束」の 3 点セット：どの地球の形か（**測地系**）、どの種類の座標か（**緯度経度／平面**）、高さの 0 はどこか（**ジオイド**）。この組を**座標参照系（CRS）**という。</a:t>
            </a:r>
          </a:p>
          <a:p xmlns:a="http://schemas.openxmlformats.org/drawingml/2006/main">
            <a:r>
              <a:t>- 約束の実体は**基準点**（三角点・水準点・電子基準点）。新しい点は既知点からの距離と角で決める。</a:t>
            </a:r>
          </a:p>
          <a:p xmlns:a="http://schemas.openxmlformats.org/drawingml/2006/main">
            <a:r>
              <a:t>- 同じ約束なら、別の人・別の日・別の機器の成果を重ねられる。約束が違えば、同じ杭でも数値は違う。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左から右へ、同じ1点（帯広付近の例）を4通りの座標で表しています。GNSS 受信機は左から右へ順に変換して表示し、TS は右端の器械座標から左へ向かって平面直角座標に直します。各箱の上に書いた「決めるもの」が、前のスライドの約束です。値は説明用で、実測ではありません。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表の3行は同じ杭を違う約束で表した例で、値は説明用の概数です。農業土木の図面には「第 XIII 系、JGD2011、標高は T.P.」のように約束を書きます。書いていない図面は使えません。</a:t>
            </a:r>
          </a:p>
          <a:p xmlns:a="http://schemas.openxmlformats.org/drawingml/2006/main">
            <a:r>
              <a:t>補足（従来の本文）：</a:t>
            </a:r>
          </a:p>
          <a:p xmlns:a="http://schemas.openxmlformats.org/drawingml/2006/main">
            <a:r>
              <a:t>| 約束 | 同じ杭の表し方 |</a:t>
            </a:r>
          </a:p>
          <a:p xmlns:a="http://schemas.openxmlformats.org/drawingml/2006/main">
            <a:r>
              <a:t>| --- | --- |</a:t>
            </a:r>
          </a:p>
          <a:p xmlns:a="http://schemas.openxmlformats.org/drawingml/2006/main">
            <a:r>
              <a:t>| 緯度・経度・楕円体高（JGD2011） | 42°55′N、143°12′E、h = 85.0 m |</a:t>
            </a:r>
          </a:p>
          <a:p xmlns:a="http://schemas.openxmlformats.org/drawingml/2006/main">
            <a:r>
              <a:t>| 平面直角座標（第 XIII 系）と標高 | X ≈ −120 000 m、Y ≈ −85 000 m、H ≈ 56.0 m |</a:t>
            </a:r>
          </a:p>
          <a:p xmlns:a="http://schemas.openxmlformats.org/drawingml/2006/main">
            <a:r>
              <a:t>| 器械点を原点にした器械座標 | x = +12.345 m、y = −3.210 m、h = +0.52 m |</a:t>
            </a:r>
          </a:p>
          <a:p xmlns:a="http://schemas.openxmlformats.org/drawingml/2006/main">
            <a:r>
              <a:t/>
            </a:r>
          </a:p>
          <a:p xmlns:a="http://schemas.openxmlformats.org/drawingml/2006/main">
            <a:r>
              <a:t>- どれも正しい。違うのは**約束**だけ。成果には必ず「どの約束か」を書く。</a:t>
            </a:r>
          </a:p>
          <a:p xmlns:a="http://schemas.openxmlformats.org/drawingml/2006/main">
            <a:r>
              <a:t>- 標高 56 m と楕円体高 85 m の差 29 m が、次の節で学ぶ**ジオイド高**。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地球を「球」とするとき半径 6370 km を使いますが、精密には赤道方向に 21 km 長い回転楕円体です。この滑らかな数学的な面が、緯度・経度・楕円体高の基準になります。ただし実際の海面は、この楕円体にぴったり重なりません。それが次のジオイドの話です。</a:t>
            </a:r>
          </a:p>
          <a:p xmlns:a="http://schemas.openxmlformats.org/drawingml/2006/main">
            <a:r>
              <a:t>補足（従来の本文）：</a:t>
            </a:r>
          </a:p>
          <a:p xmlns:a="http://schemas.openxmlformats.org/drawingml/2006/main">
            <a:r>
              <a:t>- 地球は自転の遠心力で赤道方向にふくらんだ**回転楕円体**で近似する。</a:t>
            </a:r>
          </a:p>
          <a:p xmlns:a="http://schemas.openxmlformats.org/drawingml/2006/main">
            <a:r>
              <a:t>- GRS80 楕円体：赤道半径 $a=6\,378\,137$ m、極半径 $b=6\,356\,752$ m、差は約 21 km（0.3 %）。</a:t>
            </a:r>
          </a:p>
          <a:p xmlns:a="http://schemas.openxmlformats.org/drawingml/2006/main">
            <a:r>
              <a:t>- 扁平率 $f=(a-b)/a=1/298.257\ldots$。図は分かるように誇張してある。</a:t>
            </a:r>
          </a:p>
          <a:p xmlns:a="http://schemas.openxmlformats.org/drawingml/2006/main">
            <a:r>
              <a:t>- 楕円体の中心は地球の重心、**短軸**（極の方向）が自転軸に一致する（長軸ではない）。</a:t>
            </a:r>
          </a:p>
          <a:p xmlns:a="http://schemas.openxmlformats.org/drawingml/2006/main">
            <a:r>
              <a:t/>
            </a:r>
          </a:p>
          <a:p xmlns:a="http://schemas.openxmlformats.org/drawingml/2006/main">
            <a:r>
              <a:t>![同じ半径の円と誇張した楕円の重ね合わせ、a・b・扁平率](diagrams/ellipsoid_flattening.svg)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高校物理の「重力」の延長です。おもりを糸で吊るすと糸は重力の向きを指し、水面はそれに垂直です。山の近くでは山の質量に引かれて糸がわずかに山側へ傾き、水面もそれに合わせて山側で持ち上がります。この「水面」を地球全体でつないだものがジオイドです。</a:t>
            </a:r>
          </a:p>
          <a:p xmlns:a="http://schemas.openxmlformats.org/drawingml/2006/main">
            <a:r>
              <a:t>補足（従来の本文）：</a:t>
            </a:r>
          </a:p>
          <a:p xmlns:a="http://schemas.openxmlformats.org/drawingml/2006/main">
            <a:r>
              <a:t>- コップの水面が水平なのは、水が**重力に垂直な面**で静止するから。</a:t>
            </a:r>
          </a:p>
          <a:p xmlns:a="http://schemas.openxmlformats.org/drawingml/2006/main">
            <a:r>
              <a:t>- 地球の重力の向きは場所ごとに少し違う（山や地下の重い岩に引かれる）。だから「水平」も場所ごとに少し傾く。</a:t>
            </a:r>
          </a:p>
          <a:p xmlns:a="http://schemas.openxmlformats.org/drawingml/2006/main">
            <a:r>
              <a:t>- 海面も同じ。平均海面は、滑らかな楕円体から最大 ±100 m ほど上下にずれた**でこぼこの面**になる。</a:t>
            </a:r>
          </a:p>
          <a:p xmlns:a="http://schemas.openxmlformats.org/drawingml/2006/main">
            <a:r>
              <a:t/>
            </a:r>
          </a:p>
          <a:p xmlns:a="http://schemas.openxmlformats.org/drawingml/2006/main">
            <a:r>
              <a:t>![山の近くで鉛直線が傾き、ジオイドが楕円体から持ち上がる断面図](diagrams/geoid_gravity.svg)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この絵は AI（Codex の画像生成）で作った概念図で、起伏を強く誇張してあります。色の違いは楕円体より高いか低いかを表し、地形ではありません。ジオイドは「水が静止する面」なので、水準測量の「高さ 0」、つまり標高の基準になります。試験では「ジオイド＝平均海面を陸地の下まで延長した面」「重力の等ポテンシャル面」の2つの言い方を覚えてください。</a:t>
            </a:r>
          </a:p>
          <a:p xmlns:a="http://schemas.openxmlformats.org/drawingml/2006/main">
            <a:r>
              <a:t>補足（従来の本文）：</a:t>
            </a:r>
          </a:p>
          <a:p xmlns:a="http://schemas.openxmlformats.org/drawingml/2006/main">
            <a:r>
              <a:t>- 海をそのまま陸の下にも運河で引き込んだと考えたときの**水面**。重力に垂直な面（等ポテンシャル面）。</a:t>
            </a:r>
          </a:p>
          <a:p xmlns:a="http://schemas.openxmlformats.org/drawingml/2006/main">
            <a:r>
              <a:t>- 滑らかな楕円体（細い輪郭線）に対して、**最大で 100 m ほど**上下にうねっている。</a:t>
            </a:r>
          </a:p>
          <a:p xmlns:a="http://schemas.openxmlformats.org/drawingml/2006/main">
            <a:r>
              <a:t/>
            </a:r>
          </a:p>
          <a:p xmlns:a="http://schemas.openxmlformats.org/drawingml/2006/main">
            <a:r>
              <a:t>![でこぼこのジオイドと滑らかな楕円体の輪郭（AI 生成の概念図、起伏は誇張）](illustrations/geoid_earth.png)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「平均海面」は抽象的な言葉ですが、実物は検潮所の潮位記録の平均です。T.P. は Tokyo Peil（オランダ語で基準面）の略です。この絵は AI（Codex の画像生成）で作った概念イラストで、特定の検潮所ではありません。</a:t>
            </a:r>
          </a:p>
          <a:p xmlns:a="http://schemas.openxmlformats.org/drawingml/2006/main">
            <a:r>
              <a:t>補足（従来の本文）：</a:t>
            </a:r>
          </a:p>
          <a:p xmlns:a="http://schemas.openxmlformats.org/drawingml/2006/main">
            <a:r>
              <a:t>- 港の**検潮所**で潮位を何年も測って平均すると、潮の満ち引きが消えて**平均海面**が得られる。</a:t>
            </a:r>
          </a:p>
          <a:p xmlns:a="http://schemas.openxmlformats.org/drawingml/2006/main">
            <a:r>
              <a:t>- 日本の標高 0 m は**東京湾平均海面（T.P.）**。そこから水準測量でつないだ**日本水準原点**（永田町）の標高が 24.3900 m。</a:t>
            </a:r>
          </a:p>
          <a:p xmlns:a="http://schemas.openxmlformats.org/drawingml/2006/main">
            <a:r>
              <a:t>- 海のない所の「海面の高さ」は、水準測量と重力の観測でつないで決める。これがジオイド。</a:t>
            </a:r>
          </a:p>
          <a:p xmlns:a="http://schemas.openxmlformats.org/drawingml/2006/main">
            <a:r>
              <a:t/>
            </a:r>
          </a:p>
          <a:p xmlns:a="http://schemas.openxmlformats.org/drawingml/2006/main">
            <a:r>
              <a:t>![静かな港の検潮所と水平な海面（AI 生成の概念イラスト）](illustrations/sea_level_station.png)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日本付近ではジオイドが楕円体より 20〜45 m 上にあります。つまり GNSS の楕円体高は、標高より数十 m 大きく出ます。この N を全国で細かく求めたものがジオイドモデルで、2025 年から「ジオイド2024日本とその周辺」が使われています。</a:t>
            </a:r>
          </a:p>
          <a:p xmlns:a="http://schemas.openxmlformats.org/drawingml/2006/main">
            <a:r>
              <a:t>補足（従来の本文）：</a:t>
            </a:r>
          </a:p>
          <a:p xmlns:a="http://schemas.openxmlformats.org/drawingml/2006/main">
            <a:r>
              <a:t>- **ジオイド高 N**＝楕円体面からジオイドまでの高さ（ジオイドが上なら正）。</a:t>
            </a:r>
          </a:p>
          <a:p xmlns:a="http://schemas.openxmlformats.org/drawingml/2006/main">
            <a:r>
              <a:t>- 世界では約 −106 m（インド南方の海）〜約 +85 m（ニューギニア付近）。</a:t>
            </a:r>
          </a:p>
          <a:p xmlns:a="http://schemas.openxmlformats.org/drawingml/2006/main">
            <a:r>
              <a:t>- 日本では約 +20〜+45 m。東京 約 37 m、帯広 約 29 m。「ジオイド2024日本とその周辺」のモデルから読む。</a:t>
            </a:r>
          </a:p>
          <a:p xmlns:a="http://schemas.openxmlformats.org/drawingml/2006/main">
            <a:r>
              <a:t/>
            </a:r>
          </a:p>
          <a:p xmlns:a="http://schemas.openxmlformats.org/drawingml/2006/main">
            <a:r>
              <a:t>![−120〜+100 m の数直線上に世界と日本のジオイド高を示す](diagrams/geoid_range.svg)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高さには基準が2つあります。水が流れる向きを決めるのはジオイド、GNSS が計算するのは楕円体です。図の3本の線の違いを押さえてください。</a:t>
            </a:r>
          </a:p>
          <a:p xmlns:a="http://schemas.openxmlformats.org/drawingml/2006/main">
            <a:r>
              <a:t>補足（従来の本文）：</a:t>
            </a:r>
          </a:p>
          <a:p xmlns:a="http://schemas.openxmlformats.org/drawingml/2006/main">
            <a:r>
              <a:t>- **地表**：実際の地面。起伏がある。</a:t>
            </a:r>
          </a:p>
          <a:p xmlns:a="http://schemas.openxmlformats.org/drawingml/2006/main">
            <a:r>
              <a:t>- **ジオイド**：平均海面を陸地の下まで延長した面。重力の等ポテンシャル面で、水準測量の「高さ0」。</a:t>
            </a:r>
          </a:p>
          <a:p xmlns:a="http://schemas.openxmlformats.org/drawingml/2006/main">
            <a:r>
              <a:t>- **準拠楕円体**：ジオイドに近い滑らかな回転楕円体（GRS80）。緯度・経度・楕円体高の基準。</a:t>
            </a:r>
          </a:p>
          <a:p xmlns:a="http://schemas.openxmlformats.org/drawingml/2006/main">
            <a:r>
              <a:t/>
            </a:r>
          </a:p>
          <a:p xmlns:a="http://schemas.openxmlformats.org/drawingml/2006/main">
            <a:r>
              <a:t>![地表・ジオイド・楕円体の断面](diagrams/three_surfaces.svg)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この式は測量士補で毎年のように問われます。GNSS で得た楕円体高からジオイド高を引くと標高になります。符号を間違えないよう、図で N が楕円体とジオイドの間の高さであることを確認してください。</a:t>
            </a:r>
          </a:p>
          <a:p xmlns:a="http://schemas.openxmlformats.org/drawingml/2006/main">
            <a:r>
              <a:t>補足（従来の本文）：</a:t>
            </a:r>
          </a:p>
          <a:p xmlns:a="http://schemas.openxmlformats.org/drawingml/2006/main">
            <a:r>
              <a:t>$$</a:t>
            </a:r>
          </a:p>
          <a:p xmlns:a="http://schemas.openxmlformats.org/drawingml/2006/main">
            <a:r>
              <a:t>h = H + N</a:t>
            </a:r>
          </a:p>
          <a:p xmlns:a="http://schemas.openxmlformats.org/drawingml/2006/main">
            <a:r>
              <a:t>$$</a:t>
            </a:r>
          </a:p>
          <a:p xmlns:a="http://schemas.openxmlformats.org/drawingml/2006/main">
            <a:r>
              <a:t/>
            </a:r>
          </a:p>
          <a:p xmlns:a="http://schemas.openxmlformats.org/drawingml/2006/main">
            <a:r>
              <a:t>- $H$：標高（ジオイドからの高さ。水準測量・地形図の高さ）</a:t>
            </a:r>
          </a:p>
          <a:p xmlns:a="http://schemas.openxmlformats.org/drawingml/2006/main">
            <a:r>
              <a:t>- $h$：楕円体高（楕円体からの高さ。GNSS が出す高さ）</a:t>
            </a:r>
          </a:p>
          <a:p xmlns:a="http://schemas.openxmlformats.org/drawingml/2006/main">
            <a:r>
              <a:t>- $N$：ジオイド高（楕円体からジオイドまでの高さ）</a:t>
            </a:r>
          </a:p>
          <a:p xmlns:a="http://schemas.openxmlformats.org/drawingml/2006/main">
            <a:r>
              <a:t/>
            </a:r>
          </a:p>
          <a:p xmlns:a="http://schemas.openxmlformats.org/drawingml/2006/main">
            <a:r>
              <a:t>![1点の鉛直線上の3つの高さ](diagrams/three_surfaces.svg)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楕円体高をそのまま標高と思うと 35 m も違います。実習の GNSS 受信機は内部にジオイドモデルを持っていて、標高に変換して表示できます。どちらを表示しているか必ず確認してください。</a:t>
            </a:r>
          </a:p>
          <a:p xmlns:a="http://schemas.openxmlformats.org/drawingml/2006/main">
            <a:r>
              <a:t>補足（従来の本文）：</a:t>
            </a:r>
          </a:p>
          <a:p xmlns:a="http://schemas.openxmlformats.org/drawingml/2006/main">
            <a:r>
              <a:t>- GNSS が表示した楕円体高：$h=85.000$ m</a:t>
            </a:r>
          </a:p>
          <a:p xmlns:a="http://schemas.openxmlformats.org/drawingml/2006/main">
            <a:r>
              <a:t>- ジオイドモデルから読んだジオイド高：$N=35.000$ m</a:t>
            </a:r>
          </a:p>
          <a:p xmlns:a="http://schemas.openxmlformats.org/drawingml/2006/main">
            <a:r>
              <a:t/>
            </a:r>
          </a:p>
          <a:p xmlns:a="http://schemas.openxmlformats.org/drawingml/2006/main">
            <a:r>
              <a:t>$$</a:t>
            </a:r>
          </a:p>
          <a:p xmlns:a="http://schemas.openxmlformats.org/drawingml/2006/main">
            <a:r>
              <a:t>H = h - N = 85.000 - 35.000 = 50.000\ \mathrm{m}</a:t>
            </a:r>
          </a:p>
          <a:p xmlns:a="http://schemas.openxmlformats.org/drawingml/2006/main">
            <a:r>
              <a:t>$$</a:t>
            </a:r>
          </a:p>
          <a:p xmlns:a="http://schemas.openxmlformats.org/drawingml/2006/main">
            <a:r>
              <a:t/>
            </a:r>
          </a:p>
          <a:p xmlns:a="http://schemas.openxmlformats.org/drawingml/2006/main">
            <a:r>
              <a:t>- 日本のジオイド高はおよそ 20〜45 m。帯広市付近は約 29 m（ジオイド2024）。</a:t>
            </a:r>
          </a:p>
          <a:p xmlns:a="http://schemas.openxmlformats.org/drawingml/2006/main">
            <a:r>
              <a:t>- ジオイド高はモデル（「ジオイド2024日本とその周辺」）から求める。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前の枚は 1 点の計算でしたが、ジオイド高は数 km で数十 cm 変わります。既知点でジオイド高を求め、傾斜から新点のジオイド高を補間し、楕円体高から引くという 3 手順です。符号に注意してください。傾斜が負なら新点のジオイド高は小さくなります。測量士補・測量士とも毎年この型が出ます。</a:t>
            </a:r>
          </a:p>
          <a:p xmlns:a="http://schemas.openxmlformats.org/drawingml/2006/main">
            <a:r>
              <a:t>補足（従来の本文）：</a:t>
            </a:r>
          </a:p>
          <a:p xmlns:a="http://schemas.openxmlformats.org/drawingml/2006/main">
            <a:r>
              <a:t>既知点 A（標高 $H_A=30.00$ m、楕円体高 $h_A=71.09$ m）から 6 km 離れた新点 B で楕円体高 $h_B=66.50$ m を観測した。ジオイドは A から B へ向かって 1 km あたり $-0.02$ m 傾いている。</a:t>
            </a:r>
          </a:p>
          <a:p xmlns:a="http://schemas.openxmlformats.org/drawingml/2006/main">
            <a:r>
              <a:t/>
            </a:r>
          </a:p>
          <a:p xmlns:a="http://schemas.openxmlformats.org/drawingml/2006/main">
            <a:r>
              <a:t>$$</a:t>
            </a:r>
          </a:p>
          <a:p xmlns:a="http://schemas.openxmlformats.org/drawingml/2006/main">
            <a:r>
              <a:t>N_A = h_A - H_A = 41.09,\quad N_B = 41.09 + (-0.02)\times 6 = 40.97,\quad H_B = 66.50 - 40.97 = 25.53\ \mathrm{m}</a:t>
            </a:r>
          </a:p>
          <a:p xmlns:a="http://schemas.openxmlformats.org/drawingml/2006/main">
            <a:r>
              <a:t>$$</a:t>
            </a:r>
          </a:p>
          <a:p xmlns:a="http://schemas.openxmlformats.org/drawingml/2006/main">
            <a:r>
              <a:t/>
            </a:r>
          </a:p>
          <a:p xmlns:a="http://schemas.openxmlformats.org/drawingml/2006/main">
            <a:r>
              <a:t>- ジオイド高は場所ごとに違う。**距離に比例して補間**するのが試験の型（士補 No.10・11、士午前 No.10）。</a:t>
            </a:r>
          </a:p>
          <a:p xmlns:a="http://schemas.openxmlformats.org/drawingml/2006/main">
            <a:r>
              <a:t>- 実務では「GNSS 標高測量」として 3 級水準測量に区分され、ジオイドモデルが使えない離島などでは標高補正パラメータを使う。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農業土木でジオイドを学ぶ理由はこれです。GNSS の楕円体高だけで用水路の勾配を決めると、ジオイドの傾きの分だけ間違えます。数値は説明用に誇張してありますが、ジオイド高が数 km で数十 cm 変わる地域は日本にもあります。</a:t>
            </a:r>
          </a:p>
          <a:p xmlns:a="http://schemas.openxmlformats.org/drawingml/2006/main">
            <a:r>
              <a:t>補足（従来の本文）：</a:t>
            </a:r>
          </a:p>
          <a:p xmlns:a="http://schemas.openxmlformats.org/drawingml/2006/main">
            <a:r>
              <a:t>- 楕円体高は A（60 m）の方が B（58 m）より高い。しかし標高は B（24 m）の方が A（20 m）より高い。</a:t>
            </a:r>
          </a:p>
          <a:p xmlns:a="http://schemas.openxmlformats.org/drawingml/2006/main">
            <a:r>
              <a:t>- この例では水面の勾配により、**B → A** に流れる。楕円体高で判断すると逆になる。</a:t>
            </a:r>
          </a:p>
          <a:p xmlns:a="http://schemas.openxmlformats.org/drawingml/2006/main">
            <a:r>
              <a:t>- 農業水利・排水・ほ場の均平は、必ず**標高 H** で設計する。</a:t>
            </a:r>
          </a:p>
          <a:p xmlns:a="http://schemas.openxmlformats.org/drawingml/2006/main">
            <a:r>
              <a:t/>
            </a:r>
          </a:p>
          <a:p xmlns:a="http://schemas.openxmlformats.org/drawingml/2006/main">
            <a:r>
              <a:t>![楕円体高では A が高いが、標高では B が高い。水は B から A へ流れる](diagrams/water_flow.svg)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答えの例は「海の水面を陸の下まで延ばした、重力に垂直な面」、15.0 m、水準測量です。4 問目は①と②が誤りで、ジオイド高は楕円体面からジオイド面まで、ジオイドは重力の方向に直交する面で地表とは無関係です。③は正しい文です。士補 No.4 は毎年この 3 つの言い換えで誤文を作ります。隣の人と30秒で確認してください。</a:t>
            </a:r>
          </a:p>
          <a:p xmlns:a="http://schemas.openxmlformats.org/drawingml/2006/main">
            <a:r>
              <a:t>補足（従来の本文）：</a:t>
            </a:r>
          </a:p>
          <a:p xmlns:a="http://schemas.openxmlformats.org/drawingml/2006/main">
            <a:r>
              <a:t>- 「ジオイド」を高校生に 1 文で説明すると？</a:t>
            </a:r>
          </a:p>
          <a:p xmlns:a="http://schemas.openxmlformats.org/drawingml/2006/main">
            <a:r>
              <a:t>- 楕円体高 50.0 m、ジオイド高 35.0 m の点の標高は？</a:t>
            </a:r>
          </a:p>
          <a:p xmlns:a="http://schemas.openxmlformats.org/drawingml/2006/main">
            <a:r>
              <a:t>- GNSS が出す高さと水準測量の高さ、どちらが「ジオイドからの高さ」か？</a:t>
            </a:r>
          </a:p>
          <a:p xmlns:a="http://schemas.openxmlformats.org/drawingml/2006/main">
            <a:r>
              <a:t>- 誤りはどれ？ ①ジオイド高は楕円体面から**地表**までの高さ ②ジオイドは地表に平行な面 ③GNSS で直接求まるのは楕円体高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測地系は「地球の形と置き方の約束」です。明治以来の旧日本測地系は、天文観測で決めた原点とベッセル楕円体を使っていたため、GPS で決まる世界測地系とは数百 m ずれていました。古い地図や座標リストを使うときは、どの測地系かを必ず確認します。</a:t>
            </a:r>
          </a:p>
          <a:p xmlns:a="http://schemas.openxmlformats.org/drawingml/2006/main">
            <a:r>
              <a:t>補足（従来の本文）：</a:t>
            </a:r>
          </a:p>
          <a:p xmlns:a="http://schemas.openxmlformats.org/drawingml/2006/main">
            <a:r>
              <a:t>- 緯度・経度は楕円体に対して決まる → **楕円体の大きさと中心の位置**を決めないと座標が定まらない。この約束が**測地系**。</a:t>
            </a:r>
          </a:p>
          <a:p xmlns:a="http://schemas.openxmlformats.org/drawingml/2006/main">
            <a:r>
              <a:t>- 旧日本測地系：ベッセル楕円体（$a=6\,377\,397$ m）、中心が地球重心からずれている。2002 年から**世界測地系**（GRS80、$a=6\,378\,137$ m、中心＝地球重心）。</a:t>
            </a:r>
          </a:p>
          <a:p xmlns:a="http://schemas.openxmlformats.org/drawingml/2006/main">
            <a:r>
              <a:t>- 同じ杭でも、東京付近で緯度経度が約 450 m（北西方向）ずれる。古い図面と混ぜない。</a:t>
            </a:r>
          </a:p>
          <a:p xmlns:a="http://schemas.openxmlformats.org/drawingml/2006/main">
            <a:r>
              <a:t/>
            </a:r>
          </a:p>
          <a:p xmlns:a="http://schemas.openxmlformats.org/drawingml/2006/main">
            <a:r>
              <a:t>![同じ点 P に対する 2 つの楕円体と法線の違い](diagrams/datum_shift.svg)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WGS84・ITRF・JGDは、実現方法と基準時点をそろえた上で比較します。JGD2024への名称変更は測地系の定義変更ではありません。</a:t>
            </a:r>
          </a:p>
          <a:p xmlns:a="http://schemas.openxmlformats.org/drawingml/2006/main">
            <a:r>
              <a:t>参考：https://www.gsi.go.jp/sokuchikijun/datum-main.html</a:t>
            </a:r>
          </a:p>
          <a:p xmlns:a="http://schemas.openxmlformats.org/drawingml/2006/main">
            <a:r>
              <a:t>https://www.gsi.go.jp/sokuchikijun/hyoko2024rev-QA.html</a:t>
            </a:r>
          </a:p>
          <a:p xmlns:a="http://schemas.openxmlformats.org/drawingml/2006/main">
            <a:r>
              <a:t>https://service.gsi.go.jp/kijunten/contents/data/datums/explain/detail_info.html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緯度は地球の中心から測る角ではなく、楕円体面に垂直な線（法線）で定義します。度分秒で表すので、前回の DMS 変換が必要になります。</a:t>
            </a:r>
          </a:p>
          <a:p xmlns:a="http://schemas.openxmlformats.org/drawingml/2006/main">
            <a:r>
              <a:t>補足（従来の本文）：</a:t>
            </a:r>
          </a:p>
          <a:p xmlns:a="http://schemas.openxmlformats.org/drawingml/2006/main">
            <a:r>
              <a:t>- 緯度 φ：赤道面と、その点の楕円体の法線がなす角（北緯・南緯）。</a:t>
            </a:r>
          </a:p>
          <a:p xmlns:a="http://schemas.openxmlformats.org/drawingml/2006/main">
            <a:r>
              <a:t>- 経度 $\lambda$：本初子午線からの角（東経・西経）。</a:t>
            </a:r>
          </a:p>
          <a:p xmlns:a="http://schemas.openxmlformats.org/drawingml/2006/main">
            <a:r>
              <a:t>- 楕円体高 $h$：法線に沿った楕円体面からの高さ。</a:t>
            </a:r>
          </a:p>
          <a:p xmlns:a="http://schemas.openxmlformats.org/drawingml/2006/main">
            <a:r>
              <a:t>- 日本の測地系：**日本測地系 2011（JGD2011）**、楕円体は GRS80。</a:t>
            </a:r>
          </a:p>
          <a:p xmlns:a="http://schemas.openxmlformats.org/drawingml/2006/main">
            <a:r>
              <a:t/>
            </a:r>
          </a:p>
          <a:p xmlns:a="http://schemas.openxmlformats.org/drawingml/2006/main">
            <a:r>
              <a:t>![楕円体上の緯度・経度・楕円体高](diagrams/geodetic_coords.svg)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GNSS の受信機は、まず地心直交座標を解き、それを緯度経度楕円体高に直し、さらに平面直角座標と標高に変換して表示しています。この3段階を知っていると、受信機の設定画面が読めます。日本の X が負になるのは、東経 90° より東にあるからです。測量士午前 No.2 では軸の向きと日本の符号、ITRF の維持方法が毎年問われます。</a:t>
            </a:r>
          </a:p>
          <a:p xmlns:a="http://schemas.openxmlformats.org/drawingml/2006/main">
            <a:r>
              <a:t>補足（従来の本文）：</a:t>
            </a:r>
          </a:p>
          <a:p xmlns:a="http://schemas.openxmlformats.org/drawingml/2006/main">
            <a:r>
              <a:t>- 原点＝地球の重心、Z 軸＝自転軸（北極向き）、X 軸＝本初子午線と赤道の交点方向、Y 軸＝東経 90° の方向。</a:t>
            </a:r>
          </a:p>
          <a:p xmlns:a="http://schemas.openxmlformats.org/drawingml/2006/main">
            <a:r>
              <a:t>- 日本（北緯 25〜45°、東経 123〜154°）の座標は **$X&lt;0$、$Y&gt;0$、$Z&gt;0$**（$\cos 140° &lt;0$ だから）。</a:t>
            </a:r>
          </a:p>
          <a:p xmlns:a="http://schemas.openxmlformats.org/drawingml/2006/main">
            <a:r>
              <a:t>- GNSS は衛星までの距離からこの $(X, Y, Z)$ を解く。測地座標 (φ, λ, h) との相互変換には**楕円体高**を使う（ジオイド高ではない）。</a:t>
            </a:r>
          </a:p>
          <a:p xmlns:a="http://schemas.openxmlformats.org/drawingml/2006/main">
            <a:r>
              <a:t>- 国際的な枠組み ITRF（原点・軸をこのように定め、GNSS・VLBI 等の観測で維持）と JGD2011 は、ほぼ同じ地心座標系。</a:t>
            </a:r>
          </a:p>
          <a:p xmlns:a="http://schemas.openxmlformats.org/drawingml/2006/main">
            <a:r>
              <a:t/>
            </a:r>
          </a:p>
          <a:p xmlns:a="http://schemas.openxmlformats.org/drawingml/2006/main">
            <a:r>
              <a:t>![地球中心を原点とする3軸](diagrams/geodetic_coords.svg)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士補 No.9 で基線ベクトルから斜距離を求める計算が繰り返し出ています。√300 000 は 547.72 と暗算しにくいので、問題には選択肢が付きます。閉合差の点検は第 7 回の GNSS 測量で扱います。時間が押していれば飛ばしてよい枚です。</a:t>
            </a:r>
          </a:p>
          <a:p xmlns:a="http://schemas.openxmlformats.org/drawingml/2006/main">
            <a:r>
              <a:t>補足（従来の本文）：</a:t>
            </a:r>
          </a:p>
          <a:p xmlns:a="http://schemas.openxmlformats.org/drawingml/2006/main">
            <a:r>
              <a:t>GNSS 測量の観測結果は、2 点間の地心直交座標の差（**基線ベクトル**）で表される。</a:t>
            </a:r>
          </a:p>
          <a:p xmlns:a="http://schemas.openxmlformats.org/drawingml/2006/main">
            <a:r>
              <a:t/>
            </a:r>
          </a:p>
          <a:p xmlns:a="http://schemas.openxmlformats.org/drawingml/2006/main">
            <a:r>
              <a:t>$$</a:t>
            </a:r>
          </a:p>
          <a:p xmlns:a="http://schemas.openxmlformats.org/drawingml/2006/main">
            <a:r>
              <a:t>\Delta X = 100.000,\ \Delta Y = 200.000,\ \Delta Z = 500.000\ \mathrm{m}</a:t>
            </a:r>
          </a:p>
          <a:p xmlns:a="http://schemas.openxmlformats.org/drawingml/2006/main">
            <a:r>
              <a:t>\ \Rightarrow\ D=\sqrt{100^2+200^2+500^2}=\sqrt{300\,000}=547.723\ \mathrm{m}</a:t>
            </a:r>
          </a:p>
          <a:p xmlns:a="http://schemas.openxmlformats.org/drawingml/2006/main">
            <a:r>
              <a:t>$$</a:t>
            </a:r>
          </a:p>
          <a:p xmlns:a="http://schemas.openxmlformats.org/drawingml/2006/main">
            <a:r>
              <a:t/>
            </a:r>
          </a:p>
          <a:p xmlns:a="http://schemas.openxmlformats.org/drawingml/2006/main">
            <a:r>
              <a:t>- 2 点間の斜距離 $D$ は 3 成分の平方和の平方根。軸の向きによらない（座標変換の不変量）。</a:t>
            </a:r>
          </a:p>
          <a:p xmlns:a="http://schemas.openxmlformats.org/drawingml/2006/main">
            <a:r>
              <a:t>- 点検では、閉じた図形で基線ベクトルを足して $(0,0,0)$ になるか（**閉合差**）を見る。</a:t>
            </a:r>
          </a:p>
          <a:p xmlns:a="http://schemas.openxmlformats.org/drawingml/2006/main">
            <a:r>
              <a:t>- 座標系の名前は「地心直交座標系（令和 7 年国土交通省告示第 518 号）」。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地図投影の基本形は3つです。紙を筒にして巻く（円筒図法）、円錐の帽子をかぶせる（円錐図法）、板を当てる（方位図法）。どれも「接している所の近くはひずみが小さく、離れるほど大きい」という共通の性質があります。測量で使うのは円筒図法の仲間です。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円筒を開く操作のイメージです。メルカトルは中心光源投影ではありません。局所的な角を保つ条件で緯線間隔を計算します。図の格子は模式的です。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地球上では同じ大きさの円が、高緯度ほど大きく描かれています。長さは 1/cos φ 倍、面積は 1/cos² φ 倍で、緯度 60° では面積が 4 倍、グリーンランドが南米より大きく見える理由です。代わりに角が正しく保たれるので（等角）、航海や測量で使われます。平面直角座標系も UTM も、この等角という性質を引き継いでいます。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メルカトルは赤道の近くしか正確ではありません。円筒を横に倒して子午線に接するようにすると、その子午線（中央子午線）の近くが正確になります。これが横メルカトル、ガウス・クリューゲル投影です。南北に長い日本には好都合で、南北に延びる、東西幅の狭い帯に分けて使います。UTM も平面直角座標系も、この投影です。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UTM は世界共通の投影座標系で、経度 6° ごとに 60 の帯に分け、各帯の中央子午線で横メルカトル投影します。日本は 51〜56 帯、帯広は 54 帯（中央子午線 141°E）です。原点の縮尺係数は 0.9996 で、東西の座標 E には 500 000 m を足して負の値を避けます。1:25 000 地形図の座標はこの UTM です。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どちらも同じ投影で、違いは帯の幅と原点の縮尺係数です。狭い範囲を高い精度で扱う公共測量は平面直角座標系、広い範囲の地形図や国際的な利用は UTM です。UTM は第 10 回の地形図で再登場します。士補 No.22 と測量士午後 No.4 の穴埋めは、この表の数値（6°、60 帯、0.9996、180 km、500 km、10 000 km、84°、80°、129°）がそのまま出ます。「ガウス・クリューゲル図法は回転楕円体に適用した横メルカトル図法で、角が正しく表される」の 1 文も記述式で問われます。</a:t>
            </a:r>
          </a:p>
          <a:p xmlns:a="http://schemas.openxmlformats.org/drawingml/2006/main">
            <a:r>
              <a:t>補足（従来の本文）：</a:t>
            </a:r>
          </a:p>
          <a:p xmlns:a="http://schemas.openxmlformats.org/drawingml/2006/main">
            <a:r>
              <a:t>| 項目 | 平面直角座標系 | UTM 座標系 |</a:t>
            </a:r>
          </a:p>
          <a:p xmlns:a="http://schemas.openxmlformats.org/drawingml/2006/main">
            <a:r>
              <a:t>| --- | --- | --- |</a:t>
            </a:r>
          </a:p>
          <a:p xmlns:a="http://schemas.openxmlformats.org/drawingml/2006/main">
            <a:r>
              <a:t>| 投影法 | ガウス・クリューゲル（**正角**） | 同じ |</a:t>
            </a:r>
          </a:p>
          <a:p xmlns:a="http://schemas.openxmlformats.org/drawingml/2006/main">
            <a:r>
              <a:t>| 区分 | 19 系（中央子午線から東西それぞれ約130 km） | 6° 幅 × 60 帯。180° から東へ番号 |</a:t>
            </a:r>
          </a:p>
          <a:p xmlns:a="http://schemas.openxmlformats.org/drawingml/2006/main">
            <a:r>
              <a:t>| 原点の縮尺係数 | 0.9999（約 90 km で 1） | 0.9996（約 180 km で 1） |</a:t>
            </a:r>
          </a:p>
          <a:p xmlns:a="http://schemas.openxmlformats.org/drawingml/2006/main">
            <a:r>
              <a:t>| 原点の座標 | (0, 0)。負の値もある | E に 500 km、南半球は N に 10 000 km を足す |</a:t>
            </a:r>
          </a:p>
          <a:p xmlns:a="http://schemas.openxmlformats.org/drawingml/2006/main">
            <a:r>
              <a:t>| 軸・範囲 | X が北、Y が東。日本国内 | N が北、E が東。北緯 84°〜南緯 80° |</a:t>
            </a:r>
          </a:p>
          <a:p xmlns:a="http://schemas.openxmlformats.org/drawingml/2006/main">
            <a:r>
              <a:t>| 用途 | 公共測量、地籍、設計図 | 地形図（1:25 000）、世界共通 |</a:t>
            </a:r>
          </a:p>
          <a:p xmlns:a="http://schemas.openxmlformats.org/drawingml/2006/main">
            <a:r>
              <a:t/>
            </a:r>
          </a:p>
          <a:p xmlns:a="http://schemas.openxmlformats.org/drawingml/2006/main">
            <a:r>
              <a:t>- 帯広：第 XIII 系／第 54 帯（中央子午線 141°E。第 52 帯は 129°E）。**縮尺係数**の定義：楕円体面上の微小距離に対する平面上の微小距離の比。</a:t>
            </a:r>
          </a:p>
          <a:p xmlns:a="http://schemas.openxmlformats.org/drawingml/2006/main">
            <a:r>
              <a:t>参考：https://www.gsi.go.jp/sokuchikijun/datum-main.html</a:t>
            </a:r>
          </a:p>
          <a:p xmlns:a="http://schemas.openxmlformats.org/drawingml/2006/main">
            <a:r>
              <a:t>https://www.gsi.go.jp/sokuchikijun/hyoko2024rev-QA.html</a:t>
            </a:r>
          </a:p>
          <a:p xmlns:a="http://schemas.openxmlformats.org/drawingml/2006/main">
            <a:r>
              <a:t>https://service.gsi.go.jp/kijunten/contents/data/datums/explain/detail_info.html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測量法第11条は、位置をどう表すかを定めています。条文の「直角座標」が平面直角座標系の根拠で、告示で19系が定められています。「地理学的経緯度」を「天文学的経緯度」に、「平均海面」を「楕円体面」に替えた誤文が測量士 No.6・士補 No.4 の定番です。原点数値は 2011 年の地震後に政令で改正されました。電子基準点は実習で使うネットワーク型 RTK の基準になっています。</a:t>
            </a:r>
          </a:p>
          <a:p xmlns:a="http://schemas.openxmlformats.org/drawingml/2006/main">
            <a:r>
              <a:t>補足（従来の本文）：</a:t>
            </a:r>
          </a:p>
          <a:p xmlns:a="http://schemas.openxmlformats.org/drawingml/2006/main">
            <a:r>
              <a:t>| 基準 | 内容 |</a:t>
            </a:r>
          </a:p>
          <a:p xmlns:a="http://schemas.openxmlformats.org/drawingml/2006/main">
            <a:r>
              <a:t>| --- | --- |</a:t>
            </a:r>
          </a:p>
          <a:p xmlns:a="http://schemas.openxmlformats.org/drawingml/2006/main">
            <a:r>
              <a:t>| 日本経緯度原点 | 東京都港区麻布台。経緯度の出発点 |</a:t>
            </a:r>
          </a:p>
          <a:p xmlns:a="http://schemas.openxmlformats.org/drawingml/2006/main">
            <a:r>
              <a:t>| 日本水準原点 | 東京都千代田区永田町。標高の出発点（24.3900 m） |</a:t>
            </a:r>
          </a:p>
          <a:p xmlns:a="http://schemas.openxmlformats.org/drawingml/2006/main">
            <a:r>
              <a:t>| 電子基準点 | 国土地理院が全国約 1300 点に設置した GNSS 連続観測点 |</a:t>
            </a:r>
          </a:p>
          <a:p xmlns:a="http://schemas.openxmlformats.org/drawingml/2006/main">
            <a:r>
              <a:t>| 三角点・水準点 | 位置・標高を与える基準点。公共測量の出発点 |</a:t>
            </a:r>
          </a:p>
          <a:p xmlns:a="http://schemas.openxmlformats.org/drawingml/2006/main">
            <a:r>
              <a:t/>
            </a:r>
          </a:p>
          <a:p xmlns:a="http://schemas.openxmlformats.org/drawingml/2006/main">
            <a:r>
              <a:t>- 測量法第11条：位置は**地理学的経緯度**（天文経緯度ではない）と**平均海面からの高さ**で表す。ただし直角座標と高さ、極座標と高さ、地心直交座標でも表せる。</a:t>
            </a:r>
          </a:p>
          <a:p xmlns:a="http://schemas.openxmlformats.org/drawingml/2006/main">
            <a:r>
              <a:t>- 距離と面積は**回転楕円体の表面上**の値で表す。楕円体は GRS80（$a=6\,378\,137$ m、$f=1/298.257\,222\,101$）。原点の数値は政令で定める。</a:t>
            </a:r>
          </a:p>
          <a:p xmlns:a="http://schemas.openxmlformats.org/drawingml/2006/main">
            <a:r>
              <a:t>参考：https://www.gsi.go.jp/sokuchikijun/datum-main.html</a:t>
            </a:r>
          </a:p>
          <a:p xmlns:a="http://schemas.openxmlformats.org/drawingml/2006/main">
            <a:r>
              <a:t>https://www.gsi.go.jp/sokuchikijun/hyoko2024rev-QA.html</a:t>
            </a:r>
          </a:p>
          <a:p xmlns:a="http://schemas.openxmlformats.org/drawingml/2006/main">
            <a:r>
              <a:t>https://service.gsi.go.jp/kijunten/contents/data/datums/explain/detail_info.html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2025 年から標高の成果が変わっています。古い成果表やジオイドモデルを混ぜると数 cm〜数十 cm の食い違いが出ます。実習データの日付と使ったモデルを必ず記録してください。測量士午後（令和 8 年 No.5）では「既知点の成果を測地成果 2024 に改算する」対処を記述させる問題が出ました。ITRF が更新されても日本の測地成果は自動では更新されません。</a:t>
            </a:r>
          </a:p>
          <a:p xmlns:a="http://schemas.openxmlformats.org/drawingml/2006/main">
            <a:r>
              <a:t>補足（従来の本文）：</a:t>
            </a:r>
          </a:p>
          <a:p xmlns:a="http://schemas.openxmlformats.org/drawingml/2006/main">
            <a:r>
              <a:t>- 日本の基準点の成果は「測地成果 2011」（東北地方太平洋沖地震後に再定義）。</a:t>
            </a:r>
          </a:p>
          <a:p xmlns:a="http://schemas.openxmlformats.org/drawingml/2006/main">
            <a:r>
              <a:t>- **測地成果 2024**：2025 年 4 月 1 日から適用。**標高成果のみ**を改定し、水平位置（緯度経度・平面直角座標）は測地成果 2011 のまま。測地系の名称は JGD2011 → **JGD2024**（定義は不変）。</a:t>
            </a:r>
          </a:p>
          <a:p xmlns:a="http://schemas.openxmlformats.org/drawingml/2006/main">
            <a:r>
              <a:t>- 標高は衛星測位基盤（楕円体高＋「ジオイド2024日本とその周辺」）で決める。元期は 2024 年 6 月 1 日。日本水準原点の原点数値（24.3900 m）は不変。</a:t>
            </a:r>
          </a:p>
          <a:p xmlns:a="http://schemas.openxmlformats.org/drawingml/2006/main">
            <a:r>
              <a:t>- 旧成果・旧ジオイドモデルと混用しない。既知点が測地成果 2011 のままなら、国土地理院の**標高補正パラメータ**で測地成果 2024 に改算する。</a:t>
            </a:r>
          </a:p>
          <a:p xmlns:a="http://schemas.openxmlformats.org/drawingml/2006/main">
            <a:r>
              <a:t>参考：https://www.gsi.go.jp/sokuchikijun/datum-main.html</a:t>
            </a:r>
          </a:p>
          <a:p xmlns:a="http://schemas.openxmlformats.org/drawingml/2006/main">
            <a:r>
              <a:t>https://www.gsi.go.jp/sokuchikijun/hyoko2024rev-QA.html</a:t>
            </a:r>
          </a:p>
          <a:p xmlns:a="http://schemas.openxmlformats.org/drawingml/2006/main">
            <a:r>
              <a:t>https://service.gsi.go.jp/kijunten/contents/data/datums/explain/detail_info.html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士補 No.9、測量士午前 No.2・午後 No.2 で毎年のように出ます。「なぜ必要か」（基線が長い、時間経過による地殻変動で近傍の成果と不整合）と「手順」（元期に足して今期にし、今期で計算して、引いて元期に戻す）の 2 点を言えれば十分です。近傍の三角点を既知点にする 3・4 級では不要です。時間が押していれば飛ばしてよい枚です。</a:t>
            </a:r>
          </a:p>
          <a:p xmlns:a="http://schemas.openxmlformats.org/drawingml/2006/main">
            <a:r>
              <a:t>補足（従来の本文）：</a:t>
            </a:r>
          </a:p>
          <a:p xmlns:a="http://schemas.openxmlformats.org/drawingml/2006/main">
            <a:r>
              <a:t>- 日本の地面はプレート運動で年に数 cm 動く。成果表の座標は**元期**（測地成果の基準日）に固定され、観測は**今期**（観測日）の位置で行われる。</a:t>
            </a:r>
          </a:p>
          <a:p xmlns:a="http://schemas.openxmlformats.org/drawingml/2006/main">
            <a:r>
              <a:t>- **電子基準点のみを既知点**とする 1・2 級基準点測量では、基線が長く、元期からの地殻変動で近傍の基準点成果と整合しない。→ 国土地理院の補正パラメータで補正する。</a:t>
            </a:r>
          </a:p>
          <a:p xmlns:a="http://schemas.openxmlformats.org/drawingml/2006/main">
            <a:r>
              <a:t>- 手順：元期座標＋補正量＝今期座標 → 今期で網平均 → 今期の新点座標−補正量＝元期の成果。</a:t>
            </a:r>
          </a:p>
          <a:p xmlns:a="http://schemas.openxmlformats.org/drawingml/2006/main">
            <a:r>
              <a:t>- 補正パラメータは毎年更新され、測地成果の基準日（元期）は変わらない。</a:t>
            </a:r>
          </a:p>
          <a:p xmlns:a="http://schemas.openxmlformats.org/drawingml/2006/main">
            <a:r>
              <a:t>参考：https://www.gsi.go.jp/sokuchikijun/datum-main.html</a:t>
            </a:r>
          </a:p>
          <a:p xmlns:a="http://schemas.openxmlformats.org/drawingml/2006/main">
            <a:r>
              <a:t>https://www.gsi.go.jp/sokuchikijun/hyoko2024rev-QA.html</a:t>
            </a:r>
          </a:p>
          <a:p xmlns:a="http://schemas.openxmlformats.org/drawingml/2006/main">
            <a:r>
              <a:t>https://service.gsi.go.jp/kijunten/contents/data/datums/explain/detail_info.html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士補試験の法規と測地測量の分野では、この表の型がそのまま出ます。計算より用語の正確な理解が問われます。</a:t>
            </a:r>
          </a:p>
          <a:p xmlns:a="http://schemas.openxmlformats.org/drawingml/2006/main">
            <a:r>
              <a:t>補足（従来の本文）：</a:t>
            </a:r>
          </a:p>
          <a:p xmlns:a="http://schemas.openxmlformats.org/drawingml/2006/main">
            <a:r>
              <a:t>| 型 | 着眼点 |</a:t>
            </a:r>
          </a:p>
          <a:p xmlns:a="http://schemas.openxmlformats.org/drawingml/2006/main">
            <a:r>
              <a:t>| --- | --- |</a:t>
            </a:r>
          </a:p>
          <a:p xmlns:a="http://schemas.openxmlformats.org/drawingml/2006/main">
            <a:r>
              <a:t>| $h=H+N$ の計算 | $H=h-N$。符号と図の対応。ジオイドの傾斜は距離に比例して補間 |</a:t>
            </a:r>
          </a:p>
          <a:p xmlns:a="http://schemas.openxmlformats.org/drawingml/2006/main">
            <a:r>
              <a:t>| ジオイドの定義 | 平均海面を陸の下まで延長した面、重力の方向に直交する等ポテンシャル面。地表に平行ではない。N は楕円体面からジオイド面まで |</a:t>
            </a:r>
          </a:p>
          <a:p xmlns:a="http://schemas.openxmlformats.org/drawingml/2006/main">
            <a:r>
              <a:t>| 楕円体・地心座標 | 短軸＝自転軸、中心＝重心。Z 軸は北極向き、日本は $X&lt;0,\ Y&gt;0,\ Z&gt;0$。基線ベクトルの斜距離 $\sqrt{\Delta X^2+\Delta Y^2+\Delta Z^2}$ |</a:t>
            </a:r>
          </a:p>
          <a:p xmlns:a="http://schemas.openxmlformats.org/drawingml/2006/main">
            <a:r>
              <a:t>| 基準・法規の正誤 | 地理学的経緯度と平均海面からの高さ、距離・面積は楕円体面上。電子基準点（約 1300 点）、経緯度原点（麻布台）、水準原点（永田町、24.3900 m） |</a:t>
            </a:r>
          </a:p>
          <a:p xmlns:a="http://schemas.openxmlformats.org/drawingml/2006/main">
            <a:r>
              <a:t>| 測地系の正誤 | JGD2011/2024・GRS80・測地成果 2024（標高のみ改定）、旧日本測地系との差約 450 m、セミ・ダイナミック補正（元期・今期） |</a:t>
            </a:r>
          </a:p>
          <a:p xmlns:a="http://schemas.openxmlformats.org/drawingml/2006/main">
            <a:r>
              <a:t>| 投影の正誤 | ガウス・クリューゲル（正角）、UTM 0.9996・6° 幅・180 km、平面直角座標系 0.9999・19 系・90 km |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日本を19に分ける理由は、1つの平面で扱う範囲を狭くして距離のひずみを 1 万分の 1 以内に収めるためです。図は配置の模式図で、正確な境界は告示の別表で確認します。</a:t>
            </a:r>
          </a:p>
          <a:p xmlns:a="http://schemas.openxmlformats.org/drawingml/2006/main">
            <a:r>
              <a:t>補足（従来の本文）：</a:t>
            </a:r>
          </a:p>
          <a:p xmlns:a="http://schemas.openxmlformats.org/drawingml/2006/main">
            <a:r>
              <a:t>- 根拠：測量法施行令と国土交通省告示。日本を **19 の系（I〜XIX）** に分ける。</a:t>
            </a:r>
          </a:p>
          <a:p xmlns:a="http://schemas.openxmlformats.org/drawingml/2006/main">
            <a:r>
              <a:t>- 各系の原点は**緯度・経度**で定め、原点の座標は $(X, Y)=(0, 0)$。</a:t>
            </a:r>
          </a:p>
          <a:p xmlns:a="http://schemas.openxmlformats.org/drawingml/2006/main">
            <a:r>
              <a:t>- 原点を通る子午線を X 軸、原点を通りそれに直交する線を Y 軸とする。</a:t>
            </a:r>
          </a:p>
          <a:p xmlns:a="http://schemas.openxmlformats.org/drawingml/2006/main">
            <a:r>
              <a:t>- 中央子午線から東西それぞれおよそ130 km以内（ひずみを抑えるため）。</a:t>
            </a:r>
          </a:p>
          <a:p xmlns:a="http://schemas.openxmlformats.org/drawingml/2006/main">
            <a:r>
              <a:t/>
            </a:r>
          </a:p>
          <a:p xmlns:a="http://schemas.openxmlformats.org/drawingml/2006/main">
            <a:r>
              <a:t>![19系の配置（模式図）](diagrams/jpcs_zones.svg)</a:t>
            </a:r>
          </a:p>
          <a:p xmlns:a="http://schemas.openxmlformats.org/drawingml/2006/main">
            <a:r>
              <a:t>参考：https://www.gsi.go.jp/sokuchikijun/datum-main.html</a:t>
            </a:r>
          </a:p>
          <a:p xmlns:a="http://schemas.openxmlformats.org/drawingml/2006/main">
            <a:r>
              <a:t>https://www.gsi.go.jp/sokuchikijun/hyoko2024rev-QA.html</a:t>
            </a:r>
          </a:p>
          <a:p xmlns:a="http://schemas.openxmlformats.org/drawingml/2006/main">
            <a:r>
              <a:t>https://service.gsi.go.jp/kijunten/contents/data/datums/explain/detail_info.html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一番間違えやすい点です。測量では縦軸が X です。GIS ソフトに座標を入れるとき X と Y を逆にして、点が別の場所に飛ぶ事故がよく起きます。</a:t>
            </a:r>
          </a:p>
          <a:p xmlns:a="http://schemas.openxmlformats.org/drawingml/2006/main">
            <a:r>
              <a:t>補足（従来の本文）：</a:t>
            </a:r>
          </a:p>
          <a:p xmlns:a="http://schemas.openxmlformats.org/drawingml/2006/main">
            <a:r>
              <a:t>- 数学：$x$ が横、$y$ が縦、角は $x$ 軸から**左回り**。</a:t>
            </a:r>
          </a:p>
          <a:p xmlns:a="http://schemas.openxmlformats.org/drawingml/2006/main">
            <a:r>
              <a:t>- 測量：**X が北（縦）、Y が東（横）**、角は X 軸（北）から**右回り**。</a:t>
            </a:r>
          </a:p>
          <a:p xmlns:a="http://schemas.openxmlformats.org/drawingml/2006/main">
            <a:r>
              <a:t>- 式の形は同じ：$\Delta X=S\cos T$、$\Delta Y=S\sin T$。</a:t>
            </a:r>
          </a:p>
          <a:p xmlns:a="http://schemas.openxmlformats.org/drawingml/2006/main">
            <a:r>
              <a:t>- 数学の $(x, y)$ を測量の $(Y, X)$ と読み替えれば、電卓の極座標変換も使える。</a:t>
            </a:r>
          </a:p>
          <a:p xmlns:a="http://schemas.openxmlformats.org/drawingml/2006/main">
            <a:r>
              <a:t/>
            </a:r>
          </a:p>
          <a:p xmlns:a="http://schemas.openxmlformats.org/drawingml/2006/main">
            <a:r>
              <a:t>![数学座標と測量座標の比較](diagrams/axes_quadrants.svg)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原点から見てどの方角にあるかで符号が決まります。後で逆計算をするときに、この表で方向角の範囲を決めます。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本学の座標は第 XIII 系で X も Y も負になります。実習で GNSS の座標が負の値で出ても異常ではありません。隣の系と混ぜると数十 km ずれるので、成果には必ず系を書きます。</a:t>
            </a:r>
          </a:p>
          <a:p xmlns:a="http://schemas.openxmlformats.org/drawingml/2006/main">
            <a:r>
              <a:t>補足（従来の本文）：</a:t>
            </a:r>
          </a:p>
          <a:p xmlns:a="http://schemas.openxmlformats.org/drawingml/2006/main">
            <a:r>
              <a:t>| 系 | 原点 | 主な適用地域 |</a:t>
            </a:r>
          </a:p>
          <a:p xmlns:a="http://schemas.openxmlformats.org/drawingml/2006/main">
            <a:r>
              <a:t>| --- | --- | --- |</a:t>
            </a:r>
          </a:p>
          <a:p xmlns:a="http://schemas.openxmlformats.org/drawingml/2006/main">
            <a:r>
              <a:t>| XI | 北緯 44°、東経 140°15′ | 道南西部（函館・小樽など） |</a:t>
            </a:r>
          </a:p>
          <a:p xmlns:a="http://schemas.openxmlformats.org/drawingml/2006/main">
            <a:r>
              <a:t>| XII | 北緯 44°、東経 142°15′ | 道央（札幌・旭川など） |</a:t>
            </a:r>
          </a:p>
          <a:p xmlns:a="http://schemas.openxmlformats.org/drawingml/2006/main">
            <a:r>
              <a:t>| XIII | 北緯 44°、東経 144°15′ | 道東（帯広・釧路・北見・網走・根室など） |</a:t>
            </a:r>
          </a:p>
          <a:p xmlns:a="http://schemas.openxmlformats.org/drawingml/2006/main">
            <a:r>
              <a:t/>
            </a:r>
          </a:p>
          <a:p xmlns:a="http://schemas.openxmlformats.org/drawingml/2006/main">
            <a:r>
              <a:t>- 帯広市は **第 XIII 系**。原点（北緯 44°、東経 144°15′）の南西にあるので、$X&lt;0$、$Y&lt;0$（市中心部で $X\approx-120$ km、$Y\approx-85$ km）。</a:t>
            </a:r>
          </a:p>
          <a:p xmlns:a="http://schemas.openxmlformats.org/drawingml/2006/main">
            <a:r>
              <a:t>- 系をまたぐ現場では、系を統一してから計算する。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縮尺係数は「基準面上の距離に掛けると平面上の距離になる係数」です。原点で 1 より小さくし、端で 1 より大きくすることで、全体のひずみを ±1 万分の 1 以内に保っています。R は 6370 km です。実務では国土地理院の計算サービスや成果表の値を使いますが、この近似式で桁の感覚がつかめます。Y が 50 km なら 1 km あたり 7 cm 短く計算されます。</a:t>
            </a:r>
          </a:p>
          <a:p xmlns:a="http://schemas.openxmlformats.org/drawingml/2006/main">
            <a:r>
              <a:t>補足（従来の本文）：</a:t>
            </a:r>
          </a:p>
          <a:p xmlns:a="http://schemas.openxmlformats.org/drawingml/2006/main">
            <a:r>
              <a:t>- 原点で $m_0=0.9999$（1 万分の 1 だけ短く）。原点から東西に約 90 km で $m=1.0000$、約 130 km で $m=1.0001$。</a:t>
            </a:r>
          </a:p>
          <a:p xmlns:a="http://schemas.openxmlformats.org/drawingml/2006/main">
            <a:r>
              <a:t>- $m$ はこの近似では主に Y（東西方向の距離）で決まる。近似式と数値例：</a:t>
            </a:r>
          </a:p>
          <a:p xmlns:a="http://schemas.openxmlformats.org/drawingml/2006/main">
            <a:r>
              <a:t/>
            </a:r>
          </a:p>
          <a:p xmlns:a="http://schemas.openxmlformats.org/drawingml/2006/main">
            <a:r>
              <a:t>$$</a:t>
            </a:r>
          </a:p>
          <a:p xmlns:a="http://schemas.openxmlformats.org/drawingml/2006/main">
            <a:r>
              <a:t>m \approx m_0\left(1+\frac{Y^2}{2R^2}\right):\quad Y=0\to0.99990,\quad 50\ \mathrm{km}\to0.99993,\quad 90\ \mathrm{km}\to1.00000,\quad 130\ \mathrm{km}\to1.00011</a:t>
            </a:r>
          </a:p>
          <a:p xmlns:a="http://schemas.openxmlformats.org/drawingml/2006/main">
            <a:r>
              <a:t>$$</a:t>
            </a:r>
          </a:p>
          <a:p xmlns:a="http://schemas.openxmlformats.org/drawingml/2006/main">
            <a:r>
              <a:t/>
            </a:r>
          </a:p>
          <a:p xmlns:a="http://schemas.openxmlformats.org/drawingml/2006/main">
            <a:r>
              <a:t>![Y 方向の縮尺係数の曲線](diagrams/scale_factor.svg)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座標計算に使う距離は④です。実習で TS が表示する「水平距離」は②で、座標計算に使うにはまだ2段階の換算が要ります。TS の設定で③④を自動にできますが、何をしているかを知っておきます。</a:t>
            </a:r>
          </a:p>
          <a:p xmlns:a="http://schemas.openxmlformats.org/drawingml/2006/main">
            <a:r>
              <a:t>補足（従来の本文）：</a:t>
            </a:r>
          </a:p>
          <a:p xmlns:a="http://schemas.openxmlformats.org/drawingml/2006/main">
            <a:r>
              <a:t>- ① 斜距離 $L$：TS や巻尺で直接測る。</a:t>
            </a:r>
          </a:p>
          <a:p xmlns:a="http://schemas.openxmlformats.org/drawingml/2006/main">
            <a:r>
              <a:t>- ② 水平距離 $S$：高度角または高低差で水平に直す。</a:t>
            </a:r>
          </a:p>
          <a:p xmlns:a="http://schemas.openxmlformats.org/drawingml/2006/main">
            <a:r>
              <a:t>- ③ 基準面上の距離 $S_0$：標高 $H$ の分だけ楕円体面に下ろす。</a:t>
            </a:r>
          </a:p>
          <a:p xmlns:a="http://schemas.openxmlformats.org/drawingml/2006/main">
            <a:r>
              <a:t>- ④ 平面直角座標上の距離 $s$：縮尺係数 $m$ を掛ける。</a:t>
            </a:r>
          </a:p>
          <a:p xmlns:a="http://schemas.openxmlformats.org/drawingml/2006/main">
            <a:r>
              <a:t/>
            </a:r>
          </a:p>
          <a:p xmlns:a="http://schemas.openxmlformats.org/drawingml/2006/main">
            <a:r>
              <a:t>![斜距離から平面距離までの階段図](diagrams/distance_stages.svg)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TS は鉛直角から自動で水平距離にしています。巻尺で斜面を測ったときは、高低差を別に測って自分で直します。図の外側の弧と内側の弧は同じ中心角です。半径が大きい外側の方が長いので、基準面に下ろすと短くなります。式は相似比そのものです。</a:t>
            </a:r>
          </a:p>
          <a:p xmlns:a="http://schemas.openxmlformats.org/drawingml/2006/main">
            <a:r>
              <a:t>補足（従来の本文）：</a:t>
            </a:r>
          </a:p>
          <a:p xmlns:a="http://schemas.openxmlformats.org/drawingml/2006/main">
            <a:r>
              <a:t>$$</a:t>
            </a:r>
          </a:p>
          <a:p xmlns:a="http://schemas.openxmlformats.org/drawingml/2006/main">
            <a:r>
              <a:t>S = L\cos\theta = \sqrt{L^2-\Delta h^2},\qquad</a:t>
            </a:r>
          </a:p>
          <a:p xmlns:a="http://schemas.openxmlformats.org/drawingml/2006/main">
            <a:r>
              <a:t>S_0 = S\,\frac{R}{R+H} \approx S\left(1-\frac{H}{R}\right)</a:t>
            </a:r>
          </a:p>
          <a:p xmlns:a="http://schemas.openxmlformats.org/drawingml/2006/main">
            <a:r>
              <a:t>$$</a:t>
            </a:r>
          </a:p>
          <a:p xmlns:a="http://schemas.openxmlformats.org/drawingml/2006/main">
            <a:r>
              <a:t/>
            </a:r>
          </a:p>
          <a:p xmlns:a="http://schemas.openxmlformats.org/drawingml/2006/main">
            <a:r>
              <a:t>- $\theta$：高度角、$\Delta h$：高低差、$R\approx6370$ km、$H$：区間の平均標高。</a:t>
            </a:r>
          </a:p>
          <a:p xmlns:a="http://schemas.openxmlformats.org/drawingml/2006/main">
            <a:r>
              <a:t>- 例：$L=1000.049$ m、$\Delta h=9.900$ m → $S=1000.000$ m。高い所で測った距離は、基準面では**必ず短く**なる（標高 100 m で 1 km あたり約 1.6 cm）。</a:t>
            </a:r>
          </a:p>
          <a:p xmlns:a="http://schemas.openxmlformats.org/drawingml/2006/main">
            <a:r>
              <a:t/>
            </a:r>
          </a:p>
          <a:p xmlns:a="http://schemas.openxmlformats.org/drawingml/2006/main">
            <a:r>
              <a:t>![同心円の弧で見る標高補正](diagrams/elevation_reduction.svg)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標高補正は常にマイナス、縮尺係数は場所によってプラスにもマイナスにもなります。試験では「符号の向き」を問う正誤問題が出ます。</a:t>
            </a:r>
          </a:p>
          <a:p xmlns:a="http://schemas.openxmlformats.org/drawingml/2006/main">
            <a:r>
              <a:t>補足（従来の本文）：</a:t>
            </a:r>
          </a:p>
          <a:p xmlns:a="http://schemas.openxmlformats.org/drawingml/2006/main">
            <a:r>
              <a:t>$$</a:t>
            </a:r>
          </a:p>
          <a:p xmlns:a="http://schemas.openxmlformats.org/drawingml/2006/main">
            <a:r>
              <a:t>s = m\,S_0</a:t>
            </a:r>
          </a:p>
          <a:p xmlns:a="http://schemas.openxmlformats.org/drawingml/2006/main">
            <a:r>
              <a:t>$$</a:t>
            </a:r>
          </a:p>
          <a:p xmlns:a="http://schemas.openxmlformats.org/drawingml/2006/main">
            <a:r>
              <a:t/>
            </a:r>
          </a:p>
          <a:p xmlns:a="http://schemas.openxmlformats.org/drawingml/2006/main">
            <a:r>
              <a:t>- 原点付近（$m&lt;1$）では短く、原点から約 90 km 以上離れると（$m&gt;1$）長くなる。</a:t>
            </a:r>
          </a:p>
          <a:p xmlns:a="http://schemas.openxmlformats.org/drawingml/2006/main">
            <a:r>
              <a:t>- 標高補正と縮尺係数補正は別の理由による別の補正。両方行う。</a:t>
            </a:r>
          </a:p>
          <a:p xmlns:a="http://schemas.openxmlformats.org/drawingml/2006/main">
            <a:r>
              <a:t>- 厳密には基準面は楕円体なので、1・2 級基準点測量では**楕円体高** $h=H+N$ で $R/(R+H+N)$ とする（3・4 級は標高で可）。</a:t>
            </a:r>
          </a:p>
          <a:p xmlns:a="http://schemas.openxmlformats.org/drawingml/2006/main">
            <a:r>
              <a:t>- 逆向き（座標 → 現地）：$S = \dfrac{s}{m}\cdot\dfrac{R+H}{R}$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1 km で 12 cm 近く違います。設計図の距離と現地で測る距離が合わない原因の多くがこの換算の抜けです。演習では同じ型を数値を変えて解きます。</a:t>
            </a:r>
          </a:p>
          <a:p xmlns:a="http://schemas.openxmlformats.org/drawingml/2006/main">
            <a:r>
              <a:t>補足（従来の本文）：</a:t>
            </a:r>
          </a:p>
          <a:p xmlns:a="http://schemas.openxmlformats.org/drawingml/2006/main">
            <a:r>
              <a:t>条件：$L=1000.049$ m、$\Delta h=9.900$ m、$H=100$ m、$m=0.9999$</a:t>
            </a:r>
          </a:p>
          <a:p xmlns:a="http://schemas.openxmlformats.org/drawingml/2006/main">
            <a:r>
              <a:t/>
            </a:r>
          </a:p>
          <a:p xmlns:a="http://schemas.openxmlformats.org/drawingml/2006/main">
            <a:r>
              <a:t>| 段階 | 式 | 値 |</a:t>
            </a:r>
          </a:p>
          <a:p xmlns:a="http://schemas.openxmlformats.org/drawingml/2006/main">
            <a:r>
              <a:t>| --- | --- | ---: |</a:t>
            </a:r>
          </a:p>
          <a:p xmlns:a="http://schemas.openxmlformats.org/drawingml/2006/main">
            <a:r>
              <a:t>| ② 水平距離 | $S=\sqrt{L^2-\Delta h^2}$ | 1000.000 m |</a:t>
            </a:r>
          </a:p>
          <a:p xmlns:a="http://schemas.openxmlformats.org/drawingml/2006/main">
            <a:r>
              <a:t>| ③ 基準面距離 | $S_0=S\times6370000/6370100$ | 999.984 m |</a:t>
            </a:r>
          </a:p>
          <a:p xmlns:a="http://schemas.openxmlformats.org/drawingml/2006/main">
            <a:r>
              <a:t>| ④ 平面距離 | $s=0.9999\times S_0$ | 999.884 m |</a:t>
            </a:r>
          </a:p>
          <a:p xmlns:a="http://schemas.openxmlformats.org/drawingml/2006/main">
            <a:r>
              <a:t/>
            </a:r>
          </a:p>
          <a:p xmlns:a="http://schemas.openxmlformats.org/drawingml/2006/main">
            <a:r>
              <a:t>- 標高補正 −0.016 m、縮尺係数補正 −0.100 m。合計 −0.116 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農業土木の現場では、設計座標から杭の位置を出すことが多いです。平面距離のまま巻尺で測ると、標高の高い所ほど短く打ってしまいます。</a:t>
            </a:r>
          </a:p>
          <a:p xmlns:a="http://schemas.openxmlformats.org/drawingml/2006/main">
            <a:r>
              <a:t>補足（従来の本文）：</a:t>
            </a:r>
          </a:p>
          <a:p xmlns:a="http://schemas.openxmlformats.org/drawingml/2006/main">
            <a:r>
              <a:t>- 設計図・座標から計算した距離は**平面距離 $s$**。</a:t>
            </a:r>
          </a:p>
          <a:p xmlns:a="http://schemas.openxmlformats.org/drawingml/2006/main">
            <a:r>
              <a:t>- 現地で巻尺や TS で測って杭を打つのは**水平距離 $S$**。</a:t>
            </a:r>
          </a:p>
          <a:p xmlns:a="http://schemas.openxmlformats.org/drawingml/2006/main">
            <a:r>
              <a:t/>
            </a:r>
          </a:p>
          <a:p xmlns:a="http://schemas.openxmlformats.org/drawingml/2006/main">
            <a:r>
              <a:t>$$</a:t>
            </a:r>
          </a:p>
          <a:p xmlns:a="http://schemas.openxmlformats.org/drawingml/2006/main">
            <a:r>
              <a:t>S = \frac{s}{m}\cdot\frac{R+H}{R}</a:t>
            </a:r>
          </a:p>
          <a:p xmlns:a="http://schemas.openxmlformats.org/drawingml/2006/main">
            <a:r>
              <a:t>$$</a:t>
            </a:r>
          </a:p>
          <a:p xmlns:a="http://schemas.openxmlformats.org/drawingml/2006/main">
            <a:r>
              <a:t/>
            </a:r>
          </a:p>
          <a:p xmlns:a="http://schemas.openxmlformats.org/drawingml/2006/main">
            <a:r>
              <a:t>- 例：$s=300.000$ m、$H=200$ m、$m=0.9999$ → $S=300.039$ m（現地では約 4 cm 長く）。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答えは南東（第2象限）、2000×500/6370000 ≒ 0.157 m、約 1.0000 です。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士補では「原点の縮尺係数は 1.0000 である」「X 軸は原点で子午線に直交する」のような誤文を見抜く問題と、標高補正の計算が頻出です。電卓なしで 2000×500/6370000 のような割り算ができるよう、概算の練習をしておいてください。</a:t>
            </a:r>
          </a:p>
          <a:p xmlns:a="http://schemas.openxmlformats.org/drawingml/2006/main">
            <a:r>
              <a:t>補足（従来の本文）：</a:t>
            </a:r>
          </a:p>
          <a:p xmlns:a="http://schemas.openxmlformats.org/drawingml/2006/main">
            <a:r>
              <a:t>| 型 | 着眼点 |</a:t>
            </a:r>
          </a:p>
          <a:p xmlns:a="http://schemas.openxmlformats.org/drawingml/2006/main">
            <a:r>
              <a:t>| --- | --- |</a:t>
            </a:r>
          </a:p>
          <a:p xmlns:a="http://schemas.openxmlformats.org/drawingml/2006/main">
            <a:r>
              <a:t>| 座標系の正誤 | X 軸は原点で子午線に**一致**（「直交」は誤り）・Y 軸は真東、19 系、原点 (0, 0)、原点の縮尺係数 0.9999 |</a:t>
            </a:r>
          </a:p>
          <a:p xmlns:a="http://schemas.openxmlformats.org/drawingml/2006/main">
            <a:r>
              <a:t>| 縮尺係数の性質 | X 軸から離れるほど大きい。約 90 km で 1.0000、約 130 km で 1.0001。定義は「楕円体面上の微小距離に対する平面上の微小距離の比」 |</a:t>
            </a:r>
          </a:p>
          <a:p xmlns:a="http://schemas.openxmlformats.org/drawingml/2006/main">
            <a:r>
              <a:t>| 標高補正の計算 | $S\times H/R$、$R=6370$ km が与えられる。向きは必ず短く。1・2 級は楕円体高 $H+N$ |</a:t>
            </a:r>
          </a:p>
          <a:p xmlns:a="http://schemas.openxmlformats.org/drawingml/2006/main">
            <a:r>
              <a:t>| 縮尺係数の計算 | $s=mS_0$。$m$ の範囲 0.9999〜1.0001 |</a:t>
            </a:r>
          </a:p>
          <a:p xmlns:a="http://schemas.openxmlformats.org/drawingml/2006/main">
            <a:r>
              <a:t>| 系の選択 | 現場の系を告示の別表で確認し、混用しない |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「北」は3つあり、角の呼び名は「どの北から測ったか」で決まります。今後のトラバース計算で出てくるのは全部方向角です。真北との差は次の真北方向角として出てきます。</a:t>
            </a:r>
          </a:p>
          <a:p xmlns:a="http://schemas.openxmlformats.org/drawingml/2006/main">
            <a:r>
              <a:t>補足（従来の本文）：</a:t>
            </a:r>
          </a:p>
          <a:p xmlns:a="http://schemas.openxmlformats.org/drawingml/2006/main">
            <a:r>
              <a:t>- **真北**（子午線の方向）から右回りに測った角＝**方位角 $\alpha$**。</a:t>
            </a:r>
          </a:p>
          <a:p xmlns:a="http://schemas.openxmlformats.org/drawingml/2006/main">
            <a:r>
              <a:t>- **座標北**（X 軸の正の方向）から右回りに測った角＝**方向角 $T$**。0°〜360°。座標計算で使うのはこれ。</a:t>
            </a:r>
          </a:p>
          <a:p xmlns:a="http://schemas.openxmlformats.org/drawingml/2006/main">
            <a:r>
              <a:t>- **磁北**（磁針の方向。北海道では真北から西へ約 9°、年々変わる）から測った角＝**磁針方位**。</a:t>
            </a:r>
          </a:p>
          <a:p xmlns:a="http://schemas.openxmlformats.org/drawingml/2006/main">
            <a:r>
              <a:t/>
            </a:r>
          </a:p>
          <a:p xmlns:a="http://schemas.openxmlformats.org/drawingml/2006/main">
            <a:r>
              <a:t>![1点から見た3つの北と視準線](diagrams/three_norths.svg)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符号は国土地理院の定義（座標北から真北へ右回りが正）に合わせています。帯広は原点より西なので真北が座標北の右（東）側にあり、正の値になります。計算サービスの値をそのまま使えるよう、この定義で覚えてください。</a:t>
            </a:r>
          </a:p>
          <a:p xmlns:a="http://schemas.openxmlformats.org/drawingml/2006/main">
            <a:r>
              <a:t>補足（従来の本文）：</a:t>
            </a:r>
          </a:p>
          <a:p xmlns:a="http://schemas.openxmlformats.org/drawingml/2006/main">
            <a:r>
              <a:t>- 座標北と真北のずれの角を**真北方向角 $\gamma$**という（子午線収差角）。</a:t>
            </a:r>
          </a:p>
          <a:p xmlns:a="http://schemas.openxmlformats.org/drawingml/2006/main">
            <a:r>
              <a:t>- 原点の子午線上では 0°。原点から東西に離れるほど大きくなる（最大で 1° 程度）。</a:t>
            </a:r>
          </a:p>
          <a:p xmlns:a="http://schemas.openxmlformats.org/drawingml/2006/main">
            <a:r>
              <a:t>- 符号：座標北から真北へ**右回りを正**。原点より東（$Y&gt;0$）では負、西（$Y&lt;0$）では正。</a:t>
            </a:r>
          </a:p>
          <a:p xmlns:a="http://schemas.openxmlformats.org/drawingml/2006/main">
            <a:r>
              <a:t/>
            </a:r>
          </a:p>
          <a:p xmlns:a="http://schemas.openxmlformats.org/drawingml/2006/main">
            <a:r>
              <a:t>$$</a:t>
            </a:r>
          </a:p>
          <a:p xmlns:a="http://schemas.openxmlformats.org/drawingml/2006/main">
            <a:r>
              <a:t>\alpha = T - \gamma\qquad(\text{方位角}=\text{方向角}-\text{真北方向角})</a:t>
            </a:r>
          </a:p>
          <a:p xmlns:a="http://schemas.openxmlformats.org/drawingml/2006/main">
            <a:r>
              <a:t>$$</a:t>
            </a:r>
          </a:p>
          <a:p xmlns:a="http://schemas.openxmlformats.org/drawingml/2006/main">
            <a:r>
              <a:t/>
            </a:r>
          </a:p>
          <a:p xmlns:a="http://schemas.openxmlformats.org/drawingml/2006/main">
            <a:r>
              <a:t>- 帯広付近（第 XIII 系、$Y\approx-85$ km）では $\gamma\approx+0°43′$。計算サービスで緯度経度から求める。</a:t>
            </a:r>
          </a:p>
          <a:p xmlns:a="http://schemas.openxmlformats.org/drawingml/2006/main">
            <a:r>
              <a:t>参考：https://www.gsi.go.jp/sokuchikijun/datum-main.html</a:t>
            </a:r>
          </a:p>
          <a:p xmlns:a="http://schemas.openxmlformats.org/drawingml/2006/main">
            <a:r>
              <a:t>https://www.gsi.go.jp/sokuchikijun/hyoko2024rev-QA.html</a:t>
            </a:r>
          </a:p>
          <a:p xmlns:a="http://schemas.openxmlformats.org/drawingml/2006/main">
            <a:r>
              <a:t>https://service.gsi.go.jp/kijunten/contents/data/datums/explain/detail_info.html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方位は「北か南から、東か西へ何度」という書き方で、0〜90° の範囲です。方向角への換算は象限ごとに決まっています。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緯距は南北方向の差、経距は東西方向の差です。X に cos、Y に sin が付くのは、角を北から測っているからです。</a:t>
            </a:r>
          </a:p>
          <a:p xmlns:a="http://schemas.openxmlformats.org/drawingml/2006/main">
            <a:r>
              <a:t>補足（従来の本文）：</a:t>
            </a:r>
          </a:p>
          <a:p xmlns:a="http://schemas.openxmlformats.org/drawingml/2006/main">
            <a:r>
              <a:t>既知点 A$(X_A, Y_A)$、方向角 $T$、平面距離 $S$ のとき：</a:t>
            </a:r>
          </a:p>
          <a:p xmlns:a="http://schemas.openxmlformats.org/drawingml/2006/main">
            <a:r>
              <a:t/>
            </a:r>
          </a:p>
          <a:p xmlns:a="http://schemas.openxmlformats.org/drawingml/2006/main">
            <a:r>
              <a:t>- 緯距 $\Delta X = S\cos T$（南北の差）、経距 $\Delta Y = S\sin T$（東西の差）。</a:t>
            </a:r>
          </a:p>
          <a:p xmlns:a="http://schemas.openxmlformats.org/drawingml/2006/main">
            <a:r>
              <a:t/>
            </a:r>
          </a:p>
          <a:p xmlns:a="http://schemas.openxmlformats.org/drawingml/2006/main">
            <a:r>
              <a:t>$$</a:t>
            </a:r>
          </a:p>
          <a:p xmlns:a="http://schemas.openxmlformats.org/drawingml/2006/main">
            <a:r>
              <a:t>X_B = X_A + S\cos T,\qquad Y_B = Y_A + S\sin T</a:t>
            </a:r>
          </a:p>
          <a:p xmlns:a="http://schemas.openxmlformats.org/drawingml/2006/main">
            <a:r>
              <a:t>$$</a:t>
            </a:r>
          </a:p>
          <a:p xmlns:a="http://schemas.openxmlformats.org/drawingml/2006/main">
            <a:r>
              <a:t/>
            </a:r>
          </a:p>
          <a:p xmlns:a="http://schemas.openxmlformats.org/drawingml/2006/main">
            <a:r>
              <a:t>![緯距・経距の直角三角形](diagrams/forward_calc.svg)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方向角 120° は第2象限（南東）なので、ΔX が負、ΔY が正になります。電卓は度モードにし、DMS 入力を使います。</a:t>
            </a:r>
          </a:p>
          <a:p xmlns:a="http://schemas.openxmlformats.org/drawingml/2006/main">
            <a:r>
              <a:t>補足（従来の本文）：</a:t>
            </a:r>
          </a:p>
          <a:p xmlns:a="http://schemas.openxmlformats.org/drawingml/2006/main">
            <a:r>
              <a:t>A$(1000.000,\ 2000.000)$、$T=120°00′00″$、$S=150.000$ m</a:t>
            </a:r>
          </a:p>
          <a:p xmlns:a="http://schemas.openxmlformats.org/drawingml/2006/main">
            <a:r>
              <a:t/>
            </a:r>
          </a:p>
          <a:p xmlns:a="http://schemas.openxmlformats.org/drawingml/2006/main">
            <a:r>
              <a:t>$$</a:t>
            </a:r>
          </a:p>
          <a:p xmlns:a="http://schemas.openxmlformats.org/drawingml/2006/main">
            <a:r>
              <a:t>\Delta X = 150.000\cos120° = 150.000\times(-0.5) = -75.000\ \mathrm{m}</a:t>
            </a:r>
          </a:p>
          <a:p xmlns:a="http://schemas.openxmlformats.org/drawingml/2006/main">
            <a:r>
              <a:t>$$</a:t>
            </a:r>
          </a:p>
          <a:p xmlns:a="http://schemas.openxmlformats.org/drawingml/2006/main">
            <a:r>
              <a:t/>
            </a:r>
          </a:p>
          <a:p xmlns:a="http://schemas.openxmlformats.org/drawingml/2006/main">
            <a:r>
              <a:t>$$</a:t>
            </a:r>
          </a:p>
          <a:p xmlns:a="http://schemas.openxmlformats.org/drawingml/2006/main">
            <a:r>
              <a:t>\Delta Y = 150.000\sin120° = 150.000\times0.866025 = +129.904\ \mathrm{m}</a:t>
            </a:r>
          </a:p>
          <a:p xmlns:a="http://schemas.openxmlformats.org/drawingml/2006/main">
            <a:r>
              <a:t>$$</a:t>
            </a:r>
          </a:p>
          <a:p xmlns:a="http://schemas.openxmlformats.org/drawingml/2006/main">
            <a:r>
              <a:t/>
            </a:r>
          </a:p>
          <a:p xmlns:a="http://schemas.openxmlformats.org/drawingml/2006/main">
            <a:r>
              <a:t>$$</a:t>
            </a:r>
          </a:p>
          <a:p xmlns:a="http://schemas.openxmlformats.org/drawingml/2006/main">
            <a:r>
              <a:t>X_B = 1000.000-75.000 = 925.000,\qquad Y_B = 2000.000+129.904 = 2129.904</a:t>
            </a:r>
          </a:p>
          <a:p xmlns:a="http://schemas.openxmlformats.org/drawingml/2006/main">
            <a:r>
              <a: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逆計算は、座標が分かっている2点の間を測るときや、トラバースの検算で使います。arctan の象限補正が最大の落とし穴です。</a:t>
            </a:r>
          </a:p>
          <a:p xmlns:a="http://schemas.openxmlformats.org/drawingml/2006/main">
            <a:r>
              <a:t>補足（従来の本文）：</a:t>
            </a:r>
          </a:p>
          <a:p xmlns:a="http://schemas.openxmlformats.org/drawingml/2006/main">
            <a:r>
              <a:t>$$</a:t>
            </a:r>
          </a:p>
          <a:p xmlns:a="http://schemas.openxmlformats.org/drawingml/2006/main">
            <a:r>
              <a:t>S = \sqrt{\Delta X^2+\Delta Y^2},\qquad \tan T = \frac{\Delta Y}{\Delta X}</a:t>
            </a:r>
          </a:p>
          <a:p xmlns:a="http://schemas.openxmlformats.org/drawingml/2006/main">
            <a:r>
              <a:t>$$</a:t>
            </a:r>
          </a:p>
          <a:p xmlns:a="http://schemas.openxmlformats.org/drawingml/2006/main">
            <a:r>
              <a:t/>
            </a:r>
          </a:p>
          <a:p xmlns:a="http://schemas.openxmlformats.org/drawingml/2006/main">
            <a:r>
              <a:t>- $\Delta X = X_B-X_A$、$\Delta Y = Y_B-Y_A$（「終点 − 始点」）。</a:t>
            </a:r>
          </a:p>
          <a:p xmlns:a="http://schemas.openxmlformats.org/drawingml/2006/main">
            <a:r>
              <a:t>- $\arctan$ は $-90°$〜$+90°$ しか返さない → **象限で補正**する。</a:t>
            </a:r>
          </a:p>
          <a:p xmlns:a="http://schemas.openxmlformats.org/drawingml/2006/main">
            <a:r>
              <a:t>- 電卓の極座標変換（Pol）は $(\Delta X, \Delta Y)$ の順に入れると $S$ と $T$（$-180°$〜$180°$）が出る。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ΔX が負なら 180° を足す、ΔX が正で ΔY が負なら 360° を足す、と覚えます。符号を先に書いてから計算する習慣を付けてください。</a:t>
            </a:r>
          </a:p>
          <a:p xmlns:a="http://schemas.openxmlformats.org/drawingml/2006/main">
            <a:r>
              <a:t>補足（従来の本文）：</a:t>
            </a:r>
          </a:p>
          <a:p xmlns:a="http://schemas.openxmlformats.org/drawingml/2006/main">
            <a:r>
              <a:t>| $\Delta X$ | $\Delta Y$ | 象限 | $T$ |</a:t>
            </a:r>
          </a:p>
          <a:p xmlns:a="http://schemas.openxmlformats.org/drawingml/2006/main">
            <a:r>
              <a:t>| --- | --- | --- | --- |</a:t>
            </a:r>
          </a:p>
          <a:p xmlns:a="http://schemas.openxmlformats.org/drawingml/2006/main">
            <a:r>
              <a:t>| ＋ | ＋ | 第1（北東） | $\arctan(\Delta Y/\Delta X)$ |</a:t>
            </a:r>
          </a:p>
          <a:p xmlns:a="http://schemas.openxmlformats.org/drawingml/2006/main">
            <a:r>
              <a:t>| − | ＋ | 第2（南東） | $\arctan(\Delta Y/\Delta X)+180°$ |</a:t>
            </a:r>
          </a:p>
          <a:p xmlns:a="http://schemas.openxmlformats.org/drawingml/2006/main">
            <a:r>
              <a:t>| − | − | 第3（南西） | $\arctan(\Delta Y/\Delta X)+180°$ |</a:t>
            </a:r>
          </a:p>
          <a:p xmlns:a="http://schemas.openxmlformats.org/drawingml/2006/main">
            <a:r>
              <a:t>| ＋ | − | 第4（北西） | $\arctan(\Delta Y/\Delta X)+360°$ |</a:t>
            </a:r>
          </a:p>
          <a:p xmlns:a="http://schemas.openxmlformats.org/drawingml/2006/main">
            <a:r>
              <a:t/>
            </a:r>
          </a:p>
          <a:p xmlns:a="http://schemas.openxmlformats.org/drawingml/2006/main">
            <a:r>
              <a:t>![逆計算の象限判定](diagrams/inverse_quadrant.svg)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順計算した座標を逆計算して元の距離と方向角に戻ることを確かめるのが、座標計算の基本の検算です。前回の「残差の和が0」と同じで、検算を手順に組み込みます。演習でもこの検算を書いてもらいます。</a:t>
            </a:r>
          </a:p>
          <a:p xmlns:a="http://schemas.openxmlformats.org/drawingml/2006/main">
            <a:r>
              <a:t>補足（従来の本文）：</a:t>
            </a:r>
          </a:p>
          <a:p xmlns:a="http://schemas.openxmlformats.org/drawingml/2006/main">
            <a:r>
              <a:t>B$(925.000,\ 2129.904)$ から A$(1000.000,\ 2000.000)$ を引く：</a:t>
            </a:r>
          </a:p>
          <a:p xmlns:a="http://schemas.openxmlformats.org/drawingml/2006/main">
            <a:r>
              <a:t/>
            </a:r>
          </a:p>
          <a:p xmlns:a="http://schemas.openxmlformats.org/drawingml/2006/main">
            <a:r>
              <a:t>$$</a:t>
            </a:r>
          </a:p>
          <a:p xmlns:a="http://schemas.openxmlformats.org/drawingml/2006/main">
            <a:r>
              <a:t>\Delta X=-75.000,\quad \Delta Y=+129.904,\quad S=\sqrt{75.000^2+129.904^2}=150.000\ \mathrm{m}</a:t>
            </a:r>
          </a:p>
          <a:p xmlns:a="http://schemas.openxmlformats.org/drawingml/2006/main">
            <a:r>
              <a:t>$$</a:t>
            </a:r>
          </a:p>
          <a:p xmlns:a="http://schemas.openxmlformats.org/drawingml/2006/main">
            <a:r>
              <a:t/>
            </a:r>
          </a:p>
          <a:p xmlns:a="http://schemas.openxmlformats.org/drawingml/2006/main">
            <a:r>
              <a:t>$$</a:t>
            </a:r>
          </a:p>
          <a:p xmlns:a="http://schemas.openxmlformats.org/drawingml/2006/main">
            <a:r>
              <a:t>\arctan\frac{129.904}{-75.000} = -60°00′00″\ \to\ \Delta X&lt;0\ \text{なので}\ +180°\ \to\ T=120°00′00″</a:t>
            </a:r>
          </a:p>
          <a:p xmlns:a="http://schemas.openxmlformats.org/drawingml/2006/main">
            <a:r>
              <a:t>$$</a:t>
            </a:r>
          </a:p>
          <a:p xmlns:a="http://schemas.openxmlformats.org/drawingml/2006/main">
            <a:r>
              <a:t/>
            </a:r>
          </a:p>
          <a:p xmlns:a="http://schemas.openxmlformats.org/drawingml/2006/main">
            <a:r>
              <a:t>- 順計算の結果が逆計算で元に戻る → 検算完了。$\Delta X^2+\Delta Y^2=S^2$ も確かめる。</a:t>
            </a:r>
          </a:p>
          <a:p xmlns:a="http://schemas.openxmlformats.org/drawingml/2006/main">
            <a:r>
              <a:t>- 座標は mm（小数第3位）、角は秒まで。三角関数の値は途中で丸めない。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士補試験では電卓が使えない代わりに、この形の表が問題に付きます。掛け算は筆算なので、桁数の少ない値になるよう作られています。</a:t>
            </a:r>
          </a:p>
          <a:p xmlns:a="http://schemas.openxmlformats.org/drawingml/2006/main">
            <a:r>
              <a:t>補足（従来の本文）：</a:t>
            </a:r>
          </a:p>
          <a:p xmlns:a="http://schemas.openxmlformats.org/drawingml/2006/main">
            <a:r>
              <a:t>既知点 A$(X=+150.00,\ Y=+250.00)$ から、方向角 $60°$、距離 $200.00$ m の点 B の座標を求めよ。</a:t>
            </a:r>
          </a:p>
          <a:p xmlns:a="http://schemas.openxmlformats.org/drawingml/2006/main">
            <a:r>
              <a:t/>
            </a:r>
          </a:p>
          <a:p xmlns:a="http://schemas.openxmlformats.org/drawingml/2006/main">
            <a:r>
              <a:t>| 角 | $\sin$ | $\cos$ |</a:t>
            </a:r>
          </a:p>
          <a:p xmlns:a="http://schemas.openxmlformats.org/drawingml/2006/main">
            <a:r>
              <a:t>| ---: | ---: | ---: |</a:t>
            </a:r>
          </a:p>
          <a:p xmlns:a="http://schemas.openxmlformats.org/drawingml/2006/main">
            <a:r>
              <a:t>| 30° | 0.50000 | 0.86603 |</a:t>
            </a:r>
          </a:p>
          <a:p xmlns:a="http://schemas.openxmlformats.org/drawingml/2006/main">
            <a:r>
              <a:t>| 60° | 0.86603 | 0.50000 |</a:t>
            </a:r>
          </a:p>
          <a:p xmlns:a="http://schemas.openxmlformats.org/drawingml/2006/main">
            <a:r>
              <a:t/>
            </a:r>
          </a:p>
          <a:p xmlns:a="http://schemas.openxmlformats.org/drawingml/2006/main">
            <a:r>
              <a:t>$$</a:t>
            </a:r>
          </a:p>
          <a:p xmlns:a="http://schemas.openxmlformats.org/drawingml/2006/main">
            <a:r>
              <a:t>X_B=150.00+200.00\times0.50000=250.00,\qquad Y_B=250.00+200.00\times0.86603=423.21</a:t>
            </a:r>
          </a:p>
          <a:p xmlns:a="http://schemas.openxmlformats.org/drawingml/2006/main">
            <a:r>
              <a: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士補 No.6 は 198°、230°、240°、305° のような鈍角で出ます。関数表は 0〜90° しか載らないので、象限を見て符号を自分で決めます。「X は cos、Y は sin、符号は象限の図で」が手順です。前の枚の象限の符号表をこの表と並べて確認してください。</a:t>
            </a:r>
          </a:p>
          <a:p xmlns:a="http://schemas.openxmlformats.org/drawingml/2006/main">
            <a:r>
              <a:t>補足（従来の本文）：</a:t>
            </a:r>
          </a:p>
          <a:p xmlns:a="http://schemas.openxmlformats.org/drawingml/2006/main">
            <a:r>
              <a:t>既知点 A$(X=-1\,000.00,\ Y=+500.00)$ から、方向角 $198°$、距離 $1\,200.00$ m の点 B の座標。関数表には 18° しかない。</a:t>
            </a:r>
          </a:p>
          <a:p xmlns:a="http://schemas.openxmlformats.org/drawingml/2006/main">
            <a:r>
              <a:t/>
            </a:r>
          </a:p>
          <a:p xmlns:a="http://schemas.openxmlformats.org/drawingml/2006/main">
            <a:r>
              <a:t>| 象限（方向角 $T$） | $\cos T$ | $\sin T$ |</a:t>
            </a:r>
          </a:p>
          <a:p xmlns:a="http://schemas.openxmlformats.org/drawingml/2006/main">
            <a:r>
              <a:t>| --- | :---: | :---: |</a:t>
            </a:r>
          </a:p>
          <a:p xmlns:a="http://schemas.openxmlformats.org/drawingml/2006/main">
            <a:r>
              <a:t>| 第 2（90°〜180°） | $-\cos(180°-T)$ | $+\sin(180°-T)$ |</a:t>
            </a:r>
          </a:p>
          <a:p xmlns:a="http://schemas.openxmlformats.org/drawingml/2006/main">
            <a:r>
              <a:t>| 第 3（180°〜270°） | $-\cos(T-180°)$ | $-\sin(T-180°)$ |</a:t>
            </a:r>
          </a:p>
          <a:p xmlns:a="http://schemas.openxmlformats.org/drawingml/2006/main">
            <a:r>
              <a:t>| 第 4（270°〜360°） | $+\cos(360°-T)$ | $-\sin(360°-T)$ |</a:t>
            </a:r>
          </a:p>
          <a:p xmlns:a="http://schemas.openxmlformats.org/drawingml/2006/main">
            <a:r>
              <a:t/>
            </a:r>
          </a:p>
          <a:p xmlns:a="http://schemas.openxmlformats.org/drawingml/2006/main">
            <a:r>
              <a:t>$198°=180°+18°$ → 第 3 象限、$\cos 18°=0.95106$、$\sin 18°=0.30902$ を両方**負**にして：</a:t>
            </a:r>
          </a:p>
          <a:p xmlns:a="http://schemas.openxmlformats.org/drawingml/2006/main">
            <a:r>
              <a:t/>
            </a:r>
          </a:p>
          <a:p xmlns:a="http://schemas.openxmlformats.org/drawingml/2006/main">
            <a:r>
              <a:t>$$</a:t>
            </a:r>
          </a:p>
          <a:p xmlns:a="http://schemas.openxmlformats.org/drawingml/2006/main">
            <a:r>
              <a:t>X_B=-1\,000.00-1\,200\times0.95106=-2\,141.27,\qquad Y_B=500.00-1\,200\times0.30902=129.18</a:t>
            </a:r>
          </a:p>
          <a:p xmlns:a="http://schemas.openxmlformats.org/drawingml/2006/main">
            <a:r>
              <a: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士補 No.6（令和 7 年）と H22 No.7 の型です。成果表の数値を見て「符号が合っているか」「縮尺係数が 1 未満か以上か」を判断させます。緯度差 1° ≈ 111 km、経度差 1° ≈ 111 km×cos φ の概算を覚えておくと、X・Y の大きさも見積もれます。帯広（XIII 系）に当てはめると X≈−120 km、Y≈−85 km で、縮尺係数は 0.99999 程度です。</a:t>
            </a:r>
          </a:p>
          <a:p xmlns:a="http://schemas.openxmlformats.org/drawingml/2006/main">
            <a:r>
              <a:t>補足（従来の本文）：</a:t>
            </a:r>
          </a:p>
          <a:p xmlns:a="http://schemas.openxmlformats.org/drawingml/2006/main">
            <a:r>
              <a:t>第 XI 系（原点 北緯 44°、東経 140°15′）の基準点 P：北緯 43°30′、東経 141°00′、標高 50 m。</a:t>
            </a:r>
          </a:p>
          <a:p xmlns:a="http://schemas.openxmlformats.org/drawingml/2006/main">
            <a:r>
              <a:t/>
            </a:r>
          </a:p>
          <a:p xmlns:a="http://schemas.openxmlformats.org/drawingml/2006/main">
            <a:r>
              <a:t>- 原点より**南** → $X&lt;0$。原点より**東** → $Y&gt;0$。</a:t>
            </a:r>
          </a:p>
          <a:p xmlns:a="http://schemas.openxmlformats.org/drawingml/2006/main">
            <a:r>
              <a:t>- 経度差 0°45′ は北緯 43.5° で約 60 km（1° ≈ 81 km）→ 中央子午線から 90 km 以内なので縮尺係数は **1 未満**（0.9999 と 1.0000 の間）。</a:t>
            </a:r>
          </a:p>
          <a:p xmlns:a="http://schemas.openxmlformats.org/drawingml/2006/main">
            <a:r>
              <a:t>- 成果表には緯度・経度・標高・X・Y・縮尺係数・真北方向角が並ぶ。真北方向角は $Y&gt;0$ なら負。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答えは 225°、S 30° E、座標北と真北です。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今日の計算は第5・6回のトラバース計算の部品になります。ここで順計算と逆計算を確実にしておくと、トラバースは手順を追うだけになります。</a:t>
            </a:r>
          </a:p>
          <a:p xmlns:a="http://schemas.openxmlformats.org/drawingml/2006/main">
            <a:r>
              <a:t>補足（従来の本文）：</a:t>
            </a:r>
          </a:p>
          <a:p xmlns:a="http://schemas.openxmlformats.org/drawingml/2006/main">
            <a:r>
              <a:t>- 第5回（トラバース）では、交角から方向角を順に計算する型に発展する。</a:t>
            </a:r>
          </a:p>
          <a:p xmlns:a="http://schemas.openxmlformats.org/drawingml/2006/main">
            <a:r>
              <a:t/>
            </a:r>
          </a:p>
          <a:p xmlns:a="http://schemas.openxmlformats.org/drawingml/2006/main">
            <a:r>
              <a:t>| 型 | 着眼点 |</a:t>
            </a:r>
          </a:p>
          <a:p xmlns:a="http://schemas.openxmlformats.org/drawingml/2006/main">
            <a:r>
              <a:t>| --- | --- |</a:t>
            </a:r>
          </a:p>
          <a:p xmlns:a="http://schemas.openxmlformats.org/drawingml/2006/main">
            <a:r>
              <a:t>| 座標計算（表付き） | $X$ に $\cos$、$Y$ に $\sin$。鈍角は 180°・360° との差で表を引き、符号は象限で |</a:t>
            </a:r>
          </a:p>
          <a:p xmlns:a="http://schemas.openxmlformats.org/drawingml/2006/main">
            <a:r>
              <a:t>| 方向角の象限 | $\arctan$ に 180° または 360° を足す |</a:t>
            </a:r>
          </a:p>
          <a:p xmlns:a="http://schemas.openxmlformats.org/drawingml/2006/main">
            <a:r>
              <a:t>| 方位との換算 | N/S と E/W の組合せで式を選ぶ |</a:t>
            </a:r>
          </a:p>
          <a:p xmlns:a="http://schemas.openxmlformats.org/drawingml/2006/main">
            <a:r>
              <a:t>| 真北方向角 | 方位角＝方向角−真北方向角。原点の子午線上で 0、$Y&gt;0$ で負 |</a:t>
            </a:r>
          </a:p>
          <a:p xmlns:a="http://schemas.openxmlformats.org/drawingml/2006/main">
            <a:r>
              <a:t>| 成果表の読み方 | 緯度経度と原点の位置関係から X・Y の符号、中央子午線からの距離（90 km）で縮尺係数の大小 |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実習で GNSS が出す座標は、今日の約束を順に通ったものです。設定が違うと③④で数 m〜数十 m ずれます。協力企業の実習で画面を見せてもらうとき、この表と対応させてください。</a:t>
            </a:r>
          </a:p>
          <a:p xmlns:a="http://schemas.openxmlformats.org/drawingml/2006/main">
            <a:r>
              <a:t>補足（従来の本文）：</a:t>
            </a:r>
          </a:p>
          <a:p xmlns:a="http://schemas.openxmlformats.org/drawingml/2006/main">
            <a:r>
              <a:t>| 段階 | 座標 | 誰が計算するか |</a:t>
            </a:r>
          </a:p>
          <a:p xmlns:a="http://schemas.openxmlformats.org/drawingml/2006/main">
            <a:r>
              <a:t>| --- | --- | --- |</a:t>
            </a:r>
          </a:p>
          <a:p xmlns:a="http://schemas.openxmlformats.org/drawingml/2006/main">
            <a:r>
              <a:t>| ① 衛星からの距離 | 地心直交座標 $(X, Y, Z)$ | 受信機 |</a:t>
            </a:r>
          </a:p>
          <a:p xmlns:a="http://schemas.openxmlformats.org/drawingml/2006/main">
            <a:r>
              <a:t>| ② 楕円体に投影 | 緯度・経度・楕円体高 (φ, λ, h) | 受信機 |</a:t>
            </a:r>
          </a:p>
          <a:p xmlns:a="http://schemas.openxmlformats.org/drawingml/2006/main">
            <a:r>
              <a:t>| ③ 平面に投影 | 平面直角座標 $(X, Y)$（系を指定） | 受信機・後処理ソフト |</a:t>
            </a:r>
          </a:p>
          <a:p xmlns:a="http://schemas.openxmlformats.org/drawingml/2006/main">
            <a:r>
              <a:t>| ④ ジオイド補正 | 標高 $H=h-N$（ジオイド2024） | 受信機・後処理ソフト |</a:t>
            </a:r>
          </a:p>
          <a:p xmlns:a="http://schemas.openxmlformats.org/drawingml/2006/main">
            <a:r>
              <a:t/>
            </a:r>
          </a:p>
          <a:p xmlns:a="http://schemas.openxmlformats.org/drawingml/2006/main">
            <a:r>
              <a:t>- RTK の画面で「測地系」「系」「ジオイドモデル」の設定を確認する。3-1 の座標の階層そのもの。</a:t>
            </a:r>
          </a:p>
          <a:p xmlns:a="http://schemas.openxmlformats.org/drawingml/2006/main">
            <a:r>
              <a:t>新規イラストはAI生成の模式図。衛星は省略表現であり、通常の単独測位では時計誤差も含め少なくとも4衛星を用います。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TS の「座標観測モード」は、今日やった順計算を機械が代わりにしているだけです。設定の縮尺係数を 1 のままにすると、座標が数 cm 単位でずれます。</a:t>
            </a:r>
          </a:p>
          <a:p xmlns:a="http://schemas.openxmlformats.org/drawingml/2006/main">
            <a:r>
              <a:t>補足（従来の本文）：</a:t>
            </a:r>
          </a:p>
          <a:p xmlns:a="http://schemas.openxmlformats.org/drawingml/2006/main">
            <a:r>
              <a:t>- 入力：器械点の座標 $(X_A, Y_A, H_A)$、後視点への方向角 $T_0$、器械高・目標高。</a:t>
            </a:r>
          </a:p>
          <a:p xmlns:a="http://schemas.openxmlformats.org/drawingml/2006/main">
            <a:r>
              <a:t>- 観測：水平角 $\beta$、鉛直角、斜距離 $L$。</a:t>
            </a:r>
          </a:p>
          <a:p xmlns:a="http://schemas.openxmlformats.org/drawingml/2006/main">
            <a:r>
              <a:t>- 計算：$T=T_0+\beta$ → 水平距離 $S=L\cos\theta$ → $X=X_A+S\cos T$、$Y=Y_A+S\sin T$。</a:t>
            </a:r>
          </a:p>
          <a:p xmlns:a="http://schemas.openxmlformats.org/drawingml/2006/main">
            <a:r>
              <a:t>- 標高補正・縮尺係数は設定で自動化できるが、何をしているかは今日の式。</a:t>
            </a:r>
          </a:p>
          <a:p xmlns:a="http://schemas.openxmlformats.org/drawingml/2006/main">
            <a:r>
              <a:t>新規イラストはAI生成の概念図。機器の特定製品を表すものではありません。座標計算には補正後の平面距離を用います。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演習開始時刻を告げ、問1は9分を目安にします。配布用紙と同じ問題文です。質問には記号の意味だけ答え、数値は伝えません。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問2は7分を目安にします。発展問題は余った人向けで、採点しません。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このスライドは計算中に映しておきます。残り2分になったら検算と単位の確認へ移るよう声を掛けます。</a:t>
            </a:r>
          </a:p>
          <a:p xmlns:a="http://schemas.openxmlformats.org/drawingml/2006/main">
            <a:r>
              <a:t>補足（従来の本文）：</a:t>
            </a:r>
          </a:p>
          <a:p xmlns:a="http://schemas.openxmlformats.org/drawingml/2006/main">
            <a:r>
              <a:t>- 逆計算：$\Delta X$・$\Delta Y$ の符号 → 象限 → $S$ → $\arctan$ → 加える角。</a:t>
            </a:r>
          </a:p>
          <a:p xmlns:a="http://schemas.openxmlformats.org/drawingml/2006/main">
            <a:r>
              <a:t>- 順計算：$X$ に $\cos$、$Y$ に $\sin$。</a:t>
            </a:r>
          </a:p>
          <a:p xmlns:a="http://schemas.openxmlformats.org/drawingml/2006/main">
            <a:r>
              <a:t>- 距離換算：水平 → 基準面 → 平面の順。符号を文で書く。</a:t>
            </a:r>
          </a:p>
          <a:p xmlns:a="http://schemas.openxmlformats.org/drawingml/2006/main">
            <a:r>
              <a:t>- 座標・距離は m で小数第3位、角は秒まで。三角関数は途中で丸めない。</a:t>
            </a:r>
          </a:p>
          <a:p xmlns:a="http://schemas.openxmlformats.org/drawingml/2006/main">
            <a:r>
              <a:t>- 検算：順計算の結果を逆計算で戻す。$\Delta X^2+\Delta Y^2=S^2$。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演習18分の終了を告げ、計算途中も採点対象になることを伝えます。小テストと手計算テストの両方がそろっているか確認させます。</a:t>
            </a:r>
          </a:p>
          <a:p xmlns:a="http://schemas.openxmlformats.org/drawingml/2006/main">
            <a:r>
              <a:t>補足（従来の本文）：</a:t>
            </a:r>
          </a:p>
          <a:p xmlns:a="http://schemas.openxmlformats.org/drawingml/2006/main">
            <a:r>
              <a:t>- 提出用番号は配布紙にのみ記入する。</a:t>
            </a:r>
          </a:p>
          <a:p xmlns:a="http://schemas.openxmlformats.org/drawingml/2006/main">
            <a:r>
              <a:t>- 冒頭の小テストの用紙と、手計算テスト2ページをまとめて提出する。</a:t>
            </a:r>
          </a:p>
          <a:p xmlns:a="http://schemas.openxmlformats.org/drawingml/2006/main">
            <a:r>
              <a:t>- 解けなかった箇所も、考えた式や途中計算を残す。</a:t>
            </a:r>
          </a:p>
          <a:p xmlns:a="http://schemas.openxmlformats.org/drawingml/2006/main">
            <a:r>
              <a:t>- 公開ファイルには個人を特定する情報を記入しない。</a:t>
            </a:r>
          </a:p>
          <a:p xmlns:a="http://schemas.openxmlformats.org/drawingml/2006/main">
            <a:r>
              <a:t>- 解説は次回冒頭に行う。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理論（座標・ジオイド・投影）と計算（距離の換算・順逆計算）を結び直します。どれも次回以降のトラバース・水準・GNSS の計算で前提になります。</a:t>
            </a:r>
          </a:p>
          <a:p xmlns:a="http://schemas.openxmlformats.org/drawingml/2006/main">
            <a:r>
              <a:t>補足（従来の本文）：</a:t>
            </a:r>
          </a:p>
          <a:p xmlns:a="http://schemas.openxmlformats.org/drawingml/2006/main">
            <a:r>
              <a:t>- 座標＝点と数の組の 1 対 1 の約束。測量では測地系・座標の種類・高さの基準の 3 点セット（CRS）を明記する。</a:t>
            </a:r>
          </a:p>
          <a:p xmlns:a="http://schemas.openxmlformats.org/drawingml/2006/main">
            <a:r>
              <a:t>- ジオイド＝平均海面を陸の下まで延長した、重力に垂直な面。$h=H+N$。GNSS は $h$、水準測量と地形図は $H$。ジオイド高は距離に比例して補間する。</a:t>
            </a:r>
          </a:p>
          <a:p xmlns:a="http://schemas.openxmlformats.org/drawingml/2006/main">
            <a:r>
              <a:t>- 測地系：GRS80（短軸＝自転軸）、地心直交座標は日本で $X&lt;0, Y&gt;0, Z&gt;0$。JGD2011/2024、測地成果 2024 は標高のみ改定。セミ・ダイナミック補正は元期と今期を結ぶ。</a:t>
            </a:r>
          </a:p>
          <a:p xmlns:a="http://schemas.openxmlformats.org/drawingml/2006/main">
            <a:r>
              <a:t>- 投影：ガウス・クリューゲル（横メルカトル、正角）。UTM は 6° 幅・0.9996・180 km、平面直角座標系は 19 系・X が北・Y が東・$m_0=0.9999$・90 km。</a:t>
            </a:r>
          </a:p>
          <a:p xmlns:a="http://schemas.openxmlformats.org/drawingml/2006/main">
            <a:r>
              <a:t>- 距離の4段階：$L\to S\to S_0=S\,R/(R+H)\to s=mS_0$。</a:t>
            </a:r>
          </a:p>
          <a:p xmlns:a="http://schemas.openxmlformats.org/drawingml/2006/main">
            <a:r>
              <a:t>- 順計算 $X_B=X_A+S\cos T$、$Y_B=Y_A+S\sin T$。逆計算 $S=\sqrt{\Delta X^2+\Delta Y^2}$、$T=\arctan(\Delta Y/\Delta X)$＋象限の補正。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次回の小テストの範囲を予告します。計算は電卓なしで解ける数値にするので、式と符号の理解を優先して復習してください。</a:t>
            </a:r>
          </a:p>
          <a:p xmlns:a="http://schemas.openxmlformats.org/drawingml/2006/main">
            <a:r>
              <a:t>補足（従来の本文）：</a:t>
            </a:r>
          </a:p>
          <a:p xmlns:a="http://schemas.openxmlformats.org/drawingml/2006/main">
            <a:r>
              <a:t>- 次回の冒頭小テストは、この表から 5 問出す。</a:t>
            </a:r>
          </a:p>
          <a:p xmlns:a="http://schemas.openxmlformats.org/drawingml/2006/main">
            <a:r>
              <a:t/>
            </a:r>
          </a:p>
          <a:p xmlns:a="http://schemas.openxmlformats.org/drawingml/2006/main">
            <a:r>
              <a:t>| 型 | 着眼点 |</a:t>
            </a:r>
          </a:p>
          <a:p xmlns:a="http://schemas.openxmlformats.org/drawingml/2006/main">
            <a:r>
              <a:t>| --- | --- |</a:t>
            </a:r>
          </a:p>
          <a:p xmlns:a="http://schemas.openxmlformats.org/drawingml/2006/main">
            <a:r>
              <a:t>| ジオイドと高さの関係 | ジオイドの定義（地表に平行ではない）、$H=h-N$、符号、ジオイドの傾斜の補間、N は楕円体面からジオイド面まで |</a:t>
            </a:r>
          </a:p>
          <a:p xmlns:a="http://schemas.openxmlformats.org/drawingml/2006/main">
            <a:r>
              <a:t>| 測地系・投影の正誤 | GRS80（短軸＝自転軸）、地心直交座標の軸と日本の符号、JGD2011/2024、旧日本測地系との差、セミ・ダイナミック補正、UTM と平面直角座標系の数値 |</a:t>
            </a:r>
          </a:p>
          <a:p xmlns:a="http://schemas.openxmlformats.org/drawingml/2006/main">
            <a:r>
              <a:t>| 平面直角座標系の正誤 | X 軸は原点で子午線に一致、Y は真東、19 系、原点の縮尺係数 0.9999、X 軸から離れるほど大きい |</a:t>
            </a:r>
          </a:p>
          <a:p xmlns:a="http://schemas.openxmlformats.org/drawingml/2006/main">
            <a:r>
              <a:t>| 標高補正・縮尺係数 | 向き（標高補正は短く）、$R=6370$ km の概算、1・2 級は楕円体高で縮約 |</a:t>
            </a:r>
          </a:p>
          <a:p xmlns:a="http://schemas.openxmlformats.org/drawingml/2006/main">
            <a:r>
              <a:t>| 座標計算（表付き）・方向角の象限 | $\cos$ が X、$\sin$ が Y、鈍角は象限で符号、$\arctan$ に 180°・360° を足す、成果表の符号と縮尺係数 |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次回は角の観測です。今日の方向角は、次回の観測した角と合わせて第5回のトラバース計算につながります。</a:t>
            </a:r>
          </a:p>
          <a:p xmlns:a="http://schemas.openxmlformats.org/drawingml/2006/main">
            <a:r>
              <a:t>補足（従来の本文）：</a:t>
            </a:r>
          </a:p>
          <a:p xmlns:a="http://schemas.openxmlformats.org/drawingml/2006/main">
            <a:r>
              <a:t>- 冒頭 5 分：本日の演習の解答確認。冒頭小テスト：第3回範囲から 5 問。</a:t>
            </a:r>
          </a:p>
          <a:p xmlns:a="http://schemas.openxmlformats.org/drawingml/2006/main">
            <a:r>
              <a:t>- 角の観測法（単測法・倍角法・方向法）と検算。</a:t>
            </a:r>
          </a:p>
          <a:p xmlns:a="http://schemas.openxmlformats.org/drawingml/2006/main">
            <a:r>
              <a:t>- 偏心観測の補正。TS の自動視準と二軸補正。</a:t>
            </a:r>
          </a:p>
          <a:p xmlns:a="http://schemas.openxmlformats.org/drawingml/2006/main">
            <a:r>
              <a:t>- 巻尺の補正（尺定数・温度・傾斜）と光波測距の原理も第4回の前半で扱う。</a:t>
            </a:r>
          </a:p>
          <a:p xmlns:a="http://schemas.openxmlformats.org/drawingml/2006/main">
            <a:r>
              <a:t>- 関数電卓を持参し、本日の順計算・逆計算を復習する。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出典は公式サイトで最新を確認してください。本スライドの数値例は本教材用に作ったもので、実測データではありません。イラスト（illustrations/）は AI（Codex の画像生成）で作った概念図です。</a:t>
            </a:r>
          </a:p>
          <a:p xmlns:a="http://schemas.openxmlformats.org/drawingml/2006/main">
            <a:r>
              <a:t>補足（従来の本文）：</a:t>
            </a:r>
          </a:p>
          <a:p xmlns:a="http://schemas.openxmlformats.org/drawingml/2006/main">
            <a:r>
              <a:t>- **[1] 国土地理院「平面直角座標系（平成十四年国土交通省告示第九号）」** — 19 系の原点と適用区域。</a:t>
            </a:r>
          </a:p>
          <a:p xmlns:a="http://schemas.openxmlformats.org/drawingml/2006/main">
            <a:r>
              <a:t>- **[2] 国土地理院「測地成果 2024」「ジオイド2024日本とその周辺」「日本の測地系」** — 標高成果の改定、ジオイドモデル、世界測地系への移行（旧日本測地系との差）。</a:t>
            </a:r>
          </a:p>
          <a:p xmlns:a="http://schemas.openxmlformats.org/drawingml/2006/main">
            <a:r>
              <a:t>- **[3] 国土地理院「測量士・測量士補試験」受験案内・Q&amp;A・出題区分** — 択一28問・700点満点・450点以上で合格、電卓不可、令和7年からの4区分。</a:t>
            </a:r>
          </a:p>
          <a:p xmlns:a="http://schemas.openxmlformats.org/drawingml/2006/main">
            <a:r>
              <a:t>- **[4] 測量法（昭和二十四年法律第百八十八号）第 11 条、測量法施行令第 2・3 条** — 位置の表示方法（経緯度・直角座標・平均海面からの高さ）、日本経緯度原点、楕円体の長半径 6 378 137 m と扁平率 1/298.257222101。</a:t>
            </a:r>
          </a:p>
          <a:p xmlns:a="http://schemas.openxmlformats.org/drawingml/2006/main">
            <a:r>
              <a:t>- **[5] 国土地理院「UTM 座標系」「地図投影法」解説ページ** — UTM の帯・中央子午線・縮尺係数 0.9996、ガウス・クリューゲル投影。</a:t>
            </a:r>
          </a:p>
          <a:p xmlns:a="http://schemas.openxmlformats.org/drawingml/2006/main">
            <a:r>
              <a:t>参考：https://www.gsi.go.jp/sokuchikijun/datum-main.html</a:t>
            </a:r>
          </a:p>
          <a:p xmlns:a="http://schemas.openxmlformats.org/drawingml/2006/main">
            <a:r>
              <a:t>https://www.gsi.go.jp/sokuchikijun/hyoko2024rev-QA.html</a:t>
            </a:r>
          </a:p>
          <a:p xmlns:a="http://schemas.openxmlformats.org/drawingml/2006/main">
            <a:r>
              <a:t>https://service.gsi.go.jp/kijunten/contents/data/datums/explain/detail_info.html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469ce0c18d8440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0ccb773e8744c7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8f212a4cf59401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1457dfd5f2349d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f9d04683e3c455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fe558c3029c46e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B2B4B75-DF3E-4AE1-AC20-6A39600ED89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48CEEDD-757C-42CA-849C-070826FD008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2203738-48D1-45CD-83B8-3C600221E07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6019C77-F903-4D0C-9AAF-FC1AF4EEADB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7D56407-3E3C-4386-A090-089D5FA666F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8DD9D75-AA72-4136-971E-09CB775FE7D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5D02CA0-8201-40C7-BCF6-A68BF615691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939D0CC-AB30-4096-A82F-133EB501D9F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7FDE393-5334-438D-B499-04CEC0F3781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72D0EF1-6DE5-438F-A5EC-4C9E0D0F5D3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951f67b51404c70" /><Relationship Type="http://schemas.openxmlformats.org/officeDocument/2006/relationships/slideLayout" Target="/ppt/slideLayouts/slideLayout1.xml" Id="R969abc24af7d49e8" /><Relationship Type="http://schemas.openxmlformats.org/officeDocument/2006/relationships/slideLayout" Target="/ppt/slideLayouts/slideLayout2.xml" Id="R58e56f8a543c4bf0" /><Relationship Type="http://schemas.openxmlformats.org/officeDocument/2006/relationships/slideLayout" Target="/ppt/slideLayouts/slideLayout3.xml" Id="R00c29b6634824ba8" /><Relationship Type="http://schemas.openxmlformats.org/officeDocument/2006/relationships/slideLayout" Target="/ppt/slideLayouts/slideLayout4.xml" Id="R8904f36e04814963" /><Relationship Type="http://schemas.openxmlformats.org/officeDocument/2006/relationships/slideLayout" Target="/ppt/slideLayouts/slideLayout5.xml" Id="Reb3a0978126a46b2" /><Relationship Type="http://schemas.openxmlformats.org/officeDocument/2006/relationships/slideLayout" Target="/ppt/slideLayouts/slideLayout6.xml" Id="Rc0e760170b5746e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69abc24af7d49e8"/>
    <p:sldLayoutId xmlns:r="http://schemas.openxmlformats.org/officeDocument/2006/relationships" id="2147483650" r:id="R58e56f8a543c4bf0"/>
    <p:sldLayoutId xmlns:r="http://schemas.openxmlformats.org/officeDocument/2006/relationships" id="2147483651" r:id="R00c29b6634824ba8"/>
    <p:sldLayoutId xmlns:r="http://schemas.openxmlformats.org/officeDocument/2006/relationships" id="2147483652" r:id="R8904f36e04814963"/>
    <p:sldLayoutId xmlns:r="http://schemas.openxmlformats.org/officeDocument/2006/relationships" id="2147483653" r:id="Reb3a0978126a46b2"/>
    <p:sldLayoutId xmlns:r="http://schemas.openxmlformats.org/officeDocument/2006/relationships" id="2147483654" r:id="Rc0e760170b5746e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f8c5acc2a424ccf" /><Relationship Type="http://schemas.openxmlformats.org/officeDocument/2006/relationships/image" Target="/ppt/media/image.png" Id="Rc91e07bbfa3c451f" /><Relationship Type="http://schemas.openxmlformats.org/officeDocument/2006/relationships/notesSlide" Target="/ppt/notesSlides/notesSlide1.xml" Id="R5c0ccd1b309c499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503e8de3920459f" /><Relationship Type="http://schemas.openxmlformats.org/officeDocument/2006/relationships/notesSlide" Target="/ppt/notesSlides/notesSlide2.xml" Id="R313e3ac60b20490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777e515873d47da" /><Relationship Type="http://schemas.openxmlformats.org/officeDocument/2006/relationships/notesSlide" Target="/ppt/notesSlides/notesSlide3.xml" Id="Rfa1361719c094fd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5ff13585820468c" /><Relationship Type="http://schemas.openxmlformats.org/officeDocument/2006/relationships/notesSlide" Target="/ppt/notesSlides/notesSlide4.xml" Id="R23fd9256a6eb465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e6e592f23b44bb3" /><Relationship Type="http://schemas.openxmlformats.org/officeDocument/2006/relationships/notesSlide" Target="/ppt/notesSlides/notesSlide5.xml" Id="Rdb22642a0df84dd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1484bdf375647a3" /><Relationship Type="http://schemas.openxmlformats.org/officeDocument/2006/relationships/notesSlide" Target="/ppt/notesSlides/notesSlide6.xml" Id="Rcf236baa5d14487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7fb824b4b4f4936" /><Relationship Type="http://schemas.openxmlformats.org/officeDocument/2006/relationships/notesSlide" Target="/ppt/notesSlides/notesSlide7.xml" Id="R1e05a5370540478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ed0c502c4cc4844" /><Relationship Type="http://schemas.openxmlformats.org/officeDocument/2006/relationships/notesSlide" Target="/ppt/notesSlides/notesSlide8.xml" Id="Rfb10fc0377f14ef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ef483936c12414c" /><Relationship Type="http://schemas.openxmlformats.org/officeDocument/2006/relationships/notesSlide" Target="/ppt/notesSlides/notesSlide9.xml" Id="R6ca0bcf463da4eb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857fe6312344145" /><Relationship Type="http://schemas.openxmlformats.org/officeDocument/2006/relationships/notesSlide" Target="/ppt/notesSlides/notesSlide10.xml" Id="R929fa12e89d74f2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4dea5482148459b" /><Relationship Type="http://schemas.openxmlformats.org/officeDocument/2006/relationships/notesSlide" Target="/ppt/notesSlides/notesSlide11.xml" Id="R40e59ed9660e499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268e13cb0ed4e60" /><Relationship Type="http://schemas.openxmlformats.org/officeDocument/2006/relationships/notesSlide" Target="/ppt/notesSlides/notesSlide12.xml" Id="R09b2cfb1ec32455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b76037c8b5c4b7d" /><Relationship Type="http://schemas.openxmlformats.org/officeDocument/2006/relationships/notesSlide" Target="/ppt/notesSlides/notesSlide13.xml" Id="R50fed3f26abe4a7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86ad8d63b984834" /><Relationship Type="http://schemas.openxmlformats.org/officeDocument/2006/relationships/image" Target="/ppt/media/image2.png" Id="Rcb30159bf2054698" /><Relationship Type="http://schemas.openxmlformats.org/officeDocument/2006/relationships/notesSlide" Target="/ppt/notesSlides/notesSlide14.xml" Id="R69d8ada817374fa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284aa9da09e4027" /><Relationship Type="http://schemas.openxmlformats.org/officeDocument/2006/relationships/notesSlide" Target="/ppt/notesSlides/notesSlide15.xml" Id="Rcf63129de73345c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c9bb695c7604c6f" /><Relationship Type="http://schemas.openxmlformats.org/officeDocument/2006/relationships/notesSlide" Target="/ppt/notesSlides/notesSlide16.xml" Id="R2c144976fc3345a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4f97a1f00864f6c" /><Relationship Type="http://schemas.openxmlformats.org/officeDocument/2006/relationships/image" Target="/ppt/media/image3.png" Id="R4b45cb608d4f481f" /><Relationship Type="http://schemas.openxmlformats.org/officeDocument/2006/relationships/notesSlide" Target="/ppt/notesSlides/notesSlide17.xml" Id="R29ba25f609aa4b1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5c50f54869947ff" /><Relationship Type="http://schemas.openxmlformats.org/officeDocument/2006/relationships/notesSlide" Target="/ppt/notesSlides/notesSlide18.xml" Id="Rda8381f1d69c4e4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dc975238fda48dc" /><Relationship Type="http://schemas.openxmlformats.org/officeDocument/2006/relationships/image" Target="/ppt/media/image4.png" Id="R10d3800bdab94cb8" /><Relationship Type="http://schemas.openxmlformats.org/officeDocument/2006/relationships/notesSlide" Target="/ppt/notesSlides/notesSlide19.xml" Id="R2c5506f5158a465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bc957b5fa6c4306" /><Relationship Type="http://schemas.openxmlformats.org/officeDocument/2006/relationships/notesSlide" Target="/ppt/notesSlides/notesSlide20.xml" Id="R0bd39613e79142f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44ccd3e351844d0" /><Relationship Type="http://schemas.openxmlformats.org/officeDocument/2006/relationships/image" Target="/ppt/media/image5.png" Id="R708d2de1bdf2403a" /><Relationship Type="http://schemas.openxmlformats.org/officeDocument/2006/relationships/notesSlide" Target="/ppt/notesSlides/notesSlide21.xml" Id="R3eb5905e0c314ed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5343ffed3e84412" /><Relationship Type="http://schemas.openxmlformats.org/officeDocument/2006/relationships/image" Target="/ppt/media/image6.png" Id="Reb83727cf8cd4728" /><Relationship Type="http://schemas.openxmlformats.org/officeDocument/2006/relationships/notesSlide" Target="/ppt/notesSlides/notesSlide22.xml" Id="R984bfc4d22d04e7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f6fce9af67b4c97" /><Relationship Type="http://schemas.openxmlformats.org/officeDocument/2006/relationships/image" Target="/ppt/media/image7.png" Id="R945ad6bb862f47ef" /><Relationship Type="http://schemas.openxmlformats.org/officeDocument/2006/relationships/notesSlide" Target="/ppt/notesSlides/notesSlide23.xml" Id="R62f1d0ef93d245b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99e7ee4fc224f29" /><Relationship Type="http://schemas.openxmlformats.org/officeDocument/2006/relationships/image" Target="/ppt/media/image8.png" Id="R09fda04a4f7e4ca1" /><Relationship Type="http://schemas.openxmlformats.org/officeDocument/2006/relationships/notesSlide" Target="/ppt/notesSlides/notesSlide24.xml" Id="Rb37d7a8f3c0146c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fad7b4867ad4c29" /><Relationship Type="http://schemas.openxmlformats.org/officeDocument/2006/relationships/image" Target="/ppt/media/image9.png" Id="Re3e630446d96443b" /><Relationship Type="http://schemas.openxmlformats.org/officeDocument/2006/relationships/notesSlide" Target="/ppt/notesSlides/notesSlide25.xml" Id="R806ea03c95614f9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f5f877b6f1c4f83" /><Relationship Type="http://schemas.openxmlformats.org/officeDocument/2006/relationships/image" Target="/ppt/media/image10.png" Id="Rc987737d3e7f44cc" /><Relationship Type="http://schemas.openxmlformats.org/officeDocument/2006/relationships/notesSlide" Target="/ppt/notesSlides/notesSlide26.xml" Id="Rb7997768fb5f4b0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8095231bf2b94faf" /><Relationship Type="http://schemas.openxmlformats.org/officeDocument/2006/relationships/notesSlide" Target="/ppt/notesSlides/notesSlide27.xml" Id="R5e754f7454f944b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e881a23a1a77478e" /><Relationship Type="http://schemas.openxmlformats.org/officeDocument/2006/relationships/notesSlide" Target="/ppt/notesSlides/notesSlide28.xml" Id="R558c24876da347e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e800af1fb3464064" /><Relationship Type="http://schemas.openxmlformats.org/officeDocument/2006/relationships/notesSlide" Target="/ppt/notesSlides/notesSlide29.xml" Id="R5e6d242780ce491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680fedb74994d54" /><Relationship Type="http://schemas.openxmlformats.org/officeDocument/2006/relationships/image" Target="/ppt/media/image11.png" Id="R232d80f81a894175" /><Relationship Type="http://schemas.openxmlformats.org/officeDocument/2006/relationships/notesSlide" Target="/ppt/notesSlides/notesSlide30.xml" Id="R8a717a5ab92e4f9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4cc67857dfd4a26" /><Relationship Type="http://schemas.openxmlformats.org/officeDocument/2006/relationships/notesSlide" Target="/ppt/notesSlides/notesSlide31.xml" Id="R27e8e00552084c1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e1b773512a44e8c" /><Relationship Type="http://schemas.openxmlformats.org/officeDocument/2006/relationships/image" Target="/ppt/media/image12.png" Id="R64d94c631e574cdc" /><Relationship Type="http://schemas.openxmlformats.org/officeDocument/2006/relationships/notesSlide" Target="/ppt/notesSlides/notesSlide32.xml" Id="R11b9ebb48d0640b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3e3369dcbfb45ea" /><Relationship Type="http://schemas.openxmlformats.org/officeDocument/2006/relationships/notesSlide" Target="/ppt/notesSlides/notesSlide33.xml" Id="Rcb020ea1b22e41b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9d0711d9454942bc" /><Relationship Type="http://schemas.openxmlformats.org/officeDocument/2006/relationships/image" Target="/ppt/media/image13.png" Id="Re945e3bd249a41cf" /><Relationship Type="http://schemas.openxmlformats.org/officeDocument/2006/relationships/notesSlide" Target="/ppt/notesSlides/notesSlide34.xml" Id="Ra2101ebdd0b54aa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7a413ba1bbc44d3b" /><Relationship Type="http://schemas.openxmlformats.org/officeDocument/2006/relationships/notesSlide" Target="/ppt/notesSlides/notesSlide35.xml" Id="Ra92ac43a70c940f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d026cebb18dc4a2d" /><Relationship Type="http://schemas.openxmlformats.org/officeDocument/2006/relationships/notesSlide" Target="/ppt/notesSlides/notesSlide36.xml" Id="Rc0a61f3329fe4f1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cb5c3cd656bb4259" /><Relationship Type="http://schemas.openxmlformats.org/officeDocument/2006/relationships/image" Target="/ppt/media/image14.png" Id="R0afcd9e8169547d4" /><Relationship Type="http://schemas.openxmlformats.org/officeDocument/2006/relationships/notesSlide" Target="/ppt/notesSlides/notesSlide37.xml" Id="R7e95007f3c1143a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6f7736aed974c4f" /><Relationship Type="http://schemas.openxmlformats.org/officeDocument/2006/relationships/image" Target="/ppt/media/image15.png" Id="R4134c1a3d0d54cd0" /><Relationship Type="http://schemas.openxmlformats.org/officeDocument/2006/relationships/notesSlide" Target="/ppt/notesSlides/notesSlide38.xml" Id="Rf4177aec6a904f1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9312c379abe64bc0" /><Relationship Type="http://schemas.openxmlformats.org/officeDocument/2006/relationships/image" Target="/ppt/media/image16.png" Id="R4d2ff030084a474d" /><Relationship Type="http://schemas.openxmlformats.org/officeDocument/2006/relationships/notesSlide" Target="/ppt/notesSlides/notesSlide39.xml" Id="R079ae2044007405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f0e28aaed004967" /><Relationship Type="http://schemas.openxmlformats.org/officeDocument/2006/relationships/image" Target="/ppt/media/image17.png" Id="R80a5c25c03b34865" /><Relationship Type="http://schemas.openxmlformats.org/officeDocument/2006/relationships/notesSlide" Target="/ppt/notesSlides/notesSlide40.xml" Id="Rfc261a1cba374ad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ad033116a2fa4e2b" /><Relationship Type="http://schemas.openxmlformats.org/officeDocument/2006/relationships/image" Target="/ppt/media/image18.png" Id="R22a9aae2ab4146e1" /><Relationship Type="http://schemas.openxmlformats.org/officeDocument/2006/relationships/notesSlide" Target="/ppt/notesSlides/notesSlide41.xml" Id="R1f318df4266d49d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192ad73429145a8" /><Relationship Type="http://schemas.openxmlformats.org/officeDocument/2006/relationships/notesSlide" Target="/ppt/notesSlides/notesSlide42.xml" Id="R66ee143f17e1421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7ab7d79054f54b97" /><Relationship Type="http://schemas.openxmlformats.org/officeDocument/2006/relationships/notesSlide" Target="/ppt/notesSlides/notesSlide43.xml" Id="Re0db71638c394ad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b48dd0465e0b4cb6" /><Relationship Type="http://schemas.openxmlformats.org/officeDocument/2006/relationships/notesSlide" Target="/ppt/notesSlides/notesSlide44.xml" Id="R392de395a54e4a31"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482c6bda64ec4bfe" /><Relationship Type="http://schemas.openxmlformats.org/officeDocument/2006/relationships/notesSlide" Target="/ppt/notesSlides/notesSlide45.xml" Id="Rbcc2c5cce86c45e4"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2547194bda4d48da" /><Relationship Type="http://schemas.openxmlformats.org/officeDocument/2006/relationships/notesSlide" Target="/ppt/notesSlides/notesSlide46.xml" Id="R6d8ab8359a5b4d3c"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0bb9a269c5f34fc9" /><Relationship Type="http://schemas.openxmlformats.org/officeDocument/2006/relationships/image" Target="/ppt/media/image19.png" Id="Rb508da19d00545bc" /><Relationship Type="http://schemas.openxmlformats.org/officeDocument/2006/relationships/notesSlide" Target="/ppt/notesSlides/notesSlide47.xml" Id="Rf4ffdc24e9c54ae5"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e4b62ee2763d4129" /><Relationship Type="http://schemas.openxmlformats.org/officeDocument/2006/relationships/image" Target="/ppt/media/image20.png" Id="Rd4be53bf67104cca" /><Relationship Type="http://schemas.openxmlformats.org/officeDocument/2006/relationships/notesSlide" Target="/ppt/notesSlides/notesSlide48.xml" Id="R70ce43f1902840cf"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bc75ac482e18448f" /><Relationship Type="http://schemas.openxmlformats.org/officeDocument/2006/relationships/notesSlide" Target="/ppt/notesSlides/notesSlide49.xml" Id="Rf41a6778f2c0413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6f88201e2006480e" /><Relationship Type="http://schemas.openxmlformats.org/officeDocument/2006/relationships/notesSlide" Target="/ppt/notesSlides/notesSlide50.xml" Id="R546205b13a2b41a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dba595a9db3c45ab" /><Relationship Type="http://schemas.openxmlformats.org/officeDocument/2006/relationships/image" Target="/ppt/media/image21.png" Id="R895cdfeafa524455" /><Relationship Type="http://schemas.openxmlformats.org/officeDocument/2006/relationships/notesSlide" Target="/ppt/notesSlides/notesSlide51.xml" Id="Ra57f3925fd12457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ddf3f2a21a954799" /><Relationship Type="http://schemas.openxmlformats.org/officeDocument/2006/relationships/image" Target="/ppt/media/image22.png" Id="Rbf3b3da7b0274c01" /><Relationship Type="http://schemas.openxmlformats.org/officeDocument/2006/relationships/notesSlide" Target="/ppt/notesSlides/notesSlide52.xml" Id="Rfab1edc8819945eb"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e3d727aca18c458f" /><Relationship Type="http://schemas.openxmlformats.org/officeDocument/2006/relationships/image" Target="/ppt/media/image23.png" Id="Rb9db583595794da2" /><Relationship Type="http://schemas.openxmlformats.org/officeDocument/2006/relationships/notesSlide" Target="/ppt/notesSlides/notesSlide53.xml" Id="R3289aacdb5a2416a"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8131b2991ae64683" /><Relationship Type="http://schemas.openxmlformats.org/officeDocument/2006/relationships/notesSlide" Target="/ppt/notesSlides/notesSlide54.xml" Id="R2ee3953872f2449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8fdc681a515d42c4" /><Relationship Type="http://schemas.openxmlformats.org/officeDocument/2006/relationships/notesSlide" Target="/ppt/notesSlides/notesSlide55.xml" Id="R30aedc092e664cac"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11d598be6f6f476d" /><Relationship Type="http://schemas.openxmlformats.org/officeDocument/2006/relationships/notesSlide" Target="/ppt/notesSlides/notesSlide56.xml" Id="Rf912ad66a19b49b8"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4caaf756b6004427" /><Relationship Type="http://schemas.openxmlformats.org/officeDocument/2006/relationships/notesSlide" Target="/ppt/notesSlides/notesSlide57.xml" Id="R8a363b1508bd4012"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703da9c5d3f24182" /><Relationship Type="http://schemas.openxmlformats.org/officeDocument/2006/relationships/notesSlide" Target="/ppt/notesSlides/notesSlide58.xml" Id="R77e83a1fd0bc4631"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2e7c9254e4b94df0" /><Relationship Type="http://schemas.openxmlformats.org/officeDocument/2006/relationships/image" Target="/ppt/media/image24.png" Id="Ra405d087b24b443c" /><Relationship Type="http://schemas.openxmlformats.org/officeDocument/2006/relationships/notesSlide" Target="/ppt/notesSlides/notesSlide59.xml" Id="R7c33a502a10a41f5"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037847e72984482b" /><Relationship Type="http://schemas.openxmlformats.org/officeDocument/2006/relationships/notesSlide" Target="/ppt/notesSlides/notesSlide60.xml" Id="Rc2f5d051de47425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f8cb754ed7fe4b02" /><Relationship Type="http://schemas.openxmlformats.org/officeDocument/2006/relationships/notesSlide" Target="/ppt/notesSlides/notesSlide61.xml" Id="R96b99f58780e493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a7210c4828c941d5" /><Relationship Type="http://schemas.openxmlformats.org/officeDocument/2006/relationships/image" Target="/ppt/media/image25.png" Id="R727b67ce65b24cff" /><Relationship Type="http://schemas.openxmlformats.org/officeDocument/2006/relationships/notesSlide" Target="/ppt/notesSlides/notesSlide62.xml" Id="R644f349dbe91429f"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717fc730bb554431" /><Relationship Type="http://schemas.openxmlformats.org/officeDocument/2006/relationships/notesSlide" Target="/ppt/notesSlides/notesSlide63.xml" Id="R71d757015d374b1d"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7ba90a48503a44f6" /><Relationship Type="http://schemas.openxmlformats.org/officeDocument/2006/relationships/notesSlide" Target="/ppt/notesSlides/notesSlide64.xml" Id="Ree51f8d8be9c43f0"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9c40e6e3a2d043e0" /><Relationship Type="http://schemas.openxmlformats.org/officeDocument/2006/relationships/image" Target="/ppt/media/image26.png" Id="R9325f09d80da490c" /><Relationship Type="http://schemas.openxmlformats.org/officeDocument/2006/relationships/notesSlide" Target="/ppt/notesSlides/notesSlide65.xml" Id="R8dfe3fcb2c5e4654"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254dcd50954549ec" /><Relationship Type="http://schemas.openxmlformats.org/officeDocument/2006/relationships/notesSlide" Target="/ppt/notesSlides/notesSlide66.xml" Id="R80bc7e742fa24f17"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7d5e861bcff441a4" /><Relationship Type="http://schemas.openxmlformats.org/officeDocument/2006/relationships/notesSlide" Target="/ppt/notesSlides/notesSlide67.xml" Id="R40097a23e23e40a7"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e0a54f57ca134221" /><Relationship Type="http://schemas.openxmlformats.org/officeDocument/2006/relationships/notesSlide" Target="/ppt/notesSlides/notesSlide68.xml" Id="R63061355a21d44b5"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b96cdde26b704974" /><Relationship Type="http://schemas.openxmlformats.org/officeDocument/2006/relationships/notesSlide" Target="/ppt/notesSlides/notesSlide69.xml" Id="R6b04bdc71b914849"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4af0d5204c234382" /><Relationship Type="http://schemas.openxmlformats.org/officeDocument/2006/relationships/notesSlide" Target="/ppt/notesSlides/notesSlide70.xml" Id="R37fa801a95e243b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7abf9f6b28b74661" /><Relationship Type="http://schemas.openxmlformats.org/officeDocument/2006/relationships/notesSlide" Target="/ppt/notesSlides/notesSlide71.xml" Id="R3e9b8db3514e428d"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13d837ef17f5436e" /><Relationship Type="http://schemas.openxmlformats.org/officeDocument/2006/relationships/image" Target="/ppt/media/image27.png" Id="R9dade3f7f29a4ab1" /><Relationship Type="http://schemas.openxmlformats.org/officeDocument/2006/relationships/notesSlide" Target="/ppt/notesSlides/notesSlide72.xml" Id="R2b6d8b8acf97470b"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a404d355a5424139" /><Relationship Type="http://schemas.openxmlformats.org/officeDocument/2006/relationships/image" Target="/ppt/media/image28.png" Id="Rab04c4fbca404f71" /><Relationship Type="http://schemas.openxmlformats.org/officeDocument/2006/relationships/notesSlide" Target="/ppt/notesSlides/notesSlide73.xml" Id="R0c3f20aedb4a4284"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7c09bd46bc544bed" /><Relationship Type="http://schemas.openxmlformats.org/officeDocument/2006/relationships/notesSlide" Target="/ppt/notesSlides/notesSlide74.xml" Id="R8c137127ed264170"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c0c8aa398b2f4287" /><Relationship Type="http://schemas.openxmlformats.org/officeDocument/2006/relationships/notesSlide" Target="/ppt/notesSlides/notesSlide75.xml" Id="R4b23e848cc744cfe"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900a8e30b6a94b94" /><Relationship Type="http://schemas.openxmlformats.org/officeDocument/2006/relationships/notesSlide" Target="/ppt/notesSlides/notesSlide76.xml" Id="R16c1926888734b1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c006f57e98334301" /><Relationship Type="http://schemas.openxmlformats.org/officeDocument/2006/relationships/notesSlide" Target="/ppt/notesSlides/notesSlide77.xml" Id="R3a4f33a3cb7f42f3"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7e37243bc3ce48b8" /><Relationship Type="http://schemas.openxmlformats.org/officeDocument/2006/relationships/notesSlide" Target="/ppt/notesSlides/notesSlide78.xml" Id="Rc307cff2c232435e"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cb5b15a2ef1542a3" /><Relationship Type="http://schemas.openxmlformats.org/officeDocument/2006/relationships/notesSlide" Target="/ppt/notesSlides/notesSlide79.xml" Id="Raed2445f70e1495b"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0384de34eed24a23" /><Relationship Type="http://schemas.openxmlformats.org/officeDocument/2006/relationships/notesSlide" Target="/ppt/notesSlides/notesSlide80.xml" Id="Ra66d903d83e2497e"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2b9cdb09046f43fb" /><Relationship Type="http://schemas.openxmlformats.org/officeDocument/2006/relationships/notesSlide" Target="/ppt/notesSlides/notesSlide81.xml" Id="Re67b85f86969454e" /></Relationships>
</file>

<file path=ppt/slides/slide1.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460882E4-D6CC-430A-AB98-D2EA388DF688}"/>
              </a:ext>
            </a:extLst>
          </p:cNvPr>
          <p:cNvPicPr>
            <a:picLocks xmlns:a="http://schemas.openxmlformats.org/drawingml/2006/main" noChangeAspect="1"/>
          </p:cNvPicPr>
          <p:nvPr/>
        </p:nvPicPr>
        <p:blipFill>
          <a:blip xmlns:r="http://schemas.openxmlformats.org/officeDocument/2006/relationships" xmlns:a="http://schemas.openxmlformats.org/drawingml/2006/main" r:embed="Rc91e07bbfa3c451f"/>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
        <p:nvSpPr>
          <p:cNvPr id="2" name="本文0">
            <a:extLst xmlns:a="http://schemas.openxmlformats.org/drawingml/2006/main">
              <a:ext uri="{FF2B5EF4-FFF2-40B4-BE49-F238E27FC236}">
                <a16:creationId xmlns:a16="http://schemas.microsoft.com/office/drawing/2014/main" id="{7524A418-FA00-4B57-903A-EA4E72650B16}"/>
              </a:ext>
            </a:extLst>
          </p:cNvPr>
          <p:cNvSpPr>
            <a:spLocks xmlns:a="http://schemas.openxmlformats.org/drawingml/2006/main" noGrp="1"/>
          </p:cNvSpPr>
          <p:nvPr/>
        </p:nvSpPr>
        <p:spPr>
          <a:xfrm xmlns:a="http://schemas.openxmlformats.org/drawingml/2006/main">
            <a:off x="704850" y="485775"/>
            <a:ext cx="8572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153D50"/>
                </a:solidFill>
                <a:latin typeface="Meiryo"/>
                <a:ea typeface="Meiryo"/>
                <a:cs typeface="Meiryo"/>
              </a:defRPr>
            </a:defPPr>
          </a:lstStyle>
          <a:p xmlns:a="http://schemas.openxmlformats.org/drawingml/2006/main">
            <a:pPr algn="l">
              <a:defRPr sz="2175" b="0">
                <a:solidFill>
                  <a:srgbClr val="153D50"/>
                </a:solidFill>
                <a:latin typeface="Meiryo"/>
                <a:ea typeface="Meiryo"/>
                <a:cs typeface="Meiryo"/>
              </a:defRPr>
            </a:pPr>
            <a:r>
              <a:rPr sz="2175" b="0">
                <a:solidFill>
                  <a:srgbClr val="153D50"/>
                </a:solidFill>
                <a:latin typeface="Meiryo"/>
                <a:ea typeface="Meiryo"/>
                <a:cs typeface="Meiryo"/>
              </a:rPr>
              <a:t>測量学 第3回</a:t>
            </a:r>
          </a:p>
        </p:txBody>
      </p:sp>
      <p:sp>
        <p:nvSpPr>
          <p:cNvPr id="3" name="本文1">
            <a:extLst xmlns:a="http://schemas.openxmlformats.org/drawingml/2006/main">
              <a:ext uri="{FF2B5EF4-FFF2-40B4-BE49-F238E27FC236}">
                <a16:creationId xmlns:a16="http://schemas.microsoft.com/office/drawing/2014/main" id="{974A598F-B159-473D-BBCE-FFD46A902132}"/>
              </a:ext>
            </a:extLst>
          </p:cNvPr>
          <p:cNvSpPr>
            <a:spLocks xmlns:a="http://schemas.openxmlformats.org/drawingml/2006/main" noGrp="1"/>
          </p:cNvSpPr>
          <p:nvPr/>
        </p:nvSpPr>
        <p:spPr>
          <a:xfrm xmlns:a="http://schemas.openxmlformats.org/drawingml/2006/main">
            <a:off x="666750" y="1000125"/>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5700" b="1">
                <a:solidFill>
                  <a:srgbClr val="153D50"/>
                </a:solidFill>
                <a:latin typeface="Meiryo"/>
                <a:ea typeface="Meiryo"/>
                <a:cs typeface="Meiryo"/>
              </a:defRPr>
            </a:defPPr>
          </a:lstStyle>
          <a:p xmlns:a="http://schemas.openxmlformats.org/drawingml/2006/main">
            <a:pPr algn="l">
              <a:defRPr sz="5700" b="1">
                <a:solidFill>
                  <a:srgbClr val="153D50"/>
                </a:solidFill>
                <a:latin typeface="Meiryo"/>
                <a:ea typeface="Meiryo"/>
                <a:cs typeface="Meiryo"/>
              </a:defRPr>
            </a:pPr>
            <a:r>
              <a:rPr sz="5700" b="1">
                <a:solidFill>
                  <a:srgbClr val="153D50"/>
                </a:solidFill>
                <a:latin typeface="Meiryo"/>
                <a:ea typeface="Meiryo"/>
                <a:cs typeface="Meiryo"/>
              </a:rPr>
              <a:t>測量の座標</a:t>
            </a:r>
          </a:p>
        </p:txBody>
      </p:sp>
      <p:sp>
        <p:nvSpPr>
          <p:cNvPr id="4" name="本文2">
            <a:extLst xmlns:a="http://schemas.openxmlformats.org/drawingml/2006/main">
              <a:ext uri="{FF2B5EF4-FFF2-40B4-BE49-F238E27FC236}">
                <a16:creationId xmlns:a16="http://schemas.microsoft.com/office/drawing/2014/main" id="{9C68BF27-D717-42DE-922B-6D8373291852}"/>
              </a:ext>
            </a:extLst>
          </p:cNvPr>
          <p:cNvSpPr>
            <a:spLocks xmlns:a="http://schemas.openxmlformats.org/drawingml/2006/main" noGrp="1"/>
          </p:cNvSpPr>
          <p:nvPr/>
        </p:nvSpPr>
        <p:spPr>
          <a:xfrm xmlns:a="http://schemas.openxmlformats.org/drawingml/2006/main">
            <a:off x="723900" y="1876425"/>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0">
                <a:solidFill>
                  <a:srgbClr val="153D50"/>
                </a:solidFill>
                <a:latin typeface="Meiryo"/>
                <a:ea typeface="Meiryo"/>
                <a:cs typeface="Meiryo"/>
              </a:defRPr>
            </a:defPPr>
          </a:lstStyle>
          <a:p xmlns:a="http://schemas.openxmlformats.org/drawingml/2006/main">
            <a:pPr algn="l">
              <a:defRPr sz="2025" b="0">
                <a:solidFill>
                  <a:srgbClr val="153D50"/>
                </a:solidFill>
                <a:latin typeface="Meiryo"/>
                <a:ea typeface="Meiryo"/>
                <a:cs typeface="Meiryo"/>
              </a:defRPr>
            </a:pPr>
            <a:r>
              <a:rPr sz="2025" b="0">
                <a:solidFill>
                  <a:srgbClr val="153D50"/>
                </a:solidFill>
                <a:latin typeface="Meiryo"/>
                <a:ea typeface="Meiryo"/>
                <a:cs typeface="Meiryo"/>
              </a:rPr>
              <a:t>位置を表す約束と、距離・角からの座標計算</a:t>
            </a:r>
          </a:p>
        </p:txBody>
      </p:sp>
      <p:sp>
        <p:nvSpPr>
          <p:cNvPr id="5" name="本文3">
            <a:extLst xmlns:a="http://schemas.openxmlformats.org/drawingml/2006/main">
              <a:ext uri="{FF2B5EF4-FFF2-40B4-BE49-F238E27FC236}">
                <a16:creationId xmlns:a16="http://schemas.microsoft.com/office/drawing/2014/main" id="{7366499A-0D98-4644-8C9B-F0DAA7C8D6E1}"/>
              </a:ext>
            </a:extLst>
          </p:cNvPr>
          <p:cNvSpPr>
            <a:spLocks xmlns:a="http://schemas.openxmlformats.org/drawingml/2006/main" noGrp="1"/>
          </p:cNvSpPr>
          <p:nvPr/>
        </p:nvSpPr>
        <p:spPr>
          <a:xfrm xmlns:a="http://schemas.openxmlformats.org/drawingml/2006/main">
            <a:off x="9048750" y="6438900"/>
            <a:ext cx="2571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00" b="0">
                <a:solidFill>
                  <a:srgbClr val="153D50"/>
                </a:solidFill>
                <a:latin typeface="Meiryo"/>
                <a:ea typeface="Meiryo"/>
                <a:cs typeface="Meiryo"/>
              </a:defRPr>
            </a:defPPr>
          </a:lstStyle>
          <a:p xmlns:a="http://schemas.openxmlformats.org/drawingml/2006/main">
            <a:pPr algn="r">
              <a:defRPr sz="1200" b="0">
                <a:solidFill>
                  <a:srgbClr val="153D50"/>
                </a:solidFill>
                <a:latin typeface="Meiryo"/>
                <a:ea typeface="Meiryo"/>
                <a:cs typeface="Meiryo"/>
              </a:defRPr>
            </a:pPr>
            <a:r>
              <a:rPr sz="1200" b="0">
                <a:solidFill>
                  <a:srgbClr val="153D50"/>
                </a:solidFill>
                <a:latin typeface="Meiryo"/>
                <a:ea typeface="Meiryo"/>
                <a:cs typeface="Meiryo"/>
              </a:rPr>
              <a:t>AI生成の概念イラスト</a:t>
            </a:r>
          </a:p>
        </p:txBody>
      </p:sp>
    </p:spTree>
    <p:extLst>
      <p:ext uri="{BB962C8B-B14F-4D97-AF65-F5344CB8AC3E}">
        <p14:creationId xmlns:p14="http://schemas.microsoft.com/office/powerpoint/2010/main" val="1961265906"/>
      </p:ext>
    </p:extLst>
  </p:cSld>
</p:sld>
</file>

<file path=ppt/slides/slide2.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B150A973-D263-47CA-91A9-B039C21742AC}"/>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3-0</a:t>
            </a:r>
          </a:p>
        </p:txBody>
      </p:sp>
      <p:sp>
        <p:nvSpPr>
          <p:cNvPr id="2" name="本文1">
            <a:extLst xmlns:a="http://schemas.openxmlformats.org/drawingml/2006/main">
              <a:ext uri="{FF2B5EF4-FFF2-40B4-BE49-F238E27FC236}">
                <a16:creationId xmlns:a16="http://schemas.microsoft.com/office/drawing/2014/main" id="{AC110FE1-18A5-487D-BD72-AE8F729E4806}"/>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前回の解答①：平均とばらつき</a:t>
            </a:r>
          </a:p>
        </p:txBody>
      </p:sp>
      <p:sp>
        <p:nvSpPr>
          <p:cNvPr id="3" name="本文2">
            <a:extLst xmlns:a="http://schemas.openxmlformats.org/drawingml/2006/main">
              <a:ext uri="{FF2B5EF4-FFF2-40B4-BE49-F238E27FC236}">
                <a16:creationId xmlns:a16="http://schemas.microsoft.com/office/drawing/2014/main" id="{230E44A5-2E7C-4325-B8B3-A0B086F0CD9A}"/>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02</a:t>
            </a:r>
          </a:p>
        </p:txBody>
      </p:sp>
      <p:sp>
        <p:nvSpPr>
          <p:cNvPr id="4" name="本文3">
            <a:extLst xmlns:a="http://schemas.openxmlformats.org/drawingml/2006/main">
              <a:ext uri="{FF2B5EF4-FFF2-40B4-BE49-F238E27FC236}">
                <a16:creationId xmlns:a16="http://schemas.microsoft.com/office/drawing/2014/main" id="{6F868015-0874-4693-90AB-9AE6F78922DB}"/>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平均のばらつきは、1観測のばらつきより小さい。</a:t>
            </a:r>
          </a:p>
        </p:txBody>
      </p:sp>
      <mc:AlternateContent xmlns:mc="http://schemas.openxmlformats.org/markup-compatibility/2006" xmlns:a14="http://schemas.microsoft.com/office/drawing/2010/main">
        <mc:Choice Requires="a14">
          <p:sp>
            <p:nvSpPr>
              <p:cNvPr id="5" name="EQM00001">
                <a:extLst xmlns:a="http://schemas.openxmlformats.org/drawingml/2006/main">
                  <a:ext uri="{FF2B5EF4-FFF2-40B4-BE49-F238E27FC236}">
                    <a16:creationId xmlns:a16="http://schemas.microsoft.com/office/drawing/2014/main" id="{A56BE405-C638-4719-B3B6-B0A318A36050}"/>
                  </a:ext>
                </a:extLst>
              </p:cNvPr>
              <p:cNvSpPr>
                <a:spLocks xmlns:a="http://schemas.openxmlformats.org/drawingml/2006/main" noGrp="1"/>
              </p:cNvSpPr>
              <p:nvPr/>
            </p:nvSpPr>
            <p:spPr>
              <a:xfrm xmlns:a="http://schemas.openxmlformats.org/drawingml/2006/main">
                <a:off x="647700" y="1466850"/>
                <a:ext cx="108966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475" b="0">
                    <a:solidFill>
                      <a:srgbClr val="153D50"/>
                    </a:solidFill>
                    <a:latin typeface="Meiryo"/>
                    <a:ea typeface="Meiryo"/>
                    <a:cs typeface="Meiryo"/>
                  </a:defRPr>
                </a:defPPr>
              </a:lstStyle>
              <a:p xmlns:a="http://schemas.openxmlformats.org/drawingml/2006/main">
                <a:pPr algn="ctr">
                  <a:defRPr sz="2475"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acc>
                        <m:accPr>
                          <m:chr m:val="ˉ"/>
                        </m:accPr>
                        <m:e>
                          <m:r>
                            <a:rPr sz="2475" b="0" lang="en-US">
                              <a:solidFill>
                                <a:srgbClr val="153D50"/>
                              </a:solidFill>
                              <a:latin typeface="Cambria Math"/>
                              <a:ea typeface="Meiryo"/>
                            </a:rPr>
                            <m:t>x</m:t>
                          </m:r>
                        </m:e>
                      </m:acc>
                      <m:r>
                        <a:rPr sz="2475" b="0" lang="en-US">
                          <a:solidFill>
                            <a:srgbClr val="153D50"/>
                          </a:solidFill>
                          <a:latin typeface="Cambria Math"/>
                          <a:ea typeface="Meiryo"/>
                        </a:rPr>
                        <m:t>=</m:t>
                      </m:r>
                      <m:f>
                        <m:fPr>
                          <m:type m:val="bar"/>
                        </m:fPr>
                        <m:num>
                          <m:nary>
                            <m:naryPr>
                              <m:chr m:val="∑"/>
                              <m:limLoc m:val="undOvr"/>
                              <m:grow m:val="1"/>
                              <m:subHide m:val="off"/>
                              <m:supHide m:val="off"/>
                            </m:naryPr>
                            <m:sub>
                              <m:r>
                                <a:rPr sz="2475" b="0" lang="en-US">
                                  <a:solidFill>
                                    <a:srgbClr val="153D50"/>
                                  </a:solidFill>
                                  <a:latin typeface="Cambria Math"/>
                                  <a:ea typeface="Meiryo"/>
                                </a:rPr>
                                <m:t>i=1</m:t>
                              </m:r>
                            </m:sub>
                            <m:sup>
                              <m:r>
                                <a:rPr sz="2475" b="0" lang="en-US">
                                  <a:solidFill>
                                    <a:srgbClr val="153D50"/>
                                  </a:solidFill>
                                  <a:latin typeface="Cambria Math"/>
                                  <a:ea typeface="Meiryo"/>
                                </a:rPr>
                                <m:t>6</m:t>
                              </m:r>
                            </m:sup>
                            <m:e>
                              <m:sSub>
                                <m:e>
                                  <m:r>
                                    <a:rPr sz="2475" b="0" lang="en-US">
                                      <a:solidFill>
                                        <a:srgbClr val="153D50"/>
                                      </a:solidFill>
                                      <a:latin typeface="Cambria Math"/>
                                      <a:ea typeface="Meiryo"/>
                                    </a:rPr>
                                    <m:t>x</m:t>
                                  </m:r>
                                </m:e>
                                <m:sub>
                                  <m:r>
                                    <a:rPr sz="2475" b="0" lang="en-US">
                                      <a:solidFill>
                                        <a:srgbClr val="153D50"/>
                                      </a:solidFill>
                                      <a:latin typeface="Cambria Math"/>
                                      <a:ea typeface="Meiryo"/>
                                    </a:rPr>
                                    <m:t>i</m:t>
                                  </m:r>
                                </m:sub>
                              </m:sSub>
                            </m:e>
                          </m:nary>
                        </m:num>
                        <m:den>
                          <m:r>
                            <a:rPr sz="2475" b="0" lang="en-US">
                              <a:solidFill>
                                <a:srgbClr val="153D50"/>
                              </a:solidFill>
                              <a:latin typeface="Cambria Math"/>
                              <a:ea typeface="Meiryo"/>
                            </a:rPr>
                            <m:t>6</m:t>
                          </m:r>
                        </m:den>
                      </m:f>
                      <m:r>
                        <a:rPr sz="2475" b="0" lang="en-US">
                          <a:solidFill>
                            <a:srgbClr val="153D50"/>
                          </a:solidFill>
                          <a:latin typeface="Cambria Math"/>
                          <a:ea typeface="Meiryo"/>
                        </a:rPr>
                        <m:t>=30.006</m:t>
                      </m:r>
                      <m:r>
                        <m:rPr>
                          <m:nor/>
                        </m:rPr>
                        <a:rPr sz="2475" b="0" lang="en-US">
                          <a:solidFill>
                            <a:srgbClr val="153D50"/>
                          </a:solidFill>
                          <a:latin typeface="Cambria Math"/>
                          <a:ea typeface="Meiryo"/>
                        </a:rPr>
                        <m:t> </m:t>
                      </m:r>
                      <m:r>
                        <m:rPr>
                          <m:sty m:val="p"/>
                        </m:rPr>
                        <a:rPr sz="2475" b="0" lang="en-US">
                          <a:solidFill>
                            <a:srgbClr val="153D50"/>
                          </a:solidFill>
                          <a:latin typeface="Cambria Math"/>
                          <a:ea typeface="Meiryo"/>
                        </a:rPr>
                        <m:t>m</m:t>
                      </m:r>
                    </m:oMath>
                  </m:oMathPara>
                </a14:m>
              </a:p>
            </p:txBody>
          </p:sp>
        </mc:Choice>
        <mc:Fallback>
          <p:sp>
            <p:nvSpPr>
              <p:cNvPr id="5" name="EQM00001">
                <a:extLst xmlns:a="http://schemas.openxmlformats.org/drawingml/2006/main">
                  <a:ext uri="{FF2B5EF4-FFF2-40B4-BE49-F238E27FC236}">
                    <a16:creationId xmlns:a16="http://schemas.microsoft.com/office/drawing/2014/main" id="{A56BE405-C638-4719-B3B6-B0A318A36050}"/>
                  </a:ext>
                </a:extLst>
              </p:cNvPr>
              <p:cNvSpPr>
                <a:spLocks xmlns:a="http://schemas.openxmlformats.org/drawingml/2006/main" noGrp="1"/>
              </p:cNvSpPr>
              <p:nvPr/>
            </p:nvSpPr>
            <p:spPr>
              <a:xfrm xmlns:a="http://schemas.openxmlformats.org/drawingml/2006/main">
                <a:off x="647700" y="1466850"/>
                <a:ext cx="108966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475" b="0">
                    <a:solidFill>
                      <a:srgbClr val="153D50"/>
                    </a:solidFill>
                    <a:latin typeface="Meiryo"/>
                    <a:ea typeface="Meiryo"/>
                    <a:cs typeface="Meiryo"/>
                  </a:defRPr>
                </a:defPPr>
              </a:lstStyle>
              <a:p xmlns:a="http://schemas.openxmlformats.org/drawingml/2006/main">
                <a:pPr algn="ctr">
                  <a:defRPr sz="2475" b="0">
                    <a:solidFill>
                      <a:srgbClr val="153D50"/>
                    </a:solidFill>
                    <a:latin typeface="Meiryo"/>
                    <a:ea typeface="Meiryo"/>
                    <a:cs typeface="Meiryo"/>
                  </a:defRPr>
                </a:pPr>
                <a:r>
                  <a:rPr sz="2475" b="0">
                    <a:solidFill>
                      <a:srgbClr val="153D50"/>
                    </a:solidFill>
                    <a:latin typeface="Meiryo"/>
                    <a:ea typeface="Meiryo"/>
                    <a:cs typeface="Meiryo"/>
                  </a:rPr>
                  <a:t>\bar{x}=\frac{\sum_{i=1}^{6}x_i}{6}=30.006\ \mathrm{m}</a:t>
                </a:r>
              </a:p>
            </p:txBody>
          </p:sp>
        </mc:Fallback>
      </mc:AlternateContent>
      <mc:AlternateContent xmlns:mc="http://schemas.openxmlformats.org/markup-compatibility/2006" xmlns:a14="http://schemas.microsoft.com/office/drawing/2010/main">
        <mc:Choice Requires="a14">
          <p:graphicFrame>
            <p:nvGraphicFramePr>
              <p:cNvPr id="6" name="">
                <a:extLst xmlns:a="http://schemas.openxmlformats.org/drawingml/2006/main">
                  <a:ext uri="{FF2B5EF4-FFF2-40B4-BE49-F238E27FC236}">
                    <a16:creationId xmlns:a16="http://schemas.microsoft.com/office/drawing/2014/main" id="{33864B0A-C9DE-40BA-837A-3E57EFD4D8CE}"/>
                  </a:ext>
                </a:extLst>
              </p:cNvPr>
              <p:cNvGraphicFramePr/>
              <p:nvPr/>
            </p:nvGraphicFramePr>
            <p:xfrm>
              <a:off xmlns:a="http://schemas.openxmlformats.org/drawingml/2006/main" x="647700" y="2800350"/>
              <a:ext xmlns:a="http://schemas.openxmlformats.org/drawingml/2006/main" cx="10896600" cy="3040856"/>
            </p:xfrm>
            <a:graphic xmlns:a="http://schemas.openxmlformats.org/drawingml/2006/main">
              <a:graphicData uri="http://schemas.openxmlformats.org/drawingml/2006/table">
                <a:tbl>
                  <a:tblPr/>
                  <a:tblGrid>
                    <a:gridCol w="4031742"/>
                    <a:gridCol w="6864858"/>
                  </a:tblGrid>
                  <a:tr h="554831">
                    <a:tc>
                      <a:txBody>
                        <a:bodyPr lIns="114300" tIns="114300" rIns="114300" bIns="114300">
                          <a:noAutofit/>
                        </a:bodyPr>
                        <a:lstStyle/>
                        <a:p>
                          <a:pPr algn="l"/>
                          <a:r>
                            <a:rPr sz="1875" b="1">
                              <a:solidFill>
                                <a:srgbClr val="FFFFFF"/>
                              </a:solidFill>
                              <a:latin typeface="Meiryo"/>
                              <a:ea typeface="Meiryo"/>
                              <a:cs typeface="Meiryo"/>
                            </a:rPr>
                            <a:t>確認する量</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1875" b="1">
                              <a:solidFill>
                                <a:srgbClr val="FFFFFF"/>
                              </a:solidFill>
                              <a:latin typeface="Meiryo"/>
                              <a:ea typeface="Meiryo"/>
                              <a:cs typeface="Meiryo"/>
                            </a:rPr>
                            <a:t>計算結果</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54831">
                    <a:tc>
                      <a:txBody>
                        <a:bodyPr lIns="114300" tIns="114300" rIns="114300" bIns="114300">
                          <a:noAutofit/>
                        </a:bodyPr>
                        <a:lstStyle/>
                        <a:p>
                          <a:pPr algn="l"/>
                          <a:r>
                            <a:rPr sz="1875" b="0">
                              <a:solidFill>
                                <a:srgbClr val="213C4B"/>
                              </a:solidFill>
                              <a:latin typeface="Meiryo"/>
                              <a:ea typeface="Meiryo"/>
                              <a:cs typeface="Meiryo"/>
                            </a:rPr>
                            <a:t>残差（mm）</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1875" b="0">
                              <a:solidFill>
                                <a:srgbClr val="213C4B"/>
                              </a:solidFill>
                              <a:latin typeface="Meiryo"/>
                              <a:ea typeface="Meiryo"/>
                              <a:cs typeface="Meiryo"/>
                            </a:rPr>
                            <a:t>−3, −2, −1, +1, +2, +3</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54831">
                    <a:tc>
                      <a:txBody>
                        <a:bodyPr lIns="114300" tIns="114300" rIns="114300" bIns="114300">
                          <a:noAutofit/>
                        </a:bodyPr>
                        <a:lstStyle/>
                        <a:p>
                          <a:pPr algn="l"/>
                          <a:r>
                            <a:rPr sz="1875" b="0">
                              <a:solidFill>
                                <a:srgbClr val="213C4B"/>
                              </a:solidFill>
                              <a:latin typeface="Meiryo"/>
                              <a:ea typeface="Meiryo"/>
                              <a:cs typeface="Meiryo"/>
                            </a:rPr>
                            <a:t>残差の和・二乗和</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r>
                                <a:rPr sz="1875" b="0" lang="en-US">
                                  <a:solidFill>
                                    <a:srgbClr val="213C4B"/>
                                  </a:solidFill>
                                  <a:latin typeface="Cambria Math"/>
                                  <a:ea typeface="Meiryo"/>
                                </a:rPr>
                                <m:t>∑</m:t>
                              </m:r>
                              <m:sSub>
                                <m:e>
                                  <m:r>
                                    <a:rPr sz="1875" b="0" lang="en-US">
                                      <a:solidFill>
                                        <a:srgbClr val="213C4B"/>
                                      </a:solidFill>
                                      <a:latin typeface="Cambria Math"/>
                                      <a:ea typeface="Meiryo"/>
                                    </a:rPr>
                                    <m:t>v</m:t>
                                  </m:r>
                                </m:e>
                                <m:sub>
                                  <m:r>
                                    <a:rPr sz="1875" b="0" lang="en-US">
                                      <a:solidFill>
                                        <a:srgbClr val="213C4B"/>
                                      </a:solidFill>
                                      <a:latin typeface="Cambria Math"/>
                                      <a:ea typeface="Meiryo"/>
                                    </a:rPr>
                                    <m:t>i</m:t>
                                  </m:r>
                                </m:sub>
                              </m:sSub>
                              <m:r>
                                <a:rPr sz="1875" b="0" lang="en-US">
                                  <a:solidFill>
                                    <a:srgbClr val="213C4B"/>
                                  </a:solidFill>
                                  <a:latin typeface="Cambria Math"/>
                                  <a:ea typeface="Meiryo"/>
                                </a:rPr>
                                <m:t>=0</m:t>
                              </m:r>
                            </m:oMath>
                          </a14:m>
                          <a:r>
                            <a:rPr sz="1875" b="0">
                              <a:solidFill>
                                <a:srgbClr val="213C4B"/>
                              </a:solidFill>
                              <a:latin typeface="Meiryo"/>
                              <a:ea typeface="Meiryo"/>
                              <a:cs typeface="Meiryo"/>
                            </a:rPr>
                            <a:t>、</a:t>
                          </a:r>
                          <a14:m xmlns:m="http://schemas.openxmlformats.org/officeDocument/2006/math">
                            <m:oMath xmlns:mml="http://www.w3.org/1998/Math/MathML">
                              <m:r>
                                <a:rPr sz="1875" b="0" lang="en-US">
                                  <a:solidFill>
                                    <a:srgbClr val="213C4B"/>
                                  </a:solidFill>
                                  <a:latin typeface="Cambria Math"/>
                                  <a:ea typeface="Meiryo"/>
                                </a:rPr>
                                <m:t>∑</m:t>
                              </m:r>
                              <m:sSubSup>
                                <m:e>
                                  <m:r>
                                    <a:rPr sz="1875" b="0" lang="en-US">
                                      <a:solidFill>
                                        <a:srgbClr val="213C4B"/>
                                      </a:solidFill>
                                      <a:latin typeface="Cambria Math"/>
                                      <a:ea typeface="Meiryo"/>
                                    </a:rPr>
                                    <m:t>v</m:t>
                                  </m:r>
                                </m:e>
                                <m:sub>
                                  <m:r>
                                    <a:rPr sz="1875" b="0" lang="en-US">
                                      <a:solidFill>
                                        <a:srgbClr val="213C4B"/>
                                      </a:solidFill>
                                      <a:latin typeface="Cambria Math"/>
                                      <a:ea typeface="Meiryo"/>
                                    </a:rPr>
                                    <m:t>i</m:t>
                                  </m:r>
                                </m:sub>
                                <m:sup>
                                  <m:r>
                                    <a:rPr sz="1875" b="0" lang="en-US">
                                      <a:solidFill>
                                        <a:srgbClr val="213C4B"/>
                                      </a:solidFill>
                                      <a:latin typeface="Cambria Math"/>
                                      <a:ea typeface="Meiryo"/>
                                    </a:rPr>
                                    <m:t>2</m:t>
                                  </m:r>
                                </m:sup>
                              </m:sSubSup>
                              <m:r>
                                <a:rPr sz="1875" b="0" lang="en-US">
                                  <a:solidFill>
                                    <a:srgbClr val="213C4B"/>
                                  </a:solidFill>
                                  <a:latin typeface="Cambria Math"/>
                                  <a:ea typeface="Meiryo"/>
                                </a:rPr>
                                <m:t>=28</m:t>
                              </m:r>
                              <m:r>
                                <m:rPr>
                                  <m:nor/>
                                </m:rPr>
                                <a:rPr sz="1875" b="0" lang="en-US">
                                  <a:solidFill>
                                    <a:srgbClr val="213C4B"/>
                                  </a:solidFill>
                                  <a:latin typeface="Cambria Math"/>
                                  <a:ea typeface="Meiryo"/>
                                </a:rPr>
                                <m:t> </m:t>
                              </m:r>
                              <m:sSup>
                                <m:e>
                                  <m:r>
                                    <m:rPr>
                                      <m:sty m:val="p"/>
                                    </m:rPr>
                                    <a:rPr sz="1875" b="0" lang="en-US">
                                      <a:solidFill>
                                        <a:srgbClr val="213C4B"/>
                                      </a:solidFill>
                                      <a:latin typeface="Cambria Math"/>
                                      <a:ea typeface="Meiryo"/>
                                    </a:rPr>
                                    <m:t>mm</m:t>
                                  </m:r>
                                </m:e>
                                <m:sup>
                                  <m:r>
                                    <a:rPr sz="1875" b="0" lang="en-US">
                                      <a:solidFill>
                                        <a:srgbClr val="213C4B"/>
                                      </a:solidFill>
                                      <a:latin typeface="Cambria Math"/>
                                      <a:ea typeface="Meiryo"/>
                                    </a:rPr>
                                    <m:t>2</m:t>
                                  </m:r>
                                </m:sup>
                              </m:sSup>
                            </m:oMath>
                          </a14:m>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688181">
                    <a:tc>
                      <a:txBody>
                        <a:bodyPr lIns="114300" tIns="114300" rIns="114300" bIns="114300">
                          <a:noAutofit/>
                        </a:bodyPr>
                        <a:lstStyle/>
                        <a:p>
                          <a:pPr algn="l"/>
                          <a:r>
                            <a:rPr sz="1875" b="0">
                              <a:solidFill>
                                <a:srgbClr val="213C4B"/>
                              </a:solidFill>
                              <a:latin typeface="Meiryo"/>
                              <a:ea typeface="Meiryo"/>
                              <a:cs typeface="Meiryo"/>
                            </a:rPr>
                            <a:t>1観測の標準偏差</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r>
                                <a:rPr sz="1875" b="0" lang="en-US">
                                  <a:solidFill>
                                    <a:srgbClr val="213C4B"/>
                                  </a:solidFill>
                                  <a:latin typeface="Cambria Math"/>
                                  <a:ea typeface="Meiryo"/>
                                </a:rPr>
                                <m:t>σ=</m:t>
                              </m:r>
                              <m:rad>
                                <m:radPr>
                                  <m:degHide m:val="on"/>
                                </m:radPr>
                                <m:deg/>
                                <m:e>
                                  <m:f>
                                    <m:fPr>
                                      <m:type m:val="bar"/>
                                    </m:fPr>
                                    <m:num>
                                      <m:r>
                                        <a:rPr sz="1875" b="0" lang="en-US">
                                          <a:solidFill>
                                            <a:srgbClr val="213C4B"/>
                                          </a:solidFill>
                                          <a:latin typeface="Cambria Math"/>
                                          <a:ea typeface="Meiryo"/>
                                        </a:rPr>
                                        <m:t>28</m:t>
                                      </m:r>
                                    </m:num>
                                    <m:den>
                                      <m:r>
                                        <a:rPr sz="1875" b="0" lang="en-US">
                                          <a:solidFill>
                                            <a:srgbClr val="213C4B"/>
                                          </a:solidFill>
                                          <a:latin typeface="Cambria Math"/>
                                          <a:ea typeface="Meiryo"/>
                                        </a:rPr>
                                        <m:t>6−1</m:t>
                                      </m:r>
                                    </m:den>
                                  </m:f>
                                </m:e>
                              </m:rad>
                              <m:r>
                                <a:rPr sz="1875" b="0" lang="en-US">
                                  <a:solidFill>
                                    <a:srgbClr val="213C4B"/>
                                  </a:solidFill>
                                  <a:latin typeface="Cambria Math"/>
                                  <a:ea typeface="Meiryo"/>
                                </a:rPr>
                                <m:t>=2.37</m:t>
                              </m:r>
                              <m:r>
                                <m:rPr>
                                  <m:nor/>
                                </m:rPr>
                                <a:rPr sz="1875" b="0" lang="en-US">
                                  <a:solidFill>
                                    <a:srgbClr val="213C4B"/>
                                  </a:solidFill>
                                  <a:latin typeface="Cambria Math"/>
                                  <a:ea typeface="Meiryo"/>
                                </a:rPr>
                                <m:t> </m:t>
                              </m:r>
                              <m:r>
                                <m:rPr>
                                  <m:sty m:val="p"/>
                                </m:rPr>
                                <a:rPr sz="1875" b="0" lang="en-US">
                                  <a:solidFill>
                                    <a:srgbClr val="213C4B"/>
                                  </a:solidFill>
                                  <a:latin typeface="Cambria Math"/>
                                  <a:ea typeface="Meiryo"/>
                                </a:rPr>
                                <m:t>mm</m:t>
                              </m:r>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688181">
                    <a:tc>
                      <a:txBody>
                        <a:bodyPr lIns="114300" tIns="114300" rIns="114300" bIns="114300">
                          <a:noAutofit/>
                        </a:bodyPr>
                        <a:lstStyle/>
                        <a:p>
                          <a:pPr algn="l"/>
                          <a:r>
                            <a:rPr sz="1875" b="0">
                              <a:solidFill>
                                <a:srgbClr val="213C4B"/>
                              </a:solidFill>
                              <a:latin typeface="Meiryo"/>
                              <a:ea typeface="Meiryo"/>
                              <a:cs typeface="Meiryo"/>
                            </a:rPr>
                            <a:t>平均の標準偏差</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sSub>
                                <m:e>
                                  <m:r>
                                    <a:rPr sz="1875" b="0" lang="en-US">
                                      <a:solidFill>
                                        <a:srgbClr val="213C4B"/>
                                      </a:solidFill>
                                      <a:latin typeface="Cambria Math"/>
                                      <a:ea typeface="Meiryo"/>
                                    </a:rPr>
                                    <m:t>σ</m:t>
                                  </m:r>
                                </m:e>
                                <m:sub>
                                  <m:acc>
                                    <m:accPr>
                                      <m:chr m:val="ˉ"/>
                                    </m:accPr>
                                    <m:e>
                                      <m:r>
                                        <a:rPr sz="1875" b="0" lang="en-US">
                                          <a:solidFill>
                                            <a:srgbClr val="213C4B"/>
                                          </a:solidFill>
                                          <a:latin typeface="Cambria Math"/>
                                          <a:ea typeface="Meiryo"/>
                                        </a:rPr>
                                        <m:t>x</m:t>
                                      </m:r>
                                    </m:e>
                                  </m:acc>
                                </m:sub>
                              </m:sSub>
                              <m:r>
                                <a:rPr sz="1875" b="0" lang="en-US">
                                  <a:solidFill>
                                    <a:srgbClr val="213C4B"/>
                                  </a:solidFill>
                                  <a:latin typeface="Cambria Math"/>
                                  <a:ea typeface="Meiryo"/>
                                </a:rPr>
                                <m:t>=</m:t>
                              </m:r>
                              <m:f>
                                <m:fPr>
                                  <m:type m:val="bar"/>
                                </m:fPr>
                                <m:num>
                                  <m:r>
                                    <a:rPr sz="1875" b="0" lang="en-US">
                                      <a:solidFill>
                                        <a:srgbClr val="213C4B"/>
                                      </a:solidFill>
                                      <a:latin typeface="Cambria Math"/>
                                      <a:ea typeface="Meiryo"/>
                                    </a:rPr>
                                    <m:t>σ</m:t>
                                  </m:r>
                                </m:num>
                                <m:den>
                                  <m:rad>
                                    <m:radPr>
                                      <m:degHide m:val="on"/>
                                    </m:radPr>
                                    <m:deg/>
                                    <m:e>
                                      <m:r>
                                        <a:rPr sz="1875" b="0" lang="en-US">
                                          <a:solidFill>
                                            <a:srgbClr val="213C4B"/>
                                          </a:solidFill>
                                          <a:latin typeface="Cambria Math"/>
                                          <a:ea typeface="Meiryo"/>
                                        </a:rPr>
                                        <m:t>6</m:t>
                                      </m:r>
                                    </m:e>
                                  </m:rad>
                                </m:den>
                              </m:f>
                              <m:r>
                                <a:rPr sz="1875" b="0" lang="en-US">
                                  <a:solidFill>
                                    <a:srgbClr val="213C4B"/>
                                  </a:solidFill>
                                  <a:latin typeface="Cambria Math"/>
                                  <a:ea typeface="Meiryo"/>
                                </a:rPr>
                                <m:t>=0.97</m:t>
                              </m:r>
                              <m:r>
                                <m:rPr>
                                  <m:nor/>
                                </m:rPr>
                                <a:rPr sz="1875" b="0" lang="en-US">
                                  <a:solidFill>
                                    <a:srgbClr val="213C4B"/>
                                  </a:solidFill>
                                  <a:latin typeface="Cambria Math"/>
                                  <a:ea typeface="Meiryo"/>
                                </a:rPr>
                                <m:t> </m:t>
                              </m:r>
                              <m:r>
                                <m:rPr>
                                  <m:sty m:val="p"/>
                                </m:rPr>
                                <a:rPr sz="1875" b="0" lang="en-US">
                                  <a:solidFill>
                                    <a:srgbClr val="213C4B"/>
                                  </a:solidFill>
                                  <a:latin typeface="Cambria Math"/>
                                  <a:ea typeface="Meiryo"/>
                                </a:rPr>
                                <m:t>mm</m:t>
                              </m:r>
                            </m:oMath>
                          </a14:m>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Choice>
        <mc:Fallback>
          <p:graphicFrame>
            <p:nvGraphicFramePr>
              <p:cNvPr id="6" name="">
                <a:extLst xmlns:a="http://schemas.openxmlformats.org/drawingml/2006/main">
                  <a:ext uri="{FF2B5EF4-FFF2-40B4-BE49-F238E27FC236}">
                    <a16:creationId xmlns:a16="http://schemas.microsoft.com/office/drawing/2014/main" id="{33864B0A-C9DE-40BA-837A-3E57EFD4D8CE}"/>
                  </a:ext>
                </a:extLst>
              </p:cNvPr>
              <p:cNvGraphicFramePr/>
              <p:nvPr/>
            </p:nvGraphicFramePr>
            <p:xfrm>
              <a:off xmlns:a="http://schemas.openxmlformats.org/drawingml/2006/main" x="647700" y="2800350"/>
              <a:ext xmlns:a="http://schemas.openxmlformats.org/drawingml/2006/main" cx="10896600" cy="3040856"/>
            </p:xfrm>
            <a:graphic xmlns:a="http://schemas.openxmlformats.org/drawingml/2006/main">
              <a:graphicData uri="http://schemas.openxmlformats.org/drawingml/2006/table">
                <a:tbl>
                  <a:tblPr/>
                  <a:tblGrid>
                    <a:gridCol w="4031742"/>
                    <a:gridCol w="6864858"/>
                  </a:tblGrid>
                  <a:tr h="554831">
                    <a:tc>
                      <a:txBody>
                        <a:bodyPr lIns="114300" tIns="114300" rIns="114300" bIns="114300">
                          <a:noAutofit/>
                        </a:bodyPr>
                        <a:lstStyle/>
                        <a:p>
                          <a:pPr algn="l"/>
                          <a:r>
                            <a:rPr sz="1875" b="1">
                              <a:solidFill>
                                <a:srgbClr val="FFFFFF"/>
                              </a:solidFill>
                              <a:latin typeface="Meiryo"/>
                              <a:ea typeface="Meiryo"/>
                              <a:cs typeface="Meiryo"/>
                            </a:rPr>
                            <a:t>確認する量</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1875" b="1">
                              <a:solidFill>
                                <a:srgbClr val="FFFFFF"/>
                              </a:solidFill>
                              <a:latin typeface="Meiryo"/>
                              <a:ea typeface="Meiryo"/>
                              <a:cs typeface="Meiryo"/>
                            </a:rPr>
                            <a:t>計算結果</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54831">
                    <a:tc>
                      <a:txBody>
                        <a:bodyPr lIns="114300" tIns="114300" rIns="114300" bIns="114300">
                          <a:noAutofit/>
                        </a:bodyPr>
                        <a:lstStyle/>
                        <a:p>
                          <a:pPr algn="l"/>
                          <a:r>
                            <a:rPr sz="1875" b="0">
                              <a:solidFill>
                                <a:srgbClr val="213C4B"/>
                              </a:solidFill>
                              <a:latin typeface="Meiryo"/>
                              <a:ea typeface="Meiryo"/>
                              <a:cs typeface="Meiryo"/>
                            </a:rPr>
                            <a:t>残差（mm）</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1875" b="0">
                              <a:solidFill>
                                <a:srgbClr val="213C4B"/>
                              </a:solidFill>
                              <a:latin typeface="Meiryo"/>
                              <a:ea typeface="Meiryo"/>
                              <a:cs typeface="Meiryo"/>
                            </a:rPr>
                            <a:t>−3, −2, −1, +1, +2, +3</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54831">
                    <a:tc>
                      <a:txBody>
                        <a:bodyPr lIns="114300" tIns="114300" rIns="114300" bIns="114300">
                          <a:noAutofit/>
                        </a:bodyPr>
                        <a:lstStyle/>
                        <a:p>
                          <a:pPr algn="l"/>
                          <a:r>
                            <a:rPr sz="1875" b="0">
                              <a:solidFill>
                                <a:srgbClr val="213C4B"/>
                              </a:solidFill>
                              <a:latin typeface="Meiryo"/>
                              <a:ea typeface="Meiryo"/>
                              <a:cs typeface="Meiryo"/>
                            </a:rPr>
                            <a:t>残差の和・二乗和</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1875" b="0">
                              <a:solidFill>
                                <a:srgbClr val="213C4B"/>
                              </a:solidFill>
                              <a:latin typeface="Cambria Math"/>
                              <a:ea typeface="Cambria Math"/>
                              <a:cs typeface="Cambria Math"/>
                            </a:rPr>
                            <a:t>\sum v_i=0</a:t>
                          </a:r>
                          <a:r>
                            <a:rPr sz="1875" b="0">
                              <a:solidFill>
                                <a:srgbClr val="213C4B"/>
                              </a:solidFill>
                              <a:latin typeface="Meiryo"/>
                              <a:ea typeface="Meiryo"/>
                              <a:cs typeface="Meiryo"/>
                            </a:rPr>
                            <a:t>、</a:t>
                          </a:r>
                          <a:r>
                            <a:rPr sz="1875" b="0">
                              <a:solidFill>
                                <a:srgbClr val="213C4B"/>
                              </a:solidFill>
                              <a:latin typeface="Cambria Math"/>
                              <a:ea typeface="Cambria Math"/>
                              <a:cs typeface="Cambria Math"/>
                            </a:rPr>
                            <a:t>\sum v_i^2=28\ \mathrm{mm}^2</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688181">
                    <a:tc>
                      <a:txBody>
                        <a:bodyPr lIns="114300" tIns="114300" rIns="114300" bIns="114300">
                          <a:noAutofit/>
                        </a:bodyPr>
                        <a:lstStyle/>
                        <a:p>
                          <a:pPr algn="l"/>
                          <a:r>
                            <a:rPr sz="1875" b="0">
                              <a:solidFill>
                                <a:srgbClr val="213C4B"/>
                              </a:solidFill>
                              <a:latin typeface="Meiryo"/>
                              <a:ea typeface="Meiryo"/>
                              <a:cs typeface="Meiryo"/>
                            </a:rPr>
                            <a:t>1観測の標準偏差</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1875" b="0">
                              <a:solidFill>
                                <a:srgbClr val="213C4B"/>
                              </a:solidFill>
                              <a:latin typeface="Cambria Math"/>
                              <a:ea typeface="Cambria Math"/>
                              <a:cs typeface="Cambria Math"/>
                            </a:rPr>
                            <a:t>\sigma=\sqrt{\frac{28}{6-1}}=2.37\ \mathrm{mm}</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688181">
                    <a:tc>
                      <a:txBody>
                        <a:bodyPr lIns="114300" tIns="114300" rIns="114300" bIns="114300">
                          <a:noAutofit/>
                        </a:bodyPr>
                        <a:lstStyle/>
                        <a:p>
                          <a:pPr algn="l"/>
                          <a:r>
                            <a:rPr sz="1875" b="0">
                              <a:solidFill>
                                <a:srgbClr val="213C4B"/>
                              </a:solidFill>
                              <a:latin typeface="Meiryo"/>
                              <a:ea typeface="Meiryo"/>
                              <a:cs typeface="Meiryo"/>
                            </a:rPr>
                            <a:t>平均の標準偏差</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1875" b="0">
                              <a:solidFill>
                                <a:srgbClr val="213C4B"/>
                              </a:solidFill>
                              <a:latin typeface="Cambria Math"/>
                              <a:ea typeface="Cambria Math"/>
                              <a:cs typeface="Cambria Math"/>
                            </a:rPr>
                            <a:t>\sigma_{\bar{x}}=\frac{\sigma}{\sqrt{6}}=0.97\ \mathrm{mm}</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Fallback>
      </mc:AlternateContent>
    </p:spTree>
    <p:extLst>
      <p:ext uri="{BB962C8B-B14F-4D97-AF65-F5344CB8AC3E}">
        <p14:creationId xmlns:p14="http://schemas.microsoft.com/office/powerpoint/2010/main" val="795088622"/>
      </p:ext>
    </p:extLst>
  </p:cSld>
</p:sld>
</file>

<file path=ppt/slides/slide3.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3E7D154D-5244-479C-8762-756F187D92F4}"/>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3-0</a:t>
            </a:r>
          </a:p>
        </p:txBody>
      </p:sp>
      <p:sp>
        <p:nvSpPr>
          <p:cNvPr id="2" name="本文1">
            <a:extLst xmlns:a="http://schemas.openxmlformats.org/drawingml/2006/main">
              <a:ext uri="{FF2B5EF4-FFF2-40B4-BE49-F238E27FC236}">
                <a16:creationId xmlns:a16="http://schemas.microsoft.com/office/drawing/2014/main" id="{48F522D2-B59D-475C-9B0D-FEF52D061F77}"/>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前回の解答②：重み付き平均</a:t>
            </a:r>
          </a:p>
        </p:txBody>
      </p:sp>
      <p:sp>
        <p:nvSpPr>
          <p:cNvPr id="3" name="本文2">
            <a:extLst xmlns:a="http://schemas.openxmlformats.org/drawingml/2006/main">
              <a:ext uri="{FF2B5EF4-FFF2-40B4-BE49-F238E27FC236}">
                <a16:creationId xmlns:a16="http://schemas.microsoft.com/office/drawing/2014/main" id="{7E7C433B-8FCE-4B5D-8739-3990E6F0F60C}"/>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03</a:t>
            </a:r>
          </a:p>
        </p:txBody>
      </p:sp>
      <p:sp>
        <p:nvSpPr>
          <p:cNvPr id="4" name="本文3">
            <a:extLst xmlns:a="http://schemas.openxmlformats.org/drawingml/2006/main">
              <a:ext uri="{FF2B5EF4-FFF2-40B4-BE49-F238E27FC236}">
                <a16:creationId xmlns:a16="http://schemas.microsoft.com/office/drawing/2014/main" id="{9E937076-F8B9-4680-83B6-87AE6D12F7F6}"/>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確認するのは「重み付き」の残差和。</a:t>
            </a:r>
          </a:p>
        </p:txBody>
      </p:sp>
      <mc:AlternateContent xmlns:mc="http://schemas.openxmlformats.org/markup-compatibility/2006" xmlns:a14="http://schemas.microsoft.com/office/drawing/2010/main">
        <mc:Choice Requires="a14">
          <p:sp>
            <p:nvSpPr>
              <p:cNvPr id="5" name="EQM00006">
                <a:extLst xmlns:a="http://schemas.openxmlformats.org/drawingml/2006/main">
                  <a:ext uri="{FF2B5EF4-FFF2-40B4-BE49-F238E27FC236}">
                    <a16:creationId xmlns:a16="http://schemas.microsoft.com/office/drawing/2014/main" id="{4F87B6C2-1C57-4F4A-8895-D45E128F091A}"/>
                  </a:ext>
                </a:extLst>
              </p:cNvPr>
              <p:cNvSpPr>
                <a:spLocks xmlns:a="http://schemas.openxmlformats.org/drawingml/2006/main" noGrp="1"/>
              </p:cNvSpPr>
              <p:nvPr/>
            </p:nvSpPr>
            <p:spPr>
              <a:xfrm xmlns:a="http://schemas.openxmlformats.org/drawingml/2006/main">
                <a:off x="647700" y="1466850"/>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sSub>
                        <m:e>
                          <m:acc>
                            <m:accPr>
                              <m:chr m:val="ˉ"/>
                            </m:accPr>
                            <m:e>
                              <m:r>
                                <a:rPr sz="2700" b="0" lang="en-US">
                                  <a:solidFill>
                                    <a:srgbClr val="153D50"/>
                                  </a:solidFill>
                                  <a:latin typeface="Cambria Math"/>
                                  <a:ea typeface="Meiryo"/>
                                </a:rPr>
                                <m:t>x</m:t>
                              </m:r>
                            </m:e>
                          </m:acc>
                        </m:e>
                        <m:sub>
                          <m:r>
                            <a:rPr sz="2700" b="0" lang="en-US">
                              <a:solidFill>
                                <a:srgbClr val="153D50"/>
                              </a:solidFill>
                              <a:latin typeface="Cambria Math"/>
                              <a:ea typeface="Meiryo"/>
                            </a:rPr>
                            <m:t>w</m:t>
                          </m:r>
                        </m:sub>
                      </m:sSub>
                      <m:r>
                        <a:rPr sz="2700" b="0" lang="en-US">
                          <a:solidFill>
                            <a:srgbClr val="153D50"/>
                          </a:solidFill>
                          <a:latin typeface="Cambria Math"/>
                          <a:ea typeface="Meiryo"/>
                        </a:rPr>
                        <m:t>=</m:t>
                      </m:r>
                      <m:f>
                        <m:fPr>
                          <m:type m:val="bar"/>
                        </m:fPr>
                        <m:num>
                          <m:r>
                            <a:rPr sz="2700" b="0" lang="en-US">
                              <a:solidFill>
                                <a:srgbClr val="153D50"/>
                              </a:solidFill>
                              <a:latin typeface="Cambria Math"/>
                              <a:ea typeface="Meiryo"/>
                            </a:rPr>
                            <m:t>1×80.000+4×80.015</m:t>
                          </m:r>
                        </m:num>
                        <m:den>
                          <m:r>
                            <a:rPr sz="2700" b="0" lang="en-US">
                              <a:solidFill>
                                <a:srgbClr val="153D50"/>
                              </a:solidFill>
                              <a:latin typeface="Cambria Math"/>
                              <a:ea typeface="Meiryo"/>
                            </a:rPr>
                            <m:t>1+4</m:t>
                          </m:r>
                        </m:den>
                      </m:f>
                      <m:r>
                        <a:rPr sz="2700" b="0" lang="en-US">
                          <a:solidFill>
                            <a:srgbClr val="153D50"/>
                          </a:solidFill>
                          <a:latin typeface="Cambria Math"/>
                          <a:ea typeface="Meiryo"/>
                        </a:rPr>
                        <m:t>=80.012</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oMath>
                  </m:oMathPara>
                </a14:m>
              </a:p>
            </p:txBody>
          </p:sp>
        </mc:Choice>
        <mc:Fallback>
          <p:sp>
            <p:nvSpPr>
              <p:cNvPr id="5" name="EQM00006">
                <a:extLst xmlns:a="http://schemas.openxmlformats.org/drawingml/2006/main">
                  <a:ext uri="{FF2B5EF4-FFF2-40B4-BE49-F238E27FC236}">
                    <a16:creationId xmlns:a16="http://schemas.microsoft.com/office/drawing/2014/main" id="{4F87B6C2-1C57-4F4A-8895-D45E128F091A}"/>
                  </a:ext>
                </a:extLst>
              </p:cNvPr>
              <p:cNvSpPr>
                <a:spLocks xmlns:a="http://schemas.openxmlformats.org/drawingml/2006/main" noGrp="1"/>
              </p:cNvSpPr>
              <p:nvPr/>
            </p:nvSpPr>
            <p:spPr>
              <a:xfrm xmlns:a="http://schemas.openxmlformats.org/drawingml/2006/main">
                <a:off x="647700" y="1466850"/>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\bar{x}_w=\frac{1\times80.000+4\times80.015}{1+4}=80.012\ \mathrm{m}</a:t>
                </a:r>
              </a:p>
            </p:txBody>
          </p:sp>
        </mc:Fallback>
      </mc:AlternateContent>
      <mc:AlternateContent xmlns:mc="http://schemas.openxmlformats.org/markup-compatibility/2006" xmlns:a14="http://schemas.microsoft.com/office/drawing/2010/main">
        <mc:Choice Requires="a14">
          <p:graphicFrame>
            <p:nvGraphicFramePr>
              <p:cNvPr id="6" name="">
                <a:extLst xmlns:a="http://schemas.openxmlformats.org/drawingml/2006/main">
                  <a:ext uri="{FF2B5EF4-FFF2-40B4-BE49-F238E27FC236}">
                    <a16:creationId xmlns:a16="http://schemas.microsoft.com/office/drawing/2014/main" id="{B7AFE42F-D691-4DC1-955A-CD289C748B01}"/>
                  </a:ext>
                </a:extLst>
              </p:cNvPr>
              <p:cNvGraphicFramePr/>
              <p:nvPr/>
            </p:nvGraphicFramePr>
            <p:xfrm>
              <a:off xmlns:a="http://schemas.openxmlformats.org/drawingml/2006/main" x="647700" y="2400300"/>
              <a:ext xmlns:a="http://schemas.openxmlformats.org/drawingml/2006/main" cx="10896600" cy="3248025"/>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確認する量</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計算結果</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残差（mm）</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−12、+3</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重み付き残差の和</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1×(−12)+4×3=0</m:t>
                              </m:r>
                            </m:oMath>
                          </a14:m>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729615">
                    <a:tc>
                      <a:txBody>
                        <a:bodyPr lIns="114300" tIns="114300" rIns="114300" bIns="114300">
                          <a:noAutofit/>
                        </a:bodyPr>
                        <a:lstStyle/>
                        <a:p>
                          <a:pPr algn="l"/>
                          <a:r>
                            <a:rPr sz="2100" b="0">
                              <a:solidFill>
                                <a:srgbClr val="213C4B"/>
                              </a:solidFill>
                              <a:latin typeface="Meiryo"/>
                              <a:ea typeface="Meiryo"/>
                              <a:cs typeface="Meiryo"/>
                            </a:rPr>
                            <a:t>単位重みの標準偏差</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sSub>
                                <m:e>
                                  <m:r>
                                    <a:rPr sz="2100" b="0" lang="en-US">
                                      <a:solidFill>
                                        <a:srgbClr val="213C4B"/>
                                      </a:solidFill>
                                      <a:latin typeface="Cambria Math"/>
                                      <a:ea typeface="Meiryo"/>
                                    </a:rPr>
                                    <m:t>σ</m:t>
                                  </m:r>
                                </m:e>
                                <m:sub>
                                  <m:r>
                                    <a:rPr sz="2100" b="0" lang="en-US">
                                      <a:solidFill>
                                        <a:srgbClr val="213C4B"/>
                                      </a:solidFill>
                                      <a:latin typeface="Cambria Math"/>
                                      <a:ea typeface="Meiryo"/>
                                    </a:rPr>
                                    <m:t>0</m:t>
                                  </m:r>
                                </m:sub>
                              </m:sSub>
                              <m:r>
                                <a:rPr sz="2100" b="0" lang="en-US">
                                  <a:solidFill>
                                    <a:srgbClr val="213C4B"/>
                                  </a:solidFill>
                                  <a:latin typeface="Cambria Math"/>
                                  <a:ea typeface="Meiryo"/>
                                </a:rPr>
                                <m:t>=</m:t>
                              </m:r>
                              <m:rad>
                                <m:radPr>
                                  <m:degHide m:val="on"/>
                                </m:radPr>
                                <m:deg/>
                                <m:e>
                                  <m:f>
                                    <m:fPr>
                                      <m:type m:val="bar"/>
                                    </m:fPr>
                                    <m:num>
                                      <m:r>
                                        <a:rPr sz="2100" b="0" lang="en-US">
                                          <a:solidFill>
                                            <a:srgbClr val="213C4B"/>
                                          </a:solidFill>
                                          <a:latin typeface="Cambria Math"/>
                                          <a:ea typeface="Meiryo"/>
                                        </a:rPr>
                                        <m:t>180</m:t>
                                      </m:r>
                                    </m:num>
                                    <m:den>
                                      <m:r>
                                        <a:rPr sz="2100" b="0" lang="en-US">
                                          <a:solidFill>
                                            <a:srgbClr val="213C4B"/>
                                          </a:solidFill>
                                          <a:latin typeface="Cambria Math"/>
                                          <a:ea typeface="Meiryo"/>
                                        </a:rPr>
                                        <m:t>2−1</m:t>
                                      </m:r>
                                    </m:den>
                                  </m:f>
                                </m:e>
                              </m:rad>
                              <m:r>
                                <a:rPr sz="2100" b="0" lang="en-US">
                                  <a:solidFill>
                                    <a:srgbClr val="213C4B"/>
                                  </a:solidFill>
                                  <a:latin typeface="Cambria Math"/>
                                  <a:ea typeface="Meiryo"/>
                                </a:rPr>
                                <m:t>=13.42</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m:t>
                              </m:r>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729615">
                    <a:tc>
                      <a:txBody>
                        <a:bodyPr lIns="114300" tIns="114300" rIns="114300" bIns="114300">
                          <a:noAutofit/>
                        </a:bodyPr>
                        <a:lstStyle/>
                        <a:p>
                          <a:pPr algn="l"/>
                          <a:r>
                            <a:rPr sz="2100" b="0">
                              <a:solidFill>
                                <a:srgbClr val="213C4B"/>
                              </a:solidFill>
                              <a:latin typeface="Meiryo"/>
                              <a:ea typeface="Meiryo"/>
                              <a:cs typeface="Meiryo"/>
                            </a:rPr>
                            <a:t>平均の標準偏差</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sSub>
                                <m:e>
                                  <m:r>
                                    <a:rPr sz="2100" b="0" lang="en-US">
                                      <a:solidFill>
                                        <a:srgbClr val="213C4B"/>
                                      </a:solidFill>
                                      <a:latin typeface="Cambria Math"/>
                                      <a:ea typeface="Meiryo"/>
                                    </a:rPr>
                                    <m:t>σ</m:t>
                                  </m:r>
                                </m:e>
                                <m:sub>
                                  <m:sSub>
                                    <m:e>
                                      <m:acc>
                                        <m:accPr>
                                          <m:chr m:val="ˉ"/>
                                        </m:accPr>
                                        <m:e>
                                          <m:r>
                                            <a:rPr sz="2100" b="0" lang="en-US">
                                              <a:solidFill>
                                                <a:srgbClr val="213C4B"/>
                                              </a:solidFill>
                                              <a:latin typeface="Cambria Math"/>
                                              <a:ea typeface="Meiryo"/>
                                            </a:rPr>
                                            <m:t>x</m:t>
                                          </m:r>
                                        </m:e>
                                      </m:acc>
                                    </m:e>
                                    <m:sub>
                                      <m:r>
                                        <a:rPr sz="2100" b="0" lang="en-US">
                                          <a:solidFill>
                                            <a:srgbClr val="213C4B"/>
                                          </a:solidFill>
                                          <a:latin typeface="Cambria Math"/>
                                          <a:ea typeface="Meiryo"/>
                                        </a:rPr>
                                        <m:t>w</m:t>
                                      </m:r>
                                    </m:sub>
                                  </m:sSub>
                                </m:sub>
                              </m:sSub>
                              <m:r>
                                <a:rPr sz="2100" b="0" lang="en-US">
                                  <a:solidFill>
                                    <a:srgbClr val="213C4B"/>
                                  </a:solidFill>
                                  <a:latin typeface="Cambria Math"/>
                                  <a:ea typeface="Meiryo"/>
                                </a:rPr>
                                <m:t>=</m:t>
                              </m:r>
                              <m:f>
                                <m:fPr>
                                  <m:type m:val="bar"/>
                                </m:fPr>
                                <m:num>
                                  <m:sSub>
                                    <m:e>
                                      <m:r>
                                        <a:rPr sz="2100" b="0" lang="en-US">
                                          <a:solidFill>
                                            <a:srgbClr val="213C4B"/>
                                          </a:solidFill>
                                          <a:latin typeface="Cambria Math"/>
                                          <a:ea typeface="Meiryo"/>
                                        </a:rPr>
                                        <m:t>σ</m:t>
                                      </m:r>
                                    </m:e>
                                    <m:sub>
                                      <m:r>
                                        <a:rPr sz="2100" b="0" lang="en-US">
                                          <a:solidFill>
                                            <a:srgbClr val="213C4B"/>
                                          </a:solidFill>
                                          <a:latin typeface="Cambria Math"/>
                                          <a:ea typeface="Meiryo"/>
                                        </a:rPr>
                                        <m:t>0</m:t>
                                      </m:r>
                                    </m:sub>
                                  </m:sSub>
                                </m:num>
                                <m:den>
                                  <m:rad>
                                    <m:radPr>
                                      <m:degHide m:val="on"/>
                                    </m:radPr>
                                    <m:deg/>
                                    <m:e>
                                      <m:r>
                                        <a:rPr sz="2100" b="0" lang="en-US">
                                          <a:solidFill>
                                            <a:srgbClr val="213C4B"/>
                                          </a:solidFill>
                                          <a:latin typeface="Cambria Math"/>
                                          <a:ea typeface="Meiryo"/>
                                        </a:rPr>
                                        <m:t>5</m:t>
                                      </m:r>
                                    </m:e>
                                  </m:rad>
                                </m:den>
                              </m:f>
                              <m:r>
                                <a:rPr sz="2100" b="0" lang="en-US">
                                  <a:solidFill>
                                    <a:srgbClr val="213C4B"/>
                                  </a:solidFill>
                                  <a:latin typeface="Cambria Math"/>
                                  <a:ea typeface="Meiryo"/>
                                </a:rPr>
                                <m:t>=6.00</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m:t>
                              </m:r>
                            </m:oMath>
                          </a14:m>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Choice>
        <mc:Fallback>
          <p:graphicFrame>
            <p:nvGraphicFramePr>
              <p:cNvPr id="6" name="">
                <a:extLst xmlns:a="http://schemas.openxmlformats.org/drawingml/2006/main">
                  <a:ext uri="{FF2B5EF4-FFF2-40B4-BE49-F238E27FC236}">
                    <a16:creationId xmlns:a16="http://schemas.microsoft.com/office/drawing/2014/main" id="{B7AFE42F-D691-4DC1-955A-CD289C748B01}"/>
                  </a:ext>
                </a:extLst>
              </p:cNvPr>
              <p:cNvGraphicFramePr/>
              <p:nvPr/>
            </p:nvGraphicFramePr>
            <p:xfrm>
              <a:off xmlns:a="http://schemas.openxmlformats.org/drawingml/2006/main" x="647700" y="2400300"/>
              <a:ext xmlns:a="http://schemas.openxmlformats.org/drawingml/2006/main" cx="10896600" cy="3248025"/>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確認する量</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計算結果</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残差（mm）</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−12、+3</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重み付き残差の和</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Cambria Math"/>
                              <a:ea typeface="Cambria Math"/>
                              <a:cs typeface="Cambria Math"/>
                            </a:rPr>
                            <a:t>1\times(-12)+4\times3=0</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729615">
                    <a:tc>
                      <a:txBody>
                        <a:bodyPr lIns="114300" tIns="114300" rIns="114300" bIns="114300">
                          <a:noAutofit/>
                        </a:bodyPr>
                        <a:lstStyle/>
                        <a:p>
                          <a:pPr algn="l"/>
                          <a:r>
                            <a:rPr sz="2100" b="0">
                              <a:solidFill>
                                <a:srgbClr val="213C4B"/>
                              </a:solidFill>
                              <a:latin typeface="Meiryo"/>
                              <a:ea typeface="Meiryo"/>
                              <a:cs typeface="Meiryo"/>
                            </a:rPr>
                            <a:t>単位重みの標準偏差</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Cambria Math"/>
                              <a:ea typeface="Cambria Math"/>
                              <a:cs typeface="Cambria Math"/>
                            </a:rPr>
                            <a:t>\sigma_0=\sqrt{\frac{180}{2-1}}=13.42\ \mathrm{mm}</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729615">
                    <a:tc>
                      <a:txBody>
                        <a:bodyPr lIns="114300" tIns="114300" rIns="114300" bIns="114300">
                          <a:noAutofit/>
                        </a:bodyPr>
                        <a:lstStyle/>
                        <a:p>
                          <a:pPr algn="l"/>
                          <a:r>
                            <a:rPr sz="2100" b="0">
                              <a:solidFill>
                                <a:srgbClr val="213C4B"/>
                              </a:solidFill>
                              <a:latin typeface="Meiryo"/>
                              <a:ea typeface="Meiryo"/>
                              <a:cs typeface="Meiryo"/>
                            </a:rPr>
                            <a:t>平均の標準偏差</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Cambria Math"/>
                              <a:ea typeface="Cambria Math"/>
                              <a:cs typeface="Cambria Math"/>
                            </a:rPr>
                            <a:t>\sigma_{\bar{x}_w}=\frac{\sigma_0}{\sqrt{5}}=6.00\ \mathrm{mm}</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Fallback>
      </mc:AlternateContent>
    </p:spTree>
    <p:extLst>
      <p:ext uri="{BB962C8B-B14F-4D97-AF65-F5344CB8AC3E}">
        <p14:creationId xmlns:p14="http://schemas.microsoft.com/office/powerpoint/2010/main" val="1363869204"/>
      </p:ext>
    </p:extLst>
  </p:cSld>
</p:sld>
</file>

<file path=ppt/slides/slide4.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9" name="本文0">
            <a:extLst xmlns:a="http://schemas.openxmlformats.org/drawingml/2006/main">
              <a:ext uri="{FF2B5EF4-FFF2-40B4-BE49-F238E27FC236}">
                <a16:creationId xmlns:a16="http://schemas.microsoft.com/office/drawing/2014/main" id="{C4CA4B77-7EF3-47B1-B310-41CF6284CD88}"/>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3-0</a:t>
            </a:r>
          </a:p>
        </p:txBody>
      </p:sp>
      <p:sp>
        <p:nvSpPr>
          <p:cNvPr id="2" name="本文1">
            <a:extLst xmlns:a="http://schemas.openxmlformats.org/drawingml/2006/main">
              <a:ext uri="{FF2B5EF4-FFF2-40B4-BE49-F238E27FC236}">
                <a16:creationId xmlns:a16="http://schemas.microsoft.com/office/drawing/2014/main" id="{15A73947-FEF6-4F45-B040-B0DF03017A2E}"/>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今日できるようになること</a:t>
            </a:r>
          </a:p>
        </p:txBody>
      </p:sp>
      <p:sp>
        <p:nvSpPr>
          <p:cNvPr id="3" name="本文2">
            <a:extLst xmlns:a="http://schemas.openxmlformats.org/drawingml/2006/main">
              <a:ext uri="{FF2B5EF4-FFF2-40B4-BE49-F238E27FC236}">
                <a16:creationId xmlns:a16="http://schemas.microsoft.com/office/drawing/2014/main" id="{A2813AF6-0142-48AE-9C9C-40F24B184C06}"/>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04</a:t>
            </a:r>
          </a:p>
        </p:txBody>
      </p:sp>
      <p:sp>
        <p:nvSpPr>
          <p:cNvPr id="4" name="本文3">
            <a:extLst xmlns:a="http://schemas.openxmlformats.org/drawingml/2006/main">
              <a:ext uri="{FF2B5EF4-FFF2-40B4-BE49-F238E27FC236}">
                <a16:creationId xmlns:a16="http://schemas.microsoft.com/office/drawing/2014/main" id="{967B5078-F10F-4347-B14A-433B67906D03}"/>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図で意味をつかみ、式で計算し、符号で点検する。</a:t>
            </a:r>
          </a:p>
        </p:txBody>
      </p:sp>
      <p:sp>
        <p:nvSpPr>
          <p:cNvPr id="5" name="本文4">
            <a:extLst xmlns:a="http://schemas.openxmlformats.org/drawingml/2006/main">
              <a:ext uri="{FF2B5EF4-FFF2-40B4-BE49-F238E27FC236}">
                <a16:creationId xmlns:a16="http://schemas.microsoft.com/office/drawing/2014/main" id="{D957B4D8-631F-447C-B5BE-EDF35461FAA2}"/>
              </a:ext>
            </a:extLst>
          </p:cNvPr>
          <p:cNvSpPr>
            <a:spLocks xmlns:a="http://schemas.openxmlformats.org/drawingml/2006/main" noGrp="1"/>
          </p:cNvSpPr>
          <p:nvPr/>
        </p:nvSpPr>
        <p:spPr>
          <a:xfrm xmlns:a="http://schemas.openxmlformats.org/drawingml/2006/main">
            <a:off x="647700" y="19621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a:t>
            </a:r>
            <a:r>
              <a:rPr sz="2100" b="1">
                <a:solidFill>
                  <a:srgbClr val="137D78"/>
                </a:solidFill>
                <a:latin typeface="Meiryo"/>
                <a:ea typeface="Meiryo"/>
                <a:cs typeface="Meiryo"/>
              </a:rPr>
              <a:t>位置の約束</a:t>
            </a:r>
            <a:r>
              <a:rPr sz="2100" b="0">
                <a:solidFill>
                  <a:srgbClr val="213C4B"/>
                </a:solidFill>
                <a:latin typeface="Meiryo"/>
                <a:ea typeface="Meiryo"/>
                <a:cs typeface="Meiryo"/>
              </a:rPr>
              <a:t>を説明する：座標系・測地系・投影。</a:t>
            </a:r>
          </a:p>
        </p:txBody>
      </p:sp>
      <mc:AlternateContent xmlns:mc="http://schemas.openxmlformats.org/markup-compatibility/2006" xmlns:a14="http://schemas.microsoft.com/office/drawing/2010/main">
        <mc:Choice Requires="a14">
          <p:sp>
            <p:nvSpPr>
              <p:cNvPr id="6" name="本文5">
                <a:extLst xmlns:a="http://schemas.openxmlformats.org/drawingml/2006/main">
                  <a:ext uri="{FF2B5EF4-FFF2-40B4-BE49-F238E27FC236}">
                    <a16:creationId xmlns:a16="http://schemas.microsoft.com/office/drawing/2014/main" id="{45163DAD-C8A3-4151-8F87-BC8D5F3767D5}"/>
                  </a:ext>
                </a:extLst>
              </p:cNvPr>
              <p:cNvSpPr>
                <a:spLocks xmlns:a="http://schemas.openxmlformats.org/drawingml/2006/main" noGrp="1"/>
              </p:cNvSpPr>
              <p:nvPr/>
            </p:nvSpPr>
            <p:spPr>
              <a:xfrm xmlns:a="http://schemas.openxmlformats.org/drawingml/2006/main">
                <a:off x="647700" y="26098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a:t>
                </a:r>
                <a:r>
                  <a:rPr sz="2100" b="1">
                    <a:solidFill>
                      <a:srgbClr val="137D78"/>
                    </a:solidFill>
                    <a:latin typeface="Meiryo"/>
                    <a:ea typeface="Meiryo"/>
                    <a:cs typeface="Meiryo"/>
                  </a:rPr>
                  <a:t>高さの違い</a:t>
                </a:r>
                <a:r>
                  <a:rPr sz="2100" b="0">
                    <a:solidFill>
                      <a:srgbClr val="213C4B"/>
                    </a:solidFill>
                    <a:latin typeface="Meiryo"/>
                    <a:ea typeface="Meiryo"/>
                    <a:cs typeface="Meiryo"/>
                  </a:rPr>
                  <a:t>を図で読む：</a:t>
                </a:r>
                <a14:m xmlns:m="http://schemas.openxmlformats.org/officeDocument/2006/math">
                  <m:oMath xmlns:mml="http://www.w3.org/1998/Math/MathML">
                    <m:r>
                      <a:rPr sz="2100" b="0" lang="en-US">
                        <a:solidFill>
                          <a:srgbClr val="213C4B"/>
                        </a:solidFill>
                        <a:latin typeface="Cambria Math"/>
                        <a:ea typeface="Meiryo"/>
                      </a:rPr>
                      <m:t>h=H+N</m:t>
                    </m:r>
                  </m:oMath>
                </a14:m>
                <a:r>
                  <a:rPr sz="2100" b="0">
                    <a:solidFill>
                      <a:srgbClr val="213C4B"/>
                    </a:solidFill>
                    <a:latin typeface="Meiryo"/>
                    <a:ea typeface="Meiryo"/>
                    <a:cs typeface="Meiryo"/>
                  </a:rPr>
                  <a:t>。</a:t>
                </a:r>
              </a:p>
            </p:txBody>
          </p:sp>
        </mc:Choice>
        <mc:Fallback>
          <p:sp>
            <p:nvSpPr>
              <p:cNvPr id="6" name="本文5">
                <a:extLst xmlns:a="http://schemas.openxmlformats.org/drawingml/2006/main">
                  <a:ext uri="{FF2B5EF4-FFF2-40B4-BE49-F238E27FC236}">
                    <a16:creationId xmlns:a16="http://schemas.microsoft.com/office/drawing/2014/main" id="{45163DAD-C8A3-4151-8F87-BC8D5F3767D5}"/>
                  </a:ext>
                </a:extLst>
              </p:cNvPr>
              <p:cNvSpPr>
                <a:spLocks xmlns:a="http://schemas.openxmlformats.org/drawingml/2006/main" noGrp="1"/>
              </p:cNvSpPr>
              <p:nvPr/>
            </p:nvSpPr>
            <p:spPr>
              <a:xfrm xmlns:a="http://schemas.openxmlformats.org/drawingml/2006/main">
                <a:off x="647700" y="26098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a:t>
                </a:r>
                <a:r>
                  <a:rPr sz="2100" b="1">
                    <a:solidFill>
                      <a:srgbClr val="137D78"/>
                    </a:solidFill>
                    <a:latin typeface="Meiryo"/>
                    <a:ea typeface="Meiryo"/>
                    <a:cs typeface="Meiryo"/>
                  </a:rPr>
                  <a:t>高さの違い</a:t>
                </a:r>
                <a:r>
                  <a:rPr sz="2100" b="0">
                    <a:solidFill>
                      <a:srgbClr val="213C4B"/>
                    </a:solidFill>
                    <a:latin typeface="Meiryo"/>
                    <a:ea typeface="Meiryo"/>
                    <a:cs typeface="Meiryo"/>
                  </a:rPr>
                  <a:t>を図で読む：</a:t>
                </a:r>
                <a:r>
                  <a:rPr sz="2100" b="0">
                    <a:solidFill>
                      <a:srgbClr val="213C4B"/>
                    </a:solidFill>
                    <a:latin typeface="Cambria Math"/>
                    <a:ea typeface="Cambria Math"/>
                    <a:cs typeface="Cambria Math"/>
                  </a:rPr>
                  <a:t>h=H+N</a:t>
                </a:r>
                <a:r>
                  <a:rPr sz="2100" b="0">
                    <a:solidFill>
                      <a:srgbClr val="213C4B"/>
                    </a:solidFill>
                    <a:latin typeface="Meiryo"/>
                    <a:ea typeface="Meiryo"/>
                    <a:cs typeface="Meiryo"/>
                  </a:rPr>
                  <a:t>。</a:t>
                </a:r>
              </a:p>
            </p:txBody>
          </p:sp>
        </mc:Fallback>
      </mc:AlternateContent>
      <p:sp>
        <p:nvSpPr>
          <p:cNvPr id="7" name="本文6">
            <a:extLst xmlns:a="http://schemas.openxmlformats.org/drawingml/2006/main">
              <a:ext uri="{FF2B5EF4-FFF2-40B4-BE49-F238E27FC236}">
                <a16:creationId xmlns:a16="http://schemas.microsoft.com/office/drawing/2014/main" id="{AF222D75-F0CB-4C58-9B40-404783104C56}"/>
              </a:ext>
            </a:extLst>
          </p:cNvPr>
          <p:cNvSpPr>
            <a:spLocks xmlns:a="http://schemas.openxmlformats.org/drawingml/2006/main" noGrp="1"/>
          </p:cNvSpPr>
          <p:nvPr/>
        </p:nvSpPr>
        <p:spPr>
          <a:xfrm xmlns:a="http://schemas.openxmlformats.org/drawingml/2006/main">
            <a:off x="647700" y="32575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a:t>
            </a:r>
            <a:r>
              <a:rPr sz="2100" b="1">
                <a:solidFill>
                  <a:srgbClr val="137D78"/>
                </a:solidFill>
                <a:latin typeface="Meiryo"/>
                <a:ea typeface="Meiryo"/>
                <a:cs typeface="Meiryo"/>
              </a:rPr>
              <a:t>現地の距離</a:t>
            </a:r>
            <a:r>
              <a:rPr sz="2100" b="0">
                <a:solidFill>
                  <a:srgbClr val="213C4B"/>
                </a:solidFill>
                <a:latin typeface="Meiryo"/>
                <a:ea typeface="Meiryo"/>
                <a:cs typeface="Meiryo"/>
              </a:rPr>
              <a:t>を、座標計算で使う距離に直す。</a:t>
            </a:r>
          </a:p>
        </p:txBody>
      </p:sp>
      <p:sp>
        <p:nvSpPr>
          <p:cNvPr id="8" name="本文7">
            <a:extLst xmlns:a="http://schemas.openxmlformats.org/drawingml/2006/main">
              <a:ext uri="{FF2B5EF4-FFF2-40B4-BE49-F238E27FC236}">
                <a16:creationId xmlns:a16="http://schemas.microsoft.com/office/drawing/2014/main" id="{9C4A2956-6D8E-4808-8BAF-E04154A98E3D}"/>
              </a:ext>
            </a:extLst>
          </p:cNvPr>
          <p:cNvSpPr>
            <a:spLocks xmlns:a="http://schemas.openxmlformats.org/drawingml/2006/main" noGrp="1"/>
          </p:cNvSpPr>
          <p:nvPr/>
        </p:nvSpPr>
        <p:spPr>
          <a:xfrm xmlns:a="http://schemas.openxmlformats.org/drawingml/2006/main">
            <a:off x="647700" y="39052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a:t>
            </a:r>
            <a:r>
              <a:rPr sz="2100" b="1">
                <a:solidFill>
                  <a:srgbClr val="137D78"/>
                </a:solidFill>
                <a:latin typeface="Meiryo"/>
                <a:ea typeface="Meiryo"/>
                <a:cs typeface="Meiryo"/>
              </a:rPr>
              <a:t>距離と方向角</a:t>
            </a:r>
            <a:r>
              <a:rPr sz="2100" b="0">
                <a:solidFill>
                  <a:srgbClr val="213C4B"/>
                </a:solidFill>
                <a:latin typeface="Meiryo"/>
                <a:ea typeface="Meiryo"/>
                <a:cs typeface="Meiryo"/>
              </a:rPr>
              <a:t>から座標を求め、逆計算で確かめる。</a:t>
            </a:r>
          </a:p>
        </p:txBody>
      </p:sp>
    </p:spTree>
    <p:extLst>
      <p:ext uri="{BB962C8B-B14F-4D97-AF65-F5344CB8AC3E}">
        <p14:creationId xmlns:p14="http://schemas.microsoft.com/office/powerpoint/2010/main" val="1267070826"/>
      </p:ext>
    </p:extLst>
  </p:cSld>
</p:sld>
</file>

<file path=ppt/slides/slide5.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5" name="本文0">
            <a:extLst xmlns:a="http://schemas.openxmlformats.org/drawingml/2006/main">
              <a:ext uri="{FF2B5EF4-FFF2-40B4-BE49-F238E27FC236}">
                <a16:creationId xmlns:a16="http://schemas.microsoft.com/office/drawing/2014/main" id="{3A96A872-9133-4117-9C27-54187EAC0F4E}"/>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3-0</a:t>
            </a:r>
          </a:p>
        </p:txBody>
      </p:sp>
      <p:sp>
        <p:nvSpPr>
          <p:cNvPr id="2" name="本文1">
            <a:extLst xmlns:a="http://schemas.openxmlformats.org/drawingml/2006/main">
              <a:ext uri="{FF2B5EF4-FFF2-40B4-BE49-F238E27FC236}">
                <a16:creationId xmlns:a16="http://schemas.microsoft.com/office/drawing/2014/main" id="{F2397B3A-2A0C-42B2-A1B1-6AF9D09D954C}"/>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90分の見通し</a:t>
            </a:r>
          </a:p>
        </p:txBody>
      </p:sp>
      <p:sp>
        <p:nvSpPr>
          <p:cNvPr id="3" name="本文2">
            <a:extLst xmlns:a="http://schemas.openxmlformats.org/drawingml/2006/main">
              <a:ext uri="{FF2B5EF4-FFF2-40B4-BE49-F238E27FC236}">
                <a16:creationId xmlns:a16="http://schemas.microsoft.com/office/drawing/2014/main" id="{6325914D-DA4B-4764-BAE6-FAF60CB9DCBC}"/>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05</a:t>
            </a:r>
          </a:p>
        </p:txBody>
      </p:sp>
      <p:graphicFrame>
        <p:nvGraphicFramePr>
          <p:cNvPr id="4" name="">
            <a:extLst xmlns:a="http://schemas.openxmlformats.org/drawingml/2006/main">
              <a:ext uri="{FF2B5EF4-FFF2-40B4-BE49-F238E27FC236}">
                <a16:creationId xmlns:a16="http://schemas.microsoft.com/office/drawing/2014/main" id="{008BA9E7-D929-4D20-8F2E-542A94F3B32D}"/>
              </a:ext>
            </a:extLst>
          </p:cNvPr>
          <p:cNvGraphicFramePr/>
          <p:nvPr/>
        </p:nvGraphicFramePr>
        <p:xfrm>
          <a:off xmlns:a="http://schemas.openxmlformats.org/drawingml/2006/main" x="647700" y="1659890"/>
          <a:ext xmlns:a="http://schemas.openxmlformats.org/drawingml/2006/main" cx="10896600" cy="4173855"/>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時間</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内容</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0〜16分</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前回の確認・小テストと解説</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16〜34分</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座標の意味・地球の形・ジオイド</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34〜56分</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測地系・投影・平面直角座標系</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56〜68分</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方向角・座標計算・GNSSとTS</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68〜86分</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手計算テスト（18分）</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86〜90分</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まとめ・提出・次回予告</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p:spTree>
    <p:extLst>
      <p:ext uri="{BB962C8B-B14F-4D97-AF65-F5344CB8AC3E}">
        <p14:creationId xmlns:p14="http://schemas.microsoft.com/office/powerpoint/2010/main" val="890738527"/>
      </p:ext>
    </p:extLst>
  </p:cSld>
</p:sld>
</file>

<file path=ppt/slides/slide6.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9" name="本文0">
            <a:extLst xmlns:a="http://schemas.openxmlformats.org/drawingml/2006/main">
              <a:ext uri="{FF2B5EF4-FFF2-40B4-BE49-F238E27FC236}">
                <a16:creationId xmlns:a16="http://schemas.microsoft.com/office/drawing/2014/main" id="{8A74BF76-8CB4-4059-AA45-AE90CEF666BB}"/>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3-Q</a:t>
            </a:r>
          </a:p>
        </p:txBody>
      </p:sp>
      <p:sp>
        <p:nvSpPr>
          <p:cNvPr id="2" name="本文1">
            <a:extLst xmlns:a="http://schemas.openxmlformats.org/drawingml/2006/main">
              <a:ext uri="{FF2B5EF4-FFF2-40B4-BE49-F238E27FC236}">
                <a16:creationId xmlns:a16="http://schemas.microsoft.com/office/drawing/2014/main" id="{98510915-31B5-40E0-821B-3454AC5FE0CB}"/>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小テスト：前回の誤差論</a:t>
            </a:r>
          </a:p>
        </p:txBody>
      </p:sp>
      <p:sp>
        <p:nvSpPr>
          <p:cNvPr id="3" name="本文2">
            <a:extLst xmlns:a="http://schemas.openxmlformats.org/drawingml/2006/main">
              <a:ext uri="{FF2B5EF4-FFF2-40B4-BE49-F238E27FC236}">
                <a16:creationId xmlns:a16="http://schemas.microsoft.com/office/drawing/2014/main" id="{A179B069-6527-44EE-A813-B2F1CEEA73DD}"/>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06</a:t>
            </a:r>
          </a:p>
        </p:txBody>
      </p:sp>
      <p:sp>
        <p:nvSpPr>
          <p:cNvPr id="4" name="本文3">
            <a:extLst xmlns:a="http://schemas.openxmlformats.org/drawingml/2006/main">
              <a:ext uri="{FF2B5EF4-FFF2-40B4-BE49-F238E27FC236}">
                <a16:creationId xmlns:a16="http://schemas.microsoft.com/office/drawing/2014/main" id="{438D484D-A638-4A70-92A4-D894ED6E5A61}"/>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測量士補試験と同じ、式と概算で考える形式。</a:t>
            </a:r>
          </a:p>
        </p:txBody>
      </p:sp>
      <p:sp>
        <p:nvSpPr>
          <p:cNvPr id="5" name="本文4">
            <a:extLst xmlns:a="http://schemas.openxmlformats.org/drawingml/2006/main">
              <a:ext uri="{FF2B5EF4-FFF2-40B4-BE49-F238E27FC236}">
                <a16:creationId xmlns:a16="http://schemas.microsoft.com/office/drawing/2014/main" id="{B9FF5197-C6E8-4B31-88A6-F27047CB149F}"/>
              </a:ext>
            </a:extLst>
          </p:cNvPr>
          <p:cNvSpPr>
            <a:spLocks xmlns:a="http://schemas.openxmlformats.org/drawingml/2006/main" noGrp="1"/>
          </p:cNvSpPr>
          <p:nvPr/>
        </p:nvSpPr>
        <p:spPr>
          <a:xfrm xmlns:a="http://schemas.openxmlformats.org/drawingml/2006/main">
            <a:off x="647700" y="19621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1">
                <a:solidFill>
                  <a:srgbClr val="137D78"/>
                </a:solidFill>
                <a:latin typeface="Meiryo"/>
                <a:ea typeface="Meiryo"/>
                <a:cs typeface="Meiryo"/>
              </a:rPr>
              <a:t>5問・10分・10点満点</a:t>
            </a:r>
          </a:p>
        </p:txBody>
      </p:sp>
      <p:sp>
        <p:nvSpPr>
          <p:cNvPr id="6" name="本文5">
            <a:extLst xmlns:a="http://schemas.openxmlformats.org/drawingml/2006/main">
              <a:ext uri="{FF2B5EF4-FFF2-40B4-BE49-F238E27FC236}">
                <a16:creationId xmlns:a16="http://schemas.microsoft.com/office/drawing/2014/main" id="{ADBC4919-2E68-4DF7-AEFB-95FDB8C5AA6C}"/>
              </a:ext>
            </a:extLst>
          </p:cNvPr>
          <p:cNvSpPr>
            <a:spLocks xmlns:a="http://schemas.openxmlformats.org/drawingml/2006/main" noGrp="1"/>
          </p:cNvSpPr>
          <p:nvPr/>
        </p:nvSpPr>
        <p:spPr>
          <a:xfrm xmlns:a="http://schemas.openxmlformats.org/drawingml/2006/main">
            <a:off x="647700" y="26098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五肢択一。答は </a:t>
            </a:r>
            <a:r>
              <a:rPr sz="2100" b="1">
                <a:solidFill>
                  <a:srgbClr val="137D78"/>
                </a:solidFill>
                <a:latin typeface="Meiryo"/>
                <a:ea typeface="Meiryo"/>
                <a:cs typeface="Meiryo"/>
              </a:rPr>
              <a:t>1〜5の番号</a:t>
            </a:r>
            <a:r>
              <a:rPr sz="2100" b="0">
                <a:solidFill>
                  <a:srgbClr val="213C4B"/>
                </a:solidFill>
                <a:latin typeface="Meiryo"/>
                <a:ea typeface="Meiryo"/>
                <a:cs typeface="Meiryo"/>
              </a:rPr>
              <a:t>で書く。</a:t>
            </a:r>
          </a:p>
        </p:txBody>
      </p:sp>
      <p:sp>
        <p:nvSpPr>
          <p:cNvPr id="7" name="本文6">
            <a:extLst xmlns:a="http://schemas.openxmlformats.org/drawingml/2006/main">
              <a:ext uri="{FF2B5EF4-FFF2-40B4-BE49-F238E27FC236}">
                <a16:creationId xmlns:a16="http://schemas.microsoft.com/office/drawing/2014/main" id="{9324CE69-A9D8-497D-9DEA-5BDA93A0FD31}"/>
              </a:ext>
            </a:extLst>
          </p:cNvPr>
          <p:cNvSpPr>
            <a:spLocks xmlns:a="http://schemas.openxmlformats.org/drawingml/2006/main" noGrp="1"/>
          </p:cNvSpPr>
          <p:nvPr/>
        </p:nvSpPr>
        <p:spPr>
          <a:xfrm xmlns:a="http://schemas.openxmlformats.org/drawingml/2006/main">
            <a:off x="647700" y="32575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各問2点。</a:t>
            </a:r>
            <a:r>
              <a:rPr sz="2100" b="1">
                <a:solidFill>
                  <a:srgbClr val="137D78"/>
                </a:solidFill>
                <a:latin typeface="Meiryo"/>
                <a:ea typeface="Meiryo"/>
                <a:cs typeface="Meiryo"/>
              </a:rPr>
              <a:t>電卓は使わない</a:t>
            </a:r>
            <a:r>
              <a:rPr sz="2100" b="0">
                <a:solidFill>
                  <a:srgbClr val="213C4B"/>
                </a:solidFill>
                <a:latin typeface="Meiryo"/>
                <a:ea typeface="Meiryo"/>
                <a:cs typeface="Meiryo"/>
              </a:rPr>
              <a:t>。</a:t>
            </a:r>
          </a:p>
        </p:txBody>
      </p:sp>
      <p:sp>
        <p:nvSpPr>
          <p:cNvPr id="8" name="本文7">
            <a:extLst xmlns:a="http://schemas.openxmlformats.org/drawingml/2006/main">
              <a:ext uri="{FF2B5EF4-FFF2-40B4-BE49-F238E27FC236}">
                <a16:creationId xmlns:a16="http://schemas.microsoft.com/office/drawing/2014/main" id="{3D7696DE-5235-4CFB-A8CE-FE1367000DBC}"/>
              </a:ext>
            </a:extLst>
          </p:cNvPr>
          <p:cNvSpPr>
            <a:spLocks xmlns:a="http://schemas.openxmlformats.org/drawingml/2006/main" noGrp="1"/>
          </p:cNvSpPr>
          <p:nvPr/>
        </p:nvSpPr>
        <p:spPr>
          <a:xfrm xmlns:a="http://schemas.openxmlformats.org/drawingml/2006/main">
            <a:off x="647700" y="39052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問題文は配布用紙と同じ。</a:t>
            </a:r>
          </a:p>
        </p:txBody>
      </p:sp>
    </p:spTree>
    <p:extLst>
      <p:ext uri="{BB962C8B-B14F-4D97-AF65-F5344CB8AC3E}">
        <p14:creationId xmlns:p14="http://schemas.microsoft.com/office/powerpoint/2010/main" val="1106182782"/>
      </p:ext>
    </p:extLst>
  </p:cSld>
</p:sld>
</file>

<file path=ppt/slides/slide7.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10" name="本文0">
            <a:extLst xmlns:a="http://schemas.openxmlformats.org/drawingml/2006/main">
              <a:ext uri="{FF2B5EF4-FFF2-40B4-BE49-F238E27FC236}">
                <a16:creationId xmlns:a16="http://schemas.microsoft.com/office/drawing/2014/main" id="{1EC820FC-33F0-4278-B0C1-7B51DE9A20AB}"/>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3-Q</a:t>
            </a:r>
          </a:p>
        </p:txBody>
      </p:sp>
      <p:sp>
        <p:nvSpPr>
          <p:cNvPr id="2" name="本文1">
            <a:extLst xmlns:a="http://schemas.openxmlformats.org/drawingml/2006/main">
              <a:ext uri="{FF2B5EF4-FFF2-40B4-BE49-F238E27FC236}">
                <a16:creationId xmlns:a16="http://schemas.microsoft.com/office/drawing/2014/main" id="{545BBA98-88A5-41F9-BA0C-8796CAA3FE5F}"/>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問1 誤差の種類</a:t>
            </a:r>
          </a:p>
        </p:txBody>
      </p:sp>
      <p:sp>
        <p:nvSpPr>
          <p:cNvPr id="3" name="本文2">
            <a:extLst xmlns:a="http://schemas.openxmlformats.org/drawingml/2006/main">
              <a:ext uri="{FF2B5EF4-FFF2-40B4-BE49-F238E27FC236}">
                <a16:creationId xmlns:a16="http://schemas.microsoft.com/office/drawing/2014/main" id="{24D78457-74F9-4A23-B7EE-7E3D5ED41518}"/>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07</a:t>
            </a:r>
          </a:p>
        </p:txBody>
      </p:sp>
      <p:sp>
        <p:nvSpPr>
          <p:cNvPr id="4" name="本文3">
            <a:extLst xmlns:a="http://schemas.openxmlformats.org/drawingml/2006/main">
              <a:ext uri="{FF2B5EF4-FFF2-40B4-BE49-F238E27FC236}">
                <a16:creationId xmlns:a16="http://schemas.microsoft.com/office/drawing/2014/main" id="{F1D99524-176D-4A74-AA9D-39601395C3A2}"/>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次の a〜e のうち、</a:t>
            </a:r>
            <a:r>
              <a:rPr sz="1950" b="1">
                <a:solidFill>
                  <a:srgbClr val="137D78"/>
                </a:solidFill>
                <a:latin typeface="Meiryo"/>
                <a:ea typeface="Meiryo"/>
                <a:cs typeface="Meiryo"/>
              </a:rPr>
              <a:t>明らかに間違っているもの</a:t>
            </a:r>
            <a:r>
              <a:rPr sz="1950" b="0">
                <a:solidFill>
                  <a:srgbClr val="213C4B"/>
                </a:solidFill>
                <a:latin typeface="Meiryo"/>
                <a:ea typeface="Meiryo"/>
                <a:cs typeface="Meiryo"/>
              </a:rPr>
              <a:t>はどれか。</a:t>
            </a:r>
          </a:p>
        </p:txBody>
      </p:sp>
      <p:sp>
        <p:nvSpPr>
          <p:cNvPr id="5" name="本文4">
            <a:extLst xmlns:a="http://schemas.openxmlformats.org/drawingml/2006/main">
              <a:ext uri="{FF2B5EF4-FFF2-40B4-BE49-F238E27FC236}">
                <a16:creationId xmlns:a16="http://schemas.microsoft.com/office/drawing/2014/main" id="{E83343C3-DAEA-41EB-8E8D-F7372ECE8A65}"/>
              </a:ext>
            </a:extLst>
          </p:cNvPr>
          <p:cNvSpPr>
            <a:spLocks xmlns:a="http://schemas.openxmlformats.org/drawingml/2006/main" noGrp="1"/>
          </p:cNvSpPr>
          <p:nvPr/>
        </p:nvSpPr>
        <p:spPr>
          <a:xfrm xmlns:a="http://schemas.openxmlformats.org/drawingml/2006/main">
            <a:off x="647700" y="20859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a. 過失（読み違い・転記の誤り）は、点検や再測によって取り除く。</a:t>
            </a:r>
          </a:p>
        </p:txBody>
      </p:sp>
      <p:sp>
        <p:nvSpPr>
          <p:cNvPr id="6" name="本文5">
            <a:extLst xmlns:a="http://schemas.openxmlformats.org/drawingml/2006/main">
              <a:ext uri="{FF2B5EF4-FFF2-40B4-BE49-F238E27FC236}">
                <a16:creationId xmlns:a16="http://schemas.microsoft.com/office/drawing/2014/main" id="{CA1DDA52-8DF7-4890-B0D8-83A455221120}"/>
              </a:ext>
            </a:extLst>
          </p:cNvPr>
          <p:cNvSpPr>
            <a:spLocks xmlns:a="http://schemas.openxmlformats.org/drawingml/2006/main" noGrp="1"/>
          </p:cNvSpPr>
          <p:nvPr/>
        </p:nvSpPr>
        <p:spPr>
          <a:xfrm xmlns:a="http://schemas.openxmlformats.org/drawingml/2006/main">
            <a:off x="647700" y="270510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b. 尺定数のように原因と大きさが分かる定誤差は、補正計算で取り除く。</a:t>
            </a:r>
          </a:p>
        </p:txBody>
      </p:sp>
      <p:sp>
        <p:nvSpPr>
          <p:cNvPr id="7" name="本文6">
            <a:extLst xmlns:a="http://schemas.openxmlformats.org/drawingml/2006/main">
              <a:ext uri="{FF2B5EF4-FFF2-40B4-BE49-F238E27FC236}">
                <a16:creationId xmlns:a16="http://schemas.microsoft.com/office/drawing/2014/main" id="{5AFDCFD6-7953-421F-9B1C-1507AB7FA2D6}"/>
              </a:ext>
            </a:extLst>
          </p:cNvPr>
          <p:cNvSpPr>
            <a:spLocks xmlns:a="http://schemas.openxmlformats.org/drawingml/2006/main" noGrp="1"/>
          </p:cNvSpPr>
          <p:nvPr/>
        </p:nvSpPr>
        <p:spPr>
          <a:xfrm xmlns:a="http://schemas.openxmlformats.org/drawingml/2006/main">
            <a:off x="647700" y="332422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c. 偶然誤差は、同精度の独立な観測回数を増やしても平均の標準偏差は小さくならない。</a:t>
            </a:r>
          </a:p>
        </p:txBody>
      </p:sp>
      <p:sp>
        <p:nvSpPr>
          <p:cNvPr id="8" name="本文7">
            <a:extLst xmlns:a="http://schemas.openxmlformats.org/drawingml/2006/main">
              <a:ext uri="{FF2B5EF4-FFF2-40B4-BE49-F238E27FC236}">
                <a16:creationId xmlns:a16="http://schemas.microsoft.com/office/drawing/2014/main" id="{414A4406-464E-434C-A876-629A357CF6BD}"/>
              </a:ext>
            </a:extLst>
          </p:cNvPr>
          <p:cNvSpPr>
            <a:spLocks xmlns:a="http://schemas.openxmlformats.org/drawingml/2006/main" noGrp="1"/>
          </p:cNvSpPr>
          <p:nvPr/>
        </p:nvSpPr>
        <p:spPr>
          <a:xfrm xmlns:a="http://schemas.openxmlformats.org/drawingml/2006/main">
            <a:off x="647700" y="39433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d. 同精度の独立な観測の最確値は算術平均である。</a:t>
            </a:r>
          </a:p>
        </p:txBody>
      </p:sp>
      <p:sp>
        <p:nvSpPr>
          <p:cNvPr id="9" name="本文8">
            <a:extLst xmlns:a="http://schemas.openxmlformats.org/drawingml/2006/main">
              <a:ext uri="{FF2B5EF4-FFF2-40B4-BE49-F238E27FC236}">
                <a16:creationId xmlns:a16="http://schemas.microsoft.com/office/drawing/2014/main" id="{7B055A43-0663-4965-8567-4E18B7FF3494}"/>
              </a:ext>
            </a:extLst>
          </p:cNvPr>
          <p:cNvSpPr>
            <a:spLocks xmlns:a="http://schemas.openxmlformats.org/drawingml/2006/main" noGrp="1"/>
          </p:cNvSpPr>
          <p:nvPr/>
        </p:nvSpPr>
        <p:spPr>
          <a:xfrm xmlns:a="http://schemas.openxmlformats.org/drawingml/2006/main">
            <a:off x="647700" y="45624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e. 較差が許容値を超えたら、観測値を書き換えずに再測する。</a:t>
            </a:r>
          </a:p>
        </p:txBody>
      </p:sp>
    </p:spTree>
    <p:extLst>
      <p:ext uri="{BB962C8B-B14F-4D97-AF65-F5344CB8AC3E}">
        <p14:creationId xmlns:p14="http://schemas.microsoft.com/office/powerpoint/2010/main" val="1953116672"/>
      </p:ext>
    </p:extLst>
  </p:cSld>
</p:sld>
</file>

<file path=ppt/slides/slide8.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B76553C7-FFD0-4950-BF7F-3FCBDB1D2565}"/>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3-Q</a:t>
            </a:r>
          </a:p>
        </p:txBody>
      </p:sp>
      <p:sp>
        <p:nvSpPr>
          <p:cNvPr id="2" name="本文1">
            <a:extLst xmlns:a="http://schemas.openxmlformats.org/drawingml/2006/main">
              <a:ext uri="{FF2B5EF4-FFF2-40B4-BE49-F238E27FC236}">
                <a16:creationId xmlns:a16="http://schemas.microsoft.com/office/drawing/2014/main" id="{089005AA-798B-44C7-B33D-90A3D49E365E}"/>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問2：最確値</a:t>
            </a:r>
          </a:p>
        </p:txBody>
      </p:sp>
      <p:sp>
        <p:nvSpPr>
          <p:cNvPr id="3" name="本文2">
            <a:extLst xmlns:a="http://schemas.openxmlformats.org/drawingml/2006/main">
              <a:ext uri="{FF2B5EF4-FFF2-40B4-BE49-F238E27FC236}">
                <a16:creationId xmlns:a16="http://schemas.microsoft.com/office/drawing/2014/main" id="{5607154F-4431-4BF0-94DB-F3D551689EB1}"/>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08</a:t>
            </a:r>
          </a:p>
        </p:txBody>
      </p:sp>
      <p:sp>
        <p:nvSpPr>
          <p:cNvPr id="4" name="本文3">
            <a:extLst xmlns:a="http://schemas.openxmlformats.org/drawingml/2006/main">
              <a:ext uri="{FF2B5EF4-FFF2-40B4-BE49-F238E27FC236}">
                <a16:creationId xmlns:a16="http://schemas.microsoft.com/office/drawing/2014/main" id="{D9CFA753-A950-4F84-AE52-928603854FA6}"/>
              </a:ext>
            </a:extLst>
          </p:cNvPr>
          <p:cNvSpPr>
            <a:spLocks xmlns:a="http://schemas.openxmlformats.org/drawingml/2006/main" noGrp="1"/>
          </p:cNvSpPr>
          <p:nvPr/>
        </p:nvSpPr>
        <p:spPr>
          <a:xfrm xmlns:a="http://schemas.openxmlformats.org/drawingml/2006/main">
            <a:off x="647700" y="193611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同精度・独立の5回の観測。過失・定誤差は処理済み。</a:t>
            </a:r>
          </a:p>
        </p:txBody>
      </p:sp>
      <p:sp>
        <p:nvSpPr>
          <p:cNvPr id="5" name="本文4">
            <a:extLst xmlns:a="http://schemas.openxmlformats.org/drawingml/2006/main">
              <a:ext uri="{FF2B5EF4-FFF2-40B4-BE49-F238E27FC236}">
                <a16:creationId xmlns:a16="http://schemas.microsoft.com/office/drawing/2014/main" id="{321B70BA-E56F-45F7-BFA3-770EE27BA761}"/>
              </a:ext>
            </a:extLst>
          </p:cNvPr>
          <p:cNvSpPr>
            <a:spLocks xmlns:a="http://schemas.openxmlformats.org/drawingml/2006/main" noGrp="1"/>
          </p:cNvSpPr>
          <p:nvPr/>
        </p:nvSpPr>
        <p:spPr>
          <a:xfrm xmlns:a="http://schemas.openxmlformats.org/drawingml/2006/main">
            <a:off x="647700" y="258381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この距離の最確値はどれか。</a:t>
            </a:r>
          </a:p>
        </p:txBody>
      </p:sp>
      <mc:AlternateContent xmlns:mc="http://schemas.openxmlformats.org/markup-compatibility/2006" xmlns:a14="http://schemas.microsoft.com/office/drawing/2010/main">
        <mc:Choice Requires="a14">
          <p:sp>
            <p:nvSpPr>
              <p:cNvPr id="6" name="EQM00011">
                <a:extLst xmlns:a="http://schemas.openxmlformats.org/drawingml/2006/main">
                  <a:ext uri="{FF2B5EF4-FFF2-40B4-BE49-F238E27FC236}">
                    <a16:creationId xmlns:a16="http://schemas.microsoft.com/office/drawing/2014/main" id="{FD2FF9D8-BFD2-4D7B-B5AD-7C9D9279DAED}"/>
                  </a:ext>
                </a:extLst>
              </p:cNvPr>
              <p:cNvSpPr>
                <a:spLocks xmlns:a="http://schemas.openxmlformats.org/drawingml/2006/main" noGrp="1"/>
              </p:cNvSpPr>
              <p:nvPr/>
            </p:nvSpPr>
            <p:spPr>
              <a:xfrm xmlns:a="http://schemas.openxmlformats.org/drawingml/2006/main">
                <a:off x="647700" y="3231515"/>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r>
                        <a:rPr sz="2700" b="0" lang="en-US">
                          <a:solidFill>
                            <a:srgbClr val="153D50"/>
                          </a:solidFill>
                          <a:latin typeface="Cambria Math"/>
                          <a:ea typeface="Meiryo"/>
                        </a:rPr>
                        <m:t>50.003,</m:t>
                      </m:r>
                      <m:r>
                        <m:rPr>
                          <m:nor/>
                        </m:rPr>
                        <a:rPr sz="2700" b="0" lang="en-US">
                          <a:solidFill>
                            <a:srgbClr val="153D50"/>
                          </a:solidFill>
                          <a:latin typeface="Cambria Math"/>
                          <a:ea typeface="Meiryo"/>
                        </a:rPr>
                        <m:t> </m:t>
                      </m:r>
                      <m:r>
                        <a:rPr sz="2700" b="0" lang="en-US">
                          <a:solidFill>
                            <a:srgbClr val="153D50"/>
                          </a:solidFill>
                          <a:latin typeface="Cambria Math"/>
                          <a:ea typeface="Meiryo"/>
                        </a:rPr>
                        <m:t>50.005,</m:t>
                      </m:r>
                      <m:r>
                        <m:rPr>
                          <m:nor/>
                        </m:rPr>
                        <a:rPr sz="2700" b="0" lang="en-US">
                          <a:solidFill>
                            <a:srgbClr val="153D50"/>
                          </a:solidFill>
                          <a:latin typeface="Cambria Math"/>
                          <a:ea typeface="Meiryo"/>
                        </a:rPr>
                        <m:t> </m:t>
                      </m:r>
                      <m:r>
                        <a:rPr sz="2700" b="0" lang="en-US">
                          <a:solidFill>
                            <a:srgbClr val="153D50"/>
                          </a:solidFill>
                          <a:latin typeface="Cambria Math"/>
                          <a:ea typeface="Meiryo"/>
                        </a:rPr>
                        <m:t>50.006,</m:t>
                      </m:r>
                      <m:r>
                        <m:rPr>
                          <m:nor/>
                        </m:rPr>
                        <a:rPr sz="2700" b="0" lang="en-US">
                          <a:solidFill>
                            <a:srgbClr val="153D50"/>
                          </a:solidFill>
                          <a:latin typeface="Cambria Math"/>
                          <a:ea typeface="Meiryo"/>
                        </a:rPr>
                        <m:t> </m:t>
                      </m:r>
                      <m:r>
                        <a:rPr sz="2700" b="0" lang="en-US">
                          <a:solidFill>
                            <a:srgbClr val="153D50"/>
                          </a:solidFill>
                          <a:latin typeface="Cambria Math"/>
                          <a:ea typeface="Meiryo"/>
                        </a:rPr>
                        <m:t>50.008,</m:t>
                      </m:r>
                      <m:r>
                        <m:rPr>
                          <m:nor/>
                        </m:rPr>
                        <a:rPr sz="2700" b="0" lang="en-US">
                          <a:solidFill>
                            <a:srgbClr val="153D50"/>
                          </a:solidFill>
                          <a:latin typeface="Cambria Math"/>
                          <a:ea typeface="Meiryo"/>
                        </a:rPr>
                        <m:t> </m:t>
                      </m:r>
                      <m:r>
                        <a:rPr sz="2700" b="0" lang="en-US">
                          <a:solidFill>
                            <a:srgbClr val="153D50"/>
                          </a:solidFill>
                          <a:latin typeface="Cambria Math"/>
                          <a:ea typeface="Meiryo"/>
                        </a:rPr>
                        <m:t>50.008</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oMath>
                  </m:oMathPara>
                </a14:m>
              </a:p>
            </p:txBody>
          </p:sp>
        </mc:Choice>
        <mc:Fallback>
          <p:sp>
            <p:nvSpPr>
              <p:cNvPr id="6" name="EQM00011">
                <a:extLst xmlns:a="http://schemas.openxmlformats.org/drawingml/2006/main">
                  <a:ext uri="{FF2B5EF4-FFF2-40B4-BE49-F238E27FC236}">
                    <a16:creationId xmlns:a16="http://schemas.microsoft.com/office/drawing/2014/main" id="{FD2FF9D8-BFD2-4D7B-B5AD-7C9D9279DAED}"/>
                  </a:ext>
                </a:extLst>
              </p:cNvPr>
              <p:cNvSpPr>
                <a:spLocks xmlns:a="http://schemas.openxmlformats.org/drawingml/2006/main" noGrp="1"/>
              </p:cNvSpPr>
              <p:nvPr/>
            </p:nvSpPr>
            <p:spPr>
              <a:xfrm xmlns:a="http://schemas.openxmlformats.org/drawingml/2006/main">
                <a:off x="647700" y="3231515"/>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50.003,\quad50.005,\quad50.006,\quad50.008,\quad50.008\ \mathrm{m}</a:t>
                </a:r>
              </a:p>
            </p:txBody>
          </p:sp>
        </mc:Fallback>
      </mc:AlternateContent>
      <p:graphicFrame>
        <p:nvGraphicFramePr>
          <p:cNvPr id="7" name="">
            <a:extLst xmlns:a="http://schemas.openxmlformats.org/drawingml/2006/main">
              <a:ext uri="{FF2B5EF4-FFF2-40B4-BE49-F238E27FC236}">
                <a16:creationId xmlns:a16="http://schemas.microsoft.com/office/drawing/2014/main" id="{25F7AA40-7AE9-431D-9F9C-E5C0A5F95398}"/>
              </a:ext>
            </a:extLst>
          </p:cNvPr>
          <p:cNvGraphicFramePr/>
          <p:nvPr/>
        </p:nvGraphicFramePr>
        <p:xfrm>
          <a:off xmlns:a="http://schemas.openxmlformats.org/drawingml/2006/main" x="647700" y="4088765"/>
          <a:ext xmlns:a="http://schemas.openxmlformats.org/drawingml/2006/main" cx="10896600" cy="1192530"/>
        </p:xfrm>
        <a:graphic xmlns:a="http://schemas.openxmlformats.org/drawingml/2006/main">
          <a:graphicData uri="http://schemas.openxmlformats.org/drawingml/2006/table">
            <a:tbl>
              <a:tblPr/>
              <a:tblGrid>
                <a:gridCol w="2179320"/>
                <a:gridCol w="2179320"/>
                <a:gridCol w="2179320"/>
                <a:gridCol w="2179320"/>
                <a:gridCol w="2179320"/>
              </a:tblGrid>
              <a:tr h="596265">
                <a:tc>
                  <a:txBody>
                    <a:bodyPr lIns="114300" tIns="114300" rIns="114300" bIns="114300">
                      <a:noAutofit/>
                    </a:bodyPr>
                    <a:lstStyle/>
                    <a:p>
                      <a:pPr algn="l"/>
                      <a:r>
                        <a:rPr sz="2100" b="1">
                          <a:solidFill>
                            <a:srgbClr val="FFFFFF"/>
                          </a:solidFill>
                          <a:latin typeface="Meiryo"/>
                          <a:ea typeface="Meiryo"/>
                          <a:cs typeface="Meiryo"/>
                        </a:rPr>
                        <a:t>1</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2</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3</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4</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5</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50.005 m</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50.006 m</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50.007 m</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50.008 m</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50.0055 m</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p:spTree>
    <p:extLst>
      <p:ext uri="{BB962C8B-B14F-4D97-AF65-F5344CB8AC3E}">
        <p14:creationId xmlns:p14="http://schemas.microsoft.com/office/powerpoint/2010/main" val="1856922805"/>
      </p:ext>
    </p:extLst>
  </p:cSld>
</p:sld>
</file>

<file path=ppt/slides/slide9.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A2F1989D-656F-4117-BC51-BD4C0FC3E989}"/>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3-Q</a:t>
            </a:r>
          </a:p>
        </p:txBody>
      </p:sp>
      <p:sp>
        <p:nvSpPr>
          <p:cNvPr id="2" name="本文1">
            <a:extLst xmlns:a="http://schemas.openxmlformats.org/drawingml/2006/main">
              <a:ext uri="{FF2B5EF4-FFF2-40B4-BE49-F238E27FC236}">
                <a16:creationId xmlns:a16="http://schemas.microsoft.com/office/drawing/2014/main" id="{71BD9974-9A19-444C-A9A0-7193E1126B84}"/>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問3：平均の標準偏差</a:t>
            </a:r>
          </a:p>
        </p:txBody>
      </p:sp>
      <p:sp>
        <p:nvSpPr>
          <p:cNvPr id="3" name="本文2">
            <a:extLst xmlns:a="http://schemas.openxmlformats.org/drawingml/2006/main">
              <a:ext uri="{FF2B5EF4-FFF2-40B4-BE49-F238E27FC236}">
                <a16:creationId xmlns:a16="http://schemas.microsoft.com/office/drawing/2014/main" id="{D908FA5A-FA38-49D3-BF18-1FA7F0D917F3}"/>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09</a:t>
            </a:r>
          </a:p>
        </p:txBody>
      </p:sp>
      <p:sp>
        <p:nvSpPr>
          <p:cNvPr id="4" name="本文3">
            <a:extLst xmlns:a="http://schemas.openxmlformats.org/drawingml/2006/main">
              <a:ext uri="{FF2B5EF4-FFF2-40B4-BE49-F238E27FC236}">
                <a16:creationId xmlns:a16="http://schemas.microsoft.com/office/drawing/2014/main" id="{425C013A-1ED9-4D42-942A-26C0CB9904B7}"/>
              </a:ext>
            </a:extLst>
          </p:cNvPr>
          <p:cNvSpPr>
            <a:spLocks xmlns:a="http://schemas.openxmlformats.org/drawingml/2006/main" noGrp="1"/>
          </p:cNvSpPr>
          <p:nvPr/>
        </p:nvSpPr>
        <p:spPr>
          <a:xfrm xmlns:a="http://schemas.openxmlformats.org/drawingml/2006/main">
            <a:off x="647700" y="182816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同精度・独立の4回の観測。残差の二乗和は次のとおり。</a:t>
            </a:r>
          </a:p>
        </p:txBody>
      </p:sp>
      <mc:AlternateContent xmlns:mc="http://schemas.openxmlformats.org/markup-compatibility/2006" xmlns:a14="http://schemas.microsoft.com/office/drawing/2010/main">
        <mc:Choice Requires="a14">
          <p:sp>
            <p:nvSpPr>
              <p:cNvPr id="5" name="EQM00012">
                <a:extLst xmlns:a="http://schemas.openxmlformats.org/drawingml/2006/main">
                  <a:ext uri="{FF2B5EF4-FFF2-40B4-BE49-F238E27FC236}">
                    <a16:creationId xmlns:a16="http://schemas.microsoft.com/office/drawing/2014/main" id="{E9977EFC-C357-468D-8AF4-FC44744378B0}"/>
                  </a:ext>
                </a:extLst>
              </p:cNvPr>
              <p:cNvSpPr>
                <a:spLocks xmlns:a="http://schemas.openxmlformats.org/drawingml/2006/main" noGrp="1"/>
              </p:cNvSpPr>
              <p:nvPr/>
            </p:nvSpPr>
            <p:spPr>
              <a:xfrm xmlns:a="http://schemas.openxmlformats.org/drawingml/2006/main">
                <a:off x="647700" y="2475865"/>
                <a:ext cx="108966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nary>
                        <m:naryPr>
                          <m:chr m:val="∑"/>
                          <m:limLoc m:val="undOvr"/>
                          <m:grow m:val="1"/>
                          <m:subHide m:val="off"/>
                          <m:supHide m:val="off"/>
                        </m:naryPr>
                        <m:sub>
                          <m:r>
                            <a:rPr sz="2700" b="0" lang="en-US">
                              <a:solidFill>
                                <a:srgbClr val="153D50"/>
                              </a:solidFill>
                              <a:latin typeface="Cambria Math"/>
                              <a:ea typeface="Meiryo"/>
                            </a:rPr>
                            <m:t>i=1</m:t>
                          </m:r>
                        </m:sub>
                        <m:sup>
                          <m:r>
                            <a:rPr sz="2700" b="0" lang="en-US">
                              <a:solidFill>
                                <a:srgbClr val="153D50"/>
                              </a:solidFill>
                              <a:latin typeface="Cambria Math"/>
                              <a:ea typeface="Meiryo"/>
                            </a:rPr>
                            <m:t>4</m:t>
                          </m:r>
                        </m:sup>
                        <m:e>
                          <m:sSubSup>
                            <m:e>
                              <m:r>
                                <a:rPr sz="2700" b="0" lang="en-US">
                                  <a:solidFill>
                                    <a:srgbClr val="153D50"/>
                                  </a:solidFill>
                                  <a:latin typeface="Cambria Math"/>
                                  <a:ea typeface="Meiryo"/>
                                </a:rPr>
                                <m:t>v</m:t>
                              </m:r>
                            </m:e>
                            <m:sub>
                              <m:r>
                                <a:rPr sz="2700" b="0" lang="en-US">
                                  <a:solidFill>
                                    <a:srgbClr val="153D50"/>
                                  </a:solidFill>
                                  <a:latin typeface="Cambria Math"/>
                                  <a:ea typeface="Meiryo"/>
                                </a:rPr>
                                <m:t>i</m:t>
                              </m:r>
                            </m:sub>
                            <m:sup>
                              <m:r>
                                <a:rPr sz="2700" b="0" lang="en-US">
                                  <a:solidFill>
                                    <a:srgbClr val="153D50"/>
                                  </a:solidFill>
                                  <a:latin typeface="Cambria Math"/>
                                  <a:ea typeface="Meiryo"/>
                                </a:rPr>
                                <m:t>2</m:t>
                              </m:r>
                            </m:sup>
                          </m:sSubSup>
                        </m:e>
                      </m:nary>
                      <m:r>
                        <a:rPr sz="2700" b="0" lang="en-US">
                          <a:solidFill>
                            <a:srgbClr val="153D50"/>
                          </a:solidFill>
                          <a:latin typeface="Cambria Math"/>
                          <a:ea typeface="Meiryo"/>
                        </a:rPr>
                        <m:t>=27</m:t>
                      </m:r>
                      <m:r>
                        <m:rPr>
                          <m:nor/>
                        </m:rPr>
                        <a:rPr sz="2700" b="0" lang="en-US">
                          <a:solidFill>
                            <a:srgbClr val="153D50"/>
                          </a:solidFill>
                          <a:latin typeface="Cambria Math"/>
                          <a:ea typeface="Meiryo"/>
                        </a:rPr>
                        <m:t> </m:t>
                      </m:r>
                      <m:sSup>
                        <m:e>
                          <m:r>
                            <m:rPr>
                              <m:sty m:val="p"/>
                            </m:rPr>
                            <a:rPr sz="2700" b="0" lang="en-US">
                              <a:solidFill>
                                <a:srgbClr val="153D50"/>
                              </a:solidFill>
                              <a:latin typeface="Cambria Math"/>
                              <a:ea typeface="Meiryo"/>
                            </a:rPr>
                            <m:t>mm</m:t>
                          </m:r>
                        </m:e>
                        <m:sup>
                          <m:r>
                            <a:rPr sz="2700" b="0" lang="en-US">
                              <a:solidFill>
                                <a:srgbClr val="153D50"/>
                              </a:solidFill>
                              <a:latin typeface="Cambria Math"/>
                              <a:ea typeface="Meiryo"/>
                            </a:rPr>
                            <m:t>2</m:t>
                          </m:r>
                        </m:sup>
                      </m:sSup>
                    </m:oMath>
                  </m:oMathPara>
                </a14:m>
              </a:p>
            </p:txBody>
          </p:sp>
        </mc:Choice>
        <mc:Fallback>
          <p:sp>
            <p:nvSpPr>
              <p:cNvPr id="5" name="EQM00012">
                <a:extLst xmlns:a="http://schemas.openxmlformats.org/drawingml/2006/main">
                  <a:ext uri="{FF2B5EF4-FFF2-40B4-BE49-F238E27FC236}">
                    <a16:creationId xmlns:a16="http://schemas.microsoft.com/office/drawing/2014/main" id="{E9977EFC-C357-468D-8AF4-FC44744378B0}"/>
                  </a:ext>
                </a:extLst>
              </p:cNvPr>
              <p:cNvSpPr>
                <a:spLocks xmlns:a="http://schemas.openxmlformats.org/drawingml/2006/main" noGrp="1"/>
              </p:cNvSpPr>
              <p:nvPr/>
            </p:nvSpPr>
            <p:spPr>
              <a:xfrm xmlns:a="http://schemas.openxmlformats.org/drawingml/2006/main">
                <a:off x="647700" y="2475865"/>
                <a:ext cx="108966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\sum_{i=1}^{4}v_i^2=27\ \mathrm{mm}^2</a:t>
                </a:r>
              </a:p>
            </p:txBody>
          </p:sp>
        </mc:Fallback>
      </mc:AlternateContent>
      <p:sp>
        <p:nvSpPr>
          <p:cNvPr id="6" name="本文5">
            <a:extLst xmlns:a="http://schemas.openxmlformats.org/drawingml/2006/main">
              <a:ext uri="{FF2B5EF4-FFF2-40B4-BE49-F238E27FC236}">
                <a16:creationId xmlns:a16="http://schemas.microsoft.com/office/drawing/2014/main" id="{BA94C15B-4066-466F-AE6B-9CB6EAD845EF}"/>
              </a:ext>
            </a:extLst>
          </p:cNvPr>
          <p:cNvSpPr>
            <a:spLocks xmlns:a="http://schemas.openxmlformats.org/drawingml/2006/main" noGrp="1"/>
          </p:cNvSpPr>
          <p:nvPr/>
        </p:nvSpPr>
        <p:spPr>
          <a:xfrm xmlns:a="http://schemas.openxmlformats.org/drawingml/2006/main">
            <a:off x="647700" y="365696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求めるのは </a:t>
            </a:r>
            <a:r>
              <a:rPr sz="2100" b="1">
                <a:solidFill>
                  <a:srgbClr val="137D78"/>
                </a:solidFill>
                <a:latin typeface="Meiryo"/>
                <a:ea typeface="Meiryo"/>
                <a:cs typeface="Meiryo"/>
              </a:rPr>
              <a:t>最確値（平均）の標準偏差</a:t>
            </a:r>
            <a:r>
              <a:rPr sz="2100" b="0">
                <a:solidFill>
                  <a:srgbClr val="213C4B"/>
                </a:solidFill>
                <a:latin typeface="Meiryo"/>
                <a:ea typeface="Meiryo"/>
                <a:cs typeface="Meiryo"/>
              </a:rPr>
              <a:t>。</a:t>
            </a:r>
          </a:p>
        </p:txBody>
      </p:sp>
      <p:graphicFrame>
        <p:nvGraphicFramePr>
          <p:cNvPr id="7" name="">
            <a:extLst xmlns:a="http://schemas.openxmlformats.org/drawingml/2006/main">
              <a:ext uri="{FF2B5EF4-FFF2-40B4-BE49-F238E27FC236}">
                <a16:creationId xmlns:a16="http://schemas.microsoft.com/office/drawing/2014/main" id="{7D1CBFB4-9920-49C8-BD3C-A093D64D59ED}"/>
              </a:ext>
            </a:extLst>
          </p:cNvPr>
          <p:cNvGraphicFramePr/>
          <p:nvPr/>
        </p:nvGraphicFramePr>
        <p:xfrm>
          <a:off xmlns:a="http://schemas.openxmlformats.org/drawingml/2006/main" x="647700" y="4304665"/>
          <a:ext xmlns:a="http://schemas.openxmlformats.org/drawingml/2006/main" cx="10896600" cy="1192530"/>
        </p:xfrm>
        <a:graphic xmlns:a="http://schemas.openxmlformats.org/drawingml/2006/main">
          <a:graphicData uri="http://schemas.openxmlformats.org/drawingml/2006/table">
            <a:tbl>
              <a:tblPr/>
              <a:tblGrid>
                <a:gridCol w="2179320"/>
                <a:gridCol w="2179320"/>
                <a:gridCol w="2179320"/>
                <a:gridCol w="2179320"/>
                <a:gridCol w="2179320"/>
              </a:tblGrid>
              <a:tr h="596265">
                <a:tc>
                  <a:txBody>
                    <a:bodyPr lIns="114300" tIns="114300" rIns="114300" bIns="114300">
                      <a:noAutofit/>
                    </a:bodyPr>
                    <a:lstStyle/>
                    <a:p>
                      <a:pPr algn="l"/>
                      <a:r>
                        <a:rPr sz="2100" b="1">
                          <a:solidFill>
                            <a:srgbClr val="FFFFFF"/>
                          </a:solidFill>
                          <a:latin typeface="Meiryo"/>
                          <a:ea typeface="Meiryo"/>
                          <a:cs typeface="Meiryo"/>
                        </a:rPr>
                        <a:t>1</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2</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3</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4</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5</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0.75 mm</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1.5 mm</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2.6 mm</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3.0 mm</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6.0 mm</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p:spTree>
    <p:extLst>
      <p:ext uri="{BB962C8B-B14F-4D97-AF65-F5344CB8AC3E}">
        <p14:creationId xmlns:p14="http://schemas.microsoft.com/office/powerpoint/2010/main" val="1162008510"/>
      </p:ext>
    </p:extLst>
  </p:cSld>
</p:sld>
</file>

<file path=ppt/slides/slide10.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CFEB925C-97B4-4302-9F2A-70A4A3C09416}"/>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3-Q</a:t>
            </a:r>
          </a:p>
        </p:txBody>
      </p:sp>
      <p:sp>
        <p:nvSpPr>
          <p:cNvPr id="2" name="本文1">
            <a:extLst xmlns:a="http://schemas.openxmlformats.org/drawingml/2006/main">
              <a:ext uri="{FF2B5EF4-FFF2-40B4-BE49-F238E27FC236}">
                <a16:creationId xmlns:a16="http://schemas.microsoft.com/office/drawing/2014/main" id="{5BC75FA8-F2EF-43DC-A5D9-6E40B2FDAB40}"/>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問4：重み付き平均</a:t>
            </a:r>
          </a:p>
        </p:txBody>
      </p:sp>
      <p:sp>
        <p:nvSpPr>
          <p:cNvPr id="3" name="本文2">
            <a:extLst xmlns:a="http://schemas.openxmlformats.org/drawingml/2006/main">
              <a:ext uri="{FF2B5EF4-FFF2-40B4-BE49-F238E27FC236}">
                <a16:creationId xmlns:a16="http://schemas.microsoft.com/office/drawing/2014/main" id="{0183B5DE-E840-4CB2-86C2-A370F2DDBBCD}"/>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10</a:t>
            </a:r>
          </a:p>
        </p:txBody>
      </p:sp>
      <p:sp>
        <p:nvSpPr>
          <p:cNvPr id="4" name="本文3">
            <a:extLst xmlns:a="http://schemas.openxmlformats.org/drawingml/2006/main">
              <a:ext uri="{FF2B5EF4-FFF2-40B4-BE49-F238E27FC236}">
                <a16:creationId xmlns:a16="http://schemas.microsoft.com/office/drawing/2014/main" id="{FCAE74DE-CB2A-445F-87DB-CE8A5472CAE8}"/>
              </a:ext>
            </a:extLst>
          </p:cNvPr>
          <p:cNvSpPr>
            <a:spLocks xmlns:a="http://schemas.openxmlformats.org/drawingml/2006/main" noGrp="1"/>
          </p:cNvSpPr>
          <p:nvPr/>
        </p:nvSpPr>
        <p:spPr>
          <a:xfrm xmlns:a="http://schemas.openxmlformats.org/drawingml/2006/main">
            <a:off x="647700" y="14668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新点Pの標高を2本の水準路線で観測した。</a:t>
            </a:r>
          </a:p>
        </p:txBody>
      </p:sp>
      <p:sp>
        <p:nvSpPr>
          <p:cNvPr id="5" name="本文4">
            <a:extLst xmlns:a="http://schemas.openxmlformats.org/drawingml/2006/main">
              <a:ext uri="{FF2B5EF4-FFF2-40B4-BE49-F238E27FC236}">
                <a16:creationId xmlns:a16="http://schemas.microsoft.com/office/drawing/2014/main" id="{D4ACCE09-A318-4703-82B7-458246D09AA6}"/>
              </a:ext>
            </a:extLst>
          </p:cNvPr>
          <p:cNvSpPr>
            <a:spLocks xmlns:a="http://schemas.openxmlformats.org/drawingml/2006/main" noGrp="1"/>
          </p:cNvSpPr>
          <p:nvPr/>
        </p:nvSpPr>
        <p:spPr>
          <a:xfrm xmlns:a="http://schemas.openxmlformats.org/drawingml/2006/main">
            <a:off x="647700" y="21145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1">
                <a:solidFill>
                  <a:srgbClr val="137D78"/>
                </a:solidFill>
                <a:latin typeface="Meiryo"/>
                <a:ea typeface="Meiryo"/>
                <a:cs typeface="Meiryo"/>
              </a:rPr>
              <a:t>重みは路線長に反比例</a:t>
            </a:r>
            <a:r>
              <a:rPr sz="2100" b="0">
                <a:solidFill>
                  <a:srgbClr val="213C4B"/>
                </a:solidFill>
                <a:latin typeface="Meiryo"/>
                <a:ea typeface="Meiryo"/>
                <a:cs typeface="Meiryo"/>
              </a:rPr>
              <a:t>するとき、最確値はどれか。</a:t>
            </a:r>
          </a:p>
        </p:txBody>
      </p:sp>
      <p:graphicFrame>
        <p:nvGraphicFramePr>
          <p:cNvPr id="6" name="">
            <a:extLst xmlns:a="http://schemas.openxmlformats.org/drawingml/2006/main">
              <a:ext uri="{FF2B5EF4-FFF2-40B4-BE49-F238E27FC236}">
                <a16:creationId xmlns:a16="http://schemas.microsoft.com/office/drawing/2014/main" id="{8FAF2A7B-BB8F-4269-9835-FEBD891E873E}"/>
              </a:ext>
            </a:extLst>
          </p:cNvPr>
          <p:cNvGraphicFramePr/>
          <p:nvPr/>
        </p:nvGraphicFramePr>
        <p:xfrm>
          <a:off xmlns:a="http://schemas.openxmlformats.org/drawingml/2006/main" x="647700" y="2762250"/>
          <a:ext xmlns:a="http://schemas.openxmlformats.org/drawingml/2006/main" cx="10896600" cy="1788795"/>
        </p:xfrm>
        <a:graphic xmlns:a="http://schemas.openxmlformats.org/drawingml/2006/main">
          <a:graphicData uri="http://schemas.openxmlformats.org/drawingml/2006/table">
            <a:tbl>
              <a:tblPr/>
              <a:tblGrid>
                <a:gridCol w="2615184"/>
                <a:gridCol w="4140708"/>
                <a:gridCol w="4140708"/>
              </a:tblGrid>
              <a:tr h="596265">
                <a:tc>
                  <a:txBody>
                    <a:bodyPr lIns="114300" tIns="114300" rIns="114300" bIns="114300">
                      <a:noAutofit/>
                    </a:bodyPr>
                    <a:lstStyle/>
                    <a:p>
                      <a:pPr algn="l"/>
                      <a:r>
                        <a:rPr sz="2100" b="1">
                          <a:solidFill>
                            <a:srgbClr val="FFFFFF"/>
                          </a:solidFill>
                          <a:latin typeface="Meiryo"/>
                          <a:ea typeface="Meiryo"/>
                          <a:cs typeface="Meiryo"/>
                        </a:rPr>
                        <a:t>路線</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長さ</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観測した標高</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1</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2 km</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10.012 m</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2</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4 km</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10.018 m</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p:graphicFrame>
        <p:nvGraphicFramePr>
          <p:cNvPr id="7" name="">
            <a:extLst xmlns:a="http://schemas.openxmlformats.org/drawingml/2006/main">
              <a:ext uri="{FF2B5EF4-FFF2-40B4-BE49-F238E27FC236}">
                <a16:creationId xmlns:a16="http://schemas.microsoft.com/office/drawing/2014/main" id="{D11ED34E-F68E-4486-A98C-79E0963E3041}"/>
              </a:ext>
            </a:extLst>
          </p:cNvPr>
          <p:cNvGraphicFramePr/>
          <p:nvPr/>
        </p:nvGraphicFramePr>
        <p:xfrm>
          <a:off xmlns:a="http://schemas.openxmlformats.org/drawingml/2006/main" x="647700" y="4722495"/>
          <a:ext xmlns:a="http://schemas.openxmlformats.org/drawingml/2006/main" cx="10896600" cy="1192530"/>
        </p:xfrm>
        <a:graphic xmlns:a="http://schemas.openxmlformats.org/drawingml/2006/main">
          <a:graphicData uri="http://schemas.openxmlformats.org/drawingml/2006/table">
            <a:tbl>
              <a:tblPr/>
              <a:tblGrid>
                <a:gridCol w="2179320"/>
                <a:gridCol w="2179320"/>
                <a:gridCol w="2179320"/>
                <a:gridCol w="2179320"/>
                <a:gridCol w="2179320"/>
              </a:tblGrid>
              <a:tr h="596265">
                <a:tc>
                  <a:txBody>
                    <a:bodyPr lIns="114300" tIns="114300" rIns="114300" bIns="114300">
                      <a:noAutofit/>
                    </a:bodyPr>
                    <a:lstStyle/>
                    <a:p>
                      <a:pPr algn="l"/>
                      <a:r>
                        <a:rPr sz="2100" b="1">
                          <a:solidFill>
                            <a:srgbClr val="FFFFFF"/>
                          </a:solidFill>
                          <a:latin typeface="Meiryo"/>
                          <a:ea typeface="Meiryo"/>
                          <a:cs typeface="Meiryo"/>
                        </a:rPr>
                        <a:t>1</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2</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3</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4</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5</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10.012 m</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10.013 m</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10.014 m</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10.015 m</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10.016 m</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p:spTree>
    <p:extLst>
      <p:ext uri="{BB962C8B-B14F-4D97-AF65-F5344CB8AC3E}">
        <p14:creationId xmlns:p14="http://schemas.microsoft.com/office/powerpoint/2010/main" val="1606911463"/>
      </p:ext>
    </p:extLst>
  </p:cSld>
</p:sld>
</file>

<file path=ppt/slides/slide11.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8BB1CFEA-1BF7-4D08-AEF6-6A151F383BFA}"/>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3-Q</a:t>
            </a:r>
          </a:p>
        </p:txBody>
      </p:sp>
      <p:sp>
        <p:nvSpPr>
          <p:cNvPr id="2" name="本文1">
            <a:extLst xmlns:a="http://schemas.openxmlformats.org/drawingml/2006/main">
              <a:ext uri="{FF2B5EF4-FFF2-40B4-BE49-F238E27FC236}">
                <a16:creationId xmlns:a16="http://schemas.microsoft.com/office/drawing/2014/main" id="{67E2623A-4AB6-400A-972B-5B2F2B240938}"/>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問5：機器の精度表示</a:t>
            </a:r>
          </a:p>
        </p:txBody>
      </p:sp>
      <p:sp>
        <p:nvSpPr>
          <p:cNvPr id="3" name="本文2">
            <a:extLst xmlns:a="http://schemas.openxmlformats.org/drawingml/2006/main">
              <a:ext uri="{FF2B5EF4-FFF2-40B4-BE49-F238E27FC236}">
                <a16:creationId xmlns:a16="http://schemas.microsoft.com/office/drawing/2014/main" id="{37CFC505-642B-4595-929C-0A4AAA5E7AD0}"/>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11</a:t>
            </a:r>
          </a:p>
        </p:txBody>
      </p:sp>
      <p:sp>
        <p:nvSpPr>
          <p:cNvPr id="4" name="本文3">
            <a:extLst xmlns:a="http://schemas.openxmlformats.org/drawingml/2006/main">
              <a:ext uri="{FF2B5EF4-FFF2-40B4-BE49-F238E27FC236}">
                <a16:creationId xmlns:a16="http://schemas.microsoft.com/office/drawing/2014/main" id="{110E7211-B247-4283-9B59-3B6655F1A638}"/>
              </a:ext>
            </a:extLst>
          </p:cNvPr>
          <p:cNvSpPr>
            <a:spLocks xmlns:a="http://schemas.openxmlformats.org/drawingml/2006/main" noGrp="1"/>
          </p:cNvSpPr>
          <p:nvPr/>
        </p:nvSpPr>
        <p:spPr>
          <a:xfrm xmlns:a="http://schemas.openxmlformats.org/drawingml/2006/main">
            <a:off x="647700" y="193611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TSの測距精度が、次のように表示されている。</a:t>
            </a:r>
          </a:p>
        </p:txBody>
      </p:sp>
      <mc:AlternateContent xmlns:mc="http://schemas.openxmlformats.org/markup-compatibility/2006" xmlns:a14="http://schemas.microsoft.com/office/drawing/2010/main">
        <mc:Choice Requires="a14">
          <p:sp>
            <p:nvSpPr>
              <p:cNvPr id="5" name="EQM00013">
                <a:extLst xmlns:a="http://schemas.openxmlformats.org/drawingml/2006/main">
                  <a:ext uri="{FF2B5EF4-FFF2-40B4-BE49-F238E27FC236}">
                    <a16:creationId xmlns:a16="http://schemas.microsoft.com/office/drawing/2014/main" id="{8F3E7CFC-7711-48C1-86C8-A822C33DE658}"/>
                  </a:ext>
                </a:extLst>
              </p:cNvPr>
              <p:cNvSpPr>
                <a:spLocks xmlns:a="http://schemas.openxmlformats.org/drawingml/2006/main" noGrp="1"/>
              </p:cNvSpPr>
              <p:nvPr/>
            </p:nvSpPr>
            <p:spPr>
              <a:xfrm xmlns:a="http://schemas.openxmlformats.org/drawingml/2006/main">
                <a:off x="647700" y="2583815"/>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r>
                        <a:rPr sz="2700" b="0" lang="en-US">
                          <a:solidFill>
                            <a:srgbClr val="153D50"/>
                          </a:solidFill>
                          <a:latin typeface="Cambria Math"/>
                          <a:ea typeface="Meiryo"/>
                        </a:rPr>
                        <m:t>±</m:t>
                      </m:r>
                      <m:d>
                        <m:dPr>
                          <m:sepChr m:val=""/>
                        </m:dPr>
                        <m:e>
                          <m:r>
                            <a:rPr sz="2700" b="0" lang="en-US">
                              <a:solidFill>
                                <a:srgbClr val="153D50"/>
                              </a:solidFill>
                              <a:latin typeface="Cambria Math"/>
                              <a:ea typeface="Meiryo"/>
                            </a:rPr>
                            <m:t>2</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m:t>
                          </m:r>
                          <m:r>
                            <a:rPr sz="2700" b="0" lang="en-US">
                              <a:solidFill>
                                <a:srgbClr val="153D50"/>
                              </a:solidFill>
                              <a:latin typeface="Cambria Math"/>
                              <a:ea typeface="Meiryo"/>
                            </a:rPr>
                            <m:t>+2</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ppm</m:t>
                          </m:r>
                          <m:r>
                            <a:rPr sz="2700" b="0" lang="en-US">
                              <a:solidFill>
                                <a:srgbClr val="153D50"/>
                              </a:solidFill>
                              <a:latin typeface="Cambria Math"/>
                              <a:ea typeface="Meiryo"/>
                            </a:rPr>
                            <m:t>×D</m:t>
                          </m:r>
                        </m:e>
                      </m:d>
                    </m:oMath>
                  </m:oMathPara>
                </a14:m>
              </a:p>
            </p:txBody>
          </p:sp>
        </mc:Choice>
        <mc:Fallback>
          <p:sp>
            <p:nvSpPr>
              <p:cNvPr id="5" name="EQM00013">
                <a:extLst xmlns:a="http://schemas.openxmlformats.org/drawingml/2006/main">
                  <a:ext uri="{FF2B5EF4-FFF2-40B4-BE49-F238E27FC236}">
                    <a16:creationId xmlns:a16="http://schemas.microsoft.com/office/drawing/2014/main" id="{8F3E7CFC-7711-48C1-86C8-A822C33DE658}"/>
                  </a:ext>
                </a:extLst>
              </p:cNvPr>
              <p:cNvSpPr>
                <a:spLocks xmlns:a="http://schemas.openxmlformats.org/drawingml/2006/main" noGrp="1"/>
              </p:cNvSpPr>
              <p:nvPr/>
            </p:nvSpPr>
            <p:spPr>
              <a:xfrm xmlns:a="http://schemas.openxmlformats.org/drawingml/2006/main">
                <a:off x="647700" y="2583815"/>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\pm\left(2\ \mathrm{mm}+2\ \mathrm{ppm}\times D\right)</a:t>
                </a:r>
              </a:p>
            </p:txBody>
          </p:sp>
        </mc:Fallback>
      </mc:AlternateContent>
      <p:sp>
        <p:nvSpPr>
          <p:cNvPr id="6" name="本文5">
            <a:extLst xmlns:a="http://schemas.openxmlformats.org/drawingml/2006/main">
              <a:ext uri="{FF2B5EF4-FFF2-40B4-BE49-F238E27FC236}">
                <a16:creationId xmlns:a16="http://schemas.microsoft.com/office/drawing/2014/main" id="{2D8194A1-7D17-4BE3-895D-AE03D7840761}"/>
              </a:ext>
            </a:extLst>
          </p:cNvPr>
          <p:cNvSpPr>
            <a:spLocks xmlns:a="http://schemas.openxmlformats.org/drawingml/2006/main" noGrp="1"/>
          </p:cNvSpPr>
          <p:nvPr/>
        </p:nvSpPr>
        <p:spPr>
          <a:xfrm xmlns:a="http://schemas.openxmlformats.org/drawingml/2006/main">
            <a:off x="647700" y="344106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1">
                <a:solidFill>
                  <a:srgbClr val="137D78"/>
                </a:solidFill>
                <a:latin typeface="Meiryo"/>
                <a:ea typeface="Meiryo"/>
                <a:cs typeface="Meiryo"/>
              </a:rPr>
              <a:t>1 km</a:t>
            </a:r>
            <a:r>
              <a:rPr sz="2100" b="0">
                <a:solidFill>
                  <a:srgbClr val="213C4B"/>
                </a:solidFill>
                <a:latin typeface="Meiryo"/>
                <a:ea typeface="Meiryo"/>
                <a:cs typeface="Meiryo"/>
              </a:rPr>
              <a:t>を測ったとき、この表示が示す標準偏差はどれか。</a:t>
            </a:r>
          </a:p>
        </p:txBody>
      </p:sp>
      <p:graphicFrame>
        <p:nvGraphicFramePr>
          <p:cNvPr id="7" name="">
            <a:extLst xmlns:a="http://schemas.openxmlformats.org/drawingml/2006/main">
              <a:ext uri="{FF2B5EF4-FFF2-40B4-BE49-F238E27FC236}">
                <a16:creationId xmlns:a16="http://schemas.microsoft.com/office/drawing/2014/main" id="{D664BF7E-A41A-40F7-A378-E73F71138E52}"/>
              </a:ext>
            </a:extLst>
          </p:cNvPr>
          <p:cNvGraphicFramePr/>
          <p:nvPr/>
        </p:nvGraphicFramePr>
        <p:xfrm>
          <a:off xmlns:a="http://schemas.openxmlformats.org/drawingml/2006/main" x="647700" y="4088765"/>
          <a:ext xmlns:a="http://schemas.openxmlformats.org/drawingml/2006/main" cx="10896600" cy="1192530"/>
        </p:xfrm>
        <a:graphic xmlns:a="http://schemas.openxmlformats.org/drawingml/2006/main">
          <a:graphicData uri="http://schemas.openxmlformats.org/drawingml/2006/table">
            <a:tbl>
              <a:tblPr/>
              <a:tblGrid>
                <a:gridCol w="2179320"/>
                <a:gridCol w="2179320"/>
                <a:gridCol w="2179320"/>
                <a:gridCol w="2179320"/>
                <a:gridCol w="2179320"/>
              </a:tblGrid>
              <a:tr h="596265">
                <a:tc>
                  <a:txBody>
                    <a:bodyPr lIns="114300" tIns="114300" rIns="114300" bIns="114300">
                      <a:noAutofit/>
                    </a:bodyPr>
                    <a:lstStyle/>
                    <a:p>
                      <a:pPr algn="l"/>
                      <a:r>
                        <a:rPr sz="2100" b="1">
                          <a:solidFill>
                            <a:srgbClr val="FFFFFF"/>
                          </a:solidFill>
                          <a:latin typeface="Meiryo"/>
                          <a:ea typeface="Meiryo"/>
                          <a:cs typeface="Meiryo"/>
                        </a:rPr>
                        <a:t>1</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2</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3</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4</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5</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2 mm</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4 mm</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6 mm</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22 mm</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202 mm</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p:spTree>
    <p:extLst>
      <p:ext uri="{BB962C8B-B14F-4D97-AF65-F5344CB8AC3E}">
        <p14:creationId xmlns:p14="http://schemas.microsoft.com/office/powerpoint/2010/main" val="1046347849"/>
      </p:ext>
    </p:extLst>
  </p:cSld>
</p:sld>
</file>

<file path=ppt/slides/slide12.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15BB99B8-DEF5-47CB-9314-F4FEB25A0D14}"/>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3-Q</a:t>
            </a:r>
          </a:p>
        </p:txBody>
      </p:sp>
      <p:sp>
        <p:nvSpPr>
          <p:cNvPr id="2" name="本文1">
            <a:extLst xmlns:a="http://schemas.openxmlformats.org/drawingml/2006/main">
              <a:ext uri="{FF2B5EF4-FFF2-40B4-BE49-F238E27FC236}">
                <a16:creationId xmlns:a16="http://schemas.microsoft.com/office/drawing/2014/main" id="{D76E2FFC-DDE4-4B38-B88F-1F44241F9B62}"/>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解答：問1〜3</a:t>
            </a:r>
          </a:p>
        </p:txBody>
      </p:sp>
      <p:sp>
        <p:nvSpPr>
          <p:cNvPr id="3" name="本文2">
            <a:extLst xmlns:a="http://schemas.openxmlformats.org/drawingml/2006/main">
              <a:ext uri="{FF2B5EF4-FFF2-40B4-BE49-F238E27FC236}">
                <a16:creationId xmlns:a16="http://schemas.microsoft.com/office/drawing/2014/main" id="{0AB1AA9F-F5E0-4BA9-B95B-6FA46B69224E}"/>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12</a:t>
            </a:r>
          </a:p>
        </p:txBody>
      </p:sp>
      <p:sp>
        <p:nvSpPr>
          <p:cNvPr id="4" name="本文3">
            <a:extLst xmlns:a="http://schemas.openxmlformats.org/drawingml/2006/main">
              <a:ext uri="{FF2B5EF4-FFF2-40B4-BE49-F238E27FC236}">
                <a16:creationId xmlns:a16="http://schemas.microsoft.com/office/drawing/2014/main" id="{2A241029-5983-4D96-8E69-1D7C0826E81C}"/>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問3の「3.0 mm」は、1観測の標準偏差。</a:t>
            </a:r>
          </a:p>
        </p:txBody>
      </p:sp>
      <mc:AlternateContent xmlns:mc="http://schemas.openxmlformats.org/markup-compatibility/2006" xmlns:a14="http://schemas.microsoft.com/office/drawing/2010/main">
        <mc:Choice Requires="a14">
          <p:graphicFrame>
            <p:nvGraphicFramePr>
              <p:cNvPr id="5" name="">
                <a:extLst xmlns:a="http://schemas.openxmlformats.org/drawingml/2006/main">
                  <a:ext uri="{FF2B5EF4-FFF2-40B4-BE49-F238E27FC236}">
                    <a16:creationId xmlns:a16="http://schemas.microsoft.com/office/drawing/2014/main" id="{EE6F3340-7B6D-402A-A4FB-A76834B93208}"/>
                  </a:ext>
                </a:extLst>
              </p:cNvPr>
              <p:cNvGraphicFramePr/>
              <p:nvPr/>
            </p:nvGraphicFramePr>
            <p:xfrm>
              <a:off xmlns:a="http://schemas.openxmlformats.org/drawingml/2006/main" x="647700" y="1716405"/>
              <a:ext xmlns:a="http://schemas.openxmlformats.org/drawingml/2006/main" cx="10896600" cy="2651760"/>
            </p:xfrm>
            <a:graphic xmlns:a="http://schemas.openxmlformats.org/drawingml/2006/main">
              <a:graphicData uri="http://schemas.openxmlformats.org/drawingml/2006/table">
                <a:tbl>
                  <a:tblPr/>
                  <a:tblGrid>
                    <a:gridCol w="980694"/>
                    <a:gridCol w="2070354"/>
                    <a:gridCol w="7845552"/>
                  </a:tblGrid>
                  <a:tr h="596265">
                    <a:tc>
                      <a:txBody>
                        <a:bodyPr lIns="114300" tIns="114300" rIns="114300" bIns="114300">
                          <a:noAutofit/>
                        </a:bodyPr>
                        <a:lstStyle/>
                        <a:p>
                          <a:pPr algn="l"/>
                          <a:r>
                            <a:rPr sz="2100" b="1">
                              <a:solidFill>
                                <a:srgbClr val="FFFFFF"/>
                              </a:solidFill>
                              <a:latin typeface="Meiryo"/>
                              <a:ea typeface="Meiryo"/>
                              <a:cs typeface="Meiryo"/>
                            </a:rPr>
                            <a:t>問</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正答</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考え方</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729615">
                    <a:tc>
                      <a:txBody>
                        <a:bodyPr lIns="114300" tIns="114300" rIns="114300" bIns="114300">
                          <a:noAutofit/>
                        </a:bodyPr>
                        <a:lstStyle/>
                        <a:p>
                          <a:pPr algn="l"/>
                          <a:r>
                            <a:rPr sz="2100" b="0">
                              <a:solidFill>
                                <a:srgbClr val="213C4B"/>
                              </a:solidFill>
                              <a:latin typeface="Meiryo"/>
                              <a:ea typeface="Meiryo"/>
                              <a:cs typeface="Meiryo"/>
                            </a:rPr>
                            <a:t>1</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1">
                              <a:solidFill>
                                <a:srgbClr val="137D78"/>
                              </a:solidFill>
                              <a:latin typeface="Meiryo"/>
                              <a:ea typeface="Meiryo"/>
                              <a:cs typeface="Meiryo"/>
                            </a:rPr>
                            <a:t>3（c）</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独立・同精度なら平均の標準偏差は </a:t>
                          </a:r>
                          <a14:m xmlns:m="http://schemas.openxmlformats.org/officeDocument/2006/math">
                            <m:oMath xmlns:mml="http://www.w3.org/1998/Math/MathML">
                              <m:f>
                                <m:fPr>
                                  <m:type m:val="bar"/>
                                </m:fPr>
                                <m:num>
                                  <m:r>
                                    <a:rPr sz="2100" b="0" lang="en-US">
                                      <a:solidFill>
                                        <a:srgbClr val="213C4B"/>
                                      </a:solidFill>
                                      <a:latin typeface="Cambria Math"/>
                                      <a:ea typeface="Meiryo"/>
                                    </a:rPr>
                                    <m:t>σ</m:t>
                                  </m:r>
                                </m:num>
                                <m:den>
                                  <m:rad>
                                    <m:radPr>
                                      <m:degHide m:val="on"/>
                                    </m:radPr>
                                    <m:deg/>
                                    <m:e>
                                      <m:r>
                                        <a:rPr sz="2100" b="0" lang="en-US">
                                          <a:solidFill>
                                            <a:srgbClr val="213C4B"/>
                                          </a:solidFill>
                                          <a:latin typeface="Cambria Math"/>
                                          <a:ea typeface="Meiryo"/>
                                        </a:rPr>
                                        <m:t>n</m:t>
                                      </m:r>
                                    </m:e>
                                  </m:rad>
                                </m:den>
                              </m:f>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729615">
                    <a:tc>
                      <a:txBody>
                        <a:bodyPr lIns="114300" tIns="114300" rIns="114300" bIns="114300">
                          <a:noAutofit/>
                        </a:bodyPr>
                        <a:lstStyle/>
                        <a:p>
                          <a:pPr algn="l"/>
                          <a:r>
                            <a:rPr sz="2100" b="0">
                              <a:solidFill>
                                <a:srgbClr val="213C4B"/>
                              </a:solidFill>
                              <a:latin typeface="Meiryo"/>
                              <a:ea typeface="Meiryo"/>
                              <a:cs typeface="Meiryo"/>
                            </a:rPr>
                            <a:t>2</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1">
                              <a:solidFill>
                                <a:srgbClr val="137D78"/>
                              </a:solidFill>
                              <a:latin typeface="Meiryo"/>
                              <a:ea typeface="Meiryo"/>
                              <a:cs typeface="Meiryo"/>
                            </a:rPr>
                            <a:t>2</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acc>
                                <m:accPr>
                                  <m:chr m:val="ˉ"/>
                                </m:accPr>
                                <m:e>
                                  <m:r>
                                    <a:rPr sz="2100" b="0" lang="en-US">
                                      <a:solidFill>
                                        <a:srgbClr val="213C4B"/>
                                      </a:solidFill>
                                      <a:latin typeface="Cambria Math"/>
                                      <a:ea typeface="Meiryo"/>
                                    </a:rPr>
                                    <m:t>x</m:t>
                                  </m:r>
                                </m:e>
                              </m:acc>
                              <m:r>
                                <a:rPr sz="2100" b="0" lang="en-US">
                                  <a:solidFill>
                                    <a:srgbClr val="213C4B"/>
                                  </a:solidFill>
                                  <a:latin typeface="Cambria Math"/>
                                  <a:ea typeface="Meiryo"/>
                                </a:rPr>
                                <m:t>=</m:t>
                              </m:r>
                              <m:f>
                                <m:fPr>
                                  <m:type m:val="bar"/>
                                </m:fPr>
                                <m:num>
                                  <m:r>
                                    <a:rPr sz="2100" b="0" lang="en-US">
                                      <a:solidFill>
                                        <a:srgbClr val="213C4B"/>
                                      </a:solidFill>
                                      <a:latin typeface="Cambria Math"/>
                                      <a:ea typeface="Meiryo"/>
                                    </a:rPr>
                                    <m:t>250.030</m:t>
                                  </m:r>
                                </m:num>
                                <m:den>
                                  <m:r>
                                    <a:rPr sz="2100" b="0" lang="en-US">
                                      <a:solidFill>
                                        <a:srgbClr val="213C4B"/>
                                      </a:solidFill>
                                      <a:latin typeface="Cambria Math"/>
                                      <a:ea typeface="Meiryo"/>
                                    </a:rPr>
                                    <m:t>5</m:t>
                                  </m:r>
                                </m:den>
                              </m:f>
                              <m:r>
                                <a:rPr sz="2100" b="0" lang="en-US">
                                  <a:solidFill>
                                    <a:srgbClr val="213C4B"/>
                                  </a:solidFill>
                                  <a:latin typeface="Cambria Math"/>
                                  <a:ea typeface="Meiryo"/>
                                </a:rPr>
                                <m:t>=50.006</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3</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1">
                              <a:solidFill>
                                <a:srgbClr val="137D78"/>
                              </a:solidFill>
                              <a:latin typeface="Meiryo"/>
                              <a:ea typeface="Meiryo"/>
                              <a:cs typeface="Meiryo"/>
                            </a:rPr>
                            <a:t>2</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まず1観測の標準偏差：</a:t>
                          </a:r>
                          <a14:m xmlns:m="http://schemas.openxmlformats.org/officeDocument/2006/math">
                            <m:oMath xmlns:mml="http://www.w3.org/1998/Math/MathML">
                              <m:r>
                                <a:rPr sz="2100" b="0" lang="en-US">
                                  <a:solidFill>
                                    <a:srgbClr val="213C4B"/>
                                  </a:solidFill>
                                  <a:latin typeface="Cambria Math"/>
                                  <a:ea typeface="Meiryo"/>
                                </a:rPr>
                                <m:t>σ=3.0</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m:t>
                              </m:r>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Choice>
        <mc:Fallback>
          <p:graphicFrame>
            <p:nvGraphicFramePr>
              <p:cNvPr id="5" name="">
                <a:extLst xmlns:a="http://schemas.openxmlformats.org/drawingml/2006/main">
                  <a:ext uri="{FF2B5EF4-FFF2-40B4-BE49-F238E27FC236}">
                    <a16:creationId xmlns:a16="http://schemas.microsoft.com/office/drawing/2014/main" id="{EE6F3340-7B6D-402A-A4FB-A76834B93208}"/>
                  </a:ext>
                </a:extLst>
              </p:cNvPr>
              <p:cNvGraphicFramePr/>
              <p:nvPr/>
            </p:nvGraphicFramePr>
            <p:xfrm>
              <a:off xmlns:a="http://schemas.openxmlformats.org/drawingml/2006/main" x="647700" y="1716405"/>
              <a:ext xmlns:a="http://schemas.openxmlformats.org/drawingml/2006/main" cx="10896600" cy="2651760"/>
            </p:xfrm>
            <a:graphic xmlns:a="http://schemas.openxmlformats.org/drawingml/2006/main">
              <a:graphicData uri="http://schemas.openxmlformats.org/drawingml/2006/table">
                <a:tbl>
                  <a:tblPr/>
                  <a:tblGrid>
                    <a:gridCol w="980694"/>
                    <a:gridCol w="2070354"/>
                    <a:gridCol w="7845552"/>
                  </a:tblGrid>
                  <a:tr h="596265">
                    <a:tc>
                      <a:txBody>
                        <a:bodyPr lIns="114300" tIns="114300" rIns="114300" bIns="114300">
                          <a:noAutofit/>
                        </a:bodyPr>
                        <a:lstStyle/>
                        <a:p>
                          <a:pPr algn="l"/>
                          <a:r>
                            <a:rPr sz="2100" b="1">
                              <a:solidFill>
                                <a:srgbClr val="FFFFFF"/>
                              </a:solidFill>
                              <a:latin typeface="Meiryo"/>
                              <a:ea typeface="Meiryo"/>
                              <a:cs typeface="Meiryo"/>
                            </a:rPr>
                            <a:t>問</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正答</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考え方</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729615">
                    <a:tc>
                      <a:txBody>
                        <a:bodyPr lIns="114300" tIns="114300" rIns="114300" bIns="114300">
                          <a:noAutofit/>
                        </a:bodyPr>
                        <a:lstStyle/>
                        <a:p>
                          <a:pPr algn="l"/>
                          <a:r>
                            <a:rPr sz="2100" b="0">
                              <a:solidFill>
                                <a:srgbClr val="213C4B"/>
                              </a:solidFill>
                              <a:latin typeface="Meiryo"/>
                              <a:ea typeface="Meiryo"/>
                              <a:cs typeface="Meiryo"/>
                            </a:rPr>
                            <a:t>1</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1">
                              <a:solidFill>
                                <a:srgbClr val="137D78"/>
                              </a:solidFill>
                              <a:latin typeface="Meiryo"/>
                              <a:ea typeface="Meiryo"/>
                              <a:cs typeface="Meiryo"/>
                            </a:rPr>
                            <a:t>3（c）</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独立・同精度なら平均の標準偏差は </a:t>
                          </a:r>
                          <a:r>
                            <a:rPr sz="2100" b="0">
                              <a:solidFill>
                                <a:srgbClr val="213C4B"/>
                              </a:solidFill>
                              <a:latin typeface="Cambria Math"/>
                              <a:ea typeface="Cambria Math"/>
                              <a:cs typeface="Cambria Math"/>
                            </a:rPr>
                            <a:t>\frac{\sigma}{\sqrt n}</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729615">
                    <a:tc>
                      <a:txBody>
                        <a:bodyPr lIns="114300" tIns="114300" rIns="114300" bIns="114300">
                          <a:noAutofit/>
                        </a:bodyPr>
                        <a:lstStyle/>
                        <a:p>
                          <a:pPr algn="l"/>
                          <a:r>
                            <a:rPr sz="2100" b="0">
                              <a:solidFill>
                                <a:srgbClr val="213C4B"/>
                              </a:solidFill>
                              <a:latin typeface="Meiryo"/>
                              <a:ea typeface="Meiryo"/>
                              <a:cs typeface="Meiryo"/>
                            </a:rPr>
                            <a:t>2</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1">
                              <a:solidFill>
                                <a:srgbClr val="137D78"/>
                              </a:solidFill>
                              <a:latin typeface="Meiryo"/>
                              <a:ea typeface="Meiryo"/>
                              <a:cs typeface="Meiryo"/>
                            </a:rPr>
                            <a:t>2</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Cambria Math"/>
                              <a:ea typeface="Cambria Math"/>
                              <a:cs typeface="Cambria Math"/>
                            </a:rPr>
                            <a:t>\bar{x}=\frac{250.030}{5}=50.006\ \mathrm{m}</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3</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1">
                              <a:solidFill>
                                <a:srgbClr val="137D78"/>
                              </a:solidFill>
                              <a:latin typeface="Meiryo"/>
                              <a:ea typeface="Meiryo"/>
                              <a:cs typeface="Meiryo"/>
                            </a:rPr>
                            <a:t>2</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まず1観測の標準偏差：</a:t>
                          </a:r>
                          <a:r>
                            <a:rPr sz="2100" b="0">
                              <a:solidFill>
                                <a:srgbClr val="213C4B"/>
                              </a:solidFill>
                              <a:latin typeface="Cambria Math"/>
                              <a:ea typeface="Cambria Math"/>
                              <a:cs typeface="Cambria Math"/>
                            </a:rPr>
                            <a:t>\sigma=3.0\ \mathrm{mm}</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Fallback>
      </mc:AlternateContent>
      <mc:AlternateContent xmlns:mc="http://schemas.openxmlformats.org/markup-compatibility/2006" xmlns:a14="http://schemas.microsoft.com/office/drawing/2010/main">
        <mc:Choice Requires="a14">
          <p:sp>
            <p:nvSpPr>
              <p:cNvPr id="6" name="EQM00017">
                <a:extLst xmlns:a="http://schemas.openxmlformats.org/drawingml/2006/main">
                  <a:ext uri="{FF2B5EF4-FFF2-40B4-BE49-F238E27FC236}">
                    <a16:creationId xmlns:a16="http://schemas.microsoft.com/office/drawing/2014/main" id="{ABB51CF0-7257-44C5-B28E-C9F4860695B7}"/>
                  </a:ext>
                </a:extLst>
              </p:cNvPr>
              <p:cNvSpPr>
                <a:spLocks xmlns:a="http://schemas.openxmlformats.org/drawingml/2006/main" noGrp="1"/>
              </p:cNvSpPr>
              <p:nvPr/>
            </p:nvSpPr>
            <p:spPr>
              <a:xfrm xmlns:a="http://schemas.openxmlformats.org/drawingml/2006/main">
                <a:off x="647700" y="4539615"/>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sSub>
                        <m:e>
                          <m:r>
                            <a:rPr sz="2700" b="0" lang="en-US">
                              <a:solidFill>
                                <a:srgbClr val="153D50"/>
                              </a:solidFill>
                              <a:latin typeface="Cambria Math"/>
                              <a:ea typeface="Meiryo"/>
                            </a:rPr>
                            <m:t>σ</m:t>
                          </m:r>
                        </m:e>
                        <m:sub>
                          <m:acc>
                            <m:accPr>
                              <m:chr m:val="ˉ"/>
                            </m:accPr>
                            <m:e>
                              <m:r>
                                <a:rPr sz="2700" b="0" lang="en-US">
                                  <a:solidFill>
                                    <a:srgbClr val="153D50"/>
                                  </a:solidFill>
                                  <a:latin typeface="Cambria Math"/>
                                  <a:ea typeface="Meiryo"/>
                                </a:rPr>
                                <m:t>x</m:t>
                              </m:r>
                            </m:e>
                          </m:acc>
                        </m:sub>
                      </m:sSub>
                      <m:r>
                        <a:rPr sz="2700" b="0" lang="en-US">
                          <a:solidFill>
                            <a:srgbClr val="153D50"/>
                          </a:solidFill>
                          <a:latin typeface="Cambria Math"/>
                          <a:ea typeface="Meiryo"/>
                        </a:rPr>
                        <m:t>=</m:t>
                      </m:r>
                      <m:f>
                        <m:fPr>
                          <m:type m:val="bar"/>
                        </m:fPr>
                        <m:num>
                          <m:r>
                            <a:rPr sz="2700" b="0" lang="en-US">
                              <a:solidFill>
                                <a:srgbClr val="153D50"/>
                              </a:solidFill>
                              <a:latin typeface="Cambria Math"/>
                              <a:ea typeface="Meiryo"/>
                            </a:rPr>
                            <m:t>3.0</m:t>
                          </m:r>
                        </m:num>
                        <m:den>
                          <m:rad>
                            <m:radPr>
                              <m:degHide m:val="on"/>
                            </m:radPr>
                            <m:deg/>
                            <m:e>
                              <m:r>
                                <a:rPr sz="2700" b="0" lang="en-US">
                                  <a:solidFill>
                                    <a:srgbClr val="153D50"/>
                                  </a:solidFill>
                                  <a:latin typeface="Cambria Math"/>
                                  <a:ea typeface="Meiryo"/>
                                </a:rPr>
                                <m:t>4</m:t>
                              </m:r>
                            </m:e>
                          </m:rad>
                        </m:den>
                      </m:f>
                      <m:r>
                        <a:rPr sz="2700" b="0" lang="en-US">
                          <a:solidFill>
                            <a:srgbClr val="153D50"/>
                          </a:solidFill>
                          <a:latin typeface="Cambria Math"/>
                          <a:ea typeface="Meiryo"/>
                        </a:rPr>
                        <m:t>=1.5</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m:t>
                      </m:r>
                    </m:oMath>
                  </m:oMathPara>
                </a14:m>
              </a:p>
            </p:txBody>
          </p:sp>
        </mc:Choice>
        <mc:Fallback>
          <p:sp>
            <p:nvSpPr>
              <p:cNvPr id="6" name="EQM00017">
                <a:extLst xmlns:a="http://schemas.openxmlformats.org/drawingml/2006/main">
                  <a:ext uri="{FF2B5EF4-FFF2-40B4-BE49-F238E27FC236}">
                    <a16:creationId xmlns:a16="http://schemas.microsoft.com/office/drawing/2014/main" id="{ABB51CF0-7257-44C5-B28E-C9F4860695B7}"/>
                  </a:ext>
                </a:extLst>
              </p:cNvPr>
              <p:cNvSpPr>
                <a:spLocks xmlns:a="http://schemas.openxmlformats.org/drawingml/2006/main" noGrp="1"/>
              </p:cNvSpPr>
              <p:nvPr/>
            </p:nvSpPr>
            <p:spPr>
              <a:xfrm xmlns:a="http://schemas.openxmlformats.org/drawingml/2006/main">
                <a:off x="647700" y="4539615"/>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\sigma_{\bar{x}}=\frac{3.0}{\sqrt{4}}=1.5\ \mathrm{mm}</a:t>
                </a:r>
              </a:p>
            </p:txBody>
          </p:sp>
        </mc:Fallback>
      </mc:AlternateContent>
    </p:spTree>
    <p:extLst>
      <p:ext uri="{BB962C8B-B14F-4D97-AF65-F5344CB8AC3E}">
        <p14:creationId xmlns:p14="http://schemas.microsoft.com/office/powerpoint/2010/main" val="657707405"/>
      </p:ext>
    </p:extLst>
  </p:cSld>
</p:sld>
</file>

<file path=ppt/slides/slide13.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9F68DA53-11EA-440D-8173-5E0BCBC396AF}"/>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3-Q</a:t>
            </a:r>
          </a:p>
        </p:txBody>
      </p:sp>
      <p:sp>
        <p:nvSpPr>
          <p:cNvPr id="2" name="本文1">
            <a:extLst xmlns:a="http://schemas.openxmlformats.org/drawingml/2006/main">
              <a:ext uri="{FF2B5EF4-FFF2-40B4-BE49-F238E27FC236}">
                <a16:creationId xmlns:a16="http://schemas.microsoft.com/office/drawing/2014/main" id="{57C213AB-0B9A-46E7-876B-5FD98AB2765B}"/>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解答：問4〜5</a:t>
            </a:r>
          </a:p>
        </p:txBody>
      </p:sp>
      <p:sp>
        <p:nvSpPr>
          <p:cNvPr id="3" name="本文2">
            <a:extLst xmlns:a="http://schemas.openxmlformats.org/drawingml/2006/main">
              <a:ext uri="{FF2B5EF4-FFF2-40B4-BE49-F238E27FC236}">
                <a16:creationId xmlns:a16="http://schemas.microsoft.com/office/drawing/2014/main" id="{53AC9705-ADFD-41BC-ABC9-63F680891BF0}"/>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13</a:t>
            </a:r>
          </a:p>
        </p:txBody>
      </p:sp>
      <p:sp>
        <p:nvSpPr>
          <p:cNvPr id="4" name="本文3">
            <a:extLst xmlns:a="http://schemas.openxmlformats.org/drawingml/2006/main">
              <a:ext uri="{FF2B5EF4-FFF2-40B4-BE49-F238E27FC236}">
                <a16:creationId xmlns:a16="http://schemas.microsoft.com/office/drawing/2014/main" id="{383A2ACD-C512-4F38-A8C5-58D3291FBFEC}"/>
              </a:ext>
            </a:extLst>
          </p:cNvPr>
          <p:cNvSpPr>
            <a:spLocks xmlns:a="http://schemas.openxmlformats.org/drawingml/2006/main" noGrp="1"/>
          </p:cNvSpPr>
          <p:nvPr/>
        </p:nvSpPr>
        <p:spPr>
          <a:xfrm xmlns:a="http://schemas.openxmlformats.org/drawingml/2006/main">
            <a:off x="647700" y="19621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問4の正答は </a:t>
            </a:r>
            <a:r>
              <a:rPr sz="2100" b="1">
                <a:solidFill>
                  <a:srgbClr val="137D78"/>
                </a:solidFill>
                <a:latin typeface="Meiryo"/>
                <a:ea typeface="Meiryo"/>
                <a:cs typeface="Meiryo"/>
              </a:rPr>
              <a:t>3（10.014 m）</a:t>
            </a:r>
            <a:r>
              <a:rPr sz="2100" b="0">
                <a:solidFill>
                  <a:srgbClr val="213C4B"/>
                </a:solidFill>
                <a:latin typeface="Meiryo"/>
                <a:ea typeface="Meiryo"/>
                <a:cs typeface="Meiryo"/>
              </a:rPr>
              <a:t>。短い路線に大きな重み。</a:t>
            </a:r>
          </a:p>
        </p:txBody>
      </p:sp>
      <mc:AlternateContent xmlns:mc="http://schemas.openxmlformats.org/markup-compatibility/2006" xmlns:a14="http://schemas.microsoft.com/office/drawing/2010/main">
        <mc:Choice Requires="a14">
          <p:sp>
            <p:nvSpPr>
              <p:cNvPr id="5" name="EQM00018">
                <a:extLst xmlns:a="http://schemas.openxmlformats.org/drawingml/2006/main">
                  <a:ext uri="{FF2B5EF4-FFF2-40B4-BE49-F238E27FC236}">
                    <a16:creationId xmlns:a16="http://schemas.microsoft.com/office/drawing/2014/main" id="{32824A64-65A8-43D9-8DFE-276F6DD7B3E9}"/>
                  </a:ext>
                </a:extLst>
              </p:cNvPr>
              <p:cNvSpPr>
                <a:spLocks xmlns:a="http://schemas.openxmlformats.org/drawingml/2006/main" noGrp="1"/>
              </p:cNvSpPr>
              <p:nvPr/>
            </p:nvSpPr>
            <p:spPr>
              <a:xfrm xmlns:a="http://schemas.openxmlformats.org/drawingml/2006/main">
                <a:off x="647700" y="2609850"/>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sSub>
                        <m:e>
                          <m:r>
                            <a:rPr sz="2700" b="0" lang="en-US">
                              <a:solidFill>
                                <a:srgbClr val="153D50"/>
                              </a:solidFill>
                              <a:latin typeface="Cambria Math"/>
                              <a:ea typeface="Meiryo"/>
                            </a:rPr>
                            <m:t>w</m:t>
                          </m:r>
                        </m:e>
                        <m:sub>
                          <m:r>
                            <a:rPr sz="2700" b="0" lang="en-US">
                              <a:solidFill>
                                <a:srgbClr val="153D50"/>
                              </a:solidFill>
                              <a:latin typeface="Cambria Math"/>
                              <a:ea typeface="Meiryo"/>
                            </a:rPr>
                            <m:t>1</m:t>
                          </m:r>
                        </m:sub>
                      </m:sSub>
                      <m:r>
                        <a:rPr sz="2700" b="0" lang="en-US">
                          <a:solidFill>
                            <a:srgbClr val="153D50"/>
                          </a:solidFill>
                          <a:latin typeface="Cambria Math"/>
                          <a:ea typeface="Meiryo"/>
                        </a:rPr>
                        <m:t>:</m:t>
                      </m:r>
                      <m:sSub>
                        <m:e>
                          <m:r>
                            <a:rPr sz="2700" b="0" lang="en-US">
                              <a:solidFill>
                                <a:srgbClr val="153D50"/>
                              </a:solidFill>
                              <a:latin typeface="Cambria Math"/>
                              <a:ea typeface="Meiryo"/>
                            </a:rPr>
                            <m:t>w</m:t>
                          </m:r>
                        </m:e>
                        <m:sub>
                          <m:r>
                            <a:rPr sz="2700" b="0" lang="en-US">
                              <a:solidFill>
                                <a:srgbClr val="153D50"/>
                              </a:solidFill>
                              <a:latin typeface="Cambria Math"/>
                              <a:ea typeface="Meiryo"/>
                            </a:rPr>
                            <m:t>2</m:t>
                          </m:r>
                        </m:sub>
                      </m:sSub>
                      <m:r>
                        <a:rPr sz="2700" b="0" lang="en-US">
                          <a:solidFill>
                            <a:srgbClr val="153D50"/>
                          </a:solidFill>
                          <a:latin typeface="Cambria Math"/>
                          <a:ea typeface="Meiryo"/>
                        </a:rPr>
                        <m:t>=</m:t>
                      </m:r>
                      <m:f>
                        <m:fPr>
                          <m:type m:val="bar"/>
                        </m:fPr>
                        <m:num>
                          <m:r>
                            <a:rPr sz="2700" b="0" lang="en-US">
                              <a:solidFill>
                                <a:srgbClr val="153D50"/>
                              </a:solidFill>
                              <a:latin typeface="Cambria Math"/>
                              <a:ea typeface="Meiryo"/>
                            </a:rPr>
                            <m:t>1</m:t>
                          </m:r>
                        </m:num>
                        <m:den>
                          <m:r>
                            <a:rPr sz="2700" b="0" lang="en-US">
                              <a:solidFill>
                                <a:srgbClr val="153D50"/>
                              </a:solidFill>
                              <a:latin typeface="Cambria Math"/>
                              <a:ea typeface="Meiryo"/>
                            </a:rPr>
                            <m:t>2</m:t>
                          </m:r>
                        </m:den>
                      </m:f>
                      <m:r>
                        <a:rPr sz="2700" b="0" lang="en-US">
                          <a:solidFill>
                            <a:srgbClr val="153D50"/>
                          </a:solidFill>
                          <a:latin typeface="Cambria Math"/>
                          <a:ea typeface="Meiryo"/>
                        </a:rPr>
                        <m:t>:</m:t>
                      </m:r>
                      <m:f>
                        <m:fPr>
                          <m:type m:val="bar"/>
                        </m:fPr>
                        <m:num>
                          <m:r>
                            <a:rPr sz="2700" b="0" lang="en-US">
                              <a:solidFill>
                                <a:srgbClr val="153D50"/>
                              </a:solidFill>
                              <a:latin typeface="Cambria Math"/>
                              <a:ea typeface="Meiryo"/>
                            </a:rPr>
                            <m:t>1</m:t>
                          </m:r>
                        </m:num>
                        <m:den>
                          <m:r>
                            <a:rPr sz="2700" b="0" lang="en-US">
                              <a:solidFill>
                                <a:srgbClr val="153D50"/>
                              </a:solidFill>
                              <a:latin typeface="Cambria Math"/>
                              <a:ea typeface="Meiryo"/>
                            </a:rPr>
                            <m:t>4</m:t>
                          </m:r>
                        </m:den>
                      </m:f>
                      <m:r>
                        <a:rPr sz="2700" b="0" lang="en-US">
                          <a:solidFill>
                            <a:srgbClr val="153D50"/>
                          </a:solidFill>
                          <a:latin typeface="Cambria Math"/>
                          <a:ea typeface="Meiryo"/>
                        </a:rPr>
                        <m:t>=2:1,</m:t>
                      </m:r>
                      <m:r>
                        <m:rPr>
                          <m:nor/>
                        </m:rPr>
                        <a:rPr sz="2700" b="0" lang="en-US">
                          <a:solidFill>
                            <a:srgbClr val="153D50"/>
                          </a:solidFill>
                          <a:latin typeface="Cambria Math"/>
                          <a:ea typeface="Meiryo"/>
                        </a:rPr>
                        <m:t>  </m:t>
                      </m:r>
                      <m:acc>
                        <m:accPr>
                          <m:chr m:val="ˉ"/>
                        </m:accPr>
                        <m:e>
                          <m:r>
                            <a:rPr sz="2700" b="0" lang="en-US">
                              <a:solidFill>
                                <a:srgbClr val="153D50"/>
                              </a:solidFill>
                              <a:latin typeface="Cambria Math"/>
                              <a:ea typeface="Meiryo"/>
                            </a:rPr>
                            <m:t>H</m:t>
                          </m:r>
                        </m:e>
                      </m:acc>
                      <m:r>
                        <a:rPr sz="2700" b="0" lang="en-US">
                          <a:solidFill>
                            <a:srgbClr val="153D50"/>
                          </a:solidFill>
                          <a:latin typeface="Cambria Math"/>
                          <a:ea typeface="Meiryo"/>
                        </a:rPr>
                        <m:t>=</m:t>
                      </m:r>
                      <m:f>
                        <m:fPr>
                          <m:type m:val="bar"/>
                        </m:fPr>
                        <m:num>
                          <m:r>
                            <a:rPr sz="2700" b="0" lang="en-US">
                              <a:solidFill>
                                <a:srgbClr val="153D50"/>
                              </a:solidFill>
                              <a:latin typeface="Cambria Math"/>
                              <a:ea typeface="Meiryo"/>
                            </a:rPr>
                            <m:t>2×10.012+10.018</m:t>
                          </m:r>
                        </m:num>
                        <m:den>
                          <m:r>
                            <a:rPr sz="2700" b="0" lang="en-US">
                              <a:solidFill>
                                <a:srgbClr val="153D50"/>
                              </a:solidFill>
                              <a:latin typeface="Cambria Math"/>
                              <a:ea typeface="Meiryo"/>
                            </a:rPr>
                            <m:t>3</m:t>
                          </m:r>
                        </m:den>
                      </m:f>
                      <m:r>
                        <a:rPr sz="2700" b="0" lang="en-US">
                          <a:solidFill>
                            <a:srgbClr val="153D50"/>
                          </a:solidFill>
                          <a:latin typeface="Cambria Math"/>
                          <a:ea typeface="Meiryo"/>
                        </a:rPr>
                        <m:t>=10.014</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oMath>
                  </m:oMathPara>
                </a14:m>
              </a:p>
            </p:txBody>
          </p:sp>
        </mc:Choice>
        <mc:Fallback>
          <p:sp>
            <p:nvSpPr>
              <p:cNvPr id="5" name="EQM00018">
                <a:extLst xmlns:a="http://schemas.openxmlformats.org/drawingml/2006/main">
                  <a:ext uri="{FF2B5EF4-FFF2-40B4-BE49-F238E27FC236}">
                    <a16:creationId xmlns:a16="http://schemas.microsoft.com/office/drawing/2014/main" id="{32824A64-65A8-43D9-8DFE-276F6DD7B3E9}"/>
                  </a:ext>
                </a:extLst>
              </p:cNvPr>
              <p:cNvSpPr>
                <a:spLocks xmlns:a="http://schemas.openxmlformats.org/drawingml/2006/main" noGrp="1"/>
              </p:cNvSpPr>
              <p:nvPr/>
            </p:nvSpPr>
            <p:spPr>
              <a:xfrm xmlns:a="http://schemas.openxmlformats.org/drawingml/2006/main">
                <a:off x="647700" y="2609850"/>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w_1:w_2=\frac12:\frac14=2:1,\qquad
\bar{H}=\frac{2\times10.012+10.018}{3}=10.014\ \mathrm{m}</a:t>
                </a:r>
              </a:p>
            </p:txBody>
          </p:sp>
        </mc:Fallback>
      </mc:AlternateContent>
      <p:sp>
        <p:nvSpPr>
          <p:cNvPr id="6" name="本文5">
            <a:extLst xmlns:a="http://schemas.openxmlformats.org/drawingml/2006/main">
              <a:ext uri="{FF2B5EF4-FFF2-40B4-BE49-F238E27FC236}">
                <a16:creationId xmlns:a16="http://schemas.microsoft.com/office/drawing/2014/main" id="{B6ADF0D8-84EF-43ED-9403-4415D076388E}"/>
              </a:ext>
            </a:extLst>
          </p:cNvPr>
          <p:cNvSpPr>
            <a:spLocks xmlns:a="http://schemas.openxmlformats.org/drawingml/2006/main" noGrp="1"/>
          </p:cNvSpPr>
          <p:nvPr/>
        </p:nvSpPr>
        <p:spPr>
          <a:xfrm xmlns:a="http://schemas.openxmlformats.org/drawingml/2006/main">
            <a:off x="647700" y="36195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問5の正答は </a:t>
            </a:r>
            <a:r>
              <a:rPr sz="2100" b="1">
                <a:solidFill>
                  <a:srgbClr val="137D78"/>
                </a:solidFill>
                <a:latin typeface="Meiryo"/>
                <a:ea typeface="Meiryo"/>
                <a:cs typeface="Meiryo"/>
              </a:rPr>
              <a:t>2（4 mm）</a:t>
            </a:r>
            <a:r>
              <a:rPr sz="2100" b="0">
                <a:solidFill>
                  <a:srgbClr val="213C4B"/>
                </a:solidFill>
                <a:latin typeface="Meiryo"/>
                <a:ea typeface="Meiryo"/>
                <a:cs typeface="Meiryo"/>
              </a:rPr>
              <a:t>。まず単位をmmにそろえる。</a:t>
            </a:r>
          </a:p>
        </p:txBody>
      </p:sp>
      <mc:AlternateContent xmlns:mc="http://schemas.openxmlformats.org/markup-compatibility/2006" xmlns:a14="http://schemas.microsoft.com/office/drawing/2010/main">
        <mc:Choice Requires="a14">
          <p:sp>
            <p:nvSpPr>
              <p:cNvPr id="7" name="EQM00019">
                <a:extLst xmlns:a="http://schemas.openxmlformats.org/drawingml/2006/main">
                  <a:ext uri="{FF2B5EF4-FFF2-40B4-BE49-F238E27FC236}">
                    <a16:creationId xmlns:a16="http://schemas.microsoft.com/office/drawing/2014/main" id="{F561F959-1C61-44AA-A6D1-86AC945B7707}"/>
                  </a:ext>
                </a:extLst>
              </p:cNvPr>
              <p:cNvSpPr>
                <a:spLocks xmlns:a="http://schemas.openxmlformats.org/drawingml/2006/main" noGrp="1"/>
              </p:cNvSpPr>
              <p:nvPr/>
            </p:nvSpPr>
            <p:spPr>
              <a:xfrm xmlns:a="http://schemas.openxmlformats.org/drawingml/2006/main">
                <a:off x="647700" y="4267200"/>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r>
                        <a:rPr sz="2700" b="0" lang="en-US">
                          <a:solidFill>
                            <a:srgbClr val="153D50"/>
                          </a:solidFill>
                          <a:latin typeface="Cambria Math"/>
                          <a:ea typeface="Meiryo"/>
                        </a:rPr>
                        <m:t>2+2×</m:t>
                      </m:r>
                      <m:sSup>
                        <m:e>
                          <m:r>
                            <a:rPr sz="2700" b="0" lang="en-US">
                              <a:solidFill>
                                <a:srgbClr val="153D50"/>
                              </a:solidFill>
                              <a:latin typeface="Cambria Math"/>
                              <a:ea typeface="Meiryo"/>
                            </a:rPr>
                            <m:t>10</m:t>
                          </m:r>
                        </m:e>
                        <m:sup>
                          <m:r>
                            <a:rPr sz="2700" b="0" lang="en-US">
                              <a:solidFill>
                                <a:srgbClr val="153D50"/>
                              </a:solidFill>
                              <a:latin typeface="Cambria Math"/>
                              <a:ea typeface="Meiryo"/>
                            </a:rPr>
                            <m:t>−6</m:t>
                          </m:r>
                        </m:sup>
                      </m:sSup>
                      <m:r>
                        <a:rPr sz="2700" b="0" lang="en-US">
                          <a:solidFill>
                            <a:srgbClr val="153D50"/>
                          </a:solidFill>
                          <a:latin typeface="Cambria Math"/>
                          <a:ea typeface="Meiryo"/>
                        </a:rPr>
                        <m:t>×</m:t>
                      </m:r>
                      <m:sSup>
                        <m:e>
                          <m:r>
                            <a:rPr sz="2700" b="0" lang="en-US">
                              <a:solidFill>
                                <a:srgbClr val="153D50"/>
                              </a:solidFill>
                              <a:latin typeface="Cambria Math"/>
                              <a:ea typeface="Meiryo"/>
                            </a:rPr>
                            <m:t>10</m:t>
                          </m:r>
                        </m:e>
                        <m:sup>
                          <m:r>
                            <a:rPr sz="2700" b="0" lang="en-US">
                              <a:solidFill>
                                <a:srgbClr val="153D50"/>
                              </a:solidFill>
                              <a:latin typeface="Cambria Math"/>
                              <a:ea typeface="Meiryo"/>
                            </a:rPr>
                            <m:t>6</m:t>
                          </m:r>
                        </m:sup>
                      </m:sSup>
                      <m:r>
                        <a:rPr sz="2700" b="0" lang="en-US">
                          <a:solidFill>
                            <a:srgbClr val="153D50"/>
                          </a:solidFill>
                          <a:latin typeface="Cambria Math"/>
                          <a:ea typeface="Meiryo"/>
                        </a:rPr>
                        <m:t>=4</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m:t>
                      </m:r>
                    </m:oMath>
                  </m:oMathPara>
                </a14:m>
              </a:p>
            </p:txBody>
          </p:sp>
        </mc:Choice>
        <mc:Fallback>
          <p:sp>
            <p:nvSpPr>
              <p:cNvPr id="7" name="EQM00019">
                <a:extLst xmlns:a="http://schemas.openxmlformats.org/drawingml/2006/main">
                  <a:ext uri="{FF2B5EF4-FFF2-40B4-BE49-F238E27FC236}">
                    <a16:creationId xmlns:a16="http://schemas.microsoft.com/office/drawing/2014/main" id="{F561F959-1C61-44AA-A6D1-86AC945B7707}"/>
                  </a:ext>
                </a:extLst>
              </p:cNvPr>
              <p:cNvSpPr>
                <a:spLocks xmlns:a="http://schemas.openxmlformats.org/drawingml/2006/main" noGrp="1"/>
              </p:cNvSpPr>
              <p:nvPr/>
            </p:nvSpPr>
            <p:spPr>
              <a:xfrm xmlns:a="http://schemas.openxmlformats.org/drawingml/2006/main">
                <a:off x="647700" y="4267200"/>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2+2\times10^{-6}\times10^6=4\ \mathrm{mm}</a:t>
                </a:r>
              </a:p>
            </p:txBody>
          </p:sp>
        </mc:Fallback>
      </mc:AlternateContent>
    </p:spTree>
    <p:extLst>
      <p:ext uri="{BB962C8B-B14F-4D97-AF65-F5344CB8AC3E}">
        <p14:creationId xmlns:p14="http://schemas.microsoft.com/office/powerpoint/2010/main" val="377094686"/>
      </p:ext>
    </p:extLst>
  </p:cSld>
</p:sld>
</file>

<file path=ppt/slides/slide14.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19086CC7-EE1E-4074-9C5B-32B3EBFEC149}"/>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3-1</a:t>
            </a:r>
          </a:p>
        </p:txBody>
      </p:sp>
      <p:sp>
        <p:nvSpPr>
          <p:cNvPr id="2" name="本文1">
            <a:extLst xmlns:a="http://schemas.openxmlformats.org/drawingml/2006/main">
              <a:ext uri="{FF2B5EF4-FFF2-40B4-BE49-F238E27FC236}">
                <a16:creationId xmlns:a16="http://schemas.microsoft.com/office/drawing/2014/main" id="{81325E7E-E6AE-4852-8C5B-394561B7B215}"/>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座標：点に「数の組」を対応させる</a:t>
            </a:r>
          </a:p>
        </p:txBody>
      </p:sp>
      <p:sp>
        <p:nvSpPr>
          <p:cNvPr id="3" name="本文2">
            <a:extLst xmlns:a="http://schemas.openxmlformats.org/drawingml/2006/main">
              <a:ext uri="{FF2B5EF4-FFF2-40B4-BE49-F238E27FC236}">
                <a16:creationId xmlns:a16="http://schemas.microsoft.com/office/drawing/2014/main" id="{EA930153-DF2A-45BE-BD31-285327D0D3AA}"/>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14</a:t>
            </a:r>
          </a:p>
        </p:txBody>
      </p:sp>
      <p:sp>
        <p:nvSpPr>
          <p:cNvPr id="4" name="本文3">
            <a:extLst xmlns:a="http://schemas.openxmlformats.org/drawingml/2006/main">
              <a:ext uri="{FF2B5EF4-FFF2-40B4-BE49-F238E27FC236}">
                <a16:creationId xmlns:a16="http://schemas.microsoft.com/office/drawing/2014/main" id="{C1294EB5-8F90-4024-A82F-2490CD65D4B4}"/>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座標系で決めるのは </a:t>
            </a:r>
            <a:r>
              <a:rPr sz="1950" b="1">
                <a:solidFill>
                  <a:srgbClr val="137D78"/>
                </a:solidFill>
                <a:latin typeface="Meiryo"/>
                <a:ea typeface="Meiryo"/>
                <a:cs typeface="Meiryo"/>
              </a:rPr>
              <a:t>原点・軸の向き・単位</a:t>
            </a:r>
            <a:r>
              <a:rPr sz="1950" b="0">
                <a:solidFill>
                  <a:srgbClr val="213C4B"/>
                </a:solidFill>
                <a:latin typeface="Meiryo"/>
                <a:ea typeface="Meiryo"/>
                <a:cs typeface="Meiryo"/>
              </a:rPr>
              <a:t>。</a:t>
            </a:r>
          </a:p>
        </p:txBody>
      </p:sp>
      <p:sp>
        <p:nvSpPr>
          <p:cNvPr id="5" name="本文4">
            <a:extLst xmlns:a="http://schemas.openxmlformats.org/drawingml/2006/main">
              <a:ext uri="{FF2B5EF4-FFF2-40B4-BE49-F238E27FC236}">
                <a16:creationId xmlns:a16="http://schemas.microsoft.com/office/drawing/2014/main" id="{7E6B4BBA-E46B-49E3-B036-60940E7DAB7D}"/>
              </a:ext>
            </a:extLst>
          </p:cNvPr>
          <p:cNvSpPr>
            <a:spLocks xmlns:a="http://schemas.openxmlformats.org/drawingml/2006/main" noGrp="1"/>
          </p:cNvSpPr>
          <p:nvPr/>
        </p:nvSpPr>
        <p:spPr>
          <a:xfrm xmlns:a="http://schemas.openxmlformats.org/drawingml/2006/main">
            <a:off x="647700" y="20097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同じ点Pでも、座標系を変えると数値が変わる。</a:t>
            </a:r>
          </a:p>
        </p:txBody>
      </p:sp>
      <p:pic>
        <p:nvPicPr>
          <p:cNvPr id="6" name="">
            <a:extLst xmlns:a="http://schemas.openxmlformats.org/drawingml/2006/main">
              <a:ext uri="{FF2B5EF4-FFF2-40B4-BE49-F238E27FC236}">
                <a16:creationId xmlns:a16="http://schemas.microsoft.com/office/drawing/2014/main" id="{54CB32E0-6456-4142-8899-75DCCA713971}"/>
              </a:ext>
            </a:extLst>
          </p:cNvPr>
          <p:cNvPicPr>
            <a:picLocks xmlns:a="http://schemas.openxmlformats.org/drawingml/2006/main" noChangeAspect="1"/>
          </p:cNvPicPr>
          <p:nvPr/>
        </p:nvPicPr>
        <p:blipFill>
          <a:blip xmlns:r="http://schemas.openxmlformats.org/officeDocument/2006/relationships" xmlns:a="http://schemas.openxmlformats.org/drawingml/2006/main" r:embed="Rcb30159bf2054698"/>
          <a:stretch xmlns:a="http://schemas.openxmlformats.org/drawingml/2006/main"/>
        </p:blipFill>
        <p:spPr>
          <a:xfrm xmlns:a="http://schemas.openxmlformats.org/drawingml/2006/main">
            <a:off x="590550" y="2850198"/>
            <a:ext cx="11010900" cy="3119755"/>
          </a:xfrm>
          <a:prstGeom xmlns:a="http://schemas.openxmlformats.org/drawingml/2006/main" prst="rect">
            <a:avLst/>
          </a:prstGeom>
        </p:spPr>
      </p:pic>
    </p:spTree>
    <p:extLst>
      <p:ext uri="{BB962C8B-B14F-4D97-AF65-F5344CB8AC3E}">
        <p14:creationId xmlns:p14="http://schemas.microsoft.com/office/powerpoint/2010/main" val="212704379"/>
      </p:ext>
    </p:extLst>
  </p:cSld>
</p:sld>
</file>

<file path=ppt/slides/slide15.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9" name="本文0">
            <a:extLst xmlns:a="http://schemas.openxmlformats.org/drawingml/2006/main">
              <a:ext uri="{FF2B5EF4-FFF2-40B4-BE49-F238E27FC236}">
                <a16:creationId xmlns:a16="http://schemas.microsoft.com/office/drawing/2014/main" id="{E9C8CB03-2F60-4C29-B85B-73DD5CF19AAB}"/>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3-1</a:t>
            </a:r>
          </a:p>
        </p:txBody>
      </p:sp>
      <p:sp>
        <p:nvSpPr>
          <p:cNvPr id="2" name="本文1">
            <a:extLst xmlns:a="http://schemas.openxmlformats.org/drawingml/2006/main">
              <a:ext uri="{FF2B5EF4-FFF2-40B4-BE49-F238E27FC236}">
                <a16:creationId xmlns:a16="http://schemas.microsoft.com/office/drawing/2014/main" id="{BC0ECF3E-8952-4259-98A0-29A4EB46D6BF}"/>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軸を回す座標変換</a:t>
            </a:r>
          </a:p>
        </p:txBody>
      </p:sp>
      <p:sp>
        <p:nvSpPr>
          <p:cNvPr id="3" name="本文2">
            <a:extLst xmlns:a="http://schemas.openxmlformats.org/drawingml/2006/main">
              <a:ext uri="{FF2B5EF4-FFF2-40B4-BE49-F238E27FC236}">
                <a16:creationId xmlns:a16="http://schemas.microsoft.com/office/drawing/2014/main" id="{D38F46CE-1835-4429-B247-D337A5AB5D26}"/>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15</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09580E5C-C39C-4165-A83F-843F5ADB0D4E}"/>
                  </a:ext>
                </a:extLst>
              </p:cNvPr>
              <p:cNvSpPr>
                <a:spLocks xmlns:a="http://schemas.openxmlformats.org/drawingml/2006/main" noGrp="1"/>
              </p:cNvSpPr>
              <p:nvPr/>
            </p:nvSpPr>
            <p:spPr>
              <a:xfrm xmlns:a="http://schemas.openxmlformats.org/drawingml/2006/main">
                <a:off x="647700" y="183197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原点を </a:t>
                </a:r>
                <a14:m xmlns:m="http://schemas.openxmlformats.org/officeDocument/2006/math">
                  <m:oMath xmlns:mml="http://www.w3.org/1998/Math/MathML">
                    <m:r>
                      <a:rPr sz="2100" b="0" lang="en-US">
                        <a:solidFill>
                          <a:srgbClr val="213C4B"/>
                        </a:solidFill>
                        <a:latin typeface="Cambria Math"/>
                        <a:ea typeface="Meiryo"/>
                      </a:rPr>
                      <m:t>(</m:t>
                    </m:r>
                    <m:sSub>
                      <m:e>
                        <m:r>
                          <a:rPr sz="2100" b="0" lang="en-US">
                            <a:solidFill>
                              <a:srgbClr val="213C4B"/>
                            </a:solidFill>
                            <a:latin typeface="Cambria Math"/>
                            <a:ea typeface="Meiryo"/>
                          </a:rPr>
                          <m:t>x</m:t>
                        </m:r>
                      </m:e>
                      <m:sub>
                        <m:r>
                          <a:rPr sz="2100" b="0" lang="en-US">
                            <a:solidFill>
                              <a:srgbClr val="213C4B"/>
                            </a:solidFill>
                            <a:latin typeface="Cambria Math"/>
                            <a:ea typeface="Meiryo"/>
                          </a:rPr>
                          <m:t>0</m:t>
                        </m:r>
                      </m:sub>
                    </m:sSub>
                    <m:r>
                      <a:rPr sz="2100" b="0" lang="en-US">
                        <a:solidFill>
                          <a:srgbClr val="213C4B"/>
                        </a:solidFill>
                        <a:latin typeface="Cambria Math"/>
                        <a:ea typeface="Meiryo"/>
                      </a:rPr>
                      <m:t>,</m:t>
                    </m:r>
                    <m:sSub>
                      <m:e>
                        <m:r>
                          <a:rPr sz="2100" b="0" lang="en-US">
                            <a:solidFill>
                              <a:srgbClr val="213C4B"/>
                            </a:solidFill>
                            <a:latin typeface="Cambria Math"/>
                            <a:ea typeface="Meiryo"/>
                          </a:rPr>
                          <m:t>y</m:t>
                        </m:r>
                      </m:e>
                      <m:sub>
                        <m:r>
                          <a:rPr sz="2100" b="0" lang="en-US">
                            <a:solidFill>
                              <a:srgbClr val="213C4B"/>
                            </a:solidFill>
                            <a:latin typeface="Cambria Math"/>
                            <a:ea typeface="Meiryo"/>
                          </a:rPr>
                          <m:t>0</m:t>
                        </m:r>
                      </m:sub>
                    </m:sSub>
                    <m:r>
                      <a:rPr sz="2100" b="0" lang="en-US">
                        <a:solidFill>
                          <a:srgbClr val="213C4B"/>
                        </a:solidFill>
                        <a:latin typeface="Cambria Math"/>
                        <a:ea typeface="Meiryo"/>
                      </a:rPr>
                      <m:t>)</m:t>
                    </m:r>
                  </m:oMath>
                </a14:m>
                <a:r>
                  <a:rPr sz="2100" b="0">
                    <a:solidFill>
                      <a:srgbClr val="213C4B"/>
                    </a:solidFill>
                    <a:latin typeface="Meiryo"/>
                    <a:ea typeface="Meiryo"/>
                    <a:cs typeface="Meiryo"/>
                  </a:rPr>
                  <a:t> に移し、軸を反時計回りに </a:t>
                </a:r>
                <a14:m xmlns:m="http://schemas.openxmlformats.org/officeDocument/2006/math">
                  <m:oMath xmlns:mml="http://www.w3.org/1998/Math/MathML">
                    <m:r>
                      <a:rPr sz="2100" b="0" lang="en-US">
                        <a:solidFill>
                          <a:srgbClr val="213C4B"/>
                        </a:solidFill>
                        <a:latin typeface="Cambria Math"/>
                        <a:ea typeface="Meiryo"/>
                      </a:rPr>
                      <m:t>θ</m:t>
                    </m:r>
                  </m:oMath>
                </a14:m>
                <a:r>
                  <a:rPr sz="2100" b="0">
                    <a:solidFill>
                      <a:srgbClr val="213C4B"/>
                    </a:solidFill>
                    <a:latin typeface="Meiryo"/>
                    <a:ea typeface="Meiryo"/>
                    <a:cs typeface="Meiryo"/>
                  </a:rPr>
                  <a:t> 回す。</a:t>
                </a:r>
              </a:p>
            </p:txBody>
          </p:sp>
        </mc:Choice>
        <mc:Fallback>
          <p:sp>
            <p:nvSpPr>
              <p:cNvPr id="4" name="本文3">
                <a:extLst xmlns:a="http://schemas.openxmlformats.org/drawingml/2006/main">
                  <a:ext uri="{FF2B5EF4-FFF2-40B4-BE49-F238E27FC236}">
                    <a16:creationId xmlns:a16="http://schemas.microsoft.com/office/drawing/2014/main" id="{09580E5C-C39C-4165-A83F-843F5ADB0D4E}"/>
                  </a:ext>
                </a:extLst>
              </p:cNvPr>
              <p:cNvSpPr>
                <a:spLocks xmlns:a="http://schemas.openxmlformats.org/drawingml/2006/main" noGrp="1"/>
              </p:cNvSpPr>
              <p:nvPr/>
            </p:nvSpPr>
            <p:spPr>
              <a:xfrm xmlns:a="http://schemas.openxmlformats.org/drawingml/2006/main">
                <a:off x="647700" y="183197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原点を </a:t>
                </a:r>
                <a:r>
                  <a:rPr sz="2100" b="0">
                    <a:solidFill>
                      <a:srgbClr val="213C4B"/>
                    </a:solidFill>
                    <a:latin typeface="Cambria Math"/>
                    <a:ea typeface="Cambria Math"/>
                    <a:cs typeface="Cambria Math"/>
                  </a:rPr>
                  <a:t>(x_0,y_0)</a:t>
                </a:r>
                <a:r>
                  <a:rPr sz="2100" b="0">
                    <a:solidFill>
                      <a:srgbClr val="213C4B"/>
                    </a:solidFill>
                    <a:latin typeface="Meiryo"/>
                    <a:ea typeface="Meiryo"/>
                    <a:cs typeface="Meiryo"/>
                  </a:rPr>
                  <a:t> に移し、軸を反時計回りに </a:t>
                </a:r>
                <a:r>
                  <a:rPr sz="2100" b="0">
                    <a:solidFill>
                      <a:srgbClr val="213C4B"/>
                    </a:solidFill>
                    <a:latin typeface="Cambria Math"/>
                    <a:ea typeface="Cambria Math"/>
                    <a:cs typeface="Cambria Math"/>
                  </a:rPr>
                  <a:t>\theta</a:t>
                </a:r>
                <a:r>
                  <a:rPr sz="2100" b="0">
                    <a:solidFill>
                      <a:srgbClr val="213C4B"/>
                    </a:solidFill>
                    <a:latin typeface="Meiryo"/>
                    <a:ea typeface="Meiryo"/>
                    <a:cs typeface="Meiryo"/>
                  </a:rPr>
                  <a:t> 回す。</a:t>
                </a:r>
              </a:p>
            </p:txBody>
          </p:sp>
        </mc:Fallback>
      </mc:AlternateContent>
      <mc:AlternateContent xmlns:mc="http://schemas.openxmlformats.org/markup-compatibility/2006" xmlns:a14="http://schemas.microsoft.com/office/drawing/2010/main">
        <mc:Choice Requires="a14">
          <p:sp>
            <p:nvSpPr>
              <p:cNvPr id="5" name="EQM00022">
                <a:extLst xmlns:a="http://schemas.openxmlformats.org/drawingml/2006/main">
                  <a:ext uri="{FF2B5EF4-FFF2-40B4-BE49-F238E27FC236}">
                    <a16:creationId xmlns:a16="http://schemas.microsoft.com/office/drawing/2014/main" id="{969FBAB8-6FD4-44D3-9CC7-5D055922C677}"/>
                  </a:ext>
                </a:extLst>
              </p:cNvPr>
              <p:cNvSpPr>
                <a:spLocks xmlns:a="http://schemas.openxmlformats.org/drawingml/2006/main" noGrp="1"/>
              </p:cNvSpPr>
              <p:nvPr/>
            </p:nvSpPr>
            <p:spPr>
              <a:xfrm xmlns:a="http://schemas.openxmlformats.org/drawingml/2006/main">
                <a:off x="647700" y="2479675"/>
                <a:ext cx="108966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eqArr>
                        <m:e>
                          <m:sSup>
                            <m:e>
                              <m:argPr>
                                <m:argSz m:val="0"/>
                              </m:argPr>
                              <m:r>
                                <a:rPr sz="2700" b="0" lang="en-US">
                                  <a:solidFill>
                                    <a:srgbClr val="153D50"/>
                                  </a:solidFill>
                                  <a:latin typeface="Cambria Math"/>
                                  <a:ea typeface="Meiryo"/>
                                </a:rPr>
                                <m:t>x</m:t>
                              </m:r>
                            </m:e>
                            <m:sup>
                              <m:argPr>
                                <m:argSz m:val="0"/>
                              </m:argPr>
                              <m:r>
                                <m:rPr>
                                  <m:sty m:val="p"/>
                                </m:rPr>
                                <a:rPr sz="2700" b="0" lang="en-US">
                                  <a:solidFill>
                                    <a:srgbClr val="153D50"/>
                                  </a:solidFill>
                                  <a:latin typeface="Cambria Math"/>
                                  <a:ea typeface="Meiryo"/>
                                </a:rPr>
                                <m:t>′</m:t>
                              </m:r>
                            </m:sup>
                          </m:sSup>
                          <m:r>
                            <a:rPr sz="2700" b="0" lang="en-US">
                              <a:solidFill>
                                <a:srgbClr val="153D50"/>
                              </a:solidFill>
                              <a:latin typeface="Cambria Math"/>
                              <a:ea typeface="Meiryo"/>
                            </a:rPr>
                            <m:t>&amp;</m:t>
                          </m:r>
                          <m:r>
                            <a:rPr sz="2700" b="0" lang="en-US">
                              <a:solidFill>
                                <a:srgbClr val="153D50"/>
                              </a:solidFill>
                              <a:latin typeface="Cambria Math"/>
                              <a:ea typeface="Meiryo"/>
                            </a:rPr>
                            <m:t>=(x−</m:t>
                          </m:r>
                          <m:sSub>
                            <m:e>
                              <m:argPr>
                                <m:argSz m:val="0"/>
                              </m:argPr>
                              <m:r>
                                <a:rPr sz="2700" b="0" lang="en-US">
                                  <a:solidFill>
                                    <a:srgbClr val="153D50"/>
                                  </a:solidFill>
                                  <a:latin typeface="Cambria Math"/>
                                  <a:ea typeface="Meiryo"/>
                                </a:rPr>
                                <m:t>x</m:t>
                              </m:r>
                            </m:e>
                            <m:sub>
                              <m:argPr>
                                <m:argSz m:val="0"/>
                              </m:argPr>
                              <m:r>
                                <a:rPr sz="2700" b="0" lang="en-US">
                                  <a:solidFill>
                                    <a:srgbClr val="153D50"/>
                                  </a:solidFill>
                                  <a:latin typeface="Cambria Math"/>
                                  <a:ea typeface="Meiryo"/>
                                </a:rPr>
                                <m:t>0</m:t>
                              </m:r>
                            </m:sub>
                          </m:sSub>
                          <m:r>
                            <a:rPr sz="2700" b="0" lang="en-US">
                              <a:solidFill>
                                <a:srgbClr val="153D50"/>
                              </a:solidFill>
                              <a:latin typeface="Cambria Math"/>
                              <a:ea typeface="Meiryo"/>
                            </a:rPr>
                            <m:t>)</m:t>
                          </m:r>
                          <m:r>
                            <m:rPr>
                              <m:sty m:val="p"/>
                            </m:rPr>
                            <a:rPr sz="2700" b="0" lang="en-US">
                              <a:solidFill>
                                <a:srgbClr val="153D50"/>
                              </a:solidFill>
                              <a:latin typeface="Cambria Math"/>
                              <a:ea typeface="Meiryo"/>
                            </a:rPr>
                            <m:t>cos</m:t>
                          </m:r>
                          <m:r>
                            <a:rPr sz="2700" b="0" lang="en-US">
                              <a:solidFill>
                                <a:srgbClr val="153D50"/>
                              </a:solidFill>
                              <a:latin typeface="Cambria Math"/>
                              <a:ea typeface="Meiryo"/>
                            </a:rPr>
                            <m:t>⁡θ+(y−</m:t>
                          </m:r>
                          <m:sSub>
                            <m:e>
                              <m:argPr>
                                <m:argSz m:val="0"/>
                              </m:argPr>
                              <m:r>
                                <a:rPr sz="2700" b="0" lang="en-US">
                                  <a:solidFill>
                                    <a:srgbClr val="153D50"/>
                                  </a:solidFill>
                                  <a:latin typeface="Cambria Math"/>
                                  <a:ea typeface="Meiryo"/>
                                </a:rPr>
                                <m:t>y</m:t>
                              </m:r>
                            </m:e>
                            <m:sub>
                              <m:argPr>
                                <m:argSz m:val="0"/>
                              </m:argPr>
                              <m:r>
                                <a:rPr sz="2700" b="0" lang="en-US">
                                  <a:solidFill>
                                    <a:srgbClr val="153D50"/>
                                  </a:solidFill>
                                  <a:latin typeface="Cambria Math"/>
                                  <a:ea typeface="Meiryo"/>
                                </a:rPr>
                                <m:t>0</m:t>
                              </m:r>
                            </m:sub>
                          </m:sSub>
                          <m:r>
                            <a:rPr sz="2700" b="0" lang="en-US">
                              <a:solidFill>
                                <a:srgbClr val="153D50"/>
                              </a:solidFill>
                              <a:latin typeface="Cambria Math"/>
                              <a:ea typeface="Meiryo"/>
                            </a:rPr>
                            <m:t>)</m:t>
                          </m:r>
                          <m:r>
                            <m:rPr>
                              <m:sty m:val="p"/>
                            </m:rPr>
                            <a:rPr sz="2700" b="0" lang="en-US">
                              <a:solidFill>
                                <a:srgbClr val="153D50"/>
                              </a:solidFill>
                              <a:latin typeface="Cambria Math"/>
                              <a:ea typeface="Meiryo"/>
                            </a:rPr>
                            <m:t>sin</m:t>
                          </m:r>
                          <m:r>
                            <a:rPr sz="2700" b="0" lang="en-US">
                              <a:solidFill>
                                <a:srgbClr val="153D50"/>
                              </a:solidFill>
                              <a:latin typeface="Cambria Math"/>
                              <a:ea typeface="Meiryo"/>
                            </a:rPr>
                            <m:t>⁡θ</m:t>
                          </m:r>
                        </m:e>
                        <m:e>
                          <m:sSup>
                            <m:e>
                              <m:argPr>
                                <m:argSz m:val="0"/>
                              </m:argPr>
                              <m:r>
                                <a:rPr sz="2700" b="0" lang="en-US">
                                  <a:solidFill>
                                    <a:srgbClr val="153D50"/>
                                  </a:solidFill>
                                  <a:latin typeface="Cambria Math"/>
                                  <a:ea typeface="Meiryo"/>
                                </a:rPr>
                                <m:t>y</m:t>
                              </m:r>
                            </m:e>
                            <m:sup>
                              <m:argPr>
                                <m:argSz m:val="0"/>
                              </m:argPr>
                              <m:r>
                                <m:rPr>
                                  <m:sty m:val="p"/>
                                </m:rPr>
                                <a:rPr sz="2700" b="0" lang="en-US">
                                  <a:solidFill>
                                    <a:srgbClr val="153D50"/>
                                  </a:solidFill>
                                  <a:latin typeface="Cambria Math"/>
                                  <a:ea typeface="Meiryo"/>
                                </a:rPr>
                                <m:t>′</m:t>
                              </m:r>
                            </m:sup>
                          </m:sSup>
                          <m:r>
                            <a:rPr sz="2700" b="0" lang="en-US">
                              <a:solidFill>
                                <a:srgbClr val="153D50"/>
                              </a:solidFill>
                              <a:latin typeface="Cambria Math"/>
                              <a:ea typeface="Meiryo"/>
                            </a:rPr>
                            <m:t>&amp;</m:t>
                          </m:r>
                          <m:r>
                            <a:rPr sz="2700" b="0" lang="en-US">
                              <a:solidFill>
                                <a:srgbClr val="153D50"/>
                              </a:solidFill>
                              <a:latin typeface="Cambria Math"/>
                              <a:ea typeface="Meiryo"/>
                            </a:rPr>
                            <m:t>=−(x−</m:t>
                          </m:r>
                          <m:sSub>
                            <m:e>
                              <m:argPr>
                                <m:argSz m:val="0"/>
                              </m:argPr>
                              <m:r>
                                <a:rPr sz="2700" b="0" lang="en-US">
                                  <a:solidFill>
                                    <a:srgbClr val="153D50"/>
                                  </a:solidFill>
                                  <a:latin typeface="Cambria Math"/>
                                  <a:ea typeface="Meiryo"/>
                                </a:rPr>
                                <m:t>x</m:t>
                              </m:r>
                            </m:e>
                            <m:sub>
                              <m:argPr>
                                <m:argSz m:val="0"/>
                              </m:argPr>
                              <m:r>
                                <a:rPr sz="2700" b="0" lang="en-US">
                                  <a:solidFill>
                                    <a:srgbClr val="153D50"/>
                                  </a:solidFill>
                                  <a:latin typeface="Cambria Math"/>
                                  <a:ea typeface="Meiryo"/>
                                </a:rPr>
                                <m:t>0</m:t>
                              </m:r>
                            </m:sub>
                          </m:sSub>
                          <m:r>
                            <a:rPr sz="2700" b="0" lang="en-US">
                              <a:solidFill>
                                <a:srgbClr val="153D50"/>
                              </a:solidFill>
                              <a:latin typeface="Cambria Math"/>
                              <a:ea typeface="Meiryo"/>
                            </a:rPr>
                            <m:t>)</m:t>
                          </m:r>
                          <m:r>
                            <m:rPr>
                              <m:sty m:val="p"/>
                            </m:rPr>
                            <a:rPr sz="2700" b="0" lang="en-US">
                              <a:solidFill>
                                <a:srgbClr val="153D50"/>
                              </a:solidFill>
                              <a:latin typeface="Cambria Math"/>
                              <a:ea typeface="Meiryo"/>
                            </a:rPr>
                            <m:t>sin</m:t>
                          </m:r>
                          <m:r>
                            <a:rPr sz="2700" b="0" lang="en-US">
                              <a:solidFill>
                                <a:srgbClr val="153D50"/>
                              </a:solidFill>
                              <a:latin typeface="Cambria Math"/>
                              <a:ea typeface="Meiryo"/>
                            </a:rPr>
                            <m:t>⁡θ+(y−</m:t>
                          </m:r>
                          <m:sSub>
                            <m:e>
                              <m:argPr>
                                <m:argSz m:val="0"/>
                              </m:argPr>
                              <m:r>
                                <a:rPr sz="2700" b="0" lang="en-US">
                                  <a:solidFill>
                                    <a:srgbClr val="153D50"/>
                                  </a:solidFill>
                                  <a:latin typeface="Cambria Math"/>
                                  <a:ea typeface="Meiryo"/>
                                </a:rPr>
                                <m:t>y</m:t>
                              </m:r>
                            </m:e>
                            <m:sub>
                              <m:argPr>
                                <m:argSz m:val="0"/>
                              </m:argPr>
                              <m:r>
                                <a:rPr sz="2700" b="0" lang="en-US">
                                  <a:solidFill>
                                    <a:srgbClr val="153D50"/>
                                  </a:solidFill>
                                  <a:latin typeface="Cambria Math"/>
                                  <a:ea typeface="Meiryo"/>
                                </a:rPr>
                                <m:t>0</m:t>
                              </m:r>
                            </m:sub>
                          </m:sSub>
                          <m:r>
                            <a:rPr sz="2700" b="0" lang="en-US">
                              <a:solidFill>
                                <a:srgbClr val="153D50"/>
                              </a:solidFill>
                              <a:latin typeface="Cambria Math"/>
                              <a:ea typeface="Meiryo"/>
                            </a:rPr>
                            <m:t>)</m:t>
                          </m:r>
                          <m:r>
                            <m:rPr>
                              <m:sty m:val="p"/>
                            </m:rPr>
                            <a:rPr sz="2700" b="0" lang="en-US">
                              <a:solidFill>
                                <a:srgbClr val="153D50"/>
                              </a:solidFill>
                              <a:latin typeface="Cambria Math"/>
                              <a:ea typeface="Meiryo"/>
                            </a:rPr>
                            <m:t>cos</m:t>
                          </m:r>
                          <m:r>
                            <a:rPr sz="2700" b="0" lang="en-US">
                              <a:solidFill>
                                <a:srgbClr val="153D50"/>
                              </a:solidFill>
                              <a:latin typeface="Cambria Math"/>
                              <a:ea typeface="Meiryo"/>
                            </a:rPr>
                            <m:t>⁡θ</m:t>
                          </m:r>
                        </m:e>
                      </m:eqArr>
                    </m:oMath>
                  </m:oMathPara>
                </a14:m>
              </a:p>
            </p:txBody>
          </p:sp>
        </mc:Choice>
        <mc:Fallback>
          <p:sp>
            <p:nvSpPr>
              <p:cNvPr id="5" name="EQM00022">
                <a:extLst xmlns:a="http://schemas.openxmlformats.org/drawingml/2006/main">
                  <a:ext uri="{FF2B5EF4-FFF2-40B4-BE49-F238E27FC236}">
                    <a16:creationId xmlns:a16="http://schemas.microsoft.com/office/drawing/2014/main" id="{969FBAB8-6FD4-44D3-9CC7-5D055922C677}"/>
                  </a:ext>
                </a:extLst>
              </p:cNvPr>
              <p:cNvSpPr>
                <a:spLocks xmlns:a="http://schemas.openxmlformats.org/drawingml/2006/main" noGrp="1"/>
              </p:cNvSpPr>
              <p:nvPr/>
            </p:nvSpPr>
            <p:spPr>
              <a:xfrm xmlns:a="http://schemas.openxmlformats.org/drawingml/2006/main">
                <a:off x="647700" y="2479675"/>
                <a:ext cx="108966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\begin{aligned}
x'&amp;=(x-x_0)\cos\theta+(y-y_0)\sin\theta\\
y'&amp;=-(x-x_0)\sin\theta+(y-y_0)\cos\theta
\end{aligned}</a:t>
                </a:r>
              </a:p>
            </p:txBody>
          </p:sp>
        </mc:Fallback>
      </mc:AlternateContent>
      <p:sp>
        <p:nvSpPr>
          <p:cNvPr id="6" name="本文5">
            <a:extLst xmlns:a="http://schemas.openxmlformats.org/drawingml/2006/main">
              <a:ext uri="{FF2B5EF4-FFF2-40B4-BE49-F238E27FC236}">
                <a16:creationId xmlns:a16="http://schemas.microsoft.com/office/drawing/2014/main" id="{084DCE55-C1B3-47FE-BCD3-ADF8CBC907D1}"/>
              </a:ext>
            </a:extLst>
          </p:cNvPr>
          <p:cNvSpPr>
            <a:spLocks xmlns:a="http://schemas.openxmlformats.org/drawingml/2006/main" noGrp="1"/>
          </p:cNvSpPr>
          <p:nvPr/>
        </p:nvSpPr>
        <p:spPr>
          <a:xfrm xmlns:a="http://schemas.openxmlformats.org/drawingml/2006/main">
            <a:off x="647700" y="371792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点は動かさず、</a:t>
            </a:r>
            <a:r>
              <a:rPr sz="2100" b="1">
                <a:solidFill>
                  <a:srgbClr val="137D78"/>
                </a:solidFill>
                <a:latin typeface="Meiryo"/>
                <a:ea typeface="Meiryo"/>
                <a:cs typeface="Meiryo"/>
              </a:rPr>
              <a:t>同じ点を別の座標で読む</a:t>
            </a:r>
            <a:r>
              <a:rPr sz="2100" b="0">
                <a:solidFill>
                  <a:srgbClr val="213C4B"/>
                </a:solidFill>
                <a:latin typeface="Meiryo"/>
                <a:ea typeface="Meiryo"/>
                <a:cs typeface="Meiryo"/>
              </a:rPr>
              <a:t>。</a:t>
            </a:r>
          </a:p>
        </p:txBody>
      </p:sp>
      <p:sp>
        <p:nvSpPr>
          <p:cNvPr id="7" name="本文6">
            <a:extLst xmlns:a="http://schemas.openxmlformats.org/drawingml/2006/main">
              <a:ext uri="{FF2B5EF4-FFF2-40B4-BE49-F238E27FC236}">
                <a16:creationId xmlns:a16="http://schemas.microsoft.com/office/drawing/2014/main" id="{715B9F57-4A31-4540-BABE-1E70482E1436}"/>
              </a:ext>
            </a:extLst>
          </p:cNvPr>
          <p:cNvSpPr>
            <a:spLocks xmlns:a="http://schemas.openxmlformats.org/drawingml/2006/main" noGrp="1"/>
          </p:cNvSpPr>
          <p:nvPr/>
        </p:nvSpPr>
        <p:spPr>
          <a:xfrm xmlns:a="http://schemas.openxmlformats.org/drawingml/2006/main">
            <a:off x="647700" y="436562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平行移動と回転では、点間距離・角・形は変わらない。</a:t>
            </a:r>
          </a:p>
        </p:txBody>
      </p:sp>
      <p:sp>
        <p:nvSpPr>
          <p:cNvPr id="8" name="本文7">
            <a:extLst xmlns:a="http://schemas.openxmlformats.org/drawingml/2006/main">
              <a:ext uri="{FF2B5EF4-FFF2-40B4-BE49-F238E27FC236}">
                <a16:creationId xmlns:a16="http://schemas.microsoft.com/office/drawing/2014/main" id="{E7C514DD-55BF-41ED-90E2-90E52059D39B}"/>
              </a:ext>
            </a:extLst>
          </p:cNvPr>
          <p:cNvSpPr>
            <a:spLocks xmlns:a="http://schemas.openxmlformats.org/drawingml/2006/main" noGrp="1"/>
          </p:cNvSpPr>
          <p:nvPr/>
        </p:nvSpPr>
        <p:spPr>
          <a:xfrm xmlns:a="http://schemas.openxmlformats.org/drawingml/2006/main">
            <a:off x="647700" y="501332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縮尺も変える相似変換では、角は保たれ、距離は倍率分変わる。</a:t>
            </a:r>
          </a:p>
        </p:txBody>
      </p:sp>
    </p:spTree>
    <p:extLst>
      <p:ext uri="{BB962C8B-B14F-4D97-AF65-F5344CB8AC3E}">
        <p14:creationId xmlns:p14="http://schemas.microsoft.com/office/powerpoint/2010/main" val="1833200622"/>
      </p:ext>
    </p:extLst>
  </p:cSld>
</p:sld>
</file>

<file path=ppt/slides/slide16.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9" name="本文0">
            <a:extLst xmlns:a="http://schemas.openxmlformats.org/drawingml/2006/main">
              <a:ext uri="{FF2B5EF4-FFF2-40B4-BE49-F238E27FC236}">
                <a16:creationId xmlns:a16="http://schemas.microsoft.com/office/drawing/2014/main" id="{5A56EEF8-3AAB-4645-99EE-134318D0C130}"/>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3-1</a:t>
            </a:r>
          </a:p>
        </p:txBody>
      </p:sp>
      <p:sp>
        <p:nvSpPr>
          <p:cNvPr id="2" name="本文1">
            <a:extLst xmlns:a="http://schemas.openxmlformats.org/drawingml/2006/main">
              <a:ext uri="{FF2B5EF4-FFF2-40B4-BE49-F238E27FC236}">
                <a16:creationId xmlns:a16="http://schemas.microsoft.com/office/drawing/2014/main" id="{716C737A-D42A-4F5C-B88F-29FFD392DB57}"/>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点を回す回転行列</a:t>
            </a:r>
          </a:p>
        </p:txBody>
      </p:sp>
      <p:sp>
        <p:nvSpPr>
          <p:cNvPr id="3" name="本文2">
            <a:extLst xmlns:a="http://schemas.openxmlformats.org/drawingml/2006/main">
              <a:ext uri="{FF2B5EF4-FFF2-40B4-BE49-F238E27FC236}">
                <a16:creationId xmlns:a16="http://schemas.microsoft.com/office/drawing/2014/main" id="{F75B98A9-C63A-4094-9595-181EBA0B55EE}"/>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16</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28CECBC9-A488-498C-A70B-21E566DB12E3}"/>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軸を回すときは逆回転。式の </a:t>
                </a:r>
                <a14:m xmlns:m="http://schemas.openxmlformats.org/officeDocument/2006/math">
                  <m:oMath xmlns:mml="http://www.w3.org/1998/Math/MathML">
                    <m:func>
                      <m:fName>
                        <m:r>
                          <m:rPr>
                            <m:sty m:val="p"/>
                          </m:rPr>
                          <a:rPr sz="1725" b="0" lang="en-US">
                            <a:solidFill>
                              <a:srgbClr val="137D78"/>
                            </a:solidFill>
                            <a:latin typeface="Cambria Math"/>
                            <a:ea typeface="Meiryo"/>
                          </a:rPr>
                          <m:t>sin</m:t>
                        </m:r>
                      </m:fName>
                      <m:e>
                        <m:r>
                          <a:rPr sz="1725" b="0" lang="en-US">
                            <a:solidFill>
                              <a:srgbClr val="137D78"/>
                            </a:solidFill>
                            <a:latin typeface="Cambria Math"/>
                            <a:ea typeface="Meiryo"/>
                          </a:rPr>
                          <m:t>θ</m:t>
                        </m:r>
                      </m:e>
                    </m:func>
                  </m:oMath>
                </a14:m>
                <a:r>
                  <a:rPr sz="1725" b="1">
                    <a:solidFill>
                      <a:srgbClr val="137D78"/>
                    </a:solidFill>
                    <a:latin typeface="Meiryo"/>
                    <a:ea typeface="Meiryo"/>
                    <a:cs typeface="Meiryo"/>
                  </a:rPr>
                  <a:t> の符号が入れ替わる。</a:t>
                </a:r>
              </a:p>
            </p:txBody>
          </p:sp>
        </mc:Choice>
        <mc:Fallback>
          <p:sp>
            <p:nvSpPr>
              <p:cNvPr id="4" name="本文3">
                <a:extLst xmlns:a="http://schemas.openxmlformats.org/drawingml/2006/main">
                  <a:ext uri="{FF2B5EF4-FFF2-40B4-BE49-F238E27FC236}">
                    <a16:creationId xmlns:a16="http://schemas.microsoft.com/office/drawing/2014/main" id="{28CECBC9-A488-498C-A70B-21E566DB12E3}"/>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軸を回すときは逆回転。式の </a:t>
                </a:r>
                <a:r>
                  <a:rPr sz="1725" b="1">
                    <a:solidFill>
                      <a:srgbClr val="137D78"/>
                    </a:solidFill>
                    <a:latin typeface="Cambria Math"/>
                    <a:ea typeface="Cambria Math"/>
                    <a:cs typeface="Cambria Math"/>
                  </a:rPr>
                  <a:t>\sin\theta</a:t>
                </a:r>
                <a:r>
                  <a:rPr sz="1725" b="1">
                    <a:solidFill>
                      <a:srgbClr val="137D78"/>
                    </a:solidFill>
                    <a:latin typeface="Meiryo"/>
                    <a:ea typeface="Meiryo"/>
                    <a:cs typeface="Meiryo"/>
                  </a:rPr>
                  <a:t> の符号が入れ替わる。</a:t>
                </a:r>
              </a:p>
            </p:txBody>
          </p:sp>
        </mc:Fallback>
      </mc:AlternateContent>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7D55B72B-1E23-452D-A712-BBB081DC083E}"/>
                  </a:ext>
                </a:extLst>
              </p:cNvPr>
              <p:cNvSpPr>
                <a:spLocks xmlns:a="http://schemas.openxmlformats.org/drawingml/2006/main" noGrp="1"/>
              </p:cNvSpPr>
              <p:nvPr/>
            </p:nvSpPr>
            <p:spPr>
              <a:xfrm xmlns:a="http://schemas.openxmlformats.org/drawingml/2006/main">
                <a:off x="647700" y="14668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点を原点のまわりに </a:t>
                </a:r>
                <a:r>
                  <a:rPr sz="2100" b="1">
                    <a:solidFill>
                      <a:srgbClr val="137D78"/>
                    </a:solidFill>
                    <a:latin typeface="Meiryo"/>
                    <a:ea typeface="Meiryo"/>
                    <a:cs typeface="Meiryo"/>
                  </a:rPr>
                  <a:t>反時計回り</a:t>
                </a:r>
                <a:r>
                  <a:rPr sz="2100" b="0">
                    <a:solidFill>
                      <a:srgbClr val="213C4B"/>
                    </a:solidFill>
                    <a:latin typeface="Meiryo"/>
                    <a:ea typeface="Meiryo"/>
                    <a:cs typeface="Meiryo"/>
                  </a:rPr>
                  <a:t>に </a:t>
                </a:r>
                <a14:m xmlns:m="http://schemas.openxmlformats.org/officeDocument/2006/math">
                  <m:oMath xmlns:mml="http://www.w3.org/1998/Math/MathML">
                    <m:r>
                      <a:rPr sz="2100" b="0" lang="en-US">
                        <a:solidFill>
                          <a:srgbClr val="213C4B"/>
                        </a:solidFill>
                        <a:latin typeface="Cambria Math"/>
                        <a:ea typeface="Meiryo"/>
                      </a:rPr>
                      <m:t>θ</m:t>
                    </m:r>
                  </m:oMath>
                </a14:m>
                <a:r>
                  <a:rPr sz="2100" b="0">
                    <a:solidFill>
                      <a:srgbClr val="213C4B"/>
                    </a:solidFill>
                    <a:latin typeface="Meiryo"/>
                    <a:ea typeface="Meiryo"/>
                    <a:cs typeface="Meiryo"/>
                  </a:rPr>
                  <a:t> 回す。</a:t>
                </a:r>
              </a:p>
            </p:txBody>
          </p:sp>
        </mc:Choice>
        <mc:Fallback>
          <p:sp>
            <p:nvSpPr>
              <p:cNvPr id="5" name="本文4">
                <a:extLst xmlns:a="http://schemas.openxmlformats.org/drawingml/2006/main">
                  <a:ext uri="{FF2B5EF4-FFF2-40B4-BE49-F238E27FC236}">
                    <a16:creationId xmlns:a16="http://schemas.microsoft.com/office/drawing/2014/main" id="{7D55B72B-1E23-452D-A712-BBB081DC083E}"/>
                  </a:ext>
                </a:extLst>
              </p:cNvPr>
              <p:cNvSpPr>
                <a:spLocks xmlns:a="http://schemas.openxmlformats.org/drawingml/2006/main" noGrp="1"/>
              </p:cNvSpPr>
              <p:nvPr/>
            </p:nvSpPr>
            <p:spPr>
              <a:xfrm xmlns:a="http://schemas.openxmlformats.org/drawingml/2006/main">
                <a:off x="647700" y="14668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点を原点のまわりに </a:t>
                </a:r>
                <a:r>
                  <a:rPr sz="2100" b="1">
                    <a:solidFill>
                      <a:srgbClr val="137D78"/>
                    </a:solidFill>
                    <a:latin typeface="Meiryo"/>
                    <a:ea typeface="Meiryo"/>
                    <a:cs typeface="Meiryo"/>
                  </a:rPr>
                  <a:t>反時計回り</a:t>
                </a:r>
                <a:r>
                  <a:rPr sz="2100" b="0">
                    <a:solidFill>
                      <a:srgbClr val="213C4B"/>
                    </a:solidFill>
                    <a:latin typeface="Meiryo"/>
                    <a:ea typeface="Meiryo"/>
                    <a:cs typeface="Meiryo"/>
                  </a:rPr>
                  <a:t>に </a:t>
                </a:r>
                <a:r>
                  <a:rPr sz="2100" b="0">
                    <a:solidFill>
                      <a:srgbClr val="213C4B"/>
                    </a:solidFill>
                    <a:latin typeface="Cambria Math"/>
                    <a:ea typeface="Cambria Math"/>
                    <a:cs typeface="Cambria Math"/>
                  </a:rPr>
                  <a:t>\theta</a:t>
                </a:r>
                <a:r>
                  <a:rPr sz="2100" b="0">
                    <a:solidFill>
                      <a:srgbClr val="213C4B"/>
                    </a:solidFill>
                    <a:latin typeface="Meiryo"/>
                    <a:ea typeface="Meiryo"/>
                    <a:cs typeface="Meiryo"/>
                  </a:rPr>
                  <a:t> 回す。</a:t>
                </a:r>
              </a:p>
            </p:txBody>
          </p:sp>
        </mc:Fallback>
      </mc:AlternateContent>
      <mc:AlternateContent xmlns:mc="http://schemas.openxmlformats.org/markup-compatibility/2006" xmlns:a14="http://schemas.microsoft.com/office/drawing/2010/main">
        <mc:Choice Requires="a14">
          <p:sp>
            <p:nvSpPr>
              <p:cNvPr id="6" name="EQM00025">
                <a:extLst xmlns:a="http://schemas.openxmlformats.org/drawingml/2006/main">
                  <a:ext uri="{FF2B5EF4-FFF2-40B4-BE49-F238E27FC236}">
                    <a16:creationId xmlns:a16="http://schemas.microsoft.com/office/drawing/2014/main" id="{F53F79FA-6A0A-4762-86B7-8EF140D3B1F3}"/>
                  </a:ext>
                </a:extLst>
              </p:cNvPr>
              <p:cNvSpPr>
                <a:spLocks xmlns:a="http://schemas.openxmlformats.org/drawingml/2006/main" noGrp="1"/>
              </p:cNvSpPr>
              <p:nvPr/>
            </p:nvSpPr>
            <p:spPr>
              <a:xfrm xmlns:a="http://schemas.openxmlformats.org/drawingml/2006/main">
                <a:off x="647700" y="2114550"/>
                <a:ext cx="108966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d>
                        <m:dPr>
                          <m:sepChr m:val=""/>
                        </m:dPr>
                        <m:e>
                          <m:eqArr>
                            <m:e>
                              <m:sSup>
                                <m:e>
                                  <m:argPr>
                                    <m:argSz m:val="0"/>
                                  </m:argPr>
                                  <m:r>
                                    <a:rPr sz="2700" b="0" lang="en-US">
                                      <a:solidFill>
                                        <a:srgbClr val="153D50"/>
                                      </a:solidFill>
                                      <a:latin typeface="Cambria Math"/>
                                      <a:ea typeface="Meiryo"/>
                                    </a:rPr>
                                    <m:t>x</m:t>
                                  </m:r>
                                </m:e>
                                <m:sup>
                                  <m:argPr>
                                    <m:argSz m:val="0"/>
                                  </m:argPr>
                                  <m:r>
                                    <m:rPr>
                                      <m:sty m:val="p"/>
                                    </m:rPr>
                                    <a:rPr sz="2700" b="0" lang="en-US">
                                      <a:solidFill>
                                        <a:srgbClr val="153D50"/>
                                      </a:solidFill>
                                      <a:latin typeface="Cambria Math"/>
                                      <a:ea typeface="Meiryo"/>
                                    </a:rPr>
                                    <m:t>′</m:t>
                                  </m:r>
                                </m:sup>
                              </m:sSup>
                            </m:e>
                            <m:e>
                              <m:sSup>
                                <m:e>
                                  <m:argPr>
                                    <m:argSz m:val="0"/>
                                  </m:argPr>
                                  <m:r>
                                    <a:rPr sz="2700" b="0" lang="en-US">
                                      <a:solidFill>
                                        <a:srgbClr val="153D50"/>
                                      </a:solidFill>
                                      <a:latin typeface="Cambria Math"/>
                                      <a:ea typeface="Meiryo"/>
                                    </a:rPr>
                                    <m:t>y</m:t>
                                  </m:r>
                                </m:e>
                                <m:sup>
                                  <m:argPr>
                                    <m:argSz m:val="0"/>
                                  </m:argPr>
                                  <m:r>
                                    <m:rPr>
                                      <m:sty m:val="p"/>
                                    </m:rPr>
                                    <a:rPr sz="2700" b="0" lang="en-US">
                                      <a:solidFill>
                                        <a:srgbClr val="153D50"/>
                                      </a:solidFill>
                                      <a:latin typeface="Cambria Math"/>
                                      <a:ea typeface="Meiryo"/>
                                    </a:rPr>
                                    <m:t>′</m:t>
                                  </m:r>
                                </m:sup>
                              </m:sSup>
                            </m:e>
                          </m:eqArr>
                        </m:e>
                      </m:d>
                      <m:r>
                        <a:rPr sz="2700" b="0" lang="en-US">
                          <a:solidFill>
                            <a:srgbClr val="153D50"/>
                          </a:solidFill>
                          <a:latin typeface="Cambria Math"/>
                          <a:ea typeface="Meiryo"/>
                        </a:rPr>
                        <m:t>=</m:t>
                      </m:r>
                      <m:d>
                        <m:dPr>
                          <m:sepChr m:val=""/>
                        </m:dPr>
                        <m:e>
                          <m:m>
                            <m:mPr>
                              <m:baseJc m:val="center"/>
                              <m:plcHide m:val="on"/>
                              <m:mcs>
                                <m:mc>
                                  <m:mcPr>
                                    <m:count m:val="2"/>
                                  </m:mcPr>
                                </m:mc>
                              </m:mcs>
                            </m:mPr>
                            <m:mr>
                              <m:e>
                                <m:func>
                                  <m:fName>
                                    <m:r>
                                      <m:rPr>
                                        <m:sty m:val="p"/>
                                      </m:rPr>
                                      <a:rPr sz="2700" b="0" lang="en-US">
                                        <a:solidFill>
                                          <a:srgbClr val="153D50"/>
                                        </a:solidFill>
                                        <a:latin typeface="Cambria Math"/>
                                        <a:ea typeface="Meiryo"/>
                                      </a:rPr>
                                      <m:t>cos</m:t>
                                    </m:r>
                                  </m:fName>
                                  <m:e>
                                    <m:r>
                                      <a:rPr sz="2700" b="0" lang="en-US">
                                        <a:solidFill>
                                          <a:srgbClr val="153D50"/>
                                        </a:solidFill>
                                        <a:latin typeface="Cambria Math"/>
                                        <a:ea typeface="Meiryo"/>
                                      </a:rPr>
                                      <m:t>θ</m:t>
                                    </m:r>
                                  </m:e>
                                </m:func>
                              </m:e>
                              <m:e>
                                <m:r>
                                  <a:rPr sz="2700" b="0" lang="en-US">
                                    <a:solidFill>
                                      <a:srgbClr val="153D50"/>
                                    </a:solidFill>
                                    <a:latin typeface="Cambria Math"/>
                                    <a:ea typeface="Meiryo"/>
                                  </a:rPr>
                                  <m:t>−</m:t>
                                </m:r>
                                <m:r>
                                  <m:rPr>
                                    <m:sty m:val="p"/>
                                  </m:rPr>
                                  <a:rPr sz="2700" b="0" lang="en-US">
                                    <a:solidFill>
                                      <a:srgbClr val="153D50"/>
                                    </a:solidFill>
                                    <a:latin typeface="Cambria Math"/>
                                    <a:ea typeface="Meiryo"/>
                                  </a:rPr>
                                  <m:t>sin</m:t>
                                </m:r>
                                <m:r>
                                  <a:rPr sz="2700" b="0" lang="en-US">
                                    <a:solidFill>
                                      <a:srgbClr val="153D50"/>
                                    </a:solidFill>
                                    <a:latin typeface="Cambria Math"/>
                                    <a:ea typeface="Meiryo"/>
                                  </a:rPr>
                                  <m:t>⁡θ</m:t>
                                </m:r>
                              </m:e>
                            </m:mr>
                            <m:mr>
                              <m:e>
                                <m:func>
                                  <m:fName>
                                    <m:r>
                                      <m:rPr>
                                        <m:sty m:val="p"/>
                                      </m:rPr>
                                      <a:rPr sz="2700" b="0" lang="en-US">
                                        <a:solidFill>
                                          <a:srgbClr val="153D50"/>
                                        </a:solidFill>
                                        <a:latin typeface="Cambria Math"/>
                                        <a:ea typeface="Meiryo"/>
                                      </a:rPr>
                                      <m:t>sin</m:t>
                                    </m:r>
                                  </m:fName>
                                  <m:e>
                                    <m:r>
                                      <a:rPr sz="2700" b="0" lang="en-US">
                                        <a:solidFill>
                                          <a:srgbClr val="153D50"/>
                                        </a:solidFill>
                                        <a:latin typeface="Cambria Math"/>
                                        <a:ea typeface="Meiryo"/>
                                      </a:rPr>
                                      <m:t>θ</m:t>
                                    </m:r>
                                  </m:e>
                                </m:func>
                              </m:e>
                              <m:e>
                                <m:func>
                                  <m:fName>
                                    <m:r>
                                      <m:rPr>
                                        <m:sty m:val="p"/>
                                      </m:rPr>
                                      <a:rPr sz="2700" b="0" lang="en-US">
                                        <a:solidFill>
                                          <a:srgbClr val="153D50"/>
                                        </a:solidFill>
                                        <a:latin typeface="Cambria Math"/>
                                        <a:ea typeface="Meiryo"/>
                                      </a:rPr>
                                      <m:t>cos</m:t>
                                    </m:r>
                                  </m:fName>
                                  <m:e>
                                    <m:r>
                                      <a:rPr sz="2700" b="0" lang="en-US">
                                        <a:solidFill>
                                          <a:srgbClr val="153D50"/>
                                        </a:solidFill>
                                        <a:latin typeface="Cambria Math"/>
                                        <a:ea typeface="Meiryo"/>
                                      </a:rPr>
                                      <m:t>θ</m:t>
                                    </m:r>
                                  </m:e>
                                </m:func>
                              </m:e>
                            </m:mr>
                          </m:m>
                        </m:e>
                      </m:d>
                      <m:d>
                        <m:dPr>
                          <m:sepChr m:val=""/>
                        </m:dPr>
                        <m:e>
                          <m:eqArr>
                            <m:e>
                              <m:r>
                                <a:rPr sz="2700" b="0" lang="en-US">
                                  <a:solidFill>
                                    <a:srgbClr val="153D50"/>
                                  </a:solidFill>
                                  <a:latin typeface="Cambria Math"/>
                                  <a:ea typeface="Meiryo"/>
                                </a:rPr>
                                <m:t>x</m:t>
                              </m:r>
                            </m:e>
                            <m:e>
                              <m:r>
                                <a:rPr sz="2700" b="0" lang="en-US">
                                  <a:solidFill>
                                    <a:srgbClr val="153D50"/>
                                  </a:solidFill>
                                  <a:latin typeface="Cambria Math"/>
                                  <a:ea typeface="Meiryo"/>
                                </a:rPr>
                                <m:t>y</m:t>
                              </m:r>
                            </m:e>
                          </m:eqArr>
                        </m:e>
                      </m:d>
                    </m:oMath>
                  </m:oMathPara>
                </a14:m>
              </a:p>
            </p:txBody>
          </p:sp>
        </mc:Choice>
        <mc:Fallback>
          <p:sp>
            <p:nvSpPr>
              <p:cNvPr id="6" name="EQM00025">
                <a:extLst xmlns:a="http://schemas.openxmlformats.org/drawingml/2006/main">
                  <a:ext uri="{FF2B5EF4-FFF2-40B4-BE49-F238E27FC236}">
                    <a16:creationId xmlns:a16="http://schemas.microsoft.com/office/drawing/2014/main" id="{F53F79FA-6A0A-4762-86B7-8EF140D3B1F3}"/>
                  </a:ext>
                </a:extLst>
              </p:cNvPr>
              <p:cNvSpPr>
                <a:spLocks xmlns:a="http://schemas.openxmlformats.org/drawingml/2006/main" noGrp="1"/>
              </p:cNvSpPr>
              <p:nvPr/>
            </p:nvSpPr>
            <p:spPr>
              <a:xfrm xmlns:a="http://schemas.openxmlformats.org/drawingml/2006/main">
                <a:off x="647700" y="2114550"/>
                <a:ext cx="108966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\begin{pmatrix}x'\\y'\end{pmatrix}
=\begin{pmatrix}\cos\theta&amp;-\sin\theta\\\sin\theta&amp;\cos\theta\end{pmatrix}
\begin{pmatrix}x\\y\end{pmatrix}</a:t>
                </a:r>
              </a:p>
            </p:txBody>
          </p:sp>
        </mc:Fallback>
      </mc:AlternateContent>
      <mc:AlternateContent xmlns:mc="http://schemas.openxmlformats.org/markup-compatibility/2006" xmlns:a14="http://schemas.microsoft.com/office/drawing/2010/main">
        <mc:Choice Requires="a14">
          <p:sp>
            <p:nvSpPr>
              <p:cNvPr id="7" name="本文6">
                <a:extLst xmlns:a="http://schemas.openxmlformats.org/drawingml/2006/main">
                  <a:ext uri="{FF2B5EF4-FFF2-40B4-BE49-F238E27FC236}">
                    <a16:creationId xmlns:a16="http://schemas.microsoft.com/office/drawing/2014/main" id="{BB9E33BA-F97A-4B19-A902-8695C764282D}"/>
                  </a:ext>
                </a:extLst>
              </p:cNvPr>
              <p:cNvSpPr>
                <a:spLocks xmlns:a="http://schemas.openxmlformats.org/drawingml/2006/main" noGrp="1"/>
              </p:cNvSpPr>
              <p:nvPr/>
            </p:nvSpPr>
            <p:spPr>
              <a:xfrm xmlns:a="http://schemas.openxmlformats.org/drawingml/2006/main">
                <a:off x="647700" y="37338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例：</a:t>
                </a:r>
                <a14:m xmlns:m="http://schemas.openxmlformats.org/officeDocument/2006/math">
                  <m:oMath xmlns:mml="http://www.w3.org/1998/Math/MathML">
                    <m:r>
                      <a:rPr sz="2100" b="0" lang="en-US">
                        <a:solidFill>
                          <a:srgbClr val="213C4B"/>
                        </a:solidFill>
                        <a:latin typeface="Cambria Math"/>
                        <a:ea typeface="Meiryo"/>
                      </a:rPr>
                      <m:t>P(1.08,</m:t>
                    </m:r>
                    <m:r>
                      <m:rPr>
                        <m:nor/>
                      </m:rPr>
                      <a:rPr sz="2100" b="0" lang="en-US">
                        <a:solidFill>
                          <a:srgbClr val="213C4B"/>
                        </a:solidFill>
                        <a:latin typeface="Cambria Math"/>
                        <a:ea typeface="Meiryo"/>
                      </a:rPr>
                      <m:t> </m:t>
                    </m:r>
                    <m:r>
                      <a:rPr sz="2100" b="0" lang="en-US">
                        <a:solidFill>
                          <a:srgbClr val="213C4B"/>
                        </a:solidFill>
                        <a:latin typeface="Cambria Math"/>
                        <a:ea typeface="Meiryo"/>
                      </a:rPr>
                      <m:t>0.91)</m:t>
                    </m:r>
                  </m:oMath>
                </a14:m>
                <a:r>
                  <a:rPr sz="2100" b="0">
                    <a:solidFill>
                      <a:srgbClr val="213C4B"/>
                    </a:solidFill>
                    <a:latin typeface="Meiryo"/>
                    <a:ea typeface="Meiryo"/>
                    <a:cs typeface="Meiryo"/>
                  </a:rPr>
                  <a:t> を </a:t>
                </a:r>
                <a14:m xmlns:m="http://schemas.openxmlformats.org/officeDocument/2006/math">
                  <m:oMath xmlns:mml="http://www.w3.org/1998/Math/MathML">
                    <m:sSup>
                      <m:e>
                        <m:r>
                          <a:rPr sz="2100" b="0" lang="en-US">
                            <a:solidFill>
                              <a:srgbClr val="213C4B"/>
                            </a:solidFill>
                            <a:latin typeface="Cambria Math"/>
                            <a:ea typeface="Meiryo"/>
                          </a:rPr>
                          <m:t>30</m:t>
                        </m:r>
                      </m:e>
                      <m:sup>
                        <m:r>
                          <a:rPr sz="2100" b="0" lang="en-US">
                            <a:solidFill>
                              <a:srgbClr val="213C4B"/>
                            </a:solidFill>
                            <a:latin typeface="Cambria Math"/>
                            <a:ea typeface="Meiryo"/>
                          </a:rPr>
                          <m:t>∘</m:t>
                        </m:r>
                      </m:sup>
                    </m:sSup>
                  </m:oMath>
                </a14:m>
                <a:r>
                  <a:rPr sz="2100" b="0">
                    <a:solidFill>
                      <a:srgbClr val="213C4B"/>
                    </a:solidFill>
                    <a:latin typeface="Meiryo"/>
                    <a:ea typeface="Meiryo"/>
                    <a:cs typeface="Meiryo"/>
                  </a:rPr>
                  <a:t> 回す。</a:t>
                </a:r>
              </a:p>
            </p:txBody>
          </p:sp>
        </mc:Choice>
        <mc:Fallback>
          <p:sp>
            <p:nvSpPr>
              <p:cNvPr id="7" name="本文6">
                <a:extLst xmlns:a="http://schemas.openxmlformats.org/drawingml/2006/main">
                  <a:ext uri="{FF2B5EF4-FFF2-40B4-BE49-F238E27FC236}">
                    <a16:creationId xmlns:a16="http://schemas.microsoft.com/office/drawing/2014/main" id="{BB9E33BA-F97A-4B19-A902-8695C764282D}"/>
                  </a:ext>
                </a:extLst>
              </p:cNvPr>
              <p:cNvSpPr>
                <a:spLocks xmlns:a="http://schemas.openxmlformats.org/drawingml/2006/main" noGrp="1"/>
              </p:cNvSpPr>
              <p:nvPr/>
            </p:nvSpPr>
            <p:spPr>
              <a:xfrm xmlns:a="http://schemas.openxmlformats.org/drawingml/2006/main">
                <a:off x="647700" y="37338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例：</a:t>
                </a:r>
                <a:r>
                  <a:rPr sz="2100" b="0">
                    <a:solidFill>
                      <a:srgbClr val="213C4B"/>
                    </a:solidFill>
                    <a:latin typeface="Cambria Math"/>
                    <a:ea typeface="Cambria Math"/>
                    <a:cs typeface="Cambria Math"/>
                  </a:rPr>
                  <a:t>P(1.08,\ 0.91)</a:t>
                </a:r>
                <a:r>
                  <a:rPr sz="2100" b="0">
                    <a:solidFill>
                      <a:srgbClr val="213C4B"/>
                    </a:solidFill>
                    <a:latin typeface="Meiryo"/>
                    <a:ea typeface="Meiryo"/>
                    <a:cs typeface="Meiryo"/>
                  </a:rPr>
                  <a:t> を </a:t>
                </a:r>
                <a:r>
                  <a:rPr sz="2100" b="0">
                    <a:solidFill>
                      <a:srgbClr val="213C4B"/>
                    </a:solidFill>
                    <a:latin typeface="Cambria Math"/>
                    <a:ea typeface="Cambria Math"/>
                    <a:cs typeface="Cambria Math"/>
                  </a:rPr>
                  <a:t>30^\circ</a:t>
                </a:r>
                <a:r>
                  <a:rPr sz="2100" b="0">
                    <a:solidFill>
                      <a:srgbClr val="213C4B"/>
                    </a:solidFill>
                    <a:latin typeface="Meiryo"/>
                    <a:ea typeface="Meiryo"/>
                    <a:cs typeface="Meiryo"/>
                  </a:rPr>
                  <a:t> 回す。</a:t>
                </a:r>
              </a:p>
            </p:txBody>
          </p:sp>
        </mc:Fallback>
      </mc:AlternateContent>
      <mc:AlternateContent xmlns:mc="http://schemas.openxmlformats.org/markup-compatibility/2006" xmlns:a14="http://schemas.microsoft.com/office/drawing/2010/main">
        <mc:Choice Requires="a14">
          <p:sp>
            <p:nvSpPr>
              <p:cNvPr id="8" name="EQM00028">
                <a:extLst xmlns:a="http://schemas.openxmlformats.org/drawingml/2006/main">
                  <a:ext uri="{FF2B5EF4-FFF2-40B4-BE49-F238E27FC236}">
                    <a16:creationId xmlns:a16="http://schemas.microsoft.com/office/drawing/2014/main" id="{BE6B32B2-B848-4730-9F6B-1EBE895424ED}"/>
                  </a:ext>
                </a:extLst>
              </p:cNvPr>
              <p:cNvSpPr>
                <a:spLocks xmlns:a="http://schemas.openxmlformats.org/drawingml/2006/main" noGrp="1"/>
              </p:cNvSpPr>
              <p:nvPr/>
            </p:nvSpPr>
            <p:spPr>
              <a:xfrm xmlns:a="http://schemas.openxmlformats.org/drawingml/2006/main">
                <a:off x="647700" y="4381500"/>
                <a:ext cx="108966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eqArr>
                        <m:e>
                          <m:sSup>
                            <m:e>
                              <m:argPr>
                                <m:argSz m:val="0"/>
                              </m:argPr>
                              <m:r>
                                <a:rPr sz="2700" b="0" lang="en-US">
                                  <a:solidFill>
                                    <a:srgbClr val="153D50"/>
                                  </a:solidFill>
                                  <a:latin typeface="Cambria Math"/>
                                  <a:ea typeface="Meiryo"/>
                                </a:rPr>
                                <m:t>x</m:t>
                              </m:r>
                            </m:e>
                            <m:sup>
                              <m:argPr>
                                <m:argSz m:val="0"/>
                              </m:argPr>
                              <m:r>
                                <m:rPr>
                                  <m:sty m:val="p"/>
                                </m:rPr>
                                <a:rPr sz="2700" b="0" lang="en-US">
                                  <a:solidFill>
                                    <a:srgbClr val="153D50"/>
                                  </a:solidFill>
                                  <a:latin typeface="Cambria Math"/>
                                  <a:ea typeface="Meiryo"/>
                                </a:rPr>
                                <m:t>′</m:t>
                              </m:r>
                            </m:sup>
                          </m:sSup>
                          <m:r>
                            <a:rPr sz="2700" b="0" lang="en-US">
                              <a:solidFill>
                                <a:srgbClr val="153D50"/>
                              </a:solidFill>
                              <a:latin typeface="Cambria Math"/>
                              <a:ea typeface="Meiryo"/>
                            </a:rPr>
                            <m:t>&amp;</m:t>
                          </m:r>
                          <m:r>
                            <a:rPr sz="2700" b="0" lang="en-US">
                              <a:solidFill>
                                <a:srgbClr val="153D50"/>
                              </a:solidFill>
                              <a:latin typeface="Cambria Math"/>
                              <a:ea typeface="Meiryo"/>
                            </a:rPr>
                            <m:t>=1.08×0.866−0.91×0.5≈0.48</m:t>
                          </m:r>
                        </m:e>
                        <m:e>
                          <m:sSup>
                            <m:e>
                              <m:argPr>
                                <m:argSz m:val="0"/>
                              </m:argPr>
                              <m:r>
                                <a:rPr sz="2700" b="0" lang="en-US">
                                  <a:solidFill>
                                    <a:srgbClr val="153D50"/>
                                  </a:solidFill>
                                  <a:latin typeface="Cambria Math"/>
                                  <a:ea typeface="Meiryo"/>
                                </a:rPr>
                                <m:t>y</m:t>
                              </m:r>
                            </m:e>
                            <m:sup>
                              <m:argPr>
                                <m:argSz m:val="0"/>
                              </m:argPr>
                              <m:r>
                                <m:rPr>
                                  <m:sty m:val="p"/>
                                </m:rPr>
                                <a:rPr sz="2700" b="0" lang="en-US">
                                  <a:solidFill>
                                    <a:srgbClr val="153D50"/>
                                  </a:solidFill>
                                  <a:latin typeface="Cambria Math"/>
                                  <a:ea typeface="Meiryo"/>
                                </a:rPr>
                                <m:t>′</m:t>
                              </m:r>
                            </m:sup>
                          </m:sSup>
                          <m:r>
                            <a:rPr sz="2700" b="0" lang="en-US">
                              <a:solidFill>
                                <a:srgbClr val="153D50"/>
                              </a:solidFill>
                              <a:latin typeface="Cambria Math"/>
                              <a:ea typeface="Meiryo"/>
                            </a:rPr>
                            <m:t>&amp;</m:t>
                          </m:r>
                          <m:r>
                            <a:rPr sz="2700" b="0" lang="en-US">
                              <a:solidFill>
                                <a:srgbClr val="153D50"/>
                              </a:solidFill>
                              <a:latin typeface="Cambria Math"/>
                              <a:ea typeface="Meiryo"/>
                            </a:rPr>
                            <m:t>=1.08×0.5+0.91×0.866≈1.33</m:t>
                          </m:r>
                        </m:e>
                      </m:eqArr>
                    </m:oMath>
                  </m:oMathPara>
                </a14:m>
              </a:p>
            </p:txBody>
          </p:sp>
        </mc:Choice>
        <mc:Fallback>
          <p:sp>
            <p:nvSpPr>
              <p:cNvPr id="8" name="EQM00028">
                <a:extLst xmlns:a="http://schemas.openxmlformats.org/drawingml/2006/main">
                  <a:ext uri="{FF2B5EF4-FFF2-40B4-BE49-F238E27FC236}">
                    <a16:creationId xmlns:a16="http://schemas.microsoft.com/office/drawing/2014/main" id="{BE6B32B2-B848-4730-9F6B-1EBE895424ED}"/>
                  </a:ext>
                </a:extLst>
              </p:cNvPr>
              <p:cNvSpPr>
                <a:spLocks xmlns:a="http://schemas.openxmlformats.org/drawingml/2006/main" noGrp="1"/>
              </p:cNvSpPr>
              <p:nvPr/>
            </p:nvSpPr>
            <p:spPr>
              <a:xfrm xmlns:a="http://schemas.openxmlformats.org/drawingml/2006/main">
                <a:off x="647700" y="4381500"/>
                <a:ext cx="108966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\begin{aligned}
x'&amp;=1.08\times0.866-0.91\times0.5\approx0.48\\
y'&amp;=1.08\times0.5+0.91\times0.866\approx1.33
\end{aligned}</a:t>
                </a:r>
              </a:p>
            </p:txBody>
          </p:sp>
        </mc:Fallback>
      </mc:AlternateContent>
    </p:spTree>
    <p:extLst>
      <p:ext uri="{BB962C8B-B14F-4D97-AF65-F5344CB8AC3E}">
        <p14:creationId xmlns:p14="http://schemas.microsoft.com/office/powerpoint/2010/main" val="893207172"/>
      </p:ext>
    </p:extLst>
  </p:cSld>
</p:sld>
</file>

<file path=ppt/slides/slide17.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C5C4168B-B87E-4C05-9766-E2B858822F67}"/>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3-1</a:t>
            </a:r>
          </a:p>
        </p:txBody>
      </p:sp>
      <p:sp>
        <p:nvSpPr>
          <p:cNvPr id="2" name="本文1">
            <a:extLst xmlns:a="http://schemas.openxmlformats.org/drawingml/2006/main">
              <a:ext uri="{FF2B5EF4-FFF2-40B4-BE49-F238E27FC236}">
                <a16:creationId xmlns:a16="http://schemas.microsoft.com/office/drawing/2014/main" id="{89BBF0B9-FEE8-4F0C-B58E-D5DB9AEEFEBA}"/>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球面を平らにすると、ひずみが生じる</a:t>
            </a:r>
          </a:p>
        </p:txBody>
      </p:sp>
      <p:sp>
        <p:nvSpPr>
          <p:cNvPr id="3" name="本文2">
            <a:extLst xmlns:a="http://schemas.openxmlformats.org/drawingml/2006/main">
              <a:ext uri="{FF2B5EF4-FFF2-40B4-BE49-F238E27FC236}">
                <a16:creationId xmlns:a16="http://schemas.microsoft.com/office/drawing/2014/main" id="{04B7A165-407D-4C5D-830A-45E34B83D713}"/>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17</a:t>
            </a:r>
          </a:p>
        </p:txBody>
      </p:sp>
      <p:sp>
        <p:nvSpPr>
          <p:cNvPr id="4" name="本文3">
            <a:extLst xmlns:a="http://schemas.openxmlformats.org/drawingml/2006/main">
              <a:ext uri="{FF2B5EF4-FFF2-40B4-BE49-F238E27FC236}">
                <a16:creationId xmlns:a16="http://schemas.microsoft.com/office/drawing/2014/main" id="{DA0E75D4-F437-4E88-9AEC-FA182300FD1E}"/>
              </a:ext>
            </a:extLst>
          </p:cNvPr>
          <p:cNvSpPr>
            <a:spLocks xmlns:a="http://schemas.openxmlformats.org/drawingml/2006/main" noGrp="1"/>
          </p:cNvSpPr>
          <p:nvPr/>
        </p:nvSpPr>
        <p:spPr>
          <a:xfrm xmlns:a="http://schemas.openxmlformats.org/drawingml/2006/main">
            <a:off x="628650" y="2881313"/>
            <a:ext cx="43624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13C4B"/>
                </a:solidFill>
                <a:latin typeface="Meiryo"/>
                <a:ea typeface="Meiryo"/>
                <a:cs typeface="Meiryo"/>
              </a:defRPr>
            </a:defPPr>
          </a:lstStyle>
          <a:p xmlns:a="http://schemas.openxmlformats.org/drawingml/2006/main">
            <a:pPr algn="l">
              <a:defRPr sz="2175" b="0">
                <a:solidFill>
                  <a:srgbClr val="213C4B"/>
                </a:solidFill>
                <a:latin typeface="Meiryo"/>
                <a:ea typeface="Meiryo"/>
                <a:cs typeface="Meiryo"/>
              </a:defRPr>
            </a:pPr>
            <a:r>
              <a:rPr sz="2175" b="0">
                <a:solidFill>
                  <a:srgbClr val="213C4B"/>
                </a:solidFill>
                <a:latin typeface="Meiryo"/>
                <a:ea typeface="Meiryo"/>
                <a:cs typeface="Meiryo"/>
              </a:rPr>
              <a:t>•  みかんの皮を平らにすると、裂けるか伸びる。</a:t>
            </a:r>
          </a:p>
        </p:txBody>
      </p:sp>
      <p:sp>
        <p:nvSpPr>
          <p:cNvPr id="5" name="本文4">
            <a:extLst xmlns:a="http://schemas.openxmlformats.org/drawingml/2006/main">
              <a:ext uri="{FF2B5EF4-FFF2-40B4-BE49-F238E27FC236}">
                <a16:creationId xmlns:a16="http://schemas.microsoft.com/office/drawing/2014/main" id="{0067F107-FBD3-44D7-AEA9-BE6C456E7ADC}"/>
              </a:ext>
            </a:extLst>
          </p:cNvPr>
          <p:cNvSpPr>
            <a:spLocks xmlns:a="http://schemas.openxmlformats.org/drawingml/2006/main" noGrp="1"/>
          </p:cNvSpPr>
          <p:nvPr/>
        </p:nvSpPr>
        <p:spPr>
          <a:xfrm xmlns:a="http://schemas.openxmlformats.org/drawingml/2006/main">
            <a:off x="628650" y="3948113"/>
            <a:ext cx="43624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13C4B"/>
                </a:solidFill>
                <a:latin typeface="Meiryo"/>
                <a:ea typeface="Meiryo"/>
                <a:cs typeface="Meiryo"/>
              </a:defRPr>
            </a:defPPr>
          </a:lstStyle>
          <a:p xmlns:a="http://schemas.openxmlformats.org/drawingml/2006/main">
            <a:pPr algn="l">
              <a:defRPr sz="2175" b="0">
                <a:solidFill>
                  <a:srgbClr val="213C4B"/>
                </a:solidFill>
                <a:latin typeface="Meiryo"/>
                <a:ea typeface="Meiryo"/>
                <a:cs typeface="Meiryo"/>
              </a:defRPr>
            </a:pPr>
            <a:r>
              <a:rPr sz="2175" b="0">
                <a:solidFill>
                  <a:srgbClr val="213C4B"/>
                </a:solidFill>
                <a:latin typeface="Meiryo"/>
                <a:ea typeface="Meiryo"/>
                <a:cs typeface="Meiryo"/>
              </a:rPr>
              <a:t>•  地図も同じ。</a:t>
            </a:r>
            <a:r>
              <a:rPr sz="2175" b="1">
                <a:solidFill>
                  <a:srgbClr val="137D78"/>
                </a:solidFill>
                <a:latin typeface="Meiryo"/>
                <a:ea typeface="Meiryo"/>
                <a:cs typeface="Meiryo"/>
              </a:rPr>
              <a:t>何を保ち、どのひずみを許すか</a:t>
            </a:r>
            <a:r>
              <a:rPr sz="2175" b="0">
                <a:solidFill>
                  <a:srgbClr val="213C4B"/>
                </a:solidFill>
                <a:latin typeface="Meiryo"/>
                <a:ea typeface="Meiryo"/>
                <a:cs typeface="Meiryo"/>
              </a:rPr>
              <a:t>を決める。</a:t>
            </a:r>
          </a:p>
        </p:txBody>
      </p:sp>
      <p:pic>
        <p:nvPicPr>
          <p:cNvPr id="6" name="">
            <a:extLst xmlns:a="http://schemas.openxmlformats.org/drawingml/2006/main">
              <a:ext uri="{FF2B5EF4-FFF2-40B4-BE49-F238E27FC236}">
                <a16:creationId xmlns:a16="http://schemas.microsoft.com/office/drawing/2014/main" id="{3C9C00BC-5D74-4CCB-810F-207E4C5C04A6}"/>
              </a:ext>
            </a:extLst>
          </p:cNvPr>
          <p:cNvPicPr>
            <a:picLocks xmlns:a="http://schemas.openxmlformats.org/drawingml/2006/main" noChangeAspect="1"/>
          </p:cNvPicPr>
          <p:nvPr/>
        </p:nvPicPr>
        <p:blipFill>
          <a:blip xmlns:r="http://schemas.openxmlformats.org/officeDocument/2006/relationships" xmlns:a="http://schemas.openxmlformats.org/drawingml/2006/main" r:embed="R4b45cb608d4f481f"/>
          <a:stretch xmlns:a="http://schemas.openxmlformats.org/drawingml/2006/main"/>
        </p:blipFill>
        <p:spPr>
          <a:xfrm xmlns:a="http://schemas.openxmlformats.org/drawingml/2006/main">
            <a:off x="5238750" y="2048402"/>
            <a:ext cx="6429375" cy="3618446"/>
          </a:xfrm>
          <a:prstGeom xmlns:a="http://schemas.openxmlformats.org/drawingml/2006/main" prst="rect">
            <a:avLst/>
          </a:prstGeom>
        </p:spPr>
      </p:pic>
    </p:spTree>
    <p:extLst>
      <p:ext uri="{BB962C8B-B14F-4D97-AF65-F5344CB8AC3E}">
        <p14:creationId xmlns:p14="http://schemas.microsoft.com/office/powerpoint/2010/main" val="1260259641"/>
      </p:ext>
    </p:extLst>
  </p:cSld>
</p:sld>
</file>

<file path=ppt/slides/slide18.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59FE2A0F-A79D-471F-8543-2F7F77B6B6B2}"/>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3-1</a:t>
            </a:r>
          </a:p>
        </p:txBody>
      </p:sp>
      <p:sp>
        <p:nvSpPr>
          <p:cNvPr id="2" name="本文1">
            <a:extLst xmlns:a="http://schemas.openxmlformats.org/drawingml/2006/main">
              <a:ext uri="{FF2B5EF4-FFF2-40B4-BE49-F238E27FC236}">
                <a16:creationId xmlns:a16="http://schemas.microsoft.com/office/drawing/2014/main" id="{BD3A6B3B-348E-42E0-B28F-6AD352AF8374}"/>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座標を共有するための約束</a:t>
            </a:r>
          </a:p>
        </p:txBody>
      </p:sp>
      <p:sp>
        <p:nvSpPr>
          <p:cNvPr id="3" name="本文2">
            <a:extLst xmlns:a="http://schemas.openxmlformats.org/drawingml/2006/main">
              <a:ext uri="{FF2B5EF4-FFF2-40B4-BE49-F238E27FC236}">
                <a16:creationId xmlns:a16="http://schemas.microsoft.com/office/drawing/2014/main" id="{5B6F92E6-3D1A-438F-BBC7-F082D53E6F4E}"/>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18</a:t>
            </a:r>
          </a:p>
        </p:txBody>
      </p:sp>
      <p:sp>
        <p:nvSpPr>
          <p:cNvPr id="4" name="本文3">
            <a:extLst xmlns:a="http://schemas.openxmlformats.org/drawingml/2006/main">
              <a:ext uri="{FF2B5EF4-FFF2-40B4-BE49-F238E27FC236}">
                <a16:creationId xmlns:a16="http://schemas.microsoft.com/office/drawing/2014/main" id="{731FA46B-1261-4675-8EED-DB838E30A5B1}"/>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数値だけでは位置を共有できない。基準とセットで記録する。</a:t>
            </a:r>
          </a:p>
        </p:txBody>
      </p:sp>
      <p:graphicFrame>
        <p:nvGraphicFramePr>
          <p:cNvPr id="5" name="">
            <a:extLst xmlns:a="http://schemas.openxmlformats.org/drawingml/2006/main">
              <a:ext uri="{FF2B5EF4-FFF2-40B4-BE49-F238E27FC236}">
                <a16:creationId xmlns:a16="http://schemas.microsoft.com/office/drawing/2014/main" id="{B9E25846-A6B4-4D03-A871-A68AACEC43C5}"/>
              </a:ext>
            </a:extLst>
          </p:cNvPr>
          <p:cNvGraphicFramePr/>
          <p:nvPr/>
        </p:nvGraphicFramePr>
        <p:xfrm>
          <a:off xmlns:a="http://schemas.openxmlformats.org/drawingml/2006/main" x="647700" y="1710055"/>
          <a:ext xmlns:a="http://schemas.openxmlformats.org/drawingml/2006/main" cx="10896600" cy="238506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確認すること</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例</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地球の基準・時点</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測地系、成果の元期</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座標の種類・軸・単位</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緯度経度、平面直角座標の系番号</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高さの基準</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楕円体高か標高か、成果・ジオイドモデル</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p:sp>
        <p:nvSpPr>
          <p:cNvPr id="6" name="本文4">
            <a:extLst xmlns:a="http://schemas.openxmlformats.org/drawingml/2006/main">
              <a:ext uri="{FF2B5EF4-FFF2-40B4-BE49-F238E27FC236}">
                <a16:creationId xmlns:a16="http://schemas.microsoft.com/office/drawing/2014/main" id="{61BFFDF4-F74B-47CA-BA2D-1C3FA6E89127}"/>
              </a:ext>
            </a:extLst>
          </p:cNvPr>
          <p:cNvSpPr>
            <a:spLocks xmlns:a="http://schemas.openxmlformats.org/drawingml/2006/main" noGrp="1"/>
          </p:cNvSpPr>
          <p:nvPr/>
        </p:nvSpPr>
        <p:spPr>
          <a:xfrm xmlns:a="http://schemas.openxmlformats.org/drawingml/2006/main">
            <a:off x="647700" y="426656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a:t>
            </a:r>
            <a:r>
              <a:rPr sz="2100" b="1">
                <a:solidFill>
                  <a:srgbClr val="137D78"/>
                </a:solidFill>
                <a:latin typeface="Meiryo"/>
                <a:ea typeface="Meiryo"/>
                <a:cs typeface="Meiryo"/>
              </a:rPr>
              <a:t>座標参照系（CRS）</a:t>
            </a:r>
            <a:r>
              <a:rPr sz="2100" b="0">
                <a:solidFill>
                  <a:srgbClr val="213C4B"/>
                </a:solidFill>
                <a:latin typeface="Meiryo"/>
                <a:ea typeface="Meiryo"/>
                <a:cs typeface="Meiryo"/>
              </a:rPr>
              <a:t>は、座標系を地球の基準に結び付ける約束。</a:t>
            </a:r>
          </a:p>
        </p:txBody>
      </p:sp>
      <p:sp>
        <p:nvSpPr>
          <p:cNvPr id="7" name="本文5">
            <a:extLst xmlns:a="http://schemas.openxmlformats.org/drawingml/2006/main">
              <a:ext uri="{FF2B5EF4-FFF2-40B4-BE49-F238E27FC236}">
                <a16:creationId xmlns:a16="http://schemas.microsoft.com/office/drawing/2014/main" id="{F6C9959D-0C6A-4467-9B3C-4001BFF13107}"/>
              </a:ext>
            </a:extLst>
          </p:cNvPr>
          <p:cNvSpPr>
            <a:spLocks xmlns:a="http://schemas.openxmlformats.org/drawingml/2006/main" noGrp="1"/>
          </p:cNvSpPr>
          <p:nvPr/>
        </p:nvSpPr>
        <p:spPr>
          <a:xfrm xmlns:a="http://schemas.openxmlformats.org/drawingml/2006/main">
            <a:off x="647700" y="491426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水平位置と標高を組み合わせる場合は、両方の基準を明記する。</a:t>
            </a:r>
          </a:p>
        </p:txBody>
      </p:sp>
    </p:spTree>
    <p:extLst>
      <p:ext uri="{BB962C8B-B14F-4D97-AF65-F5344CB8AC3E}">
        <p14:creationId xmlns:p14="http://schemas.microsoft.com/office/powerpoint/2010/main" val="1858622752"/>
      </p:ext>
    </p:extLst>
  </p:cSld>
</p:sld>
</file>

<file path=ppt/slides/slide19.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5" name="本文0">
            <a:extLst xmlns:a="http://schemas.openxmlformats.org/drawingml/2006/main">
              <a:ext uri="{FF2B5EF4-FFF2-40B4-BE49-F238E27FC236}">
                <a16:creationId xmlns:a16="http://schemas.microsoft.com/office/drawing/2014/main" id="{5679E627-ACFB-4574-8BD2-D194A6A083FD}"/>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3-1</a:t>
            </a:r>
          </a:p>
        </p:txBody>
      </p:sp>
      <p:sp>
        <p:nvSpPr>
          <p:cNvPr id="2" name="本文1">
            <a:extLst xmlns:a="http://schemas.openxmlformats.org/drawingml/2006/main">
              <a:ext uri="{FF2B5EF4-FFF2-40B4-BE49-F238E27FC236}">
                <a16:creationId xmlns:a16="http://schemas.microsoft.com/office/drawing/2014/main" id="{8E8ED44C-5DB1-4FC2-8F74-C690E3FD5924}"/>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測量で使う座標の階層</a:t>
            </a:r>
          </a:p>
        </p:txBody>
      </p:sp>
      <p:sp>
        <p:nvSpPr>
          <p:cNvPr id="3" name="本文2">
            <a:extLst xmlns:a="http://schemas.openxmlformats.org/drawingml/2006/main">
              <a:ext uri="{FF2B5EF4-FFF2-40B4-BE49-F238E27FC236}">
                <a16:creationId xmlns:a16="http://schemas.microsoft.com/office/drawing/2014/main" id="{4EFAFB5C-9A5B-4C98-B514-49E1C45D130D}"/>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19</a:t>
            </a:r>
          </a:p>
        </p:txBody>
      </p:sp>
      <p:pic>
        <p:nvPicPr>
          <p:cNvPr id="4" name="">
            <a:extLst xmlns:a="http://schemas.openxmlformats.org/drawingml/2006/main">
              <a:ext uri="{FF2B5EF4-FFF2-40B4-BE49-F238E27FC236}">
                <a16:creationId xmlns:a16="http://schemas.microsoft.com/office/drawing/2014/main" id="{0DF72FCC-CF02-40F3-A4C1-911EC5AEF2AF}"/>
              </a:ext>
            </a:extLst>
          </p:cNvPr>
          <p:cNvPicPr>
            <a:picLocks xmlns:a="http://schemas.openxmlformats.org/drawingml/2006/main" noChangeAspect="1"/>
          </p:cNvPicPr>
          <p:nvPr/>
        </p:nvPicPr>
        <p:blipFill>
          <a:blip xmlns:r="http://schemas.openxmlformats.org/officeDocument/2006/relationships" xmlns:a="http://schemas.openxmlformats.org/drawingml/2006/main" r:embed="R10d3800bdab94cb8"/>
          <a:stretch xmlns:a="http://schemas.openxmlformats.org/drawingml/2006/main"/>
        </p:blipFill>
        <p:spPr>
          <a:xfrm xmlns:a="http://schemas.openxmlformats.org/drawingml/2006/main">
            <a:off x="590550" y="1414780"/>
            <a:ext cx="11010900" cy="4771390"/>
          </a:xfrm>
          <a:prstGeom xmlns:a="http://schemas.openxmlformats.org/drawingml/2006/main" prst="rect">
            <a:avLst/>
          </a:prstGeom>
        </p:spPr>
      </p:pic>
    </p:spTree>
    <p:extLst>
      <p:ext uri="{BB962C8B-B14F-4D97-AF65-F5344CB8AC3E}">
        <p14:creationId xmlns:p14="http://schemas.microsoft.com/office/powerpoint/2010/main" val="182782558"/>
      </p:ext>
    </p:extLst>
  </p:cSld>
</p:sld>
</file>

<file path=ppt/slides/slide20.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8AC3F3DB-4CFA-40C6-9B2A-6330CD98F27F}"/>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3-1</a:t>
            </a:r>
          </a:p>
        </p:txBody>
      </p:sp>
      <p:sp>
        <p:nvSpPr>
          <p:cNvPr id="2" name="本文1">
            <a:extLst xmlns:a="http://schemas.openxmlformats.org/drawingml/2006/main">
              <a:ext uri="{FF2B5EF4-FFF2-40B4-BE49-F238E27FC236}">
                <a16:creationId xmlns:a16="http://schemas.microsoft.com/office/drawing/2014/main" id="{D2CD08D9-CF3D-4D33-B13F-C75AB4C77AEC}"/>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同じ杭を、異なる座標で表す</a:t>
            </a:r>
          </a:p>
        </p:txBody>
      </p:sp>
      <p:sp>
        <p:nvSpPr>
          <p:cNvPr id="3" name="本文2">
            <a:extLst xmlns:a="http://schemas.openxmlformats.org/drawingml/2006/main">
              <a:ext uri="{FF2B5EF4-FFF2-40B4-BE49-F238E27FC236}">
                <a16:creationId xmlns:a16="http://schemas.microsoft.com/office/drawing/2014/main" id="{77ADC59E-33F7-4925-BAA0-6994415101C9}"/>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20</a:t>
            </a:r>
          </a:p>
        </p:txBody>
      </p:sp>
      <p:sp>
        <p:nvSpPr>
          <p:cNvPr id="4" name="本文3">
            <a:extLst xmlns:a="http://schemas.openxmlformats.org/drawingml/2006/main">
              <a:ext uri="{FF2B5EF4-FFF2-40B4-BE49-F238E27FC236}">
                <a16:creationId xmlns:a16="http://schemas.microsoft.com/office/drawing/2014/main" id="{477FE7AC-8842-4CC8-A51D-C0611DDB1AB1}"/>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この高さの差が、次に学ぶ「ジオイド高」。</a:t>
            </a:r>
          </a:p>
        </p:txBody>
      </p:sp>
      <mc:AlternateContent xmlns:mc="http://schemas.openxmlformats.org/markup-compatibility/2006" xmlns:a14="http://schemas.microsoft.com/office/drawing/2010/main">
        <mc:Choice Requires="a14">
          <p:graphicFrame>
            <p:nvGraphicFramePr>
              <p:cNvPr id="5" name="">
                <a:extLst xmlns:a="http://schemas.openxmlformats.org/drawingml/2006/main">
                  <a:ext uri="{FF2B5EF4-FFF2-40B4-BE49-F238E27FC236}">
                    <a16:creationId xmlns:a16="http://schemas.microsoft.com/office/drawing/2014/main" id="{5187947F-9359-4174-B8CE-F097DE986C42}"/>
                  </a:ext>
                </a:extLst>
              </p:cNvPr>
              <p:cNvGraphicFramePr/>
              <p:nvPr/>
            </p:nvGraphicFramePr>
            <p:xfrm>
              <a:off xmlns:a="http://schemas.openxmlformats.org/drawingml/2006/main" x="647700" y="1856105"/>
              <a:ext xmlns:a="http://schemas.openxmlformats.org/drawingml/2006/main" cx="10896600" cy="238506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座標の種類</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説明用の概数</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緯度・経度・楕円体高</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北緯42°55′、東経143°12′、</a:t>
                          </a:r>
                          <a14:m xmlns:m="http://schemas.openxmlformats.org/officeDocument/2006/math">
                            <m:oMath xmlns:mml="http://www.w3.org/1998/Math/MathML">
                              <m:r>
                                <a:rPr sz="2100" b="0" lang="en-US">
                                  <a:solidFill>
                                    <a:srgbClr val="213C4B"/>
                                  </a:solidFill>
                                  <a:latin typeface="Cambria Math"/>
                                  <a:ea typeface="Meiryo"/>
                                </a:rPr>
                                <m:t>h=85</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第XIII系の平面座標と標高</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X≈−120</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km</m:t>
                              </m:r>
                            </m:oMath>
                          </a14:m>
                          <a:r>
                            <a:rPr sz="2100" b="0">
                              <a:solidFill>
                                <a:srgbClr val="213C4B"/>
                              </a:solidFill>
                              <a:latin typeface="Meiryo"/>
                              <a:ea typeface="Meiryo"/>
                              <a:cs typeface="Meiryo"/>
                            </a:rPr>
                            <a:t>、</a:t>
                          </a:r>
                          <a14:m xmlns:m="http://schemas.openxmlformats.org/officeDocument/2006/math">
                            <m:oMath xmlns:mml="http://www.w3.org/1998/Math/MathML">
                              <m:r>
                                <a:rPr sz="2100" b="0" lang="en-US">
                                  <a:solidFill>
                                    <a:srgbClr val="213C4B"/>
                                  </a:solidFill>
                                  <a:latin typeface="Cambria Math"/>
                                  <a:ea typeface="Meiryo"/>
                                </a:rPr>
                                <m:t>Y≈−85</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km</m:t>
                              </m:r>
                            </m:oMath>
                          </a14:m>
                          <a:r>
                            <a:rPr sz="2100" b="0">
                              <a:solidFill>
                                <a:srgbClr val="213C4B"/>
                              </a:solidFill>
                              <a:latin typeface="Meiryo"/>
                              <a:ea typeface="Meiryo"/>
                              <a:cs typeface="Meiryo"/>
                            </a:rPr>
                            <a:t>、</a:t>
                          </a:r>
                          <a14:m xmlns:m="http://schemas.openxmlformats.org/officeDocument/2006/math">
                            <m:oMath xmlns:mml="http://www.w3.org/1998/Math/MathML">
                              <m:r>
                                <a:rPr sz="2100" b="0" lang="en-US">
                                  <a:solidFill>
                                    <a:srgbClr val="213C4B"/>
                                  </a:solidFill>
                                  <a:latin typeface="Cambria Math"/>
                                  <a:ea typeface="Meiryo"/>
                                </a:rPr>
                                <m:t>H≈56</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器械点を原点にした局所座標</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x=12.345</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r>
                            <a:rPr sz="2100" b="0">
                              <a:solidFill>
                                <a:srgbClr val="213C4B"/>
                              </a:solidFill>
                              <a:latin typeface="Meiryo"/>
                              <a:ea typeface="Meiryo"/>
                              <a:cs typeface="Meiryo"/>
                            </a:rPr>
                            <a:t>、</a:t>
                          </a:r>
                          <a14:m xmlns:m="http://schemas.openxmlformats.org/officeDocument/2006/math">
                            <m:oMath xmlns:mml="http://www.w3.org/1998/Math/MathML">
                              <m:r>
                                <a:rPr sz="2100" b="0" lang="en-US">
                                  <a:solidFill>
                                    <a:srgbClr val="213C4B"/>
                                  </a:solidFill>
                                  <a:latin typeface="Cambria Math"/>
                                  <a:ea typeface="Meiryo"/>
                                </a:rPr>
                                <m:t>y=−3.210</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r>
                            <a:rPr sz="2100" b="0">
                              <a:solidFill>
                                <a:srgbClr val="213C4B"/>
                              </a:solidFill>
                              <a:latin typeface="Meiryo"/>
                              <a:ea typeface="Meiryo"/>
                              <a:cs typeface="Meiryo"/>
                            </a:rPr>
                            <a:t>、高さの差 </a:t>
                          </a:r>
                          <a14:m xmlns:m="http://schemas.openxmlformats.org/officeDocument/2006/math">
                            <m:oMath xmlns:mml="http://www.w3.org/1998/Math/MathML">
                              <m:r>
                                <a:rPr sz="2100" b="0" lang="en-US">
                                  <a:solidFill>
                                    <a:srgbClr val="213C4B"/>
                                  </a:solidFill>
                                  <a:latin typeface="Cambria Math"/>
                                  <a:ea typeface="Meiryo"/>
                                </a:rPr>
                                <m:t>0.52</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Choice>
        <mc:Fallback>
          <p:graphicFrame>
            <p:nvGraphicFramePr>
              <p:cNvPr id="5" name="">
                <a:extLst xmlns:a="http://schemas.openxmlformats.org/drawingml/2006/main">
                  <a:ext uri="{FF2B5EF4-FFF2-40B4-BE49-F238E27FC236}">
                    <a16:creationId xmlns:a16="http://schemas.microsoft.com/office/drawing/2014/main" id="{5187947F-9359-4174-B8CE-F097DE986C42}"/>
                  </a:ext>
                </a:extLst>
              </p:cNvPr>
              <p:cNvGraphicFramePr/>
              <p:nvPr/>
            </p:nvGraphicFramePr>
            <p:xfrm>
              <a:off xmlns:a="http://schemas.openxmlformats.org/drawingml/2006/main" x="647700" y="1856105"/>
              <a:ext xmlns:a="http://schemas.openxmlformats.org/drawingml/2006/main" cx="10896600" cy="238506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座標の種類</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説明用の概数</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緯度・経度・楕円体高</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北緯42°55′、東経143°12′、</a:t>
                          </a:r>
                          <a:r>
                            <a:rPr sz="2100" b="0">
                              <a:solidFill>
                                <a:srgbClr val="213C4B"/>
                              </a:solidFill>
                              <a:latin typeface="Cambria Math"/>
                              <a:ea typeface="Cambria Math"/>
                              <a:cs typeface="Cambria Math"/>
                            </a:rPr>
                            <a:t>h=85\ \mathrm{m}</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第XIII系の平面座標と標高</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Cambria Math"/>
                              <a:ea typeface="Cambria Math"/>
                              <a:cs typeface="Cambria Math"/>
                            </a:rPr>
                            <a:t>X\approx-120\ \mathrm{km}</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Y\approx-85\ \mathrm{km}</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H\approx56\ \mathrm{m}</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器械点を原点にした局所座標</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Cambria Math"/>
                              <a:ea typeface="Cambria Math"/>
                              <a:cs typeface="Cambria Math"/>
                            </a:rPr>
                            <a:t>x=12.345\ \mathrm{m}</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y=-3.210\ \mathrm{m}</a:t>
                          </a:r>
                          <a:r>
                            <a:rPr sz="2100" b="0">
                              <a:solidFill>
                                <a:srgbClr val="213C4B"/>
                              </a:solidFill>
                              <a:latin typeface="Meiryo"/>
                              <a:ea typeface="Meiryo"/>
                              <a:cs typeface="Meiryo"/>
                            </a:rPr>
                            <a:t>、高さの差 </a:t>
                          </a:r>
                          <a:r>
                            <a:rPr sz="2100" b="0">
                              <a:solidFill>
                                <a:srgbClr val="213C4B"/>
                              </a:solidFill>
                              <a:latin typeface="Cambria Math"/>
                              <a:ea typeface="Cambria Math"/>
                              <a:cs typeface="Cambria Math"/>
                            </a:rPr>
                            <a:t>0.52\ \mathrm{m}</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Fallback>
      </mc:AlternateContent>
      <mc:AlternateContent xmlns:mc="http://schemas.openxmlformats.org/markup-compatibility/2006" xmlns:a14="http://schemas.microsoft.com/office/drawing/2010/main">
        <mc:Choice Requires="a14">
          <p:sp>
            <p:nvSpPr>
              <p:cNvPr id="6" name="EQM00036">
                <a:extLst xmlns:a="http://schemas.openxmlformats.org/drawingml/2006/main">
                  <a:ext uri="{FF2B5EF4-FFF2-40B4-BE49-F238E27FC236}">
                    <a16:creationId xmlns:a16="http://schemas.microsoft.com/office/drawing/2014/main" id="{7108D88A-9B3E-415D-B58B-398553AC119C}"/>
                  </a:ext>
                </a:extLst>
              </p:cNvPr>
              <p:cNvSpPr>
                <a:spLocks xmlns:a="http://schemas.openxmlformats.org/drawingml/2006/main" noGrp="1"/>
              </p:cNvSpPr>
              <p:nvPr/>
            </p:nvSpPr>
            <p:spPr>
              <a:xfrm xmlns:a="http://schemas.openxmlformats.org/drawingml/2006/main">
                <a:off x="647700" y="4412615"/>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r>
                        <a:rPr sz="2700" b="0" lang="en-US">
                          <a:solidFill>
                            <a:srgbClr val="153D50"/>
                          </a:solidFill>
                          <a:latin typeface="Cambria Math"/>
                          <a:ea typeface="Meiryo"/>
                        </a:rPr>
                        <m:t>h−H=85−56=29</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oMath>
                  </m:oMathPara>
                </a14:m>
              </a:p>
            </p:txBody>
          </p:sp>
        </mc:Choice>
        <mc:Fallback>
          <p:sp>
            <p:nvSpPr>
              <p:cNvPr id="6" name="EQM00036">
                <a:extLst xmlns:a="http://schemas.openxmlformats.org/drawingml/2006/main">
                  <a:ext uri="{FF2B5EF4-FFF2-40B4-BE49-F238E27FC236}">
                    <a16:creationId xmlns:a16="http://schemas.microsoft.com/office/drawing/2014/main" id="{7108D88A-9B3E-415D-B58B-398553AC119C}"/>
                  </a:ext>
                </a:extLst>
              </p:cNvPr>
              <p:cNvSpPr>
                <a:spLocks xmlns:a="http://schemas.openxmlformats.org/drawingml/2006/main" noGrp="1"/>
              </p:cNvSpPr>
              <p:nvPr/>
            </p:nvSpPr>
            <p:spPr>
              <a:xfrm xmlns:a="http://schemas.openxmlformats.org/drawingml/2006/main">
                <a:off x="647700" y="4412615"/>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h-H=85-56=29\ \mathrm{m}</a:t>
                </a:r>
              </a:p>
            </p:txBody>
          </p:sp>
        </mc:Fallback>
      </mc:AlternateContent>
    </p:spTree>
    <p:extLst>
      <p:ext uri="{BB962C8B-B14F-4D97-AF65-F5344CB8AC3E}">
        <p14:creationId xmlns:p14="http://schemas.microsoft.com/office/powerpoint/2010/main" val="391058406"/>
      </p:ext>
    </p:extLst>
  </p:cSld>
</p:sld>
</file>

<file path=ppt/slides/slide21.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B23342CB-5CB3-4A20-A92D-E1011AB5B026}"/>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3-2</a:t>
            </a:r>
          </a:p>
        </p:txBody>
      </p:sp>
      <p:sp>
        <p:nvSpPr>
          <p:cNvPr id="2" name="本文1">
            <a:extLst xmlns:a="http://schemas.openxmlformats.org/drawingml/2006/main">
              <a:ext uri="{FF2B5EF4-FFF2-40B4-BE49-F238E27FC236}">
                <a16:creationId xmlns:a16="http://schemas.microsoft.com/office/drawing/2014/main" id="{FCE91487-0466-41CF-B777-F18DF2079E63}"/>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地球の近似：回転楕円体</a:t>
            </a:r>
          </a:p>
        </p:txBody>
      </p:sp>
      <p:sp>
        <p:nvSpPr>
          <p:cNvPr id="3" name="本文2">
            <a:extLst xmlns:a="http://schemas.openxmlformats.org/drawingml/2006/main">
              <a:ext uri="{FF2B5EF4-FFF2-40B4-BE49-F238E27FC236}">
                <a16:creationId xmlns:a16="http://schemas.microsoft.com/office/drawing/2014/main" id="{DC5D07C5-C047-4B07-878A-CCEA08AC1A70}"/>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21</a:t>
            </a:r>
          </a:p>
        </p:txBody>
      </p:sp>
      <p:sp>
        <p:nvSpPr>
          <p:cNvPr id="4" name="本文3">
            <a:extLst xmlns:a="http://schemas.openxmlformats.org/drawingml/2006/main">
              <a:ext uri="{FF2B5EF4-FFF2-40B4-BE49-F238E27FC236}">
                <a16:creationId xmlns:a16="http://schemas.microsoft.com/office/drawing/2014/main" id="{5724A755-AFF0-4D04-ACBA-E8DFE437FF56}"/>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赤道方向に少し膨らみ、</a:t>
            </a:r>
            <a:r>
              <a:rPr sz="1950" b="1">
                <a:solidFill>
                  <a:srgbClr val="137D78"/>
                </a:solidFill>
                <a:latin typeface="Meiryo"/>
                <a:ea typeface="Meiryo"/>
                <a:cs typeface="Meiryo"/>
              </a:rPr>
              <a:t>短軸が自転軸</a:t>
            </a:r>
            <a:r>
              <a:rPr sz="1950" b="0">
                <a:solidFill>
                  <a:srgbClr val="213C4B"/>
                </a:solidFill>
                <a:latin typeface="Meiryo"/>
                <a:ea typeface="Meiryo"/>
                <a:cs typeface="Meiryo"/>
              </a:rPr>
              <a:t>に一致する。</a:t>
            </a:r>
          </a:p>
        </p:txBody>
      </p:sp>
      <p:sp>
        <p:nvSpPr>
          <p:cNvPr id="5" name="本文4">
            <a:extLst xmlns:a="http://schemas.openxmlformats.org/drawingml/2006/main">
              <a:ext uri="{FF2B5EF4-FFF2-40B4-BE49-F238E27FC236}">
                <a16:creationId xmlns:a16="http://schemas.microsoft.com/office/drawing/2014/main" id="{56D06E95-95AB-418B-AB74-63E8CD39A539}"/>
              </a:ext>
            </a:extLst>
          </p:cNvPr>
          <p:cNvSpPr>
            <a:spLocks xmlns:a="http://schemas.openxmlformats.org/drawingml/2006/main" noGrp="1"/>
          </p:cNvSpPr>
          <p:nvPr/>
        </p:nvSpPr>
        <p:spPr>
          <a:xfrm xmlns:a="http://schemas.openxmlformats.org/drawingml/2006/main">
            <a:off x="647700" y="20097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GRS80の赤道半径と極半径の差は約21 km。</a:t>
            </a:r>
          </a:p>
        </p:txBody>
      </p:sp>
      <mc:AlternateContent xmlns:mc="http://schemas.openxmlformats.org/markup-compatibility/2006" xmlns:a14="http://schemas.microsoft.com/office/drawing/2010/main">
        <mc:Choice Requires="a14">
          <p:sp>
            <p:nvSpPr>
              <p:cNvPr id="6" name="EQM00037">
                <a:extLst xmlns:a="http://schemas.openxmlformats.org/drawingml/2006/main">
                  <a:ext uri="{FF2B5EF4-FFF2-40B4-BE49-F238E27FC236}">
                    <a16:creationId xmlns:a16="http://schemas.microsoft.com/office/drawing/2014/main" id="{CAF50517-FBD9-4BCB-B9E4-AF2B77F2E61D}"/>
                  </a:ext>
                </a:extLst>
              </p:cNvPr>
              <p:cNvSpPr>
                <a:spLocks xmlns:a="http://schemas.openxmlformats.org/drawingml/2006/main" noGrp="1"/>
              </p:cNvSpPr>
              <p:nvPr/>
            </p:nvSpPr>
            <p:spPr>
              <a:xfrm xmlns:a="http://schemas.openxmlformats.org/drawingml/2006/main">
                <a:off x="647700" y="2552700"/>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550" b="0">
                    <a:solidFill>
                      <a:srgbClr val="153D50"/>
                    </a:solidFill>
                    <a:latin typeface="Meiryo"/>
                    <a:ea typeface="Meiryo"/>
                    <a:cs typeface="Meiryo"/>
                  </a:defRPr>
                </a:defPPr>
              </a:lstStyle>
              <a:p xmlns:a="http://schemas.openxmlformats.org/drawingml/2006/main">
                <a:pPr algn="ctr">
                  <a:defRPr sz="255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r>
                        <a:rPr sz="2550" b="0" lang="en-US">
                          <a:solidFill>
                            <a:srgbClr val="153D50"/>
                          </a:solidFill>
                          <a:latin typeface="Cambria Math"/>
                          <a:ea typeface="Meiryo"/>
                        </a:rPr>
                        <m:t>f=</m:t>
                      </m:r>
                      <m:f>
                        <m:fPr>
                          <m:type m:val="bar"/>
                        </m:fPr>
                        <m:num>
                          <m:r>
                            <a:rPr sz="2550" b="0" lang="en-US">
                              <a:solidFill>
                                <a:srgbClr val="153D50"/>
                              </a:solidFill>
                              <a:latin typeface="Cambria Math"/>
                              <a:ea typeface="Meiryo"/>
                            </a:rPr>
                            <m:t>a−b</m:t>
                          </m:r>
                        </m:num>
                        <m:den>
                          <m:r>
                            <a:rPr sz="2550" b="0" lang="en-US">
                              <a:solidFill>
                                <a:srgbClr val="153D50"/>
                              </a:solidFill>
                              <a:latin typeface="Cambria Math"/>
                              <a:ea typeface="Meiryo"/>
                            </a:rPr>
                            <m:t>a</m:t>
                          </m:r>
                        </m:den>
                      </m:f>
                      <m:r>
                        <a:rPr sz="2550" b="0" lang="en-US">
                          <a:solidFill>
                            <a:srgbClr val="153D50"/>
                          </a:solidFill>
                          <a:latin typeface="Cambria Math"/>
                          <a:ea typeface="Meiryo"/>
                        </a:rPr>
                        <m:t>≈</m:t>
                      </m:r>
                      <m:f>
                        <m:fPr>
                          <m:type m:val="bar"/>
                        </m:fPr>
                        <m:num>
                          <m:r>
                            <a:rPr sz="2550" b="0" lang="en-US">
                              <a:solidFill>
                                <a:srgbClr val="153D50"/>
                              </a:solidFill>
                              <a:latin typeface="Cambria Math"/>
                              <a:ea typeface="Meiryo"/>
                            </a:rPr>
                            <m:t>1</m:t>
                          </m:r>
                        </m:num>
                        <m:den>
                          <m:r>
                            <a:rPr sz="2550" b="0" lang="en-US">
                              <a:solidFill>
                                <a:srgbClr val="153D50"/>
                              </a:solidFill>
                              <a:latin typeface="Cambria Math"/>
                              <a:ea typeface="Meiryo"/>
                            </a:rPr>
                            <m:t>298.257</m:t>
                          </m:r>
                        </m:den>
                      </m:f>
                    </m:oMath>
                  </m:oMathPara>
                </a14:m>
              </a:p>
            </p:txBody>
          </p:sp>
        </mc:Choice>
        <mc:Fallback>
          <p:sp>
            <p:nvSpPr>
              <p:cNvPr id="6" name="EQM00037">
                <a:extLst xmlns:a="http://schemas.openxmlformats.org/drawingml/2006/main">
                  <a:ext uri="{FF2B5EF4-FFF2-40B4-BE49-F238E27FC236}">
                    <a16:creationId xmlns:a16="http://schemas.microsoft.com/office/drawing/2014/main" id="{CAF50517-FBD9-4BCB-B9E4-AF2B77F2E61D}"/>
                  </a:ext>
                </a:extLst>
              </p:cNvPr>
              <p:cNvSpPr>
                <a:spLocks xmlns:a="http://schemas.openxmlformats.org/drawingml/2006/main" noGrp="1"/>
              </p:cNvSpPr>
              <p:nvPr/>
            </p:nvSpPr>
            <p:spPr>
              <a:xfrm xmlns:a="http://schemas.openxmlformats.org/drawingml/2006/main">
                <a:off x="647700" y="2552700"/>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550" b="0">
                    <a:solidFill>
                      <a:srgbClr val="153D50"/>
                    </a:solidFill>
                    <a:latin typeface="Meiryo"/>
                    <a:ea typeface="Meiryo"/>
                    <a:cs typeface="Meiryo"/>
                  </a:defRPr>
                </a:defPPr>
              </a:lstStyle>
              <a:p xmlns:a="http://schemas.openxmlformats.org/drawingml/2006/main">
                <a:pPr algn="ctr">
                  <a:defRPr sz="2550" b="0">
                    <a:solidFill>
                      <a:srgbClr val="153D50"/>
                    </a:solidFill>
                    <a:latin typeface="Meiryo"/>
                    <a:ea typeface="Meiryo"/>
                    <a:cs typeface="Meiryo"/>
                  </a:defRPr>
                </a:pPr>
                <a:r>
                  <a:rPr sz="2550" b="0">
                    <a:solidFill>
                      <a:srgbClr val="153D50"/>
                    </a:solidFill>
                    <a:latin typeface="Meiryo"/>
                    <a:ea typeface="Meiryo"/>
                    <a:cs typeface="Meiryo"/>
                  </a:rPr>
                  <a:t>f=\frac{a-b}{a}\approx\frac{1}{298.257}</a:t>
                </a:r>
              </a:p>
            </p:txBody>
          </p:sp>
        </mc:Fallback>
      </mc:AlternateContent>
      <p:pic>
        <p:nvPicPr>
          <p:cNvPr id="7" name="">
            <a:extLst xmlns:a="http://schemas.openxmlformats.org/drawingml/2006/main">
              <a:ext uri="{FF2B5EF4-FFF2-40B4-BE49-F238E27FC236}">
                <a16:creationId xmlns:a16="http://schemas.microsoft.com/office/drawing/2014/main" id="{0AFC2BBF-E509-4648-B8F1-B4495EED128B}"/>
              </a:ext>
            </a:extLst>
          </p:cNvPr>
          <p:cNvPicPr>
            <a:picLocks xmlns:a="http://schemas.openxmlformats.org/drawingml/2006/main" noChangeAspect="1"/>
          </p:cNvPicPr>
          <p:nvPr/>
        </p:nvPicPr>
        <p:blipFill>
          <a:blip xmlns:r="http://schemas.openxmlformats.org/officeDocument/2006/relationships" xmlns:a="http://schemas.openxmlformats.org/drawingml/2006/main" r:embed="R708d2de1bdf2403a"/>
          <a:stretch xmlns:a="http://schemas.openxmlformats.org/drawingml/2006/main"/>
        </p:blipFill>
        <p:spPr>
          <a:xfrm xmlns:a="http://schemas.openxmlformats.org/drawingml/2006/main">
            <a:off x="1355912" y="3533775"/>
            <a:ext cx="9480176" cy="2686050"/>
          </a:xfrm>
          <a:prstGeom xmlns:a="http://schemas.openxmlformats.org/drawingml/2006/main" prst="rect">
            <a:avLst/>
          </a:prstGeom>
        </p:spPr>
      </p:pic>
    </p:spTree>
    <p:extLst>
      <p:ext uri="{BB962C8B-B14F-4D97-AF65-F5344CB8AC3E}">
        <p14:creationId xmlns:p14="http://schemas.microsoft.com/office/powerpoint/2010/main" val="88593713"/>
      </p:ext>
    </p:extLst>
  </p:cSld>
</p:sld>
</file>

<file path=ppt/slides/slide22.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E1BA5F79-B66D-4562-9D71-1805FC879E03}"/>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3-2</a:t>
            </a:r>
          </a:p>
        </p:txBody>
      </p:sp>
      <p:sp>
        <p:nvSpPr>
          <p:cNvPr id="2" name="本文1">
            <a:extLst xmlns:a="http://schemas.openxmlformats.org/drawingml/2006/main">
              <a:ext uri="{FF2B5EF4-FFF2-40B4-BE49-F238E27FC236}">
                <a16:creationId xmlns:a16="http://schemas.microsoft.com/office/drawing/2014/main" id="{9E1FE6A8-C8F7-45FC-B6EE-34043F6C46AE}"/>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水面と重力の関係</a:t>
            </a:r>
          </a:p>
        </p:txBody>
      </p:sp>
      <p:sp>
        <p:nvSpPr>
          <p:cNvPr id="3" name="本文2">
            <a:extLst xmlns:a="http://schemas.openxmlformats.org/drawingml/2006/main">
              <a:ext uri="{FF2B5EF4-FFF2-40B4-BE49-F238E27FC236}">
                <a16:creationId xmlns:a16="http://schemas.microsoft.com/office/drawing/2014/main" id="{D8B630E8-CF1C-462D-9599-CDA5408A7AE7}"/>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22</a:t>
            </a:r>
          </a:p>
        </p:txBody>
      </p:sp>
      <p:sp>
        <p:nvSpPr>
          <p:cNvPr id="4" name="本文3">
            <a:extLst xmlns:a="http://schemas.openxmlformats.org/drawingml/2006/main">
              <a:ext uri="{FF2B5EF4-FFF2-40B4-BE49-F238E27FC236}">
                <a16:creationId xmlns:a16="http://schemas.microsoft.com/office/drawing/2014/main" id="{7BB0BB7D-2CE5-4E5B-A335-42E312C0BC59}"/>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静止した水面は、その場所の </a:t>
            </a:r>
            <a:r>
              <a:rPr sz="1950" b="1">
                <a:solidFill>
                  <a:srgbClr val="137D78"/>
                </a:solidFill>
                <a:latin typeface="Meiryo"/>
                <a:ea typeface="Meiryo"/>
                <a:cs typeface="Meiryo"/>
              </a:rPr>
              <a:t>重力方向に垂直</a:t>
            </a:r>
            <a:r>
              <a:rPr sz="1950" b="0">
                <a:solidFill>
                  <a:srgbClr val="213C4B"/>
                </a:solidFill>
                <a:latin typeface="Meiryo"/>
                <a:ea typeface="Meiryo"/>
                <a:cs typeface="Meiryo"/>
              </a:rPr>
              <a:t>。</a:t>
            </a:r>
          </a:p>
        </p:txBody>
      </p:sp>
      <p:sp>
        <p:nvSpPr>
          <p:cNvPr id="5" name="本文4">
            <a:extLst xmlns:a="http://schemas.openxmlformats.org/drawingml/2006/main">
              <a:ext uri="{FF2B5EF4-FFF2-40B4-BE49-F238E27FC236}">
                <a16:creationId xmlns:a16="http://schemas.microsoft.com/office/drawing/2014/main" id="{F7A7D2CE-E3B8-434F-A04D-E701D4E7B23B}"/>
              </a:ext>
            </a:extLst>
          </p:cNvPr>
          <p:cNvSpPr>
            <a:spLocks xmlns:a="http://schemas.openxmlformats.org/drawingml/2006/main" noGrp="1"/>
          </p:cNvSpPr>
          <p:nvPr/>
        </p:nvSpPr>
        <p:spPr>
          <a:xfrm xmlns:a="http://schemas.openxmlformats.org/drawingml/2006/main">
            <a:off x="647700" y="20097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重力の向きは、地球内部や周囲の質量分布によって変わる。</a:t>
            </a:r>
          </a:p>
        </p:txBody>
      </p:sp>
      <p:sp>
        <p:nvSpPr>
          <p:cNvPr id="6" name="本文5">
            <a:extLst xmlns:a="http://schemas.openxmlformats.org/drawingml/2006/main">
              <a:ext uri="{FF2B5EF4-FFF2-40B4-BE49-F238E27FC236}">
                <a16:creationId xmlns:a16="http://schemas.microsoft.com/office/drawing/2014/main" id="{E76EDA06-5B01-4EFC-9AE6-E961945D5BE2}"/>
              </a:ext>
            </a:extLst>
          </p:cNvPr>
          <p:cNvSpPr>
            <a:spLocks xmlns:a="http://schemas.openxmlformats.org/drawingml/2006/main" noGrp="1"/>
          </p:cNvSpPr>
          <p:nvPr/>
        </p:nvSpPr>
        <p:spPr>
          <a:xfrm xmlns:a="http://schemas.openxmlformats.org/drawingml/2006/main">
            <a:off x="647700" y="255270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そのため、水準面は滑らかな楕円体と一致しない。</a:t>
            </a:r>
          </a:p>
        </p:txBody>
      </p:sp>
      <p:pic>
        <p:nvPicPr>
          <p:cNvPr id="7" name="">
            <a:extLst xmlns:a="http://schemas.openxmlformats.org/drawingml/2006/main">
              <a:ext uri="{FF2B5EF4-FFF2-40B4-BE49-F238E27FC236}">
                <a16:creationId xmlns:a16="http://schemas.microsoft.com/office/drawing/2014/main" id="{56FEACD1-9C54-4E10-BF61-88F0A71D91AD}"/>
              </a:ext>
            </a:extLst>
          </p:cNvPr>
          <p:cNvPicPr>
            <a:picLocks xmlns:a="http://schemas.openxmlformats.org/drawingml/2006/main" noChangeAspect="1"/>
          </p:cNvPicPr>
          <p:nvPr/>
        </p:nvPicPr>
        <p:blipFill>
          <a:blip xmlns:r="http://schemas.openxmlformats.org/officeDocument/2006/relationships" xmlns:a="http://schemas.openxmlformats.org/drawingml/2006/main" r:embed="Reb83727cf8cd4728"/>
          <a:stretch xmlns:a="http://schemas.openxmlformats.org/drawingml/2006/main"/>
        </p:blipFill>
        <p:spPr>
          <a:xfrm xmlns:a="http://schemas.openxmlformats.org/drawingml/2006/main">
            <a:off x="666750" y="3143250"/>
            <a:ext cx="10858500" cy="3076575"/>
          </a:xfrm>
          <a:prstGeom xmlns:a="http://schemas.openxmlformats.org/drawingml/2006/main" prst="rect">
            <a:avLst/>
          </a:prstGeom>
        </p:spPr>
      </p:pic>
    </p:spTree>
    <p:extLst>
      <p:ext uri="{BB962C8B-B14F-4D97-AF65-F5344CB8AC3E}">
        <p14:creationId xmlns:p14="http://schemas.microsoft.com/office/powerpoint/2010/main" val="121658666"/>
      </p:ext>
    </p:extLst>
  </p:cSld>
</p:sld>
</file>

<file path=ppt/slides/slide23.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9C43B40E-5716-4589-8FBB-F8F4890AA478}"/>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3-2</a:t>
            </a:r>
          </a:p>
        </p:txBody>
      </p:sp>
      <p:sp>
        <p:nvSpPr>
          <p:cNvPr id="2" name="本文1">
            <a:extLst xmlns:a="http://schemas.openxmlformats.org/drawingml/2006/main">
              <a:ext uri="{FF2B5EF4-FFF2-40B4-BE49-F238E27FC236}">
                <a16:creationId xmlns:a16="http://schemas.microsoft.com/office/drawing/2014/main" id="{BDD2F13B-56B6-4AE1-81F2-6F01C3143162}"/>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ジオイド：高さの基準となる面</a:t>
            </a:r>
          </a:p>
        </p:txBody>
      </p:sp>
      <p:sp>
        <p:nvSpPr>
          <p:cNvPr id="3" name="本文2">
            <a:extLst xmlns:a="http://schemas.openxmlformats.org/drawingml/2006/main">
              <a:ext uri="{FF2B5EF4-FFF2-40B4-BE49-F238E27FC236}">
                <a16:creationId xmlns:a16="http://schemas.microsoft.com/office/drawing/2014/main" id="{6B1E6CA9-FC3A-4291-98BA-5082C8ED6CFC}"/>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23</a:t>
            </a:r>
          </a:p>
        </p:txBody>
      </p:sp>
      <p:sp>
        <p:nvSpPr>
          <p:cNvPr id="4" name="本文3">
            <a:extLst xmlns:a="http://schemas.openxmlformats.org/drawingml/2006/main">
              <a:ext uri="{FF2B5EF4-FFF2-40B4-BE49-F238E27FC236}">
                <a16:creationId xmlns:a16="http://schemas.microsoft.com/office/drawing/2014/main" id="{12E0F894-1156-4F7B-8941-E1B8DFFB2887}"/>
              </a:ext>
            </a:extLst>
          </p:cNvPr>
          <p:cNvSpPr>
            <a:spLocks xmlns:a="http://schemas.openxmlformats.org/drawingml/2006/main" noGrp="1"/>
          </p:cNvSpPr>
          <p:nvPr/>
        </p:nvSpPr>
        <p:spPr>
          <a:xfrm xmlns:a="http://schemas.openxmlformats.org/drawingml/2006/main">
            <a:off x="628650" y="2881313"/>
            <a:ext cx="43624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13C4B"/>
                </a:solidFill>
                <a:latin typeface="Meiryo"/>
                <a:ea typeface="Meiryo"/>
                <a:cs typeface="Meiryo"/>
              </a:defRPr>
            </a:defPPr>
          </a:lstStyle>
          <a:p xmlns:a="http://schemas.openxmlformats.org/drawingml/2006/main">
            <a:pPr algn="l">
              <a:defRPr sz="2175" b="0">
                <a:solidFill>
                  <a:srgbClr val="213C4B"/>
                </a:solidFill>
                <a:latin typeface="Meiryo"/>
                <a:ea typeface="Meiryo"/>
                <a:cs typeface="Meiryo"/>
              </a:defRPr>
            </a:pPr>
            <a:r>
              <a:rPr sz="2175" b="0">
                <a:solidFill>
                  <a:srgbClr val="213C4B"/>
                </a:solidFill>
                <a:latin typeface="Meiryo"/>
                <a:ea typeface="Meiryo"/>
                <a:cs typeface="Meiryo"/>
              </a:rPr>
              <a:t>•  平均海面に近い水準面を、陸の下まで延ばした面。</a:t>
            </a:r>
          </a:p>
        </p:txBody>
      </p:sp>
      <p:sp>
        <p:nvSpPr>
          <p:cNvPr id="5" name="本文4">
            <a:extLst xmlns:a="http://schemas.openxmlformats.org/drawingml/2006/main">
              <a:ext uri="{FF2B5EF4-FFF2-40B4-BE49-F238E27FC236}">
                <a16:creationId xmlns:a16="http://schemas.microsoft.com/office/drawing/2014/main" id="{F32BC0F6-C5B9-4ED9-8045-236B3A795A7F}"/>
              </a:ext>
            </a:extLst>
          </p:cNvPr>
          <p:cNvSpPr>
            <a:spLocks xmlns:a="http://schemas.openxmlformats.org/drawingml/2006/main" noGrp="1"/>
          </p:cNvSpPr>
          <p:nvPr/>
        </p:nvSpPr>
        <p:spPr>
          <a:xfrm xmlns:a="http://schemas.openxmlformats.org/drawingml/2006/main">
            <a:off x="628650" y="3948113"/>
            <a:ext cx="43624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13C4B"/>
                </a:solidFill>
                <a:latin typeface="Meiryo"/>
                <a:ea typeface="Meiryo"/>
                <a:cs typeface="Meiryo"/>
              </a:defRPr>
            </a:defPPr>
          </a:lstStyle>
          <a:p xmlns:a="http://schemas.openxmlformats.org/drawingml/2006/main">
            <a:pPr algn="l">
              <a:defRPr sz="2175" b="0">
                <a:solidFill>
                  <a:srgbClr val="213C4B"/>
                </a:solidFill>
                <a:latin typeface="Meiryo"/>
                <a:ea typeface="Meiryo"/>
                <a:cs typeface="Meiryo"/>
              </a:defRPr>
            </a:pPr>
            <a:r>
              <a:rPr sz="2175" b="0">
                <a:solidFill>
                  <a:srgbClr val="213C4B"/>
                </a:solidFill>
                <a:latin typeface="Meiryo"/>
                <a:ea typeface="Meiryo"/>
                <a:cs typeface="Meiryo"/>
              </a:rPr>
              <a:t>•  </a:t>
            </a:r>
            <a:r>
              <a:rPr sz="2175" b="1">
                <a:solidFill>
                  <a:srgbClr val="137D78"/>
                </a:solidFill>
                <a:latin typeface="Meiryo"/>
                <a:ea typeface="Meiryo"/>
                <a:cs typeface="Meiryo"/>
              </a:rPr>
              <a:t>重力の等ポテンシャル面</a:t>
            </a:r>
            <a:r>
              <a:rPr sz="2175" b="0">
                <a:solidFill>
                  <a:srgbClr val="213C4B"/>
                </a:solidFill>
                <a:latin typeface="Meiryo"/>
                <a:ea typeface="Meiryo"/>
                <a:cs typeface="Meiryo"/>
              </a:rPr>
              <a:t>。地形の凹凸とは別のもの。</a:t>
            </a:r>
          </a:p>
        </p:txBody>
      </p:sp>
      <p:pic>
        <p:nvPicPr>
          <p:cNvPr id="6" name="">
            <a:extLst xmlns:a="http://schemas.openxmlformats.org/drawingml/2006/main">
              <a:ext uri="{FF2B5EF4-FFF2-40B4-BE49-F238E27FC236}">
                <a16:creationId xmlns:a16="http://schemas.microsoft.com/office/drawing/2014/main" id="{00DFFC6B-FFD3-4ABB-A2D1-3B89468F1638}"/>
              </a:ext>
            </a:extLst>
          </p:cNvPr>
          <p:cNvPicPr>
            <a:picLocks xmlns:a="http://schemas.openxmlformats.org/drawingml/2006/main" noChangeAspect="1"/>
          </p:cNvPicPr>
          <p:nvPr/>
        </p:nvPicPr>
        <p:blipFill>
          <a:blip xmlns:r="http://schemas.openxmlformats.org/officeDocument/2006/relationships" xmlns:a="http://schemas.openxmlformats.org/drawingml/2006/main" r:embed="R945ad6bb862f47ef"/>
          <a:stretch xmlns:a="http://schemas.openxmlformats.org/drawingml/2006/main"/>
        </p:blipFill>
        <p:spPr>
          <a:xfrm xmlns:a="http://schemas.openxmlformats.org/drawingml/2006/main">
            <a:off x="5238750" y="2048402"/>
            <a:ext cx="6429375" cy="3618446"/>
          </a:xfrm>
          <a:prstGeom xmlns:a="http://schemas.openxmlformats.org/drawingml/2006/main" prst="rect">
            <a:avLst/>
          </a:prstGeom>
        </p:spPr>
      </p:pic>
    </p:spTree>
    <p:extLst>
      <p:ext uri="{BB962C8B-B14F-4D97-AF65-F5344CB8AC3E}">
        <p14:creationId xmlns:p14="http://schemas.microsoft.com/office/powerpoint/2010/main" val="659174474"/>
      </p:ext>
    </p:extLst>
  </p:cSld>
</p:sld>
</file>

<file path=ppt/slides/slide24.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17ACCAE9-F318-4C70-9121-61CC661C572C}"/>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3-2</a:t>
            </a:r>
          </a:p>
        </p:txBody>
      </p:sp>
      <p:sp>
        <p:nvSpPr>
          <p:cNvPr id="2" name="本文1">
            <a:extLst xmlns:a="http://schemas.openxmlformats.org/drawingml/2006/main">
              <a:ext uri="{FF2B5EF4-FFF2-40B4-BE49-F238E27FC236}">
                <a16:creationId xmlns:a16="http://schemas.microsoft.com/office/drawing/2014/main" id="{FD1FA061-0BC9-4881-8F54-59683953A2F7}"/>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平均海面を測る：検潮所</a:t>
            </a:r>
          </a:p>
        </p:txBody>
      </p:sp>
      <p:sp>
        <p:nvSpPr>
          <p:cNvPr id="3" name="本文2">
            <a:extLst xmlns:a="http://schemas.openxmlformats.org/drawingml/2006/main">
              <a:ext uri="{FF2B5EF4-FFF2-40B4-BE49-F238E27FC236}">
                <a16:creationId xmlns:a16="http://schemas.microsoft.com/office/drawing/2014/main" id="{487ADD66-FF81-4619-A6A5-DDC7D9797A70}"/>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24</a:t>
            </a:r>
          </a:p>
        </p:txBody>
      </p:sp>
      <p:sp>
        <p:nvSpPr>
          <p:cNvPr id="4" name="本文3">
            <a:extLst xmlns:a="http://schemas.openxmlformats.org/drawingml/2006/main">
              <a:ext uri="{FF2B5EF4-FFF2-40B4-BE49-F238E27FC236}">
                <a16:creationId xmlns:a16="http://schemas.microsoft.com/office/drawing/2014/main" id="{91B7C627-4158-4142-B463-B91A564BCDC1}"/>
              </a:ext>
            </a:extLst>
          </p:cNvPr>
          <p:cNvSpPr>
            <a:spLocks xmlns:a="http://schemas.openxmlformats.org/drawingml/2006/main" noGrp="1"/>
          </p:cNvSpPr>
          <p:nvPr/>
        </p:nvSpPr>
        <p:spPr>
          <a:xfrm xmlns:a="http://schemas.openxmlformats.org/drawingml/2006/main">
            <a:off x="628650" y="2347913"/>
            <a:ext cx="43624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13C4B"/>
                </a:solidFill>
                <a:latin typeface="Meiryo"/>
                <a:ea typeface="Meiryo"/>
                <a:cs typeface="Meiryo"/>
              </a:defRPr>
            </a:defPPr>
          </a:lstStyle>
          <a:p xmlns:a="http://schemas.openxmlformats.org/drawingml/2006/main">
            <a:pPr algn="l">
              <a:defRPr sz="2175" b="0">
                <a:solidFill>
                  <a:srgbClr val="213C4B"/>
                </a:solidFill>
                <a:latin typeface="Meiryo"/>
                <a:ea typeface="Meiryo"/>
                <a:cs typeface="Meiryo"/>
              </a:defRPr>
            </a:pPr>
            <a:r>
              <a:rPr sz="2175" b="0">
                <a:solidFill>
                  <a:srgbClr val="213C4B"/>
                </a:solidFill>
                <a:latin typeface="Meiryo"/>
                <a:ea typeface="Meiryo"/>
                <a:cs typeface="Meiryo"/>
              </a:rPr>
              <a:t>•  潮位を長期間観測し、潮の満ち引きなどを平均する。</a:t>
            </a:r>
          </a:p>
        </p:txBody>
      </p:sp>
      <p:sp>
        <p:nvSpPr>
          <p:cNvPr id="5" name="本文4">
            <a:extLst xmlns:a="http://schemas.openxmlformats.org/drawingml/2006/main">
              <a:ext uri="{FF2B5EF4-FFF2-40B4-BE49-F238E27FC236}">
                <a16:creationId xmlns:a16="http://schemas.microsoft.com/office/drawing/2014/main" id="{A93974D3-6614-4415-A65D-AD22FA778B1E}"/>
              </a:ext>
            </a:extLst>
          </p:cNvPr>
          <p:cNvSpPr>
            <a:spLocks xmlns:a="http://schemas.openxmlformats.org/drawingml/2006/main" noGrp="1"/>
          </p:cNvSpPr>
          <p:nvPr/>
        </p:nvSpPr>
        <p:spPr>
          <a:xfrm xmlns:a="http://schemas.openxmlformats.org/drawingml/2006/main">
            <a:off x="628650" y="3414713"/>
            <a:ext cx="43624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13C4B"/>
                </a:solidFill>
                <a:latin typeface="Meiryo"/>
                <a:ea typeface="Meiryo"/>
                <a:cs typeface="Meiryo"/>
              </a:defRPr>
            </a:defPPr>
          </a:lstStyle>
          <a:p xmlns:a="http://schemas.openxmlformats.org/drawingml/2006/main">
            <a:pPr algn="l">
              <a:defRPr sz="2175" b="0">
                <a:solidFill>
                  <a:srgbClr val="213C4B"/>
                </a:solidFill>
                <a:latin typeface="Meiryo"/>
                <a:ea typeface="Meiryo"/>
                <a:cs typeface="Meiryo"/>
              </a:defRPr>
            </a:pPr>
            <a:r>
              <a:rPr sz="2175" b="0">
                <a:solidFill>
                  <a:srgbClr val="213C4B"/>
                </a:solidFill>
                <a:latin typeface="Meiryo"/>
                <a:ea typeface="Meiryo"/>
                <a:cs typeface="Meiryo"/>
              </a:rPr>
              <a:t>•  日本の標高の基準は </a:t>
            </a:r>
            <a:r>
              <a:rPr sz="2175" b="1">
                <a:solidFill>
                  <a:srgbClr val="137D78"/>
                </a:solidFill>
                <a:latin typeface="Meiryo"/>
                <a:ea typeface="Meiryo"/>
                <a:cs typeface="Meiryo"/>
              </a:rPr>
              <a:t>東京湾平均海面（T.P.）</a:t>
            </a:r>
            <a:r>
              <a:rPr sz="2175" b="0">
                <a:solidFill>
                  <a:srgbClr val="213C4B"/>
                </a:solidFill>
                <a:latin typeface="Meiryo"/>
                <a:ea typeface="Meiryo"/>
                <a:cs typeface="Meiryo"/>
              </a:rPr>
              <a:t>。</a:t>
            </a:r>
          </a:p>
        </p:txBody>
      </p:sp>
      <p:sp>
        <p:nvSpPr>
          <p:cNvPr id="6" name="本文5">
            <a:extLst xmlns:a="http://schemas.openxmlformats.org/drawingml/2006/main">
              <a:ext uri="{FF2B5EF4-FFF2-40B4-BE49-F238E27FC236}">
                <a16:creationId xmlns:a16="http://schemas.microsoft.com/office/drawing/2014/main" id="{237E42A7-BC69-426B-9A6E-4E1F1481DCCC}"/>
              </a:ext>
            </a:extLst>
          </p:cNvPr>
          <p:cNvSpPr>
            <a:spLocks xmlns:a="http://schemas.openxmlformats.org/drawingml/2006/main" noGrp="1"/>
          </p:cNvSpPr>
          <p:nvPr/>
        </p:nvSpPr>
        <p:spPr>
          <a:xfrm xmlns:a="http://schemas.openxmlformats.org/drawingml/2006/main">
            <a:off x="628650" y="4481513"/>
            <a:ext cx="43624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13C4B"/>
                </a:solidFill>
                <a:latin typeface="Meiryo"/>
                <a:ea typeface="Meiryo"/>
                <a:cs typeface="Meiryo"/>
              </a:defRPr>
            </a:defPPr>
          </a:lstStyle>
          <a:p xmlns:a="http://schemas.openxmlformats.org/drawingml/2006/main">
            <a:pPr algn="l">
              <a:defRPr sz="2175" b="0">
                <a:solidFill>
                  <a:srgbClr val="213C4B"/>
                </a:solidFill>
                <a:latin typeface="Meiryo"/>
                <a:ea typeface="Meiryo"/>
                <a:cs typeface="Meiryo"/>
              </a:defRPr>
            </a:pPr>
            <a:r>
              <a:rPr sz="2175" b="0">
                <a:solidFill>
                  <a:srgbClr val="213C4B"/>
                </a:solidFill>
                <a:latin typeface="Meiryo"/>
                <a:ea typeface="Meiryo"/>
                <a:cs typeface="Meiryo"/>
              </a:rPr>
              <a:t>•  日本水準原点の標高は </a:t>
            </a:r>
            <a:r>
              <a:rPr sz="2175" b="1">
                <a:solidFill>
                  <a:srgbClr val="137D78"/>
                </a:solidFill>
                <a:latin typeface="Meiryo"/>
                <a:ea typeface="Meiryo"/>
                <a:cs typeface="Meiryo"/>
              </a:rPr>
              <a:t>24.3900 m</a:t>
            </a:r>
            <a:r>
              <a:rPr sz="2175" b="0">
                <a:solidFill>
                  <a:srgbClr val="213C4B"/>
                </a:solidFill>
                <a:latin typeface="Meiryo"/>
                <a:ea typeface="Meiryo"/>
                <a:cs typeface="Meiryo"/>
              </a:rPr>
              <a:t>。</a:t>
            </a:r>
          </a:p>
        </p:txBody>
      </p:sp>
      <p:pic>
        <p:nvPicPr>
          <p:cNvPr id="7" name="">
            <a:extLst xmlns:a="http://schemas.openxmlformats.org/drawingml/2006/main">
              <a:ext uri="{FF2B5EF4-FFF2-40B4-BE49-F238E27FC236}">
                <a16:creationId xmlns:a16="http://schemas.microsoft.com/office/drawing/2014/main" id="{A6A88219-EA28-49B7-98AD-6EEBA3EF0C25}"/>
              </a:ext>
            </a:extLst>
          </p:cNvPr>
          <p:cNvPicPr>
            <a:picLocks xmlns:a="http://schemas.openxmlformats.org/drawingml/2006/main" noChangeAspect="1"/>
          </p:cNvPicPr>
          <p:nvPr/>
        </p:nvPicPr>
        <p:blipFill>
          <a:blip xmlns:r="http://schemas.openxmlformats.org/officeDocument/2006/relationships" xmlns:a="http://schemas.openxmlformats.org/drawingml/2006/main" r:embed="R09fda04a4f7e4ca1"/>
          <a:stretch xmlns:a="http://schemas.openxmlformats.org/drawingml/2006/main"/>
        </p:blipFill>
        <p:spPr>
          <a:xfrm xmlns:a="http://schemas.openxmlformats.org/drawingml/2006/main">
            <a:off x="5238750" y="2048402"/>
            <a:ext cx="6429375" cy="3618446"/>
          </a:xfrm>
          <a:prstGeom xmlns:a="http://schemas.openxmlformats.org/drawingml/2006/main" prst="rect">
            <a:avLst/>
          </a:prstGeom>
        </p:spPr>
      </p:pic>
    </p:spTree>
    <p:extLst>
      <p:ext uri="{BB962C8B-B14F-4D97-AF65-F5344CB8AC3E}">
        <p14:creationId xmlns:p14="http://schemas.microsoft.com/office/powerpoint/2010/main" val="467921783"/>
      </p:ext>
    </p:extLst>
  </p:cSld>
</p:sld>
</file>

<file path=ppt/slides/slide25.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D0BC437F-0DA0-4119-B7DA-47FD4162898B}"/>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3-2</a:t>
            </a:r>
          </a:p>
        </p:txBody>
      </p:sp>
      <p:sp>
        <p:nvSpPr>
          <p:cNvPr id="2" name="本文1">
            <a:extLst xmlns:a="http://schemas.openxmlformats.org/drawingml/2006/main">
              <a:ext uri="{FF2B5EF4-FFF2-40B4-BE49-F238E27FC236}">
                <a16:creationId xmlns:a16="http://schemas.microsoft.com/office/drawing/2014/main" id="{D43749A3-AC8F-42C6-91E8-1DFB397773EB}"/>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ジオイド高 N の大きさ</a:t>
            </a:r>
          </a:p>
        </p:txBody>
      </p:sp>
      <p:sp>
        <p:nvSpPr>
          <p:cNvPr id="3" name="本文2">
            <a:extLst xmlns:a="http://schemas.openxmlformats.org/drawingml/2006/main">
              <a:ext uri="{FF2B5EF4-FFF2-40B4-BE49-F238E27FC236}">
                <a16:creationId xmlns:a16="http://schemas.microsoft.com/office/drawing/2014/main" id="{313C90BD-40BD-445E-A63D-56FF003AECF7}"/>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25</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7EE03081-3B2D-41C1-89DC-7BF2939AAB05}"/>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a:t>
                </a:r>
                <a14:m xmlns:m="http://schemas.openxmlformats.org/officeDocument/2006/math">
                  <m:oMath xmlns:mml="http://www.w3.org/1998/Math/MathML">
                    <m:r>
                      <a:rPr sz="1950" b="0" lang="en-US">
                        <a:solidFill>
                          <a:srgbClr val="213C4B"/>
                        </a:solidFill>
                        <a:latin typeface="Cambria Math"/>
                        <a:ea typeface="Meiryo"/>
                      </a:rPr>
                      <m:t>N</m:t>
                    </m:r>
                  </m:oMath>
                </a14:m>
                <a:r>
                  <a:rPr sz="1950" b="0">
                    <a:solidFill>
                      <a:srgbClr val="213C4B"/>
                    </a:solidFill>
                    <a:latin typeface="Meiryo"/>
                    <a:ea typeface="Meiryo"/>
                    <a:cs typeface="Meiryo"/>
                  </a:rPr>
                  <a:t> は </a:t>
                </a:r>
                <a:r>
                  <a:rPr sz="1950" b="1">
                    <a:solidFill>
                      <a:srgbClr val="137D78"/>
                    </a:solidFill>
                    <a:latin typeface="Meiryo"/>
                    <a:ea typeface="Meiryo"/>
                    <a:cs typeface="Meiryo"/>
                  </a:rPr>
                  <a:t>楕円体からジオイドまで</a:t>
                </a:r>
                <a:r>
                  <a:rPr sz="1950" b="0">
                    <a:solidFill>
                      <a:srgbClr val="213C4B"/>
                    </a:solidFill>
                    <a:latin typeface="Meiryo"/>
                    <a:ea typeface="Meiryo"/>
                    <a:cs typeface="Meiryo"/>
                  </a:rPr>
                  <a:t>の高さ。上なら正。</a:t>
                </a:r>
              </a:p>
            </p:txBody>
          </p:sp>
        </mc:Choice>
        <mc:Fallback>
          <p:sp>
            <p:nvSpPr>
              <p:cNvPr id="4" name="本文3">
                <a:extLst xmlns:a="http://schemas.openxmlformats.org/drawingml/2006/main">
                  <a:ext uri="{FF2B5EF4-FFF2-40B4-BE49-F238E27FC236}">
                    <a16:creationId xmlns:a16="http://schemas.microsoft.com/office/drawing/2014/main" id="{7EE03081-3B2D-41C1-89DC-7BF2939AAB05}"/>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a:t>
                </a:r>
                <a:r>
                  <a:rPr sz="1950" b="0">
                    <a:solidFill>
                      <a:srgbClr val="213C4B"/>
                    </a:solidFill>
                    <a:latin typeface="Cambria Math"/>
                    <a:ea typeface="Cambria Math"/>
                    <a:cs typeface="Cambria Math"/>
                  </a:rPr>
                  <a:t>N</a:t>
                </a:r>
                <a:r>
                  <a:rPr sz="1950" b="0">
                    <a:solidFill>
                      <a:srgbClr val="213C4B"/>
                    </a:solidFill>
                    <a:latin typeface="Meiryo"/>
                    <a:ea typeface="Meiryo"/>
                    <a:cs typeface="Meiryo"/>
                  </a:rPr>
                  <a:t> は </a:t>
                </a:r>
                <a:r>
                  <a:rPr sz="1950" b="1">
                    <a:solidFill>
                      <a:srgbClr val="137D78"/>
                    </a:solidFill>
                    <a:latin typeface="Meiryo"/>
                    <a:ea typeface="Meiryo"/>
                    <a:cs typeface="Meiryo"/>
                  </a:rPr>
                  <a:t>楕円体からジオイドまで</a:t>
                </a:r>
                <a:r>
                  <a:rPr sz="1950" b="0">
                    <a:solidFill>
                      <a:srgbClr val="213C4B"/>
                    </a:solidFill>
                    <a:latin typeface="Meiryo"/>
                    <a:ea typeface="Meiryo"/>
                    <a:cs typeface="Meiryo"/>
                  </a:rPr>
                  <a:t>の高さ。上なら正。</a:t>
                </a:r>
              </a:p>
            </p:txBody>
          </p:sp>
        </mc:Fallback>
      </mc:AlternateContent>
      <p:sp>
        <p:nvSpPr>
          <p:cNvPr id="5" name="本文4">
            <a:extLst xmlns:a="http://schemas.openxmlformats.org/drawingml/2006/main">
              <a:ext uri="{FF2B5EF4-FFF2-40B4-BE49-F238E27FC236}">
                <a16:creationId xmlns:a16="http://schemas.microsoft.com/office/drawing/2014/main" id="{8C50817C-5EAF-4F9E-997D-BFA694901CF2}"/>
              </a:ext>
            </a:extLst>
          </p:cNvPr>
          <p:cNvSpPr>
            <a:spLocks xmlns:a="http://schemas.openxmlformats.org/drawingml/2006/main" noGrp="1"/>
          </p:cNvSpPr>
          <p:nvPr/>
        </p:nvSpPr>
        <p:spPr>
          <a:xfrm xmlns:a="http://schemas.openxmlformats.org/drawingml/2006/main">
            <a:off x="647700" y="20097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日本の陸域ではおよそ +20〜+45 m。場所によって変わる。</a:t>
            </a:r>
          </a:p>
        </p:txBody>
      </p:sp>
      <p:sp>
        <p:nvSpPr>
          <p:cNvPr id="6" name="本文5">
            <a:extLst xmlns:a="http://schemas.openxmlformats.org/drawingml/2006/main">
              <a:ext uri="{FF2B5EF4-FFF2-40B4-BE49-F238E27FC236}">
                <a16:creationId xmlns:a16="http://schemas.microsoft.com/office/drawing/2014/main" id="{02FAB02B-CE08-4DBA-8587-B8125E6A2466}"/>
              </a:ext>
            </a:extLst>
          </p:cNvPr>
          <p:cNvSpPr>
            <a:spLocks xmlns:a="http://schemas.openxmlformats.org/drawingml/2006/main" noGrp="1"/>
          </p:cNvSpPr>
          <p:nvPr/>
        </p:nvSpPr>
        <p:spPr>
          <a:xfrm xmlns:a="http://schemas.openxmlformats.org/drawingml/2006/main">
            <a:off x="647700" y="255270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東京は約37 m、帯広付近は約29 m（説明用の概数）。</a:t>
            </a:r>
          </a:p>
        </p:txBody>
      </p:sp>
      <p:pic>
        <p:nvPicPr>
          <p:cNvPr id="7" name="">
            <a:extLst xmlns:a="http://schemas.openxmlformats.org/drawingml/2006/main">
              <a:ext uri="{FF2B5EF4-FFF2-40B4-BE49-F238E27FC236}">
                <a16:creationId xmlns:a16="http://schemas.microsoft.com/office/drawing/2014/main" id="{243296B3-F833-445F-9050-9A674A790C95}"/>
              </a:ext>
            </a:extLst>
          </p:cNvPr>
          <p:cNvPicPr>
            <a:picLocks xmlns:a="http://schemas.openxmlformats.org/drawingml/2006/main" noChangeAspect="1"/>
          </p:cNvPicPr>
          <p:nvPr/>
        </p:nvPicPr>
        <p:blipFill>
          <a:blip xmlns:r="http://schemas.openxmlformats.org/officeDocument/2006/relationships" xmlns:a="http://schemas.openxmlformats.org/drawingml/2006/main" r:embed="Re3e630446d96443b"/>
          <a:stretch xmlns:a="http://schemas.openxmlformats.org/drawingml/2006/main"/>
        </p:blipFill>
        <p:spPr>
          <a:xfrm xmlns:a="http://schemas.openxmlformats.org/drawingml/2006/main">
            <a:off x="666750" y="3143250"/>
            <a:ext cx="10858500" cy="3076575"/>
          </a:xfrm>
          <a:prstGeom xmlns:a="http://schemas.openxmlformats.org/drawingml/2006/main" prst="rect">
            <a:avLst/>
          </a:prstGeom>
        </p:spPr>
      </p:pic>
    </p:spTree>
    <p:extLst>
      <p:ext uri="{BB962C8B-B14F-4D97-AF65-F5344CB8AC3E}">
        <p14:creationId xmlns:p14="http://schemas.microsoft.com/office/powerpoint/2010/main" val="1913096348"/>
      </p:ext>
    </p:extLst>
  </p:cSld>
</p:sld>
</file>

<file path=ppt/slides/slide26.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5DDCD25A-F97C-4977-997D-F0E8669CA882}"/>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3-2</a:t>
            </a:r>
          </a:p>
        </p:txBody>
      </p:sp>
      <p:sp>
        <p:nvSpPr>
          <p:cNvPr id="2" name="本文1">
            <a:extLst xmlns:a="http://schemas.openxmlformats.org/drawingml/2006/main">
              <a:ext uri="{FF2B5EF4-FFF2-40B4-BE49-F238E27FC236}">
                <a16:creationId xmlns:a16="http://schemas.microsoft.com/office/drawing/2014/main" id="{D8CFC644-20E2-42C3-869F-CA9BE3F5CA10}"/>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地表・ジオイド・楕円体</a:t>
            </a:r>
          </a:p>
        </p:txBody>
      </p:sp>
      <p:sp>
        <p:nvSpPr>
          <p:cNvPr id="3" name="本文2">
            <a:extLst xmlns:a="http://schemas.openxmlformats.org/drawingml/2006/main">
              <a:ext uri="{FF2B5EF4-FFF2-40B4-BE49-F238E27FC236}">
                <a16:creationId xmlns:a16="http://schemas.microsoft.com/office/drawing/2014/main" id="{DF6C4950-A47E-424D-A3D6-289262F0BE8A}"/>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26</a:t>
            </a:r>
          </a:p>
        </p:txBody>
      </p:sp>
      <p:sp>
        <p:nvSpPr>
          <p:cNvPr id="4" name="本文3">
            <a:extLst xmlns:a="http://schemas.openxmlformats.org/drawingml/2006/main">
              <a:ext uri="{FF2B5EF4-FFF2-40B4-BE49-F238E27FC236}">
                <a16:creationId xmlns:a16="http://schemas.microsoft.com/office/drawing/2014/main" id="{CC9E2EC7-CE5B-4FCA-A71C-C323D60D3A6A}"/>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a:t>
            </a:r>
            <a:r>
              <a:rPr sz="1950" b="1">
                <a:solidFill>
                  <a:srgbClr val="137D78"/>
                </a:solidFill>
                <a:latin typeface="Meiryo"/>
                <a:ea typeface="Meiryo"/>
                <a:cs typeface="Meiryo"/>
              </a:rPr>
              <a:t>地表</a:t>
            </a:r>
            <a:r>
              <a:rPr sz="1950" b="0">
                <a:solidFill>
                  <a:srgbClr val="213C4B"/>
                </a:solidFill>
                <a:latin typeface="Meiryo"/>
                <a:ea typeface="Meiryo"/>
                <a:cs typeface="Meiryo"/>
              </a:rPr>
              <a:t>：実際の地面。</a:t>
            </a:r>
          </a:p>
        </p:txBody>
      </p:sp>
      <p:sp>
        <p:nvSpPr>
          <p:cNvPr id="5" name="本文4">
            <a:extLst xmlns:a="http://schemas.openxmlformats.org/drawingml/2006/main">
              <a:ext uri="{FF2B5EF4-FFF2-40B4-BE49-F238E27FC236}">
                <a16:creationId xmlns:a16="http://schemas.microsoft.com/office/drawing/2014/main" id="{32B81068-6536-401A-82CD-330A8D68ED86}"/>
              </a:ext>
            </a:extLst>
          </p:cNvPr>
          <p:cNvSpPr>
            <a:spLocks xmlns:a="http://schemas.openxmlformats.org/drawingml/2006/main" noGrp="1"/>
          </p:cNvSpPr>
          <p:nvPr/>
        </p:nvSpPr>
        <p:spPr>
          <a:xfrm xmlns:a="http://schemas.openxmlformats.org/drawingml/2006/main">
            <a:off x="647700" y="20097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a:t>
            </a:r>
            <a:r>
              <a:rPr sz="1950" b="1">
                <a:solidFill>
                  <a:srgbClr val="137D78"/>
                </a:solidFill>
                <a:latin typeface="Meiryo"/>
                <a:ea typeface="Meiryo"/>
                <a:cs typeface="Meiryo"/>
              </a:rPr>
              <a:t>ジオイド</a:t>
            </a:r>
            <a:r>
              <a:rPr sz="1950" b="0">
                <a:solidFill>
                  <a:srgbClr val="213C4B"/>
                </a:solidFill>
                <a:latin typeface="Meiryo"/>
                <a:ea typeface="Meiryo"/>
                <a:cs typeface="Meiryo"/>
              </a:rPr>
              <a:t>：標高の基準となる水準面。</a:t>
            </a:r>
          </a:p>
        </p:txBody>
      </p:sp>
      <p:sp>
        <p:nvSpPr>
          <p:cNvPr id="6" name="本文5">
            <a:extLst xmlns:a="http://schemas.openxmlformats.org/drawingml/2006/main">
              <a:ext uri="{FF2B5EF4-FFF2-40B4-BE49-F238E27FC236}">
                <a16:creationId xmlns:a16="http://schemas.microsoft.com/office/drawing/2014/main" id="{801ED822-A049-44AF-87A0-DC2D309556B4}"/>
              </a:ext>
            </a:extLst>
          </p:cNvPr>
          <p:cNvSpPr>
            <a:spLocks xmlns:a="http://schemas.openxmlformats.org/drawingml/2006/main" noGrp="1"/>
          </p:cNvSpPr>
          <p:nvPr/>
        </p:nvSpPr>
        <p:spPr>
          <a:xfrm xmlns:a="http://schemas.openxmlformats.org/drawingml/2006/main">
            <a:off x="647700" y="255270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a:t>
            </a:r>
            <a:r>
              <a:rPr sz="1950" b="1">
                <a:solidFill>
                  <a:srgbClr val="137D78"/>
                </a:solidFill>
                <a:latin typeface="Meiryo"/>
                <a:ea typeface="Meiryo"/>
                <a:cs typeface="Meiryo"/>
              </a:rPr>
              <a:t>楕円体</a:t>
            </a:r>
            <a:r>
              <a:rPr sz="1950" b="0">
                <a:solidFill>
                  <a:srgbClr val="213C4B"/>
                </a:solidFill>
                <a:latin typeface="Meiryo"/>
                <a:ea typeface="Meiryo"/>
                <a:cs typeface="Meiryo"/>
              </a:rPr>
              <a:t>：緯度・経度・楕円体高の基準となる数学的な面。</a:t>
            </a:r>
          </a:p>
        </p:txBody>
      </p:sp>
      <p:pic>
        <p:nvPicPr>
          <p:cNvPr id="7" name="">
            <a:extLst xmlns:a="http://schemas.openxmlformats.org/drawingml/2006/main">
              <a:ext uri="{FF2B5EF4-FFF2-40B4-BE49-F238E27FC236}">
                <a16:creationId xmlns:a16="http://schemas.microsoft.com/office/drawing/2014/main" id="{88C8115E-9021-494E-A840-E280F9179D64}"/>
              </a:ext>
            </a:extLst>
          </p:cNvPr>
          <p:cNvPicPr>
            <a:picLocks xmlns:a="http://schemas.openxmlformats.org/drawingml/2006/main" noChangeAspect="1"/>
          </p:cNvPicPr>
          <p:nvPr/>
        </p:nvPicPr>
        <p:blipFill>
          <a:blip xmlns:r="http://schemas.openxmlformats.org/officeDocument/2006/relationships" xmlns:a="http://schemas.openxmlformats.org/drawingml/2006/main" r:embed="Rc987737d3e7f44cc"/>
          <a:stretch xmlns:a="http://schemas.openxmlformats.org/drawingml/2006/main"/>
        </p:blipFill>
        <p:spPr>
          <a:xfrm xmlns:a="http://schemas.openxmlformats.org/drawingml/2006/main">
            <a:off x="590550" y="3213418"/>
            <a:ext cx="11010900" cy="2936240"/>
          </a:xfrm>
          <a:prstGeom xmlns:a="http://schemas.openxmlformats.org/drawingml/2006/main" prst="rect">
            <a:avLst/>
          </a:prstGeom>
        </p:spPr>
      </p:pic>
    </p:spTree>
    <p:extLst>
      <p:ext uri="{BB962C8B-B14F-4D97-AF65-F5344CB8AC3E}">
        <p14:creationId xmlns:p14="http://schemas.microsoft.com/office/powerpoint/2010/main" val="302284023"/>
      </p:ext>
    </p:extLst>
  </p:cSld>
</p:sld>
</file>

<file path=ppt/slides/slide27.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D1E223B1-807F-4C32-A56B-69BE4365DBB9}"/>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3-2</a:t>
            </a:r>
          </a:p>
        </p:txBody>
      </p:sp>
      <p:sp>
        <p:nvSpPr>
          <p:cNvPr id="2" name="本文1">
            <a:extLst xmlns:a="http://schemas.openxmlformats.org/drawingml/2006/main">
              <a:ext uri="{FF2B5EF4-FFF2-40B4-BE49-F238E27FC236}">
                <a16:creationId xmlns:a16="http://schemas.microsoft.com/office/drawing/2014/main" id="{4CBE1508-2271-4440-9CF8-F73F55F30EBC}"/>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3つの高さを、基準面で区別する</a:t>
            </a:r>
          </a:p>
        </p:txBody>
      </p:sp>
      <p:sp>
        <p:nvSpPr>
          <p:cNvPr id="3" name="本文2">
            <a:extLst xmlns:a="http://schemas.openxmlformats.org/drawingml/2006/main">
              <a:ext uri="{FF2B5EF4-FFF2-40B4-BE49-F238E27FC236}">
                <a16:creationId xmlns:a16="http://schemas.microsoft.com/office/drawing/2014/main" id="{5FD0A8F8-CD02-4298-ACFC-697958E73A7B}"/>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27</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42EC3273-270C-4CD9-B6A9-F957EF682188}"/>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大文字 </a:t>
                </a:r>
                <a14:m xmlns:m="http://schemas.openxmlformats.org/officeDocument/2006/math">
                  <m:oMath xmlns:mml="http://www.w3.org/1998/Math/MathML">
                    <m:r>
                      <a:rPr sz="1725" b="0" lang="en-US">
                        <a:solidFill>
                          <a:srgbClr val="137D78"/>
                        </a:solidFill>
                        <a:latin typeface="Cambria Math"/>
                        <a:ea typeface="Meiryo"/>
                      </a:rPr>
                      <m:t>H</m:t>
                    </m:r>
                  </m:oMath>
                </a14:m>
                <a:r>
                  <a:rPr sz="1725" b="1">
                    <a:solidFill>
                      <a:srgbClr val="137D78"/>
                    </a:solidFill>
                    <a:latin typeface="Meiryo"/>
                    <a:ea typeface="Meiryo"/>
                    <a:cs typeface="Meiryo"/>
                  </a:rPr>
                  <a:t> と小文字 </a:t>
                </a:r>
                <a14:m xmlns:m="http://schemas.openxmlformats.org/officeDocument/2006/math">
                  <m:oMath xmlns:mml="http://www.w3.org/1998/Math/MathML">
                    <m:r>
                      <a:rPr sz="1725" b="0" lang="en-US">
                        <a:solidFill>
                          <a:srgbClr val="137D78"/>
                        </a:solidFill>
                        <a:latin typeface="Cambria Math"/>
                        <a:ea typeface="Meiryo"/>
                      </a:rPr>
                      <m:t>h</m:t>
                    </m:r>
                  </m:oMath>
                </a14:m>
                <a:r>
                  <a:rPr sz="1725" b="1">
                    <a:solidFill>
                      <a:srgbClr val="137D78"/>
                    </a:solidFill>
                    <a:latin typeface="Meiryo"/>
                    <a:ea typeface="Meiryo"/>
                    <a:cs typeface="Meiryo"/>
                  </a:rPr>
                  <a:t> は、基準面が違う。</a:t>
                </a:r>
              </a:p>
            </p:txBody>
          </p:sp>
        </mc:Choice>
        <mc:Fallback>
          <p:sp>
            <p:nvSpPr>
              <p:cNvPr id="4" name="本文3">
                <a:extLst xmlns:a="http://schemas.openxmlformats.org/drawingml/2006/main">
                  <a:ext uri="{FF2B5EF4-FFF2-40B4-BE49-F238E27FC236}">
                    <a16:creationId xmlns:a16="http://schemas.microsoft.com/office/drawing/2014/main" id="{42EC3273-270C-4CD9-B6A9-F957EF682188}"/>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大文字 </a:t>
                </a:r>
                <a:r>
                  <a:rPr sz="1725" b="1">
                    <a:solidFill>
                      <a:srgbClr val="137D78"/>
                    </a:solidFill>
                    <a:latin typeface="Cambria Math"/>
                    <a:ea typeface="Cambria Math"/>
                    <a:cs typeface="Cambria Math"/>
                  </a:rPr>
                  <a:t>H</a:t>
                </a:r>
                <a:r>
                  <a:rPr sz="1725" b="1">
                    <a:solidFill>
                      <a:srgbClr val="137D78"/>
                    </a:solidFill>
                    <a:latin typeface="Meiryo"/>
                    <a:ea typeface="Meiryo"/>
                    <a:cs typeface="Meiryo"/>
                  </a:rPr>
                  <a:t> と小文字 </a:t>
                </a:r>
                <a:r>
                  <a:rPr sz="1725" b="1">
                    <a:solidFill>
                      <a:srgbClr val="137D78"/>
                    </a:solidFill>
                    <a:latin typeface="Cambria Math"/>
                    <a:ea typeface="Cambria Math"/>
                    <a:cs typeface="Cambria Math"/>
                  </a:rPr>
                  <a:t>h</a:t>
                </a:r>
                <a:r>
                  <a:rPr sz="1725" b="1">
                    <a:solidFill>
                      <a:srgbClr val="137D78"/>
                    </a:solidFill>
                    <a:latin typeface="Meiryo"/>
                    <a:ea typeface="Meiryo"/>
                    <a:cs typeface="Meiryo"/>
                  </a:rPr>
                  <a:t> は、基準面が違う。</a:t>
                </a:r>
              </a:p>
            </p:txBody>
          </p:sp>
        </mc:Fallback>
      </mc:AlternateContent>
      <mc:AlternateContent xmlns:mc="http://schemas.openxmlformats.org/markup-compatibility/2006" xmlns:a14="http://schemas.microsoft.com/office/drawing/2010/main">
        <mc:Choice Requires="a14">
          <p:sp>
            <p:nvSpPr>
              <p:cNvPr id="5" name="EQM00041">
                <a:extLst xmlns:a="http://schemas.openxmlformats.org/drawingml/2006/main">
                  <a:ext uri="{FF2B5EF4-FFF2-40B4-BE49-F238E27FC236}">
                    <a16:creationId xmlns:a16="http://schemas.microsoft.com/office/drawing/2014/main" id="{7F09BE02-F8FB-4F64-A7C7-B317DA28965D}"/>
                  </a:ext>
                </a:extLst>
              </p:cNvPr>
              <p:cNvSpPr>
                <a:spLocks xmlns:a="http://schemas.openxmlformats.org/drawingml/2006/main" noGrp="1"/>
              </p:cNvSpPr>
              <p:nvPr/>
            </p:nvSpPr>
            <p:spPr>
              <a:xfrm xmlns:a="http://schemas.openxmlformats.org/drawingml/2006/main">
                <a:off x="647700" y="1856105"/>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borderBox>
                        <m:e>
                          <m:r>
                            <a:rPr sz="2700" b="0" lang="en-US">
                              <a:solidFill>
                                <a:srgbClr val="153D50"/>
                              </a:solidFill>
                              <a:latin typeface="Cambria Math"/>
                              <a:ea typeface="Meiryo"/>
                            </a:rPr>
                            <m:t>h=H+N</m:t>
                          </m:r>
                        </m:e>
                      </m:borderBox>
                      <m:r>
                        <m:rPr>
                          <m:nor/>
                        </m:rPr>
                        <a:rPr sz="2700" b="0" lang="en-US">
                          <a:solidFill>
                            <a:srgbClr val="153D50"/>
                          </a:solidFill>
                          <a:latin typeface="Cambria Math"/>
                          <a:ea typeface="Meiryo"/>
                        </a:rPr>
                        <m:t>  </m:t>
                      </m:r>
                      <m:borderBox>
                        <m:e>
                          <m:r>
                            <a:rPr sz="2700" b="0" lang="en-US">
                              <a:solidFill>
                                <a:srgbClr val="153D50"/>
                              </a:solidFill>
                              <a:latin typeface="Cambria Math"/>
                              <a:ea typeface="Meiryo"/>
                            </a:rPr>
                            <m:t>H=h−N</m:t>
                          </m:r>
                        </m:e>
                      </m:borderBox>
                    </m:oMath>
                  </m:oMathPara>
                </a14:m>
              </a:p>
            </p:txBody>
          </p:sp>
        </mc:Choice>
        <mc:Fallback>
          <p:sp>
            <p:nvSpPr>
              <p:cNvPr id="5" name="EQM00041">
                <a:extLst xmlns:a="http://schemas.openxmlformats.org/drawingml/2006/main">
                  <a:ext uri="{FF2B5EF4-FFF2-40B4-BE49-F238E27FC236}">
                    <a16:creationId xmlns:a16="http://schemas.microsoft.com/office/drawing/2014/main" id="{7F09BE02-F8FB-4F64-A7C7-B317DA28965D}"/>
                  </a:ext>
                </a:extLst>
              </p:cNvPr>
              <p:cNvSpPr>
                <a:spLocks xmlns:a="http://schemas.openxmlformats.org/drawingml/2006/main" noGrp="1"/>
              </p:cNvSpPr>
              <p:nvPr/>
            </p:nvSpPr>
            <p:spPr>
              <a:xfrm xmlns:a="http://schemas.openxmlformats.org/drawingml/2006/main">
                <a:off x="647700" y="1856105"/>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\boxed{h=H+N}\qquad\boxed{H=h-N}</a:t>
                </a:r>
              </a:p>
            </p:txBody>
          </p:sp>
        </mc:Fallback>
      </mc:AlternateContent>
      <mc:AlternateContent xmlns:mc="http://schemas.openxmlformats.org/markup-compatibility/2006" xmlns:a14="http://schemas.microsoft.com/office/drawing/2010/main">
        <mc:Choice Requires="a14">
          <p:graphicFrame>
            <p:nvGraphicFramePr>
              <p:cNvPr id="6" name="">
                <a:extLst xmlns:a="http://schemas.openxmlformats.org/drawingml/2006/main">
                  <a:ext uri="{FF2B5EF4-FFF2-40B4-BE49-F238E27FC236}">
                    <a16:creationId xmlns:a16="http://schemas.microsoft.com/office/drawing/2014/main" id="{58BAF762-15C8-42D6-BE5A-38ACD0712F81}"/>
                  </a:ext>
                </a:extLst>
              </p:cNvPr>
              <p:cNvGraphicFramePr/>
              <p:nvPr/>
            </p:nvGraphicFramePr>
            <p:xfrm>
              <a:off xmlns:a="http://schemas.openxmlformats.org/drawingml/2006/main" x="647700" y="2713355"/>
              <a:ext xmlns:a="http://schemas.openxmlformats.org/drawingml/2006/main" cx="10896600" cy="2385060"/>
            </p:xfrm>
            <a:graphic xmlns:a="http://schemas.openxmlformats.org/drawingml/2006/main">
              <a:graphicData uri="http://schemas.openxmlformats.org/drawingml/2006/table">
                <a:tbl>
                  <a:tblPr/>
                  <a:tblGrid>
                    <a:gridCol w="1307592"/>
                    <a:gridCol w="3160014"/>
                    <a:gridCol w="6428994"/>
                  </a:tblGrid>
                  <a:tr h="596265">
                    <a:tc>
                      <a:txBody>
                        <a:bodyPr lIns="114300" tIns="114300" rIns="114300" bIns="114300">
                          <a:noAutofit/>
                        </a:bodyPr>
                        <a:lstStyle/>
                        <a:p>
                          <a:pPr algn="l"/>
                          <a:r>
                            <a:rPr sz="2100" b="1">
                              <a:solidFill>
                                <a:srgbClr val="FFFFFF"/>
                              </a:solidFill>
                              <a:latin typeface="Meiryo"/>
                              <a:ea typeface="Meiryo"/>
                              <a:cs typeface="Meiryo"/>
                            </a:rPr>
                            <a:t>記号</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名称</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どこから、どこまで</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h</m:t>
                              </m:r>
                            </m:oMath>
                          </a14:m>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楕円体高</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楕円体から点まで（GNSS）</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H</m:t>
                              </m:r>
                            </m:oMath>
                          </a14:m>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標高</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ジオイドから点まで（水準測量）</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N</m:t>
                              </m:r>
                            </m:oMath>
                          </a14:m>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ジオイド高</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楕円体からジオイドまで</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Choice>
        <mc:Fallback>
          <p:graphicFrame>
            <p:nvGraphicFramePr>
              <p:cNvPr id="6" name="">
                <a:extLst xmlns:a="http://schemas.openxmlformats.org/drawingml/2006/main">
                  <a:ext uri="{FF2B5EF4-FFF2-40B4-BE49-F238E27FC236}">
                    <a16:creationId xmlns:a16="http://schemas.microsoft.com/office/drawing/2014/main" id="{58BAF762-15C8-42D6-BE5A-38ACD0712F81}"/>
                  </a:ext>
                </a:extLst>
              </p:cNvPr>
              <p:cNvGraphicFramePr/>
              <p:nvPr/>
            </p:nvGraphicFramePr>
            <p:xfrm>
              <a:off xmlns:a="http://schemas.openxmlformats.org/drawingml/2006/main" x="647700" y="2713355"/>
              <a:ext xmlns:a="http://schemas.openxmlformats.org/drawingml/2006/main" cx="10896600" cy="2385060"/>
            </p:xfrm>
            <a:graphic xmlns:a="http://schemas.openxmlformats.org/drawingml/2006/main">
              <a:graphicData uri="http://schemas.openxmlformats.org/drawingml/2006/table">
                <a:tbl>
                  <a:tblPr/>
                  <a:tblGrid>
                    <a:gridCol w="1307592"/>
                    <a:gridCol w="3160014"/>
                    <a:gridCol w="6428994"/>
                  </a:tblGrid>
                  <a:tr h="596265">
                    <a:tc>
                      <a:txBody>
                        <a:bodyPr lIns="114300" tIns="114300" rIns="114300" bIns="114300">
                          <a:noAutofit/>
                        </a:bodyPr>
                        <a:lstStyle/>
                        <a:p>
                          <a:pPr algn="l"/>
                          <a:r>
                            <a:rPr sz="2100" b="1">
                              <a:solidFill>
                                <a:srgbClr val="FFFFFF"/>
                              </a:solidFill>
                              <a:latin typeface="Meiryo"/>
                              <a:ea typeface="Meiryo"/>
                              <a:cs typeface="Meiryo"/>
                            </a:rPr>
                            <a:t>記号</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名称</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どこから、どこまで</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Cambria Math"/>
                              <a:ea typeface="Cambria Math"/>
                              <a:cs typeface="Cambria Math"/>
                            </a:rPr>
                            <a:t>h</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楕円体高</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楕円体から点まで（GNSS）</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Cambria Math"/>
                              <a:ea typeface="Cambria Math"/>
                              <a:cs typeface="Cambria Math"/>
                            </a:rPr>
                            <a:t>H</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標高</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ジオイドから点まで（水準測量）</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Cambria Math"/>
                              <a:ea typeface="Cambria Math"/>
                              <a:cs typeface="Cambria Math"/>
                            </a:rPr>
                            <a:t>N</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ジオイド高</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楕円体からジオイドまで</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Fallback>
      </mc:AlternateContent>
    </p:spTree>
    <p:extLst>
      <p:ext uri="{BB962C8B-B14F-4D97-AF65-F5344CB8AC3E}">
        <p14:creationId xmlns:p14="http://schemas.microsoft.com/office/powerpoint/2010/main" val="1737044494"/>
      </p:ext>
    </p:extLst>
  </p:cSld>
</p:sld>
</file>

<file path=ppt/slides/slide28.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DA526892-3575-4139-9434-8761CC532126}"/>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3-2</a:t>
            </a:r>
          </a:p>
        </p:txBody>
      </p:sp>
      <p:sp>
        <p:nvSpPr>
          <p:cNvPr id="2" name="本文1">
            <a:extLst xmlns:a="http://schemas.openxmlformats.org/drawingml/2006/main">
              <a:ext uri="{FF2B5EF4-FFF2-40B4-BE49-F238E27FC236}">
                <a16:creationId xmlns:a16="http://schemas.microsoft.com/office/drawing/2014/main" id="{C22A503C-95EE-40D5-ADD0-027AFECA7859}"/>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GNSSの高さを標高へ</a:t>
            </a:r>
          </a:p>
        </p:txBody>
      </p:sp>
      <p:sp>
        <p:nvSpPr>
          <p:cNvPr id="3" name="本文2">
            <a:extLst xmlns:a="http://schemas.openxmlformats.org/drawingml/2006/main">
              <a:ext uri="{FF2B5EF4-FFF2-40B4-BE49-F238E27FC236}">
                <a16:creationId xmlns:a16="http://schemas.microsoft.com/office/drawing/2014/main" id="{3317062D-7E1E-4772-8A89-ADAC421269DB}"/>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28</a:t>
            </a:r>
          </a:p>
        </p:txBody>
      </p:sp>
      <p:sp>
        <p:nvSpPr>
          <p:cNvPr id="4" name="本文3">
            <a:extLst xmlns:a="http://schemas.openxmlformats.org/drawingml/2006/main">
              <a:ext uri="{FF2B5EF4-FFF2-40B4-BE49-F238E27FC236}">
                <a16:creationId xmlns:a16="http://schemas.microsoft.com/office/drawing/2014/main" id="{2D07FFBF-8F31-4555-85AD-77AFC1CC2955}"/>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受信機の画面が、楕円体高か標高かを確認する。</a:t>
            </a:r>
          </a:p>
        </p:txBody>
      </p:sp>
      <mc:AlternateContent xmlns:mc="http://schemas.openxmlformats.org/markup-compatibility/2006" xmlns:a14="http://schemas.microsoft.com/office/drawing/2010/main">
        <mc:Choice Requires="a14">
          <p:graphicFrame>
            <p:nvGraphicFramePr>
              <p:cNvPr id="5" name="">
                <a:extLst xmlns:a="http://schemas.openxmlformats.org/drawingml/2006/main">
                  <a:ext uri="{FF2B5EF4-FFF2-40B4-BE49-F238E27FC236}">
                    <a16:creationId xmlns:a16="http://schemas.microsoft.com/office/drawing/2014/main" id="{CFBFDC1F-B254-4D5B-B146-3C6564D03E33}"/>
                  </a:ext>
                </a:extLst>
              </p:cNvPr>
              <p:cNvGraphicFramePr/>
              <p:nvPr/>
            </p:nvGraphicFramePr>
            <p:xfrm>
              <a:off xmlns:a="http://schemas.openxmlformats.org/drawingml/2006/main" x="647700" y="1750060"/>
              <a:ext xmlns:a="http://schemas.openxmlformats.org/drawingml/2006/main" cx="10896600" cy="1788795"/>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与えられた量</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値</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GNSSの楕円体高 </a:t>
                          </a:r>
                          <a14:m xmlns:m="http://schemas.openxmlformats.org/officeDocument/2006/math">
                            <m:oMath xmlns:mml="http://www.w3.org/1998/Math/MathML">
                              <m:r>
                                <a:rPr sz="2100" b="0" lang="en-US">
                                  <a:solidFill>
                                    <a:srgbClr val="213C4B"/>
                                  </a:solidFill>
                                  <a:latin typeface="Cambria Math"/>
                                  <a:ea typeface="Meiryo"/>
                                </a:rPr>
                                <m:t>h</m:t>
                              </m:r>
                            </m:oMath>
                          </a14:m>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85.000 m</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モデルのジオイド高 </a:t>
                          </a:r>
                          <a14:m xmlns:m="http://schemas.openxmlformats.org/officeDocument/2006/math">
                            <m:oMath xmlns:mml="http://www.w3.org/1998/Math/MathML">
                              <m:r>
                                <a:rPr sz="2100" b="0" lang="en-US">
                                  <a:solidFill>
                                    <a:srgbClr val="213C4B"/>
                                  </a:solidFill>
                                  <a:latin typeface="Cambria Math"/>
                                  <a:ea typeface="Meiryo"/>
                                </a:rPr>
                                <m:t>N</m:t>
                              </m:r>
                            </m:oMath>
                          </a14:m>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35.000 m</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Choice>
        <mc:Fallback>
          <p:graphicFrame>
            <p:nvGraphicFramePr>
              <p:cNvPr id="5" name="">
                <a:extLst xmlns:a="http://schemas.openxmlformats.org/drawingml/2006/main">
                  <a:ext uri="{FF2B5EF4-FFF2-40B4-BE49-F238E27FC236}">
                    <a16:creationId xmlns:a16="http://schemas.microsoft.com/office/drawing/2014/main" id="{CFBFDC1F-B254-4D5B-B146-3C6564D03E33}"/>
                  </a:ext>
                </a:extLst>
              </p:cNvPr>
              <p:cNvGraphicFramePr/>
              <p:nvPr/>
            </p:nvGraphicFramePr>
            <p:xfrm>
              <a:off xmlns:a="http://schemas.openxmlformats.org/drawingml/2006/main" x="647700" y="1750060"/>
              <a:ext xmlns:a="http://schemas.openxmlformats.org/drawingml/2006/main" cx="10896600" cy="1788795"/>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与えられた量</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値</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GNSSの楕円体高 </a:t>
                          </a:r>
                          <a:r>
                            <a:rPr sz="2100" b="0">
                              <a:solidFill>
                                <a:srgbClr val="213C4B"/>
                              </a:solidFill>
                              <a:latin typeface="Cambria Math"/>
                              <a:ea typeface="Cambria Math"/>
                              <a:cs typeface="Cambria Math"/>
                            </a:rPr>
                            <a:t>h</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85.000 m</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モデルのジオイド高 </a:t>
                          </a:r>
                          <a:r>
                            <a:rPr sz="2100" b="0">
                              <a:solidFill>
                                <a:srgbClr val="213C4B"/>
                              </a:solidFill>
                              <a:latin typeface="Cambria Math"/>
                              <a:ea typeface="Cambria Math"/>
                              <a:cs typeface="Cambria Math"/>
                            </a:rPr>
                            <a:t>N</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35.000 m</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Fallback>
      </mc:AlternateContent>
      <mc:AlternateContent xmlns:mc="http://schemas.openxmlformats.org/markup-compatibility/2006" xmlns:a14="http://schemas.microsoft.com/office/drawing/2010/main">
        <mc:Choice Requires="a14">
          <p:sp>
            <p:nvSpPr>
              <p:cNvPr id="6" name="EQM00047">
                <a:extLst xmlns:a="http://schemas.openxmlformats.org/drawingml/2006/main">
                  <a:ext uri="{FF2B5EF4-FFF2-40B4-BE49-F238E27FC236}">
                    <a16:creationId xmlns:a16="http://schemas.microsoft.com/office/drawing/2014/main" id="{98801C82-F34E-4AA0-962B-297A2E7D309F}"/>
                  </a:ext>
                </a:extLst>
              </p:cNvPr>
              <p:cNvSpPr>
                <a:spLocks xmlns:a="http://schemas.openxmlformats.org/drawingml/2006/main" noGrp="1"/>
              </p:cNvSpPr>
              <p:nvPr/>
            </p:nvSpPr>
            <p:spPr>
              <a:xfrm xmlns:a="http://schemas.openxmlformats.org/drawingml/2006/main">
                <a:off x="647700" y="3710305"/>
                <a:ext cx="108966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eqArr>
                        <m:e>
                          <m:r>
                            <a:rPr sz="2700" b="0" lang="en-US">
                              <a:solidFill>
                                <a:srgbClr val="153D50"/>
                              </a:solidFill>
                              <a:latin typeface="Cambria Math"/>
                              <a:ea typeface="Meiryo"/>
                            </a:rPr>
                            <m:t>H</m:t>
                          </m:r>
                          <m:r>
                            <a:rPr sz="2700" b="0" lang="en-US">
                              <a:solidFill>
                                <a:srgbClr val="153D50"/>
                              </a:solidFill>
                              <a:latin typeface="Cambria Math"/>
                              <a:ea typeface="Meiryo"/>
                            </a:rPr>
                            <m:t>&amp;</m:t>
                          </m:r>
                          <m:r>
                            <a:rPr sz="2700" b="0" lang="en-US">
                              <a:solidFill>
                                <a:srgbClr val="153D50"/>
                              </a:solidFill>
                              <a:latin typeface="Cambria Math"/>
                              <a:ea typeface="Meiryo"/>
                            </a:rPr>
                            <m:t>=h−N</m:t>
                          </m:r>
                        </m:e>
                        <m:e>
                          <m:r>
                            <a:rPr sz="2700" b="0" lang="en-US">
                              <a:solidFill>
                                <a:srgbClr val="153D50"/>
                              </a:solidFill>
                              <a:latin typeface="Cambria Math"/>
                              <a:ea typeface="Meiryo"/>
                            </a:rPr>
                            <m:t>&amp;</m:t>
                          </m:r>
                          <m:r>
                            <a:rPr sz="2700" b="0" lang="en-US">
                              <a:solidFill>
                                <a:srgbClr val="153D50"/>
                              </a:solidFill>
                              <a:latin typeface="Cambria Math"/>
                              <a:ea typeface="Meiryo"/>
                            </a:rPr>
                            <m:t>=85.000−35.000</m:t>
                          </m:r>
                        </m:e>
                        <m:e>
                          <m:r>
                            <a:rPr sz="2700" b="0" lang="en-US">
                              <a:solidFill>
                                <a:srgbClr val="153D50"/>
                              </a:solidFill>
                              <a:latin typeface="Cambria Math"/>
                              <a:ea typeface="Meiryo"/>
                            </a:rPr>
                            <m:t>&amp;</m:t>
                          </m:r>
                          <m:r>
                            <a:rPr sz="2700" b="0" lang="en-US">
                              <a:solidFill>
                                <a:srgbClr val="153D50"/>
                              </a:solidFill>
                              <a:latin typeface="Cambria Math"/>
                              <a:ea typeface="Meiryo"/>
                            </a:rPr>
                            <m:t>=50.000</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e>
                      </m:eqArr>
                    </m:oMath>
                  </m:oMathPara>
                </a14:m>
              </a:p>
            </p:txBody>
          </p:sp>
        </mc:Choice>
        <mc:Fallback>
          <p:sp>
            <p:nvSpPr>
              <p:cNvPr id="6" name="EQM00047">
                <a:extLst xmlns:a="http://schemas.openxmlformats.org/drawingml/2006/main">
                  <a:ext uri="{FF2B5EF4-FFF2-40B4-BE49-F238E27FC236}">
                    <a16:creationId xmlns:a16="http://schemas.microsoft.com/office/drawing/2014/main" id="{98801C82-F34E-4AA0-962B-297A2E7D309F}"/>
                  </a:ext>
                </a:extLst>
              </p:cNvPr>
              <p:cNvSpPr>
                <a:spLocks xmlns:a="http://schemas.openxmlformats.org/drawingml/2006/main" noGrp="1"/>
              </p:cNvSpPr>
              <p:nvPr/>
            </p:nvSpPr>
            <p:spPr>
              <a:xfrm xmlns:a="http://schemas.openxmlformats.org/drawingml/2006/main">
                <a:off x="647700" y="3710305"/>
                <a:ext cx="108966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\begin{aligned}
H&amp;=h-N\\
 &amp;=85.000-35.000\\
 &amp;=50.000\ \mathrm{m}
\end{aligned}</a:t>
                </a:r>
              </a:p>
            </p:txBody>
          </p:sp>
        </mc:Fallback>
      </mc:AlternateContent>
    </p:spTree>
    <p:extLst>
      <p:ext uri="{BB962C8B-B14F-4D97-AF65-F5344CB8AC3E}">
        <p14:creationId xmlns:p14="http://schemas.microsoft.com/office/powerpoint/2010/main" val="2122417685"/>
      </p:ext>
    </p:extLst>
  </p:cSld>
</p:sld>
</file>

<file path=ppt/slides/slide29.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80E20B3C-9727-4A3B-99C3-F54B15F6D46B}"/>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3-2</a:t>
            </a:r>
          </a:p>
        </p:txBody>
      </p:sp>
      <p:sp>
        <p:nvSpPr>
          <p:cNvPr id="2" name="本文1">
            <a:extLst xmlns:a="http://schemas.openxmlformats.org/drawingml/2006/main">
              <a:ext uri="{FF2B5EF4-FFF2-40B4-BE49-F238E27FC236}">
                <a16:creationId xmlns:a16="http://schemas.microsoft.com/office/drawing/2014/main" id="{2C607122-2244-4053-A275-16CB5D068349}"/>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傾斜から、新点のジオイド高を求める</a:t>
            </a:r>
          </a:p>
        </p:txBody>
      </p:sp>
      <p:sp>
        <p:nvSpPr>
          <p:cNvPr id="3" name="本文2">
            <a:extLst xmlns:a="http://schemas.openxmlformats.org/drawingml/2006/main">
              <a:ext uri="{FF2B5EF4-FFF2-40B4-BE49-F238E27FC236}">
                <a16:creationId xmlns:a16="http://schemas.microsoft.com/office/drawing/2014/main" id="{446E5B37-FBA7-48E2-B446-CC4279F86E5F}"/>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29</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9B18AD75-260D-4D7C-A5A7-BBF8D9491D85}"/>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既知点で </a:t>
                </a:r>
                <a14:m xmlns:m="http://schemas.openxmlformats.org/officeDocument/2006/math">
                  <m:oMath xmlns:mml="http://www.w3.org/1998/Math/MathML">
                    <m:r>
                      <a:rPr sz="1725" b="0" lang="en-US">
                        <a:solidFill>
                          <a:srgbClr val="137D78"/>
                        </a:solidFill>
                        <a:latin typeface="Cambria Math"/>
                        <a:ea typeface="Meiryo"/>
                      </a:rPr>
                      <m:t>N</m:t>
                    </m:r>
                  </m:oMath>
                </a14:m>
                <a:r>
                  <a:rPr sz="1725" b="1">
                    <a:solidFill>
                      <a:srgbClr val="137D78"/>
                    </a:solidFill>
                    <a:latin typeface="Meiryo"/>
                    <a:ea typeface="Meiryo"/>
                    <a:cs typeface="Meiryo"/>
                  </a:rPr>
                  <a:t> を求め、傾斜で移し、最後に </a:t>
                </a:r>
                <a14:m xmlns:m="http://schemas.openxmlformats.org/officeDocument/2006/math">
                  <m:oMath xmlns:mml="http://www.w3.org/1998/Math/MathML">
                    <m:r>
                      <a:rPr sz="1725" b="0" lang="en-US">
                        <a:solidFill>
                          <a:srgbClr val="137D78"/>
                        </a:solidFill>
                        <a:latin typeface="Cambria Math"/>
                        <a:ea typeface="Meiryo"/>
                      </a:rPr>
                      <m:t>h</m:t>
                    </m:r>
                  </m:oMath>
                </a14:m>
                <a:r>
                  <a:rPr sz="1725" b="1">
                    <a:solidFill>
                      <a:srgbClr val="137D78"/>
                    </a:solidFill>
                    <a:latin typeface="Meiryo"/>
                    <a:ea typeface="Meiryo"/>
                    <a:cs typeface="Meiryo"/>
                  </a:rPr>
                  <a:t> から引く。</a:t>
                </a:r>
              </a:p>
            </p:txBody>
          </p:sp>
        </mc:Choice>
        <mc:Fallback>
          <p:sp>
            <p:nvSpPr>
              <p:cNvPr id="4" name="本文3">
                <a:extLst xmlns:a="http://schemas.openxmlformats.org/drawingml/2006/main">
                  <a:ext uri="{FF2B5EF4-FFF2-40B4-BE49-F238E27FC236}">
                    <a16:creationId xmlns:a16="http://schemas.microsoft.com/office/drawing/2014/main" id="{9B18AD75-260D-4D7C-A5A7-BBF8D9491D85}"/>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既知点で </a:t>
                </a:r>
                <a:r>
                  <a:rPr sz="1725" b="1">
                    <a:solidFill>
                      <a:srgbClr val="137D78"/>
                    </a:solidFill>
                    <a:latin typeface="Cambria Math"/>
                    <a:ea typeface="Cambria Math"/>
                    <a:cs typeface="Cambria Math"/>
                  </a:rPr>
                  <a:t>N</a:t>
                </a:r>
                <a:r>
                  <a:rPr sz="1725" b="1">
                    <a:solidFill>
                      <a:srgbClr val="137D78"/>
                    </a:solidFill>
                    <a:latin typeface="Meiryo"/>
                    <a:ea typeface="Meiryo"/>
                    <a:cs typeface="Meiryo"/>
                  </a:rPr>
                  <a:t> を求め、傾斜で移し、最後に </a:t>
                </a:r>
                <a:r>
                  <a:rPr sz="1725" b="1">
                    <a:solidFill>
                      <a:srgbClr val="137D78"/>
                    </a:solidFill>
                    <a:latin typeface="Cambria Math"/>
                    <a:ea typeface="Cambria Math"/>
                    <a:cs typeface="Cambria Math"/>
                  </a:rPr>
                  <a:t>h</a:t>
                </a:r>
                <a:r>
                  <a:rPr sz="1725" b="1">
                    <a:solidFill>
                      <a:srgbClr val="137D78"/>
                    </a:solidFill>
                    <a:latin typeface="Meiryo"/>
                    <a:ea typeface="Meiryo"/>
                    <a:cs typeface="Meiryo"/>
                  </a:rPr>
                  <a:t> から引く。</a:t>
                </a:r>
              </a:p>
            </p:txBody>
          </p:sp>
        </mc:Fallback>
      </mc:AlternateContent>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51F90504-9179-4A20-BC00-65A7FD1F3F23}"/>
                  </a:ext>
                </a:extLst>
              </p:cNvPr>
              <p:cNvSpPr>
                <a:spLocks xmlns:a="http://schemas.openxmlformats.org/drawingml/2006/main" noGrp="1"/>
              </p:cNvSpPr>
              <p:nvPr/>
            </p:nvSpPr>
            <p:spPr>
              <a:xfrm xmlns:a="http://schemas.openxmlformats.org/drawingml/2006/main">
                <a:off x="647700" y="19621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A：</a:t>
                </a:r>
                <a14:m xmlns:m="http://schemas.openxmlformats.org/officeDocument/2006/math">
                  <m:oMath xmlns:mml="http://www.w3.org/1998/Math/MathML">
                    <m:sSub>
                      <m:e>
                        <m:r>
                          <a:rPr sz="2100" b="0" lang="en-US">
                            <a:solidFill>
                              <a:srgbClr val="213C4B"/>
                            </a:solidFill>
                            <a:latin typeface="Cambria Math"/>
                            <a:ea typeface="Meiryo"/>
                          </a:rPr>
                          <m:t>H</m:t>
                        </m:r>
                      </m:e>
                      <m:sub>
                        <m:r>
                          <a:rPr sz="2100" b="0" lang="en-US">
                            <a:solidFill>
                              <a:srgbClr val="213C4B"/>
                            </a:solidFill>
                            <a:latin typeface="Cambria Math"/>
                            <a:ea typeface="Meiryo"/>
                          </a:rPr>
                          <m:t>A</m:t>
                        </m:r>
                      </m:sub>
                    </m:sSub>
                    <m:r>
                      <a:rPr sz="2100" b="0" lang="en-US">
                        <a:solidFill>
                          <a:srgbClr val="213C4B"/>
                        </a:solidFill>
                        <a:latin typeface="Cambria Math"/>
                        <a:ea typeface="Meiryo"/>
                      </a:rPr>
                      <m:t>=30.00</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r>
                  <a:rPr sz="2100" b="0">
                    <a:solidFill>
                      <a:srgbClr val="213C4B"/>
                    </a:solidFill>
                    <a:latin typeface="Meiryo"/>
                    <a:ea typeface="Meiryo"/>
                    <a:cs typeface="Meiryo"/>
                  </a:rPr>
                  <a:t>、</a:t>
                </a:r>
                <a14:m xmlns:m="http://schemas.openxmlformats.org/officeDocument/2006/math">
                  <m:oMath xmlns:mml="http://www.w3.org/1998/Math/MathML">
                    <m:sSub>
                      <m:e>
                        <m:r>
                          <a:rPr sz="2100" b="0" lang="en-US">
                            <a:solidFill>
                              <a:srgbClr val="213C4B"/>
                            </a:solidFill>
                            <a:latin typeface="Cambria Math"/>
                            <a:ea typeface="Meiryo"/>
                          </a:rPr>
                          <m:t>h</m:t>
                        </m:r>
                      </m:e>
                      <m:sub>
                        <m:r>
                          <a:rPr sz="2100" b="0" lang="en-US">
                            <a:solidFill>
                              <a:srgbClr val="213C4B"/>
                            </a:solidFill>
                            <a:latin typeface="Cambria Math"/>
                            <a:ea typeface="Meiryo"/>
                          </a:rPr>
                          <m:t>A</m:t>
                        </m:r>
                      </m:sub>
                    </m:sSub>
                    <m:r>
                      <a:rPr sz="2100" b="0" lang="en-US">
                        <a:solidFill>
                          <a:srgbClr val="213C4B"/>
                        </a:solidFill>
                        <a:latin typeface="Cambria Math"/>
                        <a:ea typeface="Meiryo"/>
                      </a:rPr>
                      <m:t>=71.09</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r>
                  <a:rPr sz="2100" b="0">
                    <a:solidFill>
                      <a:srgbClr val="213C4B"/>
                    </a:solidFill>
                    <a:latin typeface="Meiryo"/>
                    <a:ea typeface="Meiryo"/>
                    <a:cs typeface="Meiryo"/>
                  </a:rPr>
                  <a:t>。</a:t>
                </a:r>
              </a:p>
            </p:txBody>
          </p:sp>
        </mc:Choice>
        <mc:Fallback>
          <p:sp>
            <p:nvSpPr>
              <p:cNvPr id="5" name="本文4">
                <a:extLst xmlns:a="http://schemas.openxmlformats.org/drawingml/2006/main">
                  <a:ext uri="{FF2B5EF4-FFF2-40B4-BE49-F238E27FC236}">
                    <a16:creationId xmlns:a16="http://schemas.microsoft.com/office/drawing/2014/main" id="{51F90504-9179-4A20-BC00-65A7FD1F3F23}"/>
                  </a:ext>
                </a:extLst>
              </p:cNvPr>
              <p:cNvSpPr>
                <a:spLocks xmlns:a="http://schemas.openxmlformats.org/drawingml/2006/main" noGrp="1"/>
              </p:cNvSpPr>
              <p:nvPr/>
            </p:nvSpPr>
            <p:spPr>
              <a:xfrm xmlns:a="http://schemas.openxmlformats.org/drawingml/2006/main">
                <a:off x="647700" y="19621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A：</a:t>
                </a:r>
                <a:r>
                  <a:rPr sz="2100" b="0">
                    <a:solidFill>
                      <a:srgbClr val="213C4B"/>
                    </a:solidFill>
                    <a:latin typeface="Cambria Math"/>
                    <a:ea typeface="Cambria Math"/>
                    <a:cs typeface="Cambria Math"/>
                  </a:rPr>
                  <a:t>H_A=30.00\ \mathrm{m}</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h_A=71.09\ \mathrm{m}</a:t>
                </a:r>
                <a:r>
                  <a:rPr sz="2100" b="0">
                    <a:solidFill>
                      <a:srgbClr val="213C4B"/>
                    </a:solidFill>
                    <a:latin typeface="Meiryo"/>
                    <a:ea typeface="Meiryo"/>
                    <a:cs typeface="Meiryo"/>
                  </a:rPr>
                  <a:t>。</a:t>
                </a:r>
              </a:p>
            </p:txBody>
          </p:sp>
        </mc:Fallback>
      </mc:AlternateContent>
      <mc:AlternateContent xmlns:mc="http://schemas.openxmlformats.org/markup-compatibility/2006" xmlns:a14="http://schemas.microsoft.com/office/drawing/2010/main">
        <mc:Choice Requires="a14">
          <p:sp>
            <p:nvSpPr>
              <p:cNvPr id="6" name="本文5">
                <a:extLst xmlns:a="http://schemas.openxmlformats.org/drawingml/2006/main">
                  <a:ext uri="{FF2B5EF4-FFF2-40B4-BE49-F238E27FC236}">
                    <a16:creationId xmlns:a16="http://schemas.microsoft.com/office/drawing/2014/main" id="{B10F3FD0-2A82-437C-902C-DA04EC6592AE}"/>
                  </a:ext>
                </a:extLst>
              </p:cNvPr>
              <p:cNvSpPr>
                <a:spLocks xmlns:a="http://schemas.openxmlformats.org/drawingml/2006/main" noGrp="1"/>
              </p:cNvSpPr>
              <p:nvPr/>
            </p:nvSpPr>
            <p:spPr>
              <a:xfrm xmlns:a="http://schemas.openxmlformats.org/drawingml/2006/main">
                <a:off x="647700" y="26098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B：Aから6 km、</a:t>
                </a:r>
                <a14:m xmlns:m="http://schemas.openxmlformats.org/officeDocument/2006/math">
                  <m:oMath xmlns:mml="http://www.w3.org/1998/Math/MathML">
                    <m:sSub>
                      <m:e>
                        <m:r>
                          <a:rPr sz="2100" b="0" lang="en-US">
                            <a:solidFill>
                              <a:srgbClr val="213C4B"/>
                            </a:solidFill>
                            <a:latin typeface="Cambria Math"/>
                            <a:ea typeface="Meiryo"/>
                          </a:rPr>
                          <m:t>h</m:t>
                        </m:r>
                      </m:e>
                      <m:sub>
                        <m:r>
                          <a:rPr sz="2100" b="0" lang="en-US">
                            <a:solidFill>
                              <a:srgbClr val="213C4B"/>
                            </a:solidFill>
                            <a:latin typeface="Cambria Math"/>
                            <a:ea typeface="Meiryo"/>
                          </a:rPr>
                          <m:t>B</m:t>
                        </m:r>
                      </m:sub>
                    </m:sSub>
                    <m:r>
                      <a:rPr sz="2100" b="0" lang="en-US">
                        <a:solidFill>
                          <a:srgbClr val="213C4B"/>
                        </a:solidFill>
                        <a:latin typeface="Cambria Math"/>
                        <a:ea typeface="Meiryo"/>
                      </a:rPr>
                      <m:t>=66.50</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r>
                  <a:rPr sz="2100" b="0">
                    <a:solidFill>
                      <a:srgbClr val="213C4B"/>
                    </a:solidFill>
                    <a:latin typeface="Meiryo"/>
                    <a:ea typeface="Meiryo"/>
                    <a:cs typeface="Meiryo"/>
                  </a:rPr>
                  <a:t>。ジオイド高は1 kmごとに0.02 m低下。</a:t>
                </a:r>
              </a:p>
            </p:txBody>
          </p:sp>
        </mc:Choice>
        <mc:Fallback>
          <p:sp>
            <p:nvSpPr>
              <p:cNvPr id="6" name="本文5">
                <a:extLst xmlns:a="http://schemas.openxmlformats.org/drawingml/2006/main">
                  <a:ext uri="{FF2B5EF4-FFF2-40B4-BE49-F238E27FC236}">
                    <a16:creationId xmlns:a16="http://schemas.microsoft.com/office/drawing/2014/main" id="{B10F3FD0-2A82-437C-902C-DA04EC6592AE}"/>
                  </a:ext>
                </a:extLst>
              </p:cNvPr>
              <p:cNvSpPr>
                <a:spLocks xmlns:a="http://schemas.openxmlformats.org/drawingml/2006/main" noGrp="1"/>
              </p:cNvSpPr>
              <p:nvPr/>
            </p:nvSpPr>
            <p:spPr>
              <a:xfrm xmlns:a="http://schemas.openxmlformats.org/drawingml/2006/main">
                <a:off x="647700" y="26098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B：Aから6 km、</a:t>
                </a:r>
                <a:r>
                  <a:rPr sz="2100" b="0">
                    <a:solidFill>
                      <a:srgbClr val="213C4B"/>
                    </a:solidFill>
                    <a:latin typeface="Cambria Math"/>
                    <a:ea typeface="Cambria Math"/>
                    <a:cs typeface="Cambria Math"/>
                  </a:rPr>
                  <a:t>h_B=66.50\ \mathrm{m}</a:t>
                </a:r>
                <a:r>
                  <a:rPr sz="2100" b="0">
                    <a:solidFill>
                      <a:srgbClr val="213C4B"/>
                    </a:solidFill>
                    <a:latin typeface="Meiryo"/>
                    <a:ea typeface="Meiryo"/>
                    <a:cs typeface="Meiryo"/>
                  </a:rPr>
                  <a:t>。ジオイド高は1 kmごとに0.02 m低下。</a:t>
                </a:r>
              </a:p>
            </p:txBody>
          </p:sp>
        </mc:Fallback>
      </mc:AlternateContent>
      <mc:AlternateContent xmlns:mc="http://schemas.openxmlformats.org/markup-compatibility/2006" xmlns:a14="http://schemas.microsoft.com/office/drawing/2010/main">
        <mc:Choice Requires="a14">
          <p:sp>
            <p:nvSpPr>
              <p:cNvPr id="7" name="EQM00053">
                <a:extLst xmlns:a="http://schemas.openxmlformats.org/drawingml/2006/main">
                  <a:ext uri="{FF2B5EF4-FFF2-40B4-BE49-F238E27FC236}">
                    <a16:creationId xmlns:a16="http://schemas.microsoft.com/office/drawing/2014/main" id="{902ADC76-1B2E-424B-BB9D-BB893638CFA5}"/>
                  </a:ext>
                </a:extLst>
              </p:cNvPr>
              <p:cNvSpPr>
                <a:spLocks xmlns:a="http://schemas.openxmlformats.org/drawingml/2006/main" noGrp="1"/>
              </p:cNvSpPr>
              <p:nvPr/>
            </p:nvSpPr>
            <p:spPr>
              <a:xfrm xmlns:a="http://schemas.openxmlformats.org/drawingml/2006/main">
                <a:off x="647700" y="3257550"/>
                <a:ext cx="108966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eqArr>
                        <m:e>
                          <m:sSub>
                            <m:e>
                              <m:argPr>
                                <m:argSz m:val="0"/>
                              </m:argPr>
                              <m:r>
                                <a:rPr sz="2700" b="0" lang="en-US">
                                  <a:solidFill>
                                    <a:srgbClr val="153D50"/>
                                  </a:solidFill>
                                  <a:latin typeface="Cambria Math"/>
                                  <a:ea typeface="Meiryo"/>
                                </a:rPr>
                                <m:t>N</m:t>
                              </m:r>
                            </m:e>
                            <m:sub>
                              <m:argPr>
                                <m:argSz m:val="0"/>
                              </m:argPr>
                              <m:r>
                                <a:rPr sz="2700" b="0" lang="en-US">
                                  <a:solidFill>
                                    <a:srgbClr val="153D50"/>
                                  </a:solidFill>
                                  <a:latin typeface="Cambria Math"/>
                                  <a:ea typeface="Meiryo"/>
                                </a:rPr>
                                <m:t>A</m:t>
                              </m:r>
                            </m:sub>
                          </m:sSub>
                          <m:r>
                            <a:rPr sz="2700" b="0" lang="en-US">
                              <a:solidFill>
                                <a:srgbClr val="153D50"/>
                              </a:solidFill>
                              <a:latin typeface="Cambria Math"/>
                              <a:ea typeface="Meiryo"/>
                            </a:rPr>
                            <m:t>&amp;</m:t>
                          </m:r>
                          <m:r>
                            <a:rPr sz="2700" b="0" lang="en-US">
                              <a:solidFill>
                                <a:srgbClr val="153D50"/>
                              </a:solidFill>
                              <a:latin typeface="Cambria Math"/>
                              <a:ea typeface="Meiryo"/>
                            </a:rPr>
                            <m:t>=71.09−30.00=41.09</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e>
                        <m:e>
                          <m:sSub>
                            <m:e>
                              <m:argPr>
                                <m:argSz m:val="0"/>
                              </m:argPr>
                              <m:r>
                                <a:rPr sz="2700" b="0" lang="en-US">
                                  <a:solidFill>
                                    <a:srgbClr val="153D50"/>
                                  </a:solidFill>
                                  <a:latin typeface="Cambria Math"/>
                                  <a:ea typeface="Meiryo"/>
                                </a:rPr>
                                <m:t>N</m:t>
                              </m:r>
                            </m:e>
                            <m:sub>
                              <m:argPr>
                                <m:argSz m:val="0"/>
                              </m:argPr>
                              <m:r>
                                <a:rPr sz="2700" b="0" lang="en-US">
                                  <a:solidFill>
                                    <a:srgbClr val="153D50"/>
                                  </a:solidFill>
                                  <a:latin typeface="Cambria Math"/>
                                  <a:ea typeface="Meiryo"/>
                                </a:rPr>
                                <m:t>B</m:t>
                              </m:r>
                            </m:sub>
                          </m:sSub>
                          <m:r>
                            <a:rPr sz="2700" b="0" lang="en-US">
                              <a:solidFill>
                                <a:srgbClr val="153D50"/>
                              </a:solidFill>
                              <a:latin typeface="Cambria Math"/>
                              <a:ea typeface="Meiryo"/>
                            </a:rPr>
                            <m:t>&amp;</m:t>
                          </m:r>
                          <m:r>
                            <a:rPr sz="2700" b="0" lang="en-US">
                              <a:solidFill>
                                <a:srgbClr val="153D50"/>
                              </a:solidFill>
                              <a:latin typeface="Cambria Math"/>
                              <a:ea typeface="Meiryo"/>
                            </a:rPr>
                            <m:t>=41.09−0.02×6=40.97</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e>
                        <m:e>
                          <m:sSub>
                            <m:e>
                              <m:argPr>
                                <m:argSz m:val="0"/>
                              </m:argPr>
                              <m:r>
                                <a:rPr sz="2700" b="0" lang="en-US">
                                  <a:solidFill>
                                    <a:srgbClr val="153D50"/>
                                  </a:solidFill>
                                  <a:latin typeface="Cambria Math"/>
                                  <a:ea typeface="Meiryo"/>
                                </a:rPr>
                                <m:t>H</m:t>
                              </m:r>
                            </m:e>
                            <m:sub>
                              <m:argPr>
                                <m:argSz m:val="0"/>
                              </m:argPr>
                              <m:r>
                                <a:rPr sz="2700" b="0" lang="en-US">
                                  <a:solidFill>
                                    <a:srgbClr val="153D50"/>
                                  </a:solidFill>
                                  <a:latin typeface="Cambria Math"/>
                                  <a:ea typeface="Meiryo"/>
                                </a:rPr>
                                <m:t>B</m:t>
                              </m:r>
                            </m:sub>
                          </m:sSub>
                          <m:r>
                            <a:rPr sz="2700" b="0" lang="en-US">
                              <a:solidFill>
                                <a:srgbClr val="153D50"/>
                              </a:solidFill>
                              <a:latin typeface="Cambria Math"/>
                              <a:ea typeface="Meiryo"/>
                            </a:rPr>
                            <m:t>&amp;</m:t>
                          </m:r>
                          <m:r>
                            <a:rPr sz="2700" b="0" lang="en-US">
                              <a:solidFill>
                                <a:srgbClr val="153D50"/>
                              </a:solidFill>
                              <a:latin typeface="Cambria Math"/>
                              <a:ea typeface="Meiryo"/>
                            </a:rPr>
                            <m:t>=66.50−40.97=25.53</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e>
                      </m:eqArr>
                    </m:oMath>
                  </m:oMathPara>
                </a14:m>
              </a:p>
            </p:txBody>
          </p:sp>
        </mc:Choice>
        <mc:Fallback>
          <p:sp>
            <p:nvSpPr>
              <p:cNvPr id="7" name="EQM00053">
                <a:extLst xmlns:a="http://schemas.openxmlformats.org/drawingml/2006/main">
                  <a:ext uri="{FF2B5EF4-FFF2-40B4-BE49-F238E27FC236}">
                    <a16:creationId xmlns:a16="http://schemas.microsoft.com/office/drawing/2014/main" id="{902ADC76-1B2E-424B-BB9D-BB893638CFA5}"/>
                  </a:ext>
                </a:extLst>
              </p:cNvPr>
              <p:cNvSpPr>
                <a:spLocks xmlns:a="http://schemas.openxmlformats.org/drawingml/2006/main" noGrp="1"/>
              </p:cNvSpPr>
              <p:nvPr/>
            </p:nvSpPr>
            <p:spPr>
              <a:xfrm xmlns:a="http://schemas.openxmlformats.org/drawingml/2006/main">
                <a:off x="647700" y="3257550"/>
                <a:ext cx="108966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\begin{aligned}
N_A&amp;=71.09-30.00=41.09\ \mathrm{m}\\
N_B&amp;=41.09-0.02\times6=40.97\ \mathrm{m}\\
H_B&amp;=66.50-40.97=25.53\ \mathrm{m}
\end{aligned}</a:t>
                </a:r>
              </a:p>
            </p:txBody>
          </p:sp>
        </mc:Fallback>
      </mc:AlternateContent>
    </p:spTree>
    <p:extLst>
      <p:ext uri="{BB962C8B-B14F-4D97-AF65-F5344CB8AC3E}">
        <p14:creationId xmlns:p14="http://schemas.microsoft.com/office/powerpoint/2010/main" val="1336618156"/>
      </p:ext>
    </p:extLst>
  </p:cSld>
</p:sld>
</file>

<file path=ppt/slides/slide30.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99115D6F-31B1-4B30-8F2F-3DDF014532DA}"/>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3-2</a:t>
            </a:r>
          </a:p>
        </p:txBody>
      </p:sp>
      <p:sp>
        <p:nvSpPr>
          <p:cNvPr id="2" name="本文1">
            <a:extLst xmlns:a="http://schemas.openxmlformats.org/drawingml/2006/main">
              <a:ext uri="{FF2B5EF4-FFF2-40B4-BE49-F238E27FC236}">
                <a16:creationId xmlns:a16="http://schemas.microsoft.com/office/drawing/2014/main" id="{50F08D72-B0C3-49BA-9E94-6CCEB90DCE34}"/>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水路の勾配は、標高で判断する</a:t>
            </a:r>
          </a:p>
        </p:txBody>
      </p:sp>
      <p:sp>
        <p:nvSpPr>
          <p:cNvPr id="3" name="本文2">
            <a:extLst xmlns:a="http://schemas.openxmlformats.org/drawingml/2006/main">
              <a:ext uri="{FF2B5EF4-FFF2-40B4-BE49-F238E27FC236}">
                <a16:creationId xmlns:a16="http://schemas.microsoft.com/office/drawing/2014/main" id="{2A5C4AC3-523B-484F-8C99-6118CC73D0B6}"/>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30</a:t>
            </a:r>
          </a:p>
        </p:txBody>
      </p:sp>
      <p:sp>
        <p:nvSpPr>
          <p:cNvPr id="4" name="本文3">
            <a:extLst xmlns:a="http://schemas.openxmlformats.org/drawingml/2006/main">
              <a:ext uri="{FF2B5EF4-FFF2-40B4-BE49-F238E27FC236}">
                <a16:creationId xmlns:a16="http://schemas.microsoft.com/office/drawing/2014/main" id="{1A7B1916-940C-4280-A80C-8F00EF81015E}"/>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楕円体高ではAが高いが、</a:t>
            </a:r>
            <a:r>
              <a:rPr sz="1950" b="1">
                <a:solidFill>
                  <a:srgbClr val="137D78"/>
                </a:solidFill>
                <a:latin typeface="Meiryo"/>
                <a:ea typeface="Meiryo"/>
                <a:cs typeface="Meiryo"/>
              </a:rPr>
              <a:t>標高ではBが高い</a:t>
            </a:r>
            <a:r>
              <a:rPr sz="1950" b="0">
                <a:solidFill>
                  <a:srgbClr val="213C4B"/>
                </a:solidFill>
                <a:latin typeface="Meiryo"/>
                <a:ea typeface="Meiryo"/>
                <a:cs typeface="Meiryo"/>
              </a:rPr>
              <a:t>。</a:t>
            </a:r>
          </a:p>
        </p:txBody>
      </p:sp>
      <p:sp>
        <p:nvSpPr>
          <p:cNvPr id="5" name="本文4">
            <a:extLst xmlns:a="http://schemas.openxmlformats.org/drawingml/2006/main">
              <a:ext uri="{FF2B5EF4-FFF2-40B4-BE49-F238E27FC236}">
                <a16:creationId xmlns:a16="http://schemas.microsoft.com/office/drawing/2014/main" id="{BAAA70ED-516F-42A2-BFB9-8B709ADDB652}"/>
              </a:ext>
            </a:extLst>
          </p:cNvPr>
          <p:cNvSpPr>
            <a:spLocks xmlns:a="http://schemas.openxmlformats.org/drawingml/2006/main" noGrp="1"/>
          </p:cNvSpPr>
          <p:nvPr/>
        </p:nvSpPr>
        <p:spPr>
          <a:xfrm xmlns:a="http://schemas.openxmlformats.org/drawingml/2006/main">
            <a:off x="647700" y="20097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この例では、水は </a:t>
            </a:r>
            <a:r>
              <a:rPr sz="1950" b="1">
                <a:solidFill>
                  <a:srgbClr val="137D78"/>
                </a:solidFill>
                <a:latin typeface="Meiryo"/>
                <a:ea typeface="Meiryo"/>
                <a:cs typeface="Meiryo"/>
              </a:rPr>
              <a:t>BからA</a:t>
            </a:r>
            <a:r>
              <a:rPr sz="1950" b="0">
                <a:solidFill>
                  <a:srgbClr val="213C4B"/>
                </a:solidFill>
                <a:latin typeface="Meiryo"/>
                <a:ea typeface="Meiryo"/>
                <a:cs typeface="Meiryo"/>
              </a:rPr>
              <a:t> へ流れる。</a:t>
            </a:r>
          </a:p>
        </p:txBody>
      </p:sp>
      <p:sp>
        <p:nvSpPr>
          <p:cNvPr id="6" name="本文5">
            <a:extLst xmlns:a="http://schemas.openxmlformats.org/drawingml/2006/main">
              <a:ext uri="{FF2B5EF4-FFF2-40B4-BE49-F238E27FC236}">
                <a16:creationId xmlns:a16="http://schemas.microsoft.com/office/drawing/2014/main" id="{38E962EC-0D5E-47B4-BFFA-46991E248AA7}"/>
              </a:ext>
            </a:extLst>
          </p:cNvPr>
          <p:cNvSpPr>
            <a:spLocks xmlns:a="http://schemas.openxmlformats.org/drawingml/2006/main" noGrp="1"/>
          </p:cNvSpPr>
          <p:nvPr/>
        </p:nvSpPr>
        <p:spPr>
          <a:xfrm xmlns:a="http://schemas.openxmlformats.org/drawingml/2006/main">
            <a:off x="647700" y="255270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ジオイドは水が静止する基準面。流れは水面の勾配で考える。</a:t>
            </a:r>
          </a:p>
        </p:txBody>
      </p:sp>
      <p:pic>
        <p:nvPicPr>
          <p:cNvPr id="7" name="">
            <a:extLst xmlns:a="http://schemas.openxmlformats.org/drawingml/2006/main">
              <a:ext uri="{FF2B5EF4-FFF2-40B4-BE49-F238E27FC236}">
                <a16:creationId xmlns:a16="http://schemas.microsoft.com/office/drawing/2014/main" id="{AEFD3E30-B37F-45DD-826F-D9AE20B48892}"/>
              </a:ext>
            </a:extLst>
          </p:cNvPr>
          <p:cNvPicPr>
            <a:picLocks xmlns:a="http://schemas.openxmlformats.org/drawingml/2006/main" noChangeAspect="1"/>
          </p:cNvPicPr>
          <p:nvPr/>
        </p:nvPicPr>
        <p:blipFill>
          <a:blip xmlns:r="http://schemas.openxmlformats.org/officeDocument/2006/relationships" xmlns:a="http://schemas.openxmlformats.org/drawingml/2006/main" r:embed="R232d80f81a894175"/>
          <a:stretch xmlns:a="http://schemas.openxmlformats.org/drawingml/2006/main"/>
        </p:blipFill>
        <p:spPr>
          <a:xfrm xmlns:a="http://schemas.openxmlformats.org/drawingml/2006/main">
            <a:off x="666750" y="3143250"/>
            <a:ext cx="10858500" cy="3076575"/>
          </a:xfrm>
          <a:prstGeom xmlns:a="http://schemas.openxmlformats.org/drawingml/2006/main" prst="rect">
            <a:avLst/>
          </a:prstGeom>
        </p:spPr>
      </p:pic>
    </p:spTree>
    <p:extLst>
      <p:ext uri="{BB962C8B-B14F-4D97-AF65-F5344CB8AC3E}">
        <p14:creationId xmlns:p14="http://schemas.microsoft.com/office/powerpoint/2010/main" val="1471872716"/>
      </p:ext>
    </p:extLst>
  </p:cSld>
</p:sld>
</file>

<file path=ppt/slides/slide31.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6AE291E1-7B66-40EF-A76C-63F6ABA0F00C}"/>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3-2</a:t>
            </a:r>
          </a:p>
        </p:txBody>
      </p:sp>
      <p:sp>
        <p:nvSpPr>
          <p:cNvPr id="2" name="本文1">
            <a:extLst xmlns:a="http://schemas.openxmlformats.org/drawingml/2006/main">
              <a:ext uri="{FF2B5EF4-FFF2-40B4-BE49-F238E27FC236}">
                <a16:creationId xmlns:a16="http://schemas.microsoft.com/office/drawing/2014/main" id="{A0072660-55C3-4715-B874-E15CFC047D57}"/>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確認①：高さの基準</a:t>
            </a:r>
          </a:p>
        </p:txBody>
      </p:sp>
      <p:sp>
        <p:nvSpPr>
          <p:cNvPr id="3" name="本文2">
            <a:extLst xmlns:a="http://schemas.openxmlformats.org/drawingml/2006/main">
              <a:ext uri="{FF2B5EF4-FFF2-40B4-BE49-F238E27FC236}">
                <a16:creationId xmlns:a16="http://schemas.microsoft.com/office/drawing/2014/main" id="{FA339A06-BE9A-46AC-9FD3-4933B80BF1D4}"/>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31</a:t>
            </a:r>
          </a:p>
        </p:txBody>
      </p:sp>
      <p:sp>
        <p:nvSpPr>
          <p:cNvPr id="4" name="本文3">
            <a:extLst xmlns:a="http://schemas.openxmlformats.org/drawingml/2006/main">
              <a:ext uri="{FF2B5EF4-FFF2-40B4-BE49-F238E27FC236}">
                <a16:creationId xmlns:a16="http://schemas.microsoft.com/office/drawing/2014/main" id="{99D52C57-F51C-4DDE-91C3-D47E1FE0FA74}"/>
              </a:ext>
            </a:extLst>
          </p:cNvPr>
          <p:cNvSpPr>
            <a:spLocks xmlns:a="http://schemas.openxmlformats.org/drawingml/2006/main" noGrp="1"/>
          </p:cNvSpPr>
          <p:nvPr/>
        </p:nvSpPr>
        <p:spPr>
          <a:xfrm xmlns:a="http://schemas.openxmlformats.org/drawingml/2006/main">
            <a:off x="647700" y="14668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1. ジオイドを、高校生に1文で説明すると？</a:t>
            </a:r>
          </a:p>
        </p:txBody>
      </p:sp>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5E08E229-14FA-4D93-B4E6-903836AB8AEB}"/>
                  </a:ext>
                </a:extLst>
              </p:cNvPr>
              <p:cNvSpPr>
                <a:spLocks xmlns:a="http://schemas.openxmlformats.org/drawingml/2006/main" noGrp="1"/>
              </p:cNvSpPr>
              <p:nvPr/>
            </p:nvSpPr>
            <p:spPr>
              <a:xfrm xmlns:a="http://schemas.openxmlformats.org/drawingml/2006/main">
                <a:off x="647700" y="21145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2. </a:t>
                </a:r>
                <a14:m xmlns:m="http://schemas.openxmlformats.org/officeDocument/2006/math">
                  <m:oMath xmlns:mml="http://www.w3.org/1998/Math/MathML">
                    <m:r>
                      <a:rPr sz="2100" b="0" lang="en-US">
                        <a:solidFill>
                          <a:srgbClr val="213C4B"/>
                        </a:solidFill>
                        <a:latin typeface="Cambria Math"/>
                        <a:ea typeface="Meiryo"/>
                      </a:rPr>
                      <m:t>h=50.0</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r>
                  <a:rPr sz="2100" b="0">
                    <a:solidFill>
                      <a:srgbClr val="213C4B"/>
                    </a:solidFill>
                    <a:latin typeface="Meiryo"/>
                    <a:ea typeface="Meiryo"/>
                    <a:cs typeface="Meiryo"/>
                  </a:rPr>
                  <a:t>、</a:t>
                </a:r>
                <a14:m xmlns:m="http://schemas.openxmlformats.org/officeDocument/2006/math">
                  <m:oMath xmlns:mml="http://www.w3.org/1998/Math/MathML">
                    <m:r>
                      <a:rPr sz="2100" b="0" lang="en-US">
                        <a:solidFill>
                          <a:srgbClr val="213C4B"/>
                        </a:solidFill>
                        <a:latin typeface="Cambria Math"/>
                        <a:ea typeface="Meiryo"/>
                      </a:rPr>
                      <m:t>N=35.0</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r>
                  <a:rPr sz="2100" b="0">
                    <a:solidFill>
                      <a:srgbClr val="213C4B"/>
                    </a:solidFill>
                    <a:latin typeface="Meiryo"/>
                    <a:ea typeface="Meiryo"/>
                    <a:cs typeface="Meiryo"/>
                  </a:rPr>
                  <a:t> の点の標高は？</a:t>
                </a:r>
              </a:p>
            </p:txBody>
          </p:sp>
        </mc:Choice>
        <mc:Fallback>
          <p:sp>
            <p:nvSpPr>
              <p:cNvPr id="5" name="本文4">
                <a:extLst xmlns:a="http://schemas.openxmlformats.org/drawingml/2006/main">
                  <a:ext uri="{FF2B5EF4-FFF2-40B4-BE49-F238E27FC236}">
                    <a16:creationId xmlns:a16="http://schemas.microsoft.com/office/drawing/2014/main" id="{5E08E229-14FA-4D93-B4E6-903836AB8AEB}"/>
                  </a:ext>
                </a:extLst>
              </p:cNvPr>
              <p:cNvSpPr>
                <a:spLocks xmlns:a="http://schemas.openxmlformats.org/drawingml/2006/main" noGrp="1"/>
              </p:cNvSpPr>
              <p:nvPr/>
            </p:nvSpPr>
            <p:spPr>
              <a:xfrm xmlns:a="http://schemas.openxmlformats.org/drawingml/2006/main">
                <a:off x="647700" y="21145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2. </a:t>
                </a:r>
                <a:r>
                  <a:rPr sz="2100" b="0">
                    <a:solidFill>
                      <a:srgbClr val="213C4B"/>
                    </a:solidFill>
                    <a:latin typeface="Cambria Math"/>
                    <a:ea typeface="Cambria Math"/>
                    <a:cs typeface="Cambria Math"/>
                  </a:rPr>
                  <a:t>h=50.0\ \mathrm{m}</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N=35.0\ \mathrm{m}</a:t>
                </a:r>
                <a:r>
                  <a:rPr sz="2100" b="0">
                    <a:solidFill>
                      <a:srgbClr val="213C4B"/>
                    </a:solidFill>
                    <a:latin typeface="Meiryo"/>
                    <a:ea typeface="Meiryo"/>
                    <a:cs typeface="Meiryo"/>
                  </a:rPr>
                  <a:t> の点の標高は？</a:t>
                </a:r>
              </a:p>
            </p:txBody>
          </p:sp>
        </mc:Fallback>
      </mc:AlternateContent>
      <p:sp>
        <p:nvSpPr>
          <p:cNvPr id="6" name="本文5">
            <a:extLst xmlns:a="http://schemas.openxmlformats.org/drawingml/2006/main">
              <a:ext uri="{FF2B5EF4-FFF2-40B4-BE49-F238E27FC236}">
                <a16:creationId xmlns:a16="http://schemas.microsoft.com/office/drawing/2014/main" id="{0CF4BA11-BB88-4208-99B4-B2E86C3344A1}"/>
              </a:ext>
            </a:extLst>
          </p:cNvPr>
          <p:cNvSpPr>
            <a:spLocks xmlns:a="http://schemas.openxmlformats.org/drawingml/2006/main" noGrp="1"/>
          </p:cNvSpPr>
          <p:nvPr/>
        </p:nvSpPr>
        <p:spPr>
          <a:xfrm xmlns:a="http://schemas.openxmlformats.org/drawingml/2006/main">
            <a:off x="647700" y="27622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3. 次の文のうち、誤りをすべて選ぶ。</a:t>
            </a:r>
          </a:p>
        </p:txBody>
      </p:sp>
      <p:graphicFrame>
        <p:nvGraphicFramePr>
          <p:cNvPr id="7" name="">
            <a:extLst xmlns:a="http://schemas.openxmlformats.org/drawingml/2006/main">
              <a:ext uri="{FF2B5EF4-FFF2-40B4-BE49-F238E27FC236}">
                <a16:creationId xmlns:a16="http://schemas.microsoft.com/office/drawing/2014/main" id="{EC3D3804-CC39-4BA8-8B6F-035C67CE4125}"/>
              </a:ext>
            </a:extLst>
          </p:cNvPr>
          <p:cNvGraphicFramePr/>
          <p:nvPr/>
        </p:nvGraphicFramePr>
        <p:xfrm>
          <a:off xmlns:a="http://schemas.openxmlformats.org/drawingml/2006/main" x="647700" y="3409950"/>
          <a:ext xmlns:a="http://schemas.openxmlformats.org/drawingml/2006/main" cx="10896600" cy="238506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文</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内容</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①</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ジオイド高は、楕円体から地表までの高さ</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②</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ジオイドは、地表に平行な面</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③</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GNSSで直接求まる高さは、楕円体高</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p:spTree>
    <p:extLst>
      <p:ext uri="{BB962C8B-B14F-4D97-AF65-F5344CB8AC3E}">
        <p14:creationId xmlns:p14="http://schemas.microsoft.com/office/powerpoint/2010/main" val="151750178"/>
      </p:ext>
    </p:extLst>
  </p:cSld>
</p:sld>
</file>

<file path=ppt/slides/slide32.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06487F2D-9C52-4B56-B54E-2760EEAE9194}"/>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3-3</a:t>
            </a:r>
          </a:p>
        </p:txBody>
      </p:sp>
      <p:sp>
        <p:nvSpPr>
          <p:cNvPr id="2" name="本文1">
            <a:extLst xmlns:a="http://schemas.openxmlformats.org/drawingml/2006/main">
              <a:ext uri="{FF2B5EF4-FFF2-40B4-BE49-F238E27FC236}">
                <a16:creationId xmlns:a16="http://schemas.microsoft.com/office/drawing/2014/main" id="{1E8A4B5C-3E77-408C-A995-AF2F2423C9C1}"/>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測地系：楕円体の形と置き方</a:t>
            </a:r>
          </a:p>
        </p:txBody>
      </p:sp>
      <p:sp>
        <p:nvSpPr>
          <p:cNvPr id="3" name="本文2">
            <a:extLst xmlns:a="http://schemas.openxmlformats.org/drawingml/2006/main">
              <a:ext uri="{FF2B5EF4-FFF2-40B4-BE49-F238E27FC236}">
                <a16:creationId xmlns:a16="http://schemas.microsoft.com/office/drawing/2014/main" id="{589B7A6A-9217-4173-AC44-8B7D992D621E}"/>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32</a:t>
            </a:r>
          </a:p>
        </p:txBody>
      </p:sp>
      <p:sp>
        <p:nvSpPr>
          <p:cNvPr id="4" name="本文3">
            <a:extLst xmlns:a="http://schemas.openxmlformats.org/drawingml/2006/main">
              <a:ext uri="{FF2B5EF4-FFF2-40B4-BE49-F238E27FC236}">
                <a16:creationId xmlns:a16="http://schemas.microsoft.com/office/drawing/2014/main" id="{E3ECDF42-ADCB-4D22-81CC-7B9509331848}"/>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緯度・経度には、</a:t>
            </a:r>
            <a:r>
              <a:rPr sz="1950" b="1">
                <a:solidFill>
                  <a:srgbClr val="137D78"/>
                </a:solidFill>
                <a:latin typeface="Meiryo"/>
                <a:ea typeface="Meiryo"/>
                <a:cs typeface="Meiryo"/>
              </a:rPr>
              <a:t>どの楕円体を、どこに置くか</a:t>
            </a:r>
            <a:r>
              <a:rPr sz="1950" b="0">
                <a:solidFill>
                  <a:srgbClr val="213C4B"/>
                </a:solidFill>
                <a:latin typeface="Meiryo"/>
                <a:ea typeface="Meiryo"/>
                <a:cs typeface="Meiryo"/>
              </a:rPr>
              <a:t>が必要。</a:t>
            </a:r>
          </a:p>
        </p:txBody>
      </p:sp>
      <p:sp>
        <p:nvSpPr>
          <p:cNvPr id="5" name="本文4">
            <a:extLst xmlns:a="http://schemas.openxmlformats.org/drawingml/2006/main">
              <a:ext uri="{FF2B5EF4-FFF2-40B4-BE49-F238E27FC236}">
                <a16:creationId xmlns:a16="http://schemas.microsoft.com/office/drawing/2014/main" id="{B29236BA-EB96-4DA5-AEEF-883A519BF3B8}"/>
              </a:ext>
            </a:extLst>
          </p:cNvPr>
          <p:cNvSpPr>
            <a:spLocks xmlns:a="http://schemas.openxmlformats.org/drawingml/2006/main" noGrp="1"/>
          </p:cNvSpPr>
          <p:nvPr/>
        </p:nvSpPr>
        <p:spPr>
          <a:xfrm xmlns:a="http://schemas.openxmlformats.org/drawingml/2006/main">
            <a:off x="647700" y="20097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旧日本測地系と世界測地系では、同じ点の数値が異なる。</a:t>
            </a:r>
          </a:p>
        </p:txBody>
      </p:sp>
      <p:sp>
        <p:nvSpPr>
          <p:cNvPr id="6" name="本文5">
            <a:extLst xmlns:a="http://schemas.openxmlformats.org/drawingml/2006/main">
              <a:ext uri="{FF2B5EF4-FFF2-40B4-BE49-F238E27FC236}">
                <a16:creationId xmlns:a16="http://schemas.microsoft.com/office/drawing/2014/main" id="{5ADA53DE-ABD1-4804-B3DB-37B58FDA462D}"/>
              </a:ext>
            </a:extLst>
          </p:cNvPr>
          <p:cNvSpPr>
            <a:spLocks xmlns:a="http://schemas.openxmlformats.org/drawingml/2006/main" noGrp="1"/>
          </p:cNvSpPr>
          <p:nvPr/>
        </p:nvSpPr>
        <p:spPr>
          <a:xfrm xmlns:a="http://schemas.openxmlformats.org/drawingml/2006/main">
            <a:off x="647700" y="255270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東京付近の差は位置にして約450 m。古い成果と混用しない。</a:t>
            </a:r>
          </a:p>
        </p:txBody>
      </p:sp>
      <p:pic>
        <p:nvPicPr>
          <p:cNvPr id="7" name="">
            <a:extLst xmlns:a="http://schemas.openxmlformats.org/drawingml/2006/main">
              <a:ext uri="{FF2B5EF4-FFF2-40B4-BE49-F238E27FC236}">
                <a16:creationId xmlns:a16="http://schemas.microsoft.com/office/drawing/2014/main" id="{779A07C1-A1D7-4633-9F2D-D8FD36F8FAF5}"/>
              </a:ext>
            </a:extLst>
          </p:cNvPr>
          <p:cNvPicPr>
            <a:picLocks xmlns:a="http://schemas.openxmlformats.org/drawingml/2006/main" noChangeAspect="1"/>
          </p:cNvPicPr>
          <p:nvPr/>
        </p:nvPicPr>
        <p:blipFill>
          <a:blip xmlns:r="http://schemas.openxmlformats.org/officeDocument/2006/relationships" xmlns:a="http://schemas.openxmlformats.org/drawingml/2006/main" r:embed="R64d94c631e574cdc"/>
          <a:stretch xmlns:a="http://schemas.openxmlformats.org/drawingml/2006/main"/>
        </p:blipFill>
        <p:spPr>
          <a:xfrm xmlns:a="http://schemas.openxmlformats.org/drawingml/2006/main">
            <a:off x="666750" y="3143250"/>
            <a:ext cx="10858500" cy="3076575"/>
          </a:xfrm>
          <a:prstGeom xmlns:a="http://schemas.openxmlformats.org/drawingml/2006/main" prst="rect">
            <a:avLst/>
          </a:prstGeom>
        </p:spPr>
      </p:pic>
    </p:spTree>
    <p:extLst>
      <p:ext uri="{BB962C8B-B14F-4D97-AF65-F5344CB8AC3E}">
        <p14:creationId xmlns:p14="http://schemas.microsoft.com/office/powerpoint/2010/main" val="234970785"/>
      </p:ext>
    </p:extLst>
  </p:cSld>
</p:sld>
</file>

<file path=ppt/slides/slide33.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92A88C79-D502-49F7-831B-9274C1191DAA}"/>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3-3</a:t>
            </a:r>
          </a:p>
        </p:txBody>
      </p:sp>
      <p:sp>
        <p:nvSpPr>
          <p:cNvPr id="2" name="本文1">
            <a:extLst xmlns:a="http://schemas.openxmlformats.org/drawingml/2006/main">
              <a:ext uri="{FF2B5EF4-FFF2-40B4-BE49-F238E27FC236}">
                <a16:creationId xmlns:a16="http://schemas.microsoft.com/office/drawing/2014/main" id="{1C74C116-4DC4-4191-BA6C-D4E9AA7D468B}"/>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WGS84・ITRF・日本測地系</a:t>
            </a:r>
          </a:p>
        </p:txBody>
      </p:sp>
      <p:sp>
        <p:nvSpPr>
          <p:cNvPr id="3" name="本文2">
            <a:extLst xmlns:a="http://schemas.openxmlformats.org/drawingml/2006/main">
              <a:ext uri="{FF2B5EF4-FFF2-40B4-BE49-F238E27FC236}">
                <a16:creationId xmlns:a16="http://schemas.microsoft.com/office/drawing/2014/main" id="{9F556A69-BF4C-43F8-BE47-D394ADF4AAC7}"/>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33</a:t>
            </a:r>
          </a:p>
        </p:txBody>
      </p:sp>
      <p:sp>
        <p:nvSpPr>
          <p:cNvPr id="4" name="本文3">
            <a:extLst xmlns:a="http://schemas.openxmlformats.org/drawingml/2006/main">
              <a:ext uri="{FF2B5EF4-FFF2-40B4-BE49-F238E27FC236}">
                <a16:creationId xmlns:a16="http://schemas.microsoft.com/office/drawing/2014/main" id="{13F850BB-B6DE-4AA4-81C6-8886FD4DE0FD}"/>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「世界測地系だから、いつでも同じ座標」とは限らない。</a:t>
            </a:r>
          </a:p>
        </p:txBody>
      </p:sp>
      <p:graphicFrame>
        <p:nvGraphicFramePr>
          <p:cNvPr id="5" name="">
            <a:extLst xmlns:a="http://schemas.openxmlformats.org/drawingml/2006/main">
              <a:ext uri="{FF2B5EF4-FFF2-40B4-BE49-F238E27FC236}">
                <a16:creationId xmlns:a16="http://schemas.microsoft.com/office/drawing/2014/main" id="{262A89E4-238F-42D1-A189-CED13A1DFA3E}"/>
              </a:ext>
            </a:extLst>
          </p:cNvPr>
          <p:cNvGraphicFramePr/>
          <p:nvPr/>
        </p:nvGraphicFramePr>
        <p:xfrm>
          <a:off xmlns:a="http://schemas.openxmlformats.org/drawingml/2006/main" x="647700" y="1710055"/>
          <a:ext xmlns:a="http://schemas.openxmlformats.org/drawingml/2006/main" cx="10896600" cy="238506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名称</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役割</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WGS84</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GPSの基準。スマートフォンなどでも利用</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ITRF</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世界の観測網から実現する地球基準座標系</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JGD2024（従来JGD2011）</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日本の測量成果を管理する基準</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p:sp>
        <p:nvSpPr>
          <p:cNvPr id="6" name="本文4">
            <a:extLst xmlns:a="http://schemas.openxmlformats.org/drawingml/2006/main">
              <a:ext uri="{FF2B5EF4-FFF2-40B4-BE49-F238E27FC236}">
                <a16:creationId xmlns:a16="http://schemas.microsoft.com/office/drawing/2014/main" id="{02E1AAAD-69BA-455A-9103-4FF6D2CBC5BF}"/>
              </a:ext>
            </a:extLst>
          </p:cNvPr>
          <p:cNvSpPr>
            <a:spLocks xmlns:a="http://schemas.openxmlformats.org/drawingml/2006/main" noGrp="1"/>
          </p:cNvSpPr>
          <p:nvPr/>
        </p:nvSpPr>
        <p:spPr>
          <a:xfrm xmlns:a="http://schemas.openxmlformats.org/drawingml/2006/main">
            <a:off x="647700" y="426656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いずれも地球重心を基準とするが、</a:t>
            </a:r>
            <a:r>
              <a:rPr sz="2100" b="1">
                <a:solidFill>
                  <a:srgbClr val="137D78"/>
                </a:solidFill>
                <a:latin typeface="Meiryo"/>
                <a:ea typeface="Meiryo"/>
                <a:cs typeface="Meiryo"/>
              </a:rPr>
              <a:t>実現方法・版・基準時点</a:t>
            </a:r>
            <a:r>
              <a:rPr sz="2100" b="0">
                <a:solidFill>
                  <a:srgbClr val="213C4B"/>
                </a:solidFill>
                <a:latin typeface="Meiryo"/>
                <a:ea typeface="Meiryo"/>
                <a:cs typeface="Meiryo"/>
              </a:rPr>
              <a:t>が異なる。</a:t>
            </a:r>
          </a:p>
        </p:txBody>
      </p:sp>
      <p:sp>
        <p:nvSpPr>
          <p:cNvPr id="7" name="本文5">
            <a:extLst xmlns:a="http://schemas.openxmlformats.org/drawingml/2006/main">
              <a:ext uri="{FF2B5EF4-FFF2-40B4-BE49-F238E27FC236}">
                <a16:creationId xmlns:a16="http://schemas.microsoft.com/office/drawing/2014/main" id="{579B4605-6E45-4970-A811-6F66BAEFEC15}"/>
              </a:ext>
            </a:extLst>
          </p:cNvPr>
          <p:cNvSpPr>
            <a:spLocks xmlns:a="http://schemas.openxmlformats.org/drawingml/2006/main" noGrp="1"/>
          </p:cNvSpPr>
          <p:nvPr/>
        </p:nvSpPr>
        <p:spPr>
          <a:xfrm xmlns:a="http://schemas.openxmlformats.org/drawingml/2006/main">
            <a:off x="647700" y="491426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精密な測量では、地殻変動や元期の違いを補正して比較する。</a:t>
            </a:r>
          </a:p>
        </p:txBody>
      </p:sp>
    </p:spTree>
    <p:extLst>
      <p:ext uri="{BB962C8B-B14F-4D97-AF65-F5344CB8AC3E}">
        <p14:creationId xmlns:p14="http://schemas.microsoft.com/office/powerpoint/2010/main" val="2097758451"/>
      </p:ext>
    </p:extLst>
  </p:cSld>
</p:sld>
</file>

<file path=ppt/slides/slide34.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EFCCDDA4-8213-4014-B0AD-74793D13EDC5}"/>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3-3</a:t>
            </a:r>
          </a:p>
        </p:txBody>
      </p:sp>
      <p:sp>
        <p:nvSpPr>
          <p:cNvPr id="2" name="本文1">
            <a:extLst xmlns:a="http://schemas.openxmlformats.org/drawingml/2006/main">
              <a:ext uri="{FF2B5EF4-FFF2-40B4-BE49-F238E27FC236}">
                <a16:creationId xmlns:a16="http://schemas.microsoft.com/office/drawing/2014/main" id="{8AD2B43F-9402-4651-8E72-DA578D3FFD96}"/>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緯度・経度・楕円体高</a:t>
            </a:r>
          </a:p>
        </p:txBody>
      </p:sp>
      <p:sp>
        <p:nvSpPr>
          <p:cNvPr id="3" name="本文2">
            <a:extLst xmlns:a="http://schemas.openxmlformats.org/drawingml/2006/main">
              <a:ext uri="{FF2B5EF4-FFF2-40B4-BE49-F238E27FC236}">
                <a16:creationId xmlns:a16="http://schemas.microsoft.com/office/drawing/2014/main" id="{69355139-AD36-49EE-9F13-DC40CB1AFA82}"/>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34</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9B3BAB67-D53C-45C1-896D-720E97237DDE}"/>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緯度 </a:t>
                </a:r>
                <a14:m xmlns:m="http://schemas.openxmlformats.org/officeDocument/2006/math">
                  <m:oMath xmlns:mml="http://www.w3.org/1998/Math/MathML">
                    <m:r>
                      <a:rPr sz="1950" b="0" lang="en-US">
                        <a:solidFill>
                          <a:srgbClr val="213C4B"/>
                        </a:solidFill>
                        <a:latin typeface="Cambria Math"/>
                        <a:ea typeface="Meiryo"/>
                      </a:rPr>
                      <m:t>φ</m:t>
                    </m:r>
                  </m:oMath>
                </a14:m>
                <a:r>
                  <a:rPr sz="1950" b="0">
                    <a:solidFill>
                      <a:srgbClr val="213C4B"/>
                    </a:solidFill>
                    <a:latin typeface="Meiryo"/>
                    <a:ea typeface="Meiryo"/>
                    <a:cs typeface="Meiryo"/>
                  </a:rPr>
                  <a:t>：赤道面と </a:t>
                </a:r>
                <a:r>
                  <a:rPr sz="1950" b="1">
                    <a:solidFill>
                      <a:srgbClr val="137D78"/>
                    </a:solidFill>
                    <a:latin typeface="Meiryo"/>
                    <a:ea typeface="Meiryo"/>
                    <a:cs typeface="Meiryo"/>
                  </a:rPr>
                  <a:t>楕円体の法線</a:t>
                </a:r>
                <a:r>
                  <a:rPr sz="1950" b="0">
                    <a:solidFill>
                      <a:srgbClr val="213C4B"/>
                    </a:solidFill>
                    <a:latin typeface="Meiryo"/>
                    <a:ea typeface="Meiryo"/>
                    <a:cs typeface="Meiryo"/>
                  </a:rPr>
                  <a:t>がなす角。</a:t>
                </a:r>
              </a:p>
            </p:txBody>
          </p:sp>
        </mc:Choice>
        <mc:Fallback>
          <p:sp>
            <p:nvSpPr>
              <p:cNvPr id="4" name="本文3">
                <a:extLst xmlns:a="http://schemas.openxmlformats.org/drawingml/2006/main">
                  <a:ext uri="{FF2B5EF4-FFF2-40B4-BE49-F238E27FC236}">
                    <a16:creationId xmlns:a16="http://schemas.microsoft.com/office/drawing/2014/main" id="{9B3BAB67-D53C-45C1-896D-720E97237DDE}"/>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緯度 </a:t>
                </a:r>
                <a:r>
                  <a:rPr sz="1950" b="0">
                    <a:solidFill>
                      <a:srgbClr val="213C4B"/>
                    </a:solidFill>
                    <a:latin typeface="Cambria Math"/>
                    <a:ea typeface="Cambria Math"/>
                    <a:cs typeface="Cambria Math"/>
                  </a:rPr>
                  <a:t>\varphi</a:t>
                </a:r>
                <a:r>
                  <a:rPr sz="1950" b="0">
                    <a:solidFill>
                      <a:srgbClr val="213C4B"/>
                    </a:solidFill>
                    <a:latin typeface="Meiryo"/>
                    <a:ea typeface="Meiryo"/>
                    <a:cs typeface="Meiryo"/>
                  </a:rPr>
                  <a:t>：赤道面と </a:t>
                </a:r>
                <a:r>
                  <a:rPr sz="1950" b="1">
                    <a:solidFill>
                      <a:srgbClr val="137D78"/>
                    </a:solidFill>
                    <a:latin typeface="Meiryo"/>
                    <a:ea typeface="Meiryo"/>
                    <a:cs typeface="Meiryo"/>
                  </a:rPr>
                  <a:t>楕円体の法線</a:t>
                </a:r>
                <a:r>
                  <a:rPr sz="1950" b="0">
                    <a:solidFill>
                      <a:srgbClr val="213C4B"/>
                    </a:solidFill>
                    <a:latin typeface="Meiryo"/>
                    <a:ea typeface="Meiryo"/>
                    <a:cs typeface="Meiryo"/>
                  </a:rPr>
                  <a:t>がなす角。</a:t>
                </a:r>
              </a:p>
            </p:txBody>
          </p:sp>
        </mc:Fallback>
      </mc:AlternateContent>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75418E62-79C0-4525-A368-4C3605A885F4}"/>
                  </a:ext>
                </a:extLst>
              </p:cNvPr>
              <p:cNvSpPr>
                <a:spLocks xmlns:a="http://schemas.openxmlformats.org/drawingml/2006/main" noGrp="1"/>
              </p:cNvSpPr>
              <p:nvPr/>
            </p:nvSpPr>
            <p:spPr>
              <a:xfrm xmlns:a="http://schemas.openxmlformats.org/drawingml/2006/main">
                <a:off x="647700" y="20097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経度 </a:t>
                </a:r>
                <a14:m xmlns:m="http://schemas.openxmlformats.org/officeDocument/2006/math">
                  <m:oMath xmlns:mml="http://www.w3.org/1998/Math/MathML">
                    <m:r>
                      <a:rPr sz="1950" b="0" lang="en-US">
                        <a:solidFill>
                          <a:srgbClr val="213C4B"/>
                        </a:solidFill>
                        <a:latin typeface="Cambria Math"/>
                        <a:ea typeface="Meiryo"/>
                      </a:rPr>
                      <m:t>λ</m:t>
                    </m:r>
                  </m:oMath>
                </a14:m>
                <a:r>
                  <a:rPr sz="1950" b="0">
                    <a:solidFill>
                      <a:srgbClr val="213C4B"/>
                    </a:solidFill>
                    <a:latin typeface="Meiryo"/>
                    <a:ea typeface="Meiryo"/>
                    <a:cs typeface="Meiryo"/>
                  </a:rPr>
                  <a:t>：本初子午線から東西に測る角。</a:t>
                </a:r>
              </a:p>
            </p:txBody>
          </p:sp>
        </mc:Choice>
        <mc:Fallback>
          <p:sp>
            <p:nvSpPr>
              <p:cNvPr id="5" name="本文4">
                <a:extLst xmlns:a="http://schemas.openxmlformats.org/drawingml/2006/main">
                  <a:ext uri="{FF2B5EF4-FFF2-40B4-BE49-F238E27FC236}">
                    <a16:creationId xmlns:a16="http://schemas.microsoft.com/office/drawing/2014/main" id="{75418E62-79C0-4525-A368-4C3605A885F4}"/>
                  </a:ext>
                </a:extLst>
              </p:cNvPr>
              <p:cNvSpPr>
                <a:spLocks xmlns:a="http://schemas.openxmlformats.org/drawingml/2006/main" noGrp="1"/>
              </p:cNvSpPr>
              <p:nvPr/>
            </p:nvSpPr>
            <p:spPr>
              <a:xfrm xmlns:a="http://schemas.openxmlformats.org/drawingml/2006/main">
                <a:off x="647700" y="20097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経度 </a:t>
                </a:r>
                <a:r>
                  <a:rPr sz="1950" b="0">
                    <a:solidFill>
                      <a:srgbClr val="213C4B"/>
                    </a:solidFill>
                    <a:latin typeface="Cambria Math"/>
                    <a:ea typeface="Cambria Math"/>
                    <a:cs typeface="Cambria Math"/>
                  </a:rPr>
                  <a:t>\lambda</a:t>
                </a:r>
                <a:r>
                  <a:rPr sz="1950" b="0">
                    <a:solidFill>
                      <a:srgbClr val="213C4B"/>
                    </a:solidFill>
                    <a:latin typeface="Meiryo"/>
                    <a:ea typeface="Meiryo"/>
                    <a:cs typeface="Meiryo"/>
                  </a:rPr>
                  <a:t>：本初子午線から東西に測る角。</a:t>
                </a:r>
              </a:p>
            </p:txBody>
          </p:sp>
        </mc:Fallback>
      </mc:AlternateContent>
      <mc:AlternateContent xmlns:mc="http://schemas.openxmlformats.org/markup-compatibility/2006" xmlns:a14="http://schemas.microsoft.com/office/drawing/2010/main">
        <mc:Choice Requires="a14">
          <p:sp>
            <p:nvSpPr>
              <p:cNvPr id="6" name="本文5">
                <a:extLst xmlns:a="http://schemas.openxmlformats.org/drawingml/2006/main">
                  <a:ext uri="{FF2B5EF4-FFF2-40B4-BE49-F238E27FC236}">
                    <a16:creationId xmlns:a16="http://schemas.microsoft.com/office/drawing/2014/main" id="{30C85698-BAC1-461A-8945-87F445BC9BF2}"/>
                  </a:ext>
                </a:extLst>
              </p:cNvPr>
              <p:cNvSpPr>
                <a:spLocks xmlns:a="http://schemas.openxmlformats.org/drawingml/2006/main" noGrp="1"/>
              </p:cNvSpPr>
              <p:nvPr/>
            </p:nvSpPr>
            <p:spPr>
              <a:xfrm xmlns:a="http://schemas.openxmlformats.org/drawingml/2006/main">
                <a:off x="647700" y="255270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楕円体高 </a:t>
                </a:r>
                <a14:m xmlns:m="http://schemas.openxmlformats.org/officeDocument/2006/math">
                  <m:oMath xmlns:mml="http://www.w3.org/1998/Math/MathML">
                    <m:r>
                      <a:rPr sz="1950" b="0" lang="en-US">
                        <a:solidFill>
                          <a:srgbClr val="213C4B"/>
                        </a:solidFill>
                        <a:latin typeface="Cambria Math"/>
                        <a:ea typeface="Meiryo"/>
                      </a:rPr>
                      <m:t>h</m:t>
                    </m:r>
                  </m:oMath>
                </a14:m>
                <a:r>
                  <a:rPr sz="1950" b="0">
                    <a:solidFill>
                      <a:srgbClr val="213C4B"/>
                    </a:solidFill>
                    <a:latin typeface="Meiryo"/>
                    <a:ea typeface="Meiryo"/>
                    <a:cs typeface="Meiryo"/>
                  </a:rPr>
                  <a:t>：法線に沿った楕円体面からの高さ。</a:t>
                </a:r>
              </a:p>
            </p:txBody>
          </p:sp>
        </mc:Choice>
        <mc:Fallback>
          <p:sp>
            <p:nvSpPr>
              <p:cNvPr id="6" name="本文5">
                <a:extLst xmlns:a="http://schemas.openxmlformats.org/drawingml/2006/main">
                  <a:ext uri="{FF2B5EF4-FFF2-40B4-BE49-F238E27FC236}">
                    <a16:creationId xmlns:a16="http://schemas.microsoft.com/office/drawing/2014/main" id="{30C85698-BAC1-461A-8945-87F445BC9BF2}"/>
                  </a:ext>
                </a:extLst>
              </p:cNvPr>
              <p:cNvSpPr>
                <a:spLocks xmlns:a="http://schemas.openxmlformats.org/drawingml/2006/main" noGrp="1"/>
              </p:cNvSpPr>
              <p:nvPr/>
            </p:nvSpPr>
            <p:spPr>
              <a:xfrm xmlns:a="http://schemas.openxmlformats.org/drawingml/2006/main">
                <a:off x="647700" y="255270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楕円体高 </a:t>
                </a:r>
                <a:r>
                  <a:rPr sz="1950" b="0">
                    <a:solidFill>
                      <a:srgbClr val="213C4B"/>
                    </a:solidFill>
                    <a:latin typeface="Cambria Math"/>
                    <a:ea typeface="Cambria Math"/>
                    <a:cs typeface="Cambria Math"/>
                  </a:rPr>
                  <a:t>h</a:t>
                </a:r>
                <a:r>
                  <a:rPr sz="1950" b="0">
                    <a:solidFill>
                      <a:srgbClr val="213C4B"/>
                    </a:solidFill>
                    <a:latin typeface="Meiryo"/>
                    <a:ea typeface="Meiryo"/>
                    <a:cs typeface="Meiryo"/>
                  </a:rPr>
                  <a:t>：法線に沿った楕円体面からの高さ。</a:t>
                </a:r>
              </a:p>
            </p:txBody>
          </p:sp>
        </mc:Fallback>
      </mc:AlternateContent>
      <p:pic>
        <p:nvPicPr>
          <p:cNvPr id="7" name="">
            <a:extLst xmlns:a="http://schemas.openxmlformats.org/drawingml/2006/main">
              <a:ext uri="{FF2B5EF4-FFF2-40B4-BE49-F238E27FC236}">
                <a16:creationId xmlns:a16="http://schemas.microsoft.com/office/drawing/2014/main" id="{7EB6B628-4FAF-4D1F-BED9-F1A30981D8FF}"/>
              </a:ext>
            </a:extLst>
          </p:cNvPr>
          <p:cNvPicPr>
            <a:picLocks xmlns:a="http://schemas.openxmlformats.org/drawingml/2006/main" noChangeAspect="1"/>
          </p:cNvPicPr>
          <p:nvPr/>
        </p:nvPicPr>
        <p:blipFill>
          <a:blip xmlns:r="http://schemas.openxmlformats.org/officeDocument/2006/relationships" xmlns:a="http://schemas.openxmlformats.org/drawingml/2006/main" r:embed="Re945e3bd249a41cf"/>
          <a:stretch xmlns:a="http://schemas.openxmlformats.org/drawingml/2006/main"/>
        </p:blipFill>
        <p:spPr>
          <a:xfrm xmlns:a="http://schemas.openxmlformats.org/drawingml/2006/main">
            <a:off x="666750" y="3143250"/>
            <a:ext cx="10858500" cy="3076575"/>
          </a:xfrm>
          <a:prstGeom xmlns:a="http://schemas.openxmlformats.org/drawingml/2006/main" prst="rect">
            <a:avLst/>
          </a:prstGeom>
        </p:spPr>
      </p:pic>
    </p:spTree>
    <p:extLst>
      <p:ext uri="{BB962C8B-B14F-4D97-AF65-F5344CB8AC3E}">
        <p14:creationId xmlns:p14="http://schemas.microsoft.com/office/powerpoint/2010/main" val="789638839"/>
      </p:ext>
    </p:extLst>
  </p:cSld>
</p:sld>
</file>

<file path=ppt/slides/slide35.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0BA3D633-B6F7-4A79-844D-97BCF5C7ACBA}"/>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3-3</a:t>
            </a:r>
          </a:p>
        </p:txBody>
      </p:sp>
      <p:sp>
        <p:nvSpPr>
          <p:cNvPr id="2" name="本文1">
            <a:extLst xmlns:a="http://schemas.openxmlformats.org/drawingml/2006/main">
              <a:ext uri="{FF2B5EF4-FFF2-40B4-BE49-F238E27FC236}">
                <a16:creationId xmlns:a16="http://schemas.microsoft.com/office/drawing/2014/main" id="{F1AD39D3-B588-46DD-B44C-472A101AD28C}"/>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地心直交座標：地球中心の3軸</a:t>
            </a:r>
          </a:p>
        </p:txBody>
      </p:sp>
      <p:sp>
        <p:nvSpPr>
          <p:cNvPr id="3" name="本文2">
            <a:extLst xmlns:a="http://schemas.openxmlformats.org/drawingml/2006/main">
              <a:ext uri="{FF2B5EF4-FFF2-40B4-BE49-F238E27FC236}">
                <a16:creationId xmlns:a16="http://schemas.microsoft.com/office/drawing/2014/main" id="{9C98B67F-1792-4172-801B-34A42A63630F}"/>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35</a:t>
            </a:r>
          </a:p>
        </p:txBody>
      </p:sp>
      <p:sp>
        <p:nvSpPr>
          <p:cNvPr id="4" name="本文3">
            <a:extLst xmlns:a="http://schemas.openxmlformats.org/drawingml/2006/main">
              <a:ext uri="{FF2B5EF4-FFF2-40B4-BE49-F238E27FC236}">
                <a16:creationId xmlns:a16="http://schemas.microsoft.com/office/drawing/2014/main" id="{3FA2F8AB-DF89-4550-9450-6BEBCC400809}"/>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平面直角座標の「Xが北、Yが東」とは異なる座標系。</a:t>
            </a:r>
          </a:p>
        </p:txBody>
      </p:sp>
      <mc:AlternateContent xmlns:mc="http://schemas.openxmlformats.org/markup-compatibility/2006" xmlns:a14="http://schemas.microsoft.com/office/drawing/2010/main">
        <mc:Choice Requires="a14">
          <p:graphicFrame>
            <p:nvGraphicFramePr>
              <p:cNvPr id="5" name="">
                <a:extLst xmlns:a="http://schemas.openxmlformats.org/drawingml/2006/main">
                  <a:ext uri="{FF2B5EF4-FFF2-40B4-BE49-F238E27FC236}">
                    <a16:creationId xmlns:a16="http://schemas.microsoft.com/office/drawing/2014/main" id="{B08FDEC6-6B6E-48D3-BD5C-E52810223353}"/>
                  </a:ext>
                </a:extLst>
              </p:cNvPr>
              <p:cNvGraphicFramePr/>
              <p:nvPr/>
            </p:nvGraphicFramePr>
            <p:xfrm>
              <a:off xmlns:a="http://schemas.openxmlformats.org/drawingml/2006/main" x="647700" y="1657350"/>
              <a:ext xmlns:a="http://schemas.openxmlformats.org/drawingml/2006/main" cx="10896600" cy="2981325"/>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原点・軸</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定義</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原点</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地球の重心</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Z</m:t>
                              </m:r>
                            </m:oMath>
                          </a14:m>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自転軸の北極方向</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X</m:t>
                              </m:r>
                            </m:oMath>
                          </a14:m>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赤道と本初子午線の交点方向</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Y</m:t>
                              </m:r>
                            </m:oMath>
                          </a14:m>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赤道上、東経90°の方向</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Choice>
        <mc:Fallback>
          <p:graphicFrame>
            <p:nvGraphicFramePr>
              <p:cNvPr id="5" name="">
                <a:extLst xmlns:a="http://schemas.openxmlformats.org/drawingml/2006/main">
                  <a:ext uri="{FF2B5EF4-FFF2-40B4-BE49-F238E27FC236}">
                    <a16:creationId xmlns:a16="http://schemas.microsoft.com/office/drawing/2014/main" id="{B08FDEC6-6B6E-48D3-BD5C-E52810223353}"/>
                  </a:ext>
                </a:extLst>
              </p:cNvPr>
              <p:cNvGraphicFramePr/>
              <p:nvPr/>
            </p:nvGraphicFramePr>
            <p:xfrm>
              <a:off xmlns:a="http://schemas.openxmlformats.org/drawingml/2006/main" x="647700" y="1657350"/>
              <a:ext xmlns:a="http://schemas.openxmlformats.org/drawingml/2006/main" cx="10896600" cy="2981325"/>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原点・軸</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定義</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原点</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地球の重心</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Cambria Math"/>
                              <a:ea typeface="Cambria Math"/>
                              <a:cs typeface="Cambria Math"/>
                            </a:rPr>
                            <a:t>Z</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自転軸の北極方向</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Cambria Math"/>
                              <a:ea typeface="Cambria Math"/>
                              <a:cs typeface="Cambria Math"/>
                            </a:rPr>
                            <a:t>X</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赤道と本初子午線の交点方向</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Cambria Math"/>
                              <a:ea typeface="Cambria Math"/>
                              <a:cs typeface="Cambria Math"/>
                            </a:rPr>
                            <a:t>Y</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赤道上、東経90°の方向</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Fallback>
      </mc:AlternateContent>
      <mc:AlternateContent xmlns:mc="http://schemas.openxmlformats.org/markup-compatibility/2006" xmlns:a14="http://schemas.microsoft.com/office/drawing/2010/main">
        <mc:Choice Requires="a14">
          <p:sp>
            <p:nvSpPr>
              <p:cNvPr id="6" name="EQM00062">
                <a:extLst xmlns:a="http://schemas.openxmlformats.org/drawingml/2006/main">
                  <a:ext uri="{FF2B5EF4-FFF2-40B4-BE49-F238E27FC236}">
                    <a16:creationId xmlns:a16="http://schemas.microsoft.com/office/drawing/2014/main" id="{4FC77A49-50F5-48B0-BA5C-44CD192DED94}"/>
                  </a:ext>
                </a:extLst>
              </p:cNvPr>
              <p:cNvSpPr>
                <a:spLocks xmlns:a="http://schemas.openxmlformats.org/drawingml/2006/main" noGrp="1"/>
              </p:cNvSpPr>
              <p:nvPr/>
            </p:nvSpPr>
            <p:spPr>
              <a:xfrm xmlns:a="http://schemas.openxmlformats.org/drawingml/2006/main">
                <a:off x="647700" y="4810125"/>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r>
                        <m:rPr>
                          <m:nor/>
                        </m:rPr>
                        <a:rPr sz="2700" b="0" lang="en-US">
                          <a:solidFill>
                            <a:srgbClr val="153D50"/>
                          </a:solidFill>
                          <a:latin typeface="Cambria Math"/>
                          <a:ea typeface="Meiryo"/>
                        </a:rPr>
                        <m:t>日本付近： </m:t>
                      </m:r>
                      <m:r>
                        <a:rPr sz="2700" b="0" lang="en-US">
                          <a:solidFill>
                            <a:srgbClr val="153D50"/>
                          </a:solidFill>
                          <a:latin typeface="Cambria Math"/>
                          <a:ea typeface="Meiryo"/>
                        </a:rPr>
                        <m:t>X&lt;0,</m:t>
                      </m:r>
                      <m:r>
                        <m:rPr>
                          <m:nor/>
                        </m:rPr>
                        <a:rPr sz="2700" b="0" lang="en-US">
                          <a:solidFill>
                            <a:srgbClr val="153D50"/>
                          </a:solidFill>
                          <a:latin typeface="Cambria Math"/>
                          <a:ea typeface="Meiryo"/>
                        </a:rPr>
                        <m:t>  </m:t>
                      </m:r>
                      <m:r>
                        <a:rPr sz="2700" b="0" lang="en-US">
                          <a:solidFill>
                            <a:srgbClr val="153D50"/>
                          </a:solidFill>
                          <a:latin typeface="Cambria Math"/>
                          <a:ea typeface="Meiryo"/>
                        </a:rPr>
                        <m:t>Y&gt;0,</m:t>
                      </m:r>
                      <m:r>
                        <m:rPr>
                          <m:nor/>
                        </m:rPr>
                        <a:rPr sz="2700" b="0" lang="en-US">
                          <a:solidFill>
                            <a:srgbClr val="153D50"/>
                          </a:solidFill>
                          <a:latin typeface="Cambria Math"/>
                          <a:ea typeface="Meiryo"/>
                        </a:rPr>
                        <m:t>  </m:t>
                      </m:r>
                      <m:r>
                        <a:rPr sz="2700" b="0" lang="en-US">
                          <a:solidFill>
                            <a:srgbClr val="153D50"/>
                          </a:solidFill>
                          <a:latin typeface="Cambria Math"/>
                          <a:ea typeface="Meiryo"/>
                        </a:rPr>
                        <m:t>Z&gt;0</m:t>
                      </m:r>
                    </m:oMath>
                  </m:oMathPara>
                </a14:m>
              </a:p>
            </p:txBody>
          </p:sp>
        </mc:Choice>
        <mc:Fallback>
          <p:sp>
            <p:nvSpPr>
              <p:cNvPr id="6" name="EQM00062">
                <a:extLst xmlns:a="http://schemas.openxmlformats.org/drawingml/2006/main">
                  <a:ext uri="{FF2B5EF4-FFF2-40B4-BE49-F238E27FC236}">
                    <a16:creationId xmlns:a16="http://schemas.microsoft.com/office/drawing/2014/main" id="{4FC77A49-50F5-48B0-BA5C-44CD192DED94}"/>
                  </a:ext>
                </a:extLst>
              </p:cNvPr>
              <p:cNvSpPr>
                <a:spLocks xmlns:a="http://schemas.openxmlformats.org/drawingml/2006/main" noGrp="1"/>
              </p:cNvSpPr>
              <p:nvPr/>
            </p:nvSpPr>
            <p:spPr>
              <a:xfrm xmlns:a="http://schemas.openxmlformats.org/drawingml/2006/main">
                <a:off x="647700" y="4810125"/>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\text{日本付近：}\quad X&lt;0,\qquad Y&gt;0,\qquad Z&gt;0</a:t>
                </a:r>
              </a:p>
            </p:txBody>
          </p:sp>
        </mc:Fallback>
      </mc:AlternateContent>
    </p:spTree>
    <p:extLst>
      <p:ext uri="{BB962C8B-B14F-4D97-AF65-F5344CB8AC3E}">
        <p14:creationId xmlns:p14="http://schemas.microsoft.com/office/powerpoint/2010/main" val="972675799"/>
      </p:ext>
    </p:extLst>
  </p:cSld>
</p:sld>
</file>

<file path=ppt/slides/slide36.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BC43060A-D490-4014-84FB-6DE5D3877E9A}"/>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3-3</a:t>
            </a:r>
          </a:p>
        </p:txBody>
      </p:sp>
      <p:sp>
        <p:nvSpPr>
          <p:cNvPr id="2" name="本文1">
            <a:extLst xmlns:a="http://schemas.openxmlformats.org/drawingml/2006/main">
              <a:ext uri="{FF2B5EF4-FFF2-40B4-BE49-F238E27FC236}">
                <a16:creationId xmlns:a16="http://schemas.microsoft.com/office/drawing/2014/main" id="{2F4736DE-6C49-423B-90CF-DD321671CC78}"/>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基線ベクトル：2点間の座標差</a:t>
            </a:r>
          </a:p>
        </p:txBody>
      </p:sp>
      <p:sp>
        <p:nvSpPr>
          <p:cNvPr id="3" name="本文2">
            <a:extLst xmlns:a="http://schemas.openxmlformats.org/drawingml/2006/main">
              <a:ext uri="{FF2B5EF4-FFF2-40B4-BE49-F238E27FC236}">
                <a16:creationId xmlns:a16="http://schemas.microsoft.com/office/drawing/2014/main" id="{6743359A-5D0D-421D-8F24-D4977E804F82}"/>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36</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3D5D1C03-A7E1-47B8-AD58-BD011FAEE575}"/>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閉じた経路でベクトルを足すと、理想的には </a:t>
                </a:r>
                <a14:m xmlns:m="http://schemas.openxmlformats.org/officeDocument/2006/math">
                  <m:oMath xmlns:mml="http://www.w3.org/1998/Math/MathML">
                    <m:r>
                      <a:rPr sz="1725" b="0" lang="en-US">
                        <a:solidFill>
                          <a:srgbClr val="137D78"/>
                        </a:solidFill>
                        <a:latin typeface="Cambria Math"/>
                        <a:ea typeface="Meiryo"/>
                      </a:rPr>
                      <m:t>(0,0,0)</m:t>
                    </m:r>
                  </m:oMath>
                </a14:m>
                <a:r>
                  <a:rPr sz="1725" b="1">
                    <a:solidFill>
                      <a:srgbClr val="137D78"/>
                    </a:solidFill>
                    <a:latin typeface="Meiryo"/>
                    <a:ea typeface="Meiryo"/>
                    <a:cs typeface="Meiryo"/>
                  </a:rPr>
                  <a:t>。</a:t>
                </a:r>
              </a:p>
            </p:txBody>
          </p:sp>
        </mc:Choice>
        <mc:Fallback>
          <p:sp>
            <p:nvSpPr>
              <p:cNvPr id="4" name="本文3">
                <a:extLst xmlns:a="http://schemas.openxmlformats.org/drawingml/2006/main">
                  <a:ext uri="{FF2B5EF4-FFF2-40B4-BE49-F238E27FC236}">
                    <a16:creationId xmlns:a16="http://schemas.microsoft.com/office/drawing/2014/main" id="{3D5D1C03-A7E1-47B8-AD58-BD011FAEE575}"/>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閉じた経路でベクトルを足すと、理想的には </a:t>
                </a:r>
                <a:r>
                  <a:rPr sz="1725" b="1">
                    <a:solidFill>
                      <a:srgbClr val="137D78"/>
                    </a:solidFill>
                    <a:latin typeface="Cambria Math"/>
                    <a:ea typeface="Cambria Math"/>
                    <a:cs typeface="Cambria Math"/>
                  </a:rPr>
                  <a:t>(0,0,0)</a:t>
                </a:r>
                <a:r>
                  <a:rPr sz="1725" b="1">
                    <a:solidFill>
                      <a:srgbClr val="137D78"/>
                    </a:solidFill>
                    <a:latin typeface="Meiryo"/>
                    <a:ea typeface="Meiryo"/>
                    <a:cs typeface="Meiryo"/>
                  </a:rPr>
                  <a:t>。</a:t>
                </a:r>
              </a:p>
            </p:txBody>
          </p:sp>
        </mc:Fallback>
      </mc:AlternateContent>
      <p:sp>
        <p:nvSpPr>
          <p:cNvPr id="5" name="本文4">
            <a:extLst xmlns:a="http://schemas.openxmlformats.org/drawingml/2006/main">
              <a:ext uri="{FF2B5EF4-FFF2-40B4-BE49-F238E27FC236}">
                <a16:creationId xmlns:a16="http://schemas.microsoft.com/office/drawing/2014/main" id="{FEF74B45-9D1B-4102-B2AA-A5AD87EFCEA4}"/>
              </a:ext>
            </a:extLst>
          </p:cNvPr>
          <p:cNvSpPr>
            <a:spLocks xmlns:a="http://schemas.openxmlformats.org/drawingml/2006/main" noGrp="1"/>
          </p:cNvSpPr>
          <p:nvPr/>
        </p:nvSpPr>
        <p:spPr>
          <a:xfrm xmlns:a="http://schemas.openxmlformats.org/drawingml/2006/main">
            <a:off x="647700" y="183197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GNSS測量では、2点間の位置関係を3成分で表す。</a:t>
            </a:r>
          </a:p>
        </p:txBody>
      </p:sp>
      <mc:AlternateContent xmlns:mc="http://schemas.openxmlformats.org/markup-compatibility/2006" xmlns:a14="http://schemas.microsoft.com/office/drawing/2010/main">
        <mc:Choice Requires="a14">
          <p:sp>
            <p:nvSpPr>
              <p:cNvPr id="6" name="EQM00064">
                <a:extLst xmlns:a="http://schemas.openxmlformats.org/drawingml/2006/main">
                  <a:ext uri="{FF2B5EF4-FFF2-40B4-BE49-F238E27FC236}">
                    <a16:creationId xmlns:a16="http://schemas.microsoft.com/office/drawing/2014/main" id="{8F93D206-6E78-4877-84CF-58BC714C0222}"/>
                  </a:ext>
                </a:extLst>
              </p:cNvPr>
              <p:cNvSpPr>
                <a:spLocks xmlns:a="http://schemas.openxmlformats.org/drawingml/2006/main" noGrp="1"/>
              </p:cNvSpPr>
              <p:nvPr/>
            </p:nvSpPr>
            <p:spPr>
              <a:xfrm xmlns:a="http://schemas.openxmlformats.org/drawingml/2006/main">
                <a:off x="647700" y="2479675"/>
                <a:ext cx="108966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r>
                        <m:rPr>
                          <m:sty m:val="p"/>
                        </m:rPr>
                        <a:rPr sz="2700" b="0" lang="en-US">
                          <a:solidFill>
                            <a:srgbClr val="153D50"/>
                          </a:solidFill>
                          <a:latin typeface="Cambria Math"/>
                          <a:ea typeface="Meiryo"/>
                        </a:rPr>
                        <m:t>Δ</m:t>
                      </m:r>
                      <m:r>
                        <m:rPr>
                          <m:sty m:val="bi"/>
                        </m:rPr>
                        <a:rPr sz="2700" b="0" lang="en-US">
                          <a:solidFill>
                            <a:srgbClr val="153D50"/>
                          </a:solidFill>
                          <a:latin typeface="Cambria Math"/>
                          <a:ea typeface="Meiryo"/>
                        </a:rPr>
                        <m:t>r</m:t>
                      </m:r>
                      <m:r>
                        <a:rPr sz="2700" b="0" lang="en-US">
                          <a:solidFill>
                            <a:srgbClr val="153D50"/>
                          </a:solidFill>
                          <a:latin typeface="Cambria Math"/>
                          <a:ea typeface="Meiryo"/>
                        </a:rPr>
                        <m:t>=</m:t>
                      </m:r>
                      <m:d>
                        <m:dPr>
                          <m:sepChr m:val=""/>
                        </m:dPr>
                        <m:e>
                          <m:eqArr>
                            <m:e>
                              <m:r>
                                <m:rPr>
                                  <m:sty m:val="p"/>
                                </m:rPr>
                                <a:rPr sz="2700" b="0" lang="en-US">
                                  <a:solidFill>
                                    <a:srgbClr val="153D50"/>
                                  </a:solidFill>
                                  <a:latin typeface="Cambria Math"/>
                                  <a:ea typeface="Meiryo"/>
                                </a:rPr>
                                <m:t>Δ</m:t>
                              </m:r>
                              <m:r>
                                <a:rPr sz="2700" b="0" lang="en-US">
                                  <a:solidFill>
                                    <a:srgbClr val="153D50"/>
                                  </a:solidFill>
                                  <a:latin typeface="Cambria Math"/>
                                  <a:ea typeface="Meiryo"/>
                                </a:rPr>
                                <m:t>X</m:t>
                              </m:r>
                            </m:e>
                            <m:e>
                              <m:r>
                                <m:rPr>
                                  <m:sty m:val="p"/>
                                </m:rPr>
                                <a:rPr sz="2700" b="0" lang="en-US">
                                  <a:solidFill>
                                    <a:srgbClr val="153D50"/>
                                  </a:solidFill>
                                  <a:latin typeface="Cambria Math"/>
                                  <a:ea typeface="Meiryo"/>
                                </a:rPr>
                                <m:t>Δ</m:t>
                              </m:r>
                              <m:r>
                                <a:rPr sz="2700" b="0" lang="en-US">
                                  <a:solidFill>
                                    <a:srgbClr val="153D50"/>
                                  </a:solidFill>
                                  <a:latin typeface="Cambria Math"/>
                                  <a:ea typeface="Meiryo"/>
                                </a:rPr>
                                <m:t>Y</m:t>
                              </m:r>
                            </m:e>
                            <m:e>
                              <m:r>
                                <m:rPr>
                                  <m:sty m:val="p"/>
                                </m:rPr>
                                <a:rPr sz="2700" b="0" lang="en-US">
                                  <a:solidFill>
                                    <a:srgbClr val="153D50"/>
                                  </a:solidFill>
                                  <a:latin typeface="Cambria Math"/>
                                  <a:ea typeface="Meiryo"/>
                                </a:rPr>
                                <m:t>Δ</m:t>
                              </m:r>
                              <m:r>
                                <a:rPr sz="2700" b="0" lang="en-US">
                                  <a:solidFill>
                                    <a:srgbClr val="153D50"/>
                                  </a:solidFill>
                                  <a:latin typeface="Cambria Math"/>
                                  <a:ea typeface="Meiryo"/>
                                </a:rPr>
                                <m:t>Z</m:t>
                              </m:r>
                            </m:e>
                          </m:eqArr>
                        </m:e>
                      </m:d>
                      <m:r>
                        <a:rPr sz="2700" b="0" lang="en-US">
                          <a:solidFill>
                            <a:srgbClr val="153D50"/>
                          </a:solidFill>
                          <a:latin typeface="Cambria Math"/>
                          <a:ea typeface="Meiryo"/>
                        </a:rPr>
                        <m:t>=</m:t>
                      </m:r>
                      <m:d>
                        <m:dPr>
                          <m:sepChr m:val=""/>
                        </m:dPr>
                        <m:e>
                          <m:eqArr>
                            <m:e>
                              <m:r>
                                <a:rPr sz="2700" b="0" lang="en-US">
                                  <a:solidFill>
                                    <a:srgbClr val="153D50"/>
                                  </a:solidFill>
                                  <a:latin typeface="Cambria Math"/>
                                  <a:ea typeface="Meiryo"/>
                                </a:rPr>
                                <m:t>100.000</m:t>
                              </m:r>
                            </m:e>
                            <m:e>
                              <m:r>
                                <a:rPr sz="2700" b="0" lang="en-US">
                                  <a:solidFill>
                                    <a:srgbClr val="153D50"/>
                                  </a:solidFill>
                                  <a:latin typeface="Cambria Math"/>
                                  <a:ea typeface="Meiryo"/>
                                </a:rPr>
                                <m:t>200.000</m:t>
                              </m:r>
                            </m:e>
                            <m:e>
                              <m:r>
                                <a:rPr sz="2700" b="0" lang="en-US">
                                  <a:solidFill>
                                    <a:srgbClr val="153D50"/>
                                  </a:solidFill>
                                  <a:latin typeface="Cambria Math"/>
                                  <a:ea typeface="Meiryo"/>
                                </a:rPr>
                                <m:t>500.000</m:t>
                              </m:r>
                            </m:e>
                          </m:eqArr>
                        </m:e>
                      </m:d>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oMath>
                  </m:oMathPara>
                </a14:m>
              </a:p>
            </p:txBody>
          </p:sp>
        </mc:Choice>
        <mc:Fallback>
          <p:sp>
            <p:nvSpPr>
              <p:cNvPr id="6" name="EQM00064">
                <a:extLst xmlns:a="http://schemas.openxmlformats.org/drawingml/2006/main">
                  <a:ext uri="{FF2B5EF4-FFF2-40B4-BE49-F238E27FC236}">
                    <a16:creationId xmlns:a16="http://schemas.microsoft.com/office/drawing/2014/main" id="{8F93D206-6E78-4877-84CF-58BC714C0222}"/>
                  </a:ext>
                </a:extLst>
              </p:cNvPr>
              <p:cNvSpPr>
                <a:spLocks xmlns:a="http://schemas.openxmlformats.org/drawingml/2006/main" noGrp="1"/>
              </p:cNvSpPr>
              <p:nvPr/>
            </p:nvSpPr>
            <p:spPr>
              <a:xfrm xmlns:a="http://schemas.openxmlformats.org/drawingml/2006/main">
                <a:off x="647700" y="2479675"/>
                <a:ext cx="108966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\Delta\boldsymbol{r}=\begin{pmatrix}\Delta X\\\Delta Y\\\Delta Z\end{pmatrix}
=\begin{pmatrix}100.000\\200.000\\500.000\end{pmatrix}\ \mathrm{m}</a:t>
                </a:r>
              </a:p>
            </p:txBody>
          </p:sp>
        </mc:Fallback>
      </mc:AlternateContent>
      <mc:AlternateContent xmlns:mc="http://schemas.openxmlformats.org/markup-compatibility/2006" xmlns:a14="http://schemas.microsoft.com/office/drawing/2010/main">
        <mc:Choice Requires="a14">
          <p:sp>
            <p:nvSpPr>
              <p:cNvPr id="7" name="EQM00065">
                <a:extLst xmlns:a="http://schemas.openxmlformats.org/drawingml/2006/main">
                  <a:ext uri="{FF2B5EF4-FFF2-40B4-BE49-F238E27FC236}">
                    <a16:creationId xmlns:a16="http://schemas.microsoft.com/office/drawing/2014/main" id="{76B8EC5E-2FDE-4154-9BC8-6F645292A1BE}"/>
                  </a:ext>
                </a:extLst>
              </p:cNvPr>
              <p:cNvSpPr>
                <a:spLocks xmlns:a="http://schemas.openxmlformats.org/drawingml/2006/main" noGrp="1"/>
              </p:cNvSpPr>
              <p:nvPr/>
            </p:nvSpPr>
            <p:spPr>
              <a:xfrm xmlns:a="http://schemas.openxmlformats.org/drawingml/2006/main">
                <a:off x="647700" y="4460875"/>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r>
                        <a:rPr sz="2700" b="0" lang="en-US">
                          <a:solidFill>
                            <a:srgbClr val="153D50"/>
                          </a:solidFill>
                          <a:latin typeface="Cambria Math"/>
                          <a:ea typeface="Meiryo"/>
                        </a:rPr>
                        <m:t>D=</m:t>
                      </m:r>
                      <m:rad>
                        <m:radPr>
                          <m:degHide m:val="on"/>
                        </m:radPr>
                        <m:deg/>
                        <m:e>
                          <m:r>
                            <m:rPr>
                              <m:sty m:val="p"/>
                            </m:rPr>
                            <a:rPr sz="2700" b="0" lang="en-US">
                              <a:solidFill>
                                <a:srgbClr val="153D50"/>
                              </a:solidFill>
                              <a:latin typeface="Cambria Math"/>
                              <a:ea typeface="Meiryo"/>
                            </a:rPr>
                            <m:t>Δ</m:t>
                          </m:r>
                          <m:sSup>
                            <m:e>
                              <m:r>
                                <a:rPr sz="2700" b="0" lang="en-US">
                                  <a:solidFill>
                                    <a:srgbClr val="153D50"/>
                                  </a:solidFill>
                                  <a:latin typeface="Cambria Math"/>
                                  <a:ea typeface="Meiryo"/>
                                </a:rPr>
                                <m:t>X</m:t>
                              </m:r>
                            </m:e>
                            <m:sup>
                              <m:r>
                                <a:rPr sz="2700" b="0" lang="en-US">
                                  <a:solidFill>
                                    <a:srgbClr val="153D50"/>
                                  </a:solidFill>
                                  <a:latin typeface="Cambria Math"/>
                                  <a:ea typeface="Meiryo"/>
                                </a:rPr>
                                <m:t>2</m:t>
                              </m:r>
                            </m:sup>
                          </m:sSup>
                          <m:r>
                            <a:rPr sz="2700" b="0" lang="en-US">
                              <a:solidFill>
                                <a:srgbClr val="153D50"/>
                              </a:solidFill>
                              <a:latin typeface="Cambria Math"/>
                              <a:ea typeface="Meiryo"/>
                            </a:rPr>
                            <m:t>+</m:t>
                          </m:r>
                          <m:r>
                            <m:rPr>
                              <m:sty m:val="p"/>
                            </m:rPr>
                            <a:rPr sz="2700" b="0" lang="en-US">
                              <a:solidFill>
                                <a:srgbClr val="153D50"/>
                              </a:solidFill>
                              <a:latin typeface="Cambria Math"/>
                              <a:ea typeface="Meiryo"/>
                            </a:rPr>
                            <m:t>Δ</m:t>
                          </m:r>
                          <m:sSup>
                            <m:e>
                              <m:r>
                                <a:rPr sz="2700" b="0" lang="en-US">
                                  <a:solidFill>
                                    <a:srgbClr val="153D50"/>
                                  </a:solidFill>
                                  <a:latin typeface="Cambria Math"/>
                                  <a:ea typeface="Meiryo"/>
                                </a:rPr>
                                <m:t>Y</m:t>
                              </m:r>
                            </m:e>
                            <m:sup>
                              <m:r>
                                <a:rPr sz="2700" b="0" lang="en-US">
                                  <a:solidFill>
                                    <a:srgbClr val="153D50"/>
                                  </a:solidFill>
                                  <a:latin typeface="Cambria Math"/>
                                  <a:ea typeface="Meiryo"/>
                                </a:rPr>
                                <m:t>2</m:t>
                              </m:r>
                            </m:sup>
                          </m:sSup>
                          <m:r>
                            <a:rPr sz="2700" b="0" lang="en-US">
                              <a:solidFill>
                                <a:srgbClr val="153D50"/>
                              </a:solidFill>
                              <a:latin typeface="Cambria Math"/>
                              <a:ea typeface="Meiryo"/>
                            </a:rPr>
                            <m:t>+</m:t>
                          </m:r>
                          <m:r>
                            <m:rPr>
                              <m:sty m:val="p"/>
                            </m:rPr>
                            <a:rPr sz="2700" b="0" lang="en-US">
                              <a:solidFill>
                                <a:srgbClr val="153D50"/>
                              </a:solidFill>
                              <a:latin typeface="Cambria Math"/>
                              <a:ea typeface="Meiryo"/>
                            </a:rPr>
                            <m:t>Δ</m:t>
                          </m:r>
                          <m:sSup>
                            <m:e>
                              <m:r>
                                <a:rPr sz="2700" b="0" lang="en-US">
                                  <a:solidFill>
                                    <a:srgbClr val="153D50"/>
                                  </a:solidFill>
                                  <a:latin typeface="Cambria Math"/>
                                  <a:ea typeface="Meiryo"/>
                                </a:rPr>
                                <m:t>Z</m:t>
                              </m:r>
                            </m:e>
                            <m:sup>
                              <m:r>
                                <a:rPr sz="2700" b="0" lang="en-US">
                                  <a:solidFill>
                                    <a:srgbClr val="153D50"/>
                                  </a:solidFill>
                                  <a:latin typeface="Cambria Math"/>
                                  <a:ea typeface="Meiryo"/>
                                </a:rPr>
                                <m:t>2</m:t>
                              </m:r>
                            </m:sup>
                          </m:sSup>
                        </m:e>
                      </m:rad>
                      <m:r>
                        <a:rPr sz="2700" b="0" lang="en-US">
                          <a:solidFill>
                            <a:srgbClr val="153D50"/>
                          </a:solidFill>
                          <a:latin typeface="Cambria Math"/>
                          <a:ea typeface="Meiryo"/>
                        </a:rPr>
                        <m:t>=</m:t>
                      </m:r>
                      <m:rad>
                        <m:radPr>
                          <m:degHide m:val="on"/>
                        </m:radPr>
                        <m:deg/>
                        <m:e>
                          <m:r>
                            <a:rPr sz="2700" b="0" lang="en-US">
                              <a:solidFill>
                                <a:srgbClr val="153D50"/>
                              </a:solidFill>
                              <a:latin typeface="Cambria Math"/>
                              <a:ea typeface="Meiryo"/>
                            </a:rPr>
                            <m:t>300</m:t>
                          </m:r>
                          <m:r>
                            <m:rPr>
                              <m:nor/>
                            </m:rPr>
                            <a:rPr sz="2700" b="0" lang="en-US">
                              <a:solidFill>
                                <a:srgbClr val="153D50"/>
                              </a:solidFill>
                              <a:latin typeface="Cambria Math"/>
                              <a:ea typeface="Meiryo"/>
                            </a:rPr>
                            <m:t> </m:t>
                          </m:r>
                          <m:r>
                            <a:rPr sz="2700" b="0" lang="en-US">
                              <a:solidFill>
                                <a:srgbClr val="153D50"/>
                              </a:solidFill>
                              <a:latin typeface="Cambria Math"/>
                              <a:ea typeface="Meiryo"/>
                            </a:rPr>
                            <m:t>000</m:t>
                          </m:r>
                        </m:e>
                      </m:rad>
                      <m:r>
                        <a:rPr sz="2700" b="0" lang="en-US">
                          <a:solidFill>
                            <a:srgbClr val="153D50"/>
                          </a:solidFill>
                          <a:latin typeface="Cambria Math"/>
                          <a:ea typeface="Meiryo"/>
                        </a:rPr>
                        <m:t>=547.723</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oMath>
                  </m:oMathPara>
                </a14:m>
              </a:p>
            </p:txBody>
          </p:sp>
        </mc:Choice>
        <mc:Fallback>
          <p:sp>
            <p:nvSpPr>
              <p:cNvPr id="7" name="EQM00065">
                <a:extLst xmlns:a="http://schemas.openxmlformats.org/drawingml/2006/main">
                  <a:ext uri="{FF2B5EF4-FFF2-40B4-BE49-F238E27FC236}">
                    <a16:creationId xmlns:a16="http://schemas.microsoft.com/office/drawing/2014/main" id="{76B8EC5E-2FDE-4154-9BC8-6F645292A1BE}"/>
                  </a:ext>
                </a:extLst>
              </p:cNvPr>
              <p:cNvSpPr>
                <a:spLocks xmlns:a="http://schemas.openxmlformats.org/drawingml/2006/main" noGrp="1"/>
              </p:cNvSpPr>
              <p:nvPr/>
            </p:nvSpPr>
            <p:spPr>
              <a:xfrm xmlns:a="http://schemas.openxmlformats.org/drawingml/2006/main">
                <a:off x="647700" y="4460875"/>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D=\sqrt{\Delta X^2+\Delta Y^2+\Delta Z^2}
=\sqrt{300\,000}=547.723\ \mathrm{m}</a:t>
                </a:r>
              </a:p>
            </p:txBody>
          </p:sp>
        </mc:Fallback>
      </mc:AlternateContent>
    </p:spTree>
    <p:extLst>
      <p:ext uri="{BB962C8B-B14F-4D97-AF65-F5344CB8AC3E}">
        <p14:creationId xmlns:p14="http://schemas.microsoft.com/office/powerpoint/2010/main" val="1719449056"/>
      </p:ext>
    </p:extLst>
  </p:cSld>
</p:sld>
</file>

<file path=ppt/slides/slide37.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5" name="本文0">
            <a:extLst xmlns:a="http://schemas.openxmlformats.org/drawingml/2006/main">
              <a:ext uri="{FF2B5EF4-FFF2-40B4-BE49-F238E27FC236}">
                <a16:creationId xmlns:a16="http://schemas.microsoft.com/office/drawing/2014/main" id="{6C5B68E5-7729-4B0B-9F48-C369D0992104}"/>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3-3</a:t>
            </a:r>
          </a:p>
        </p:txBody>
      </p:sp>
      <p:sp>
        <p:nvSpPr>
          <p:cNvPr id="2" name="本文1">
            <a:extLst xmlns:a="http://schemas.openxmlformats.org/drawingml/2006/main">
              <a:ext uri="{FF2B5EF4-FFF2-40B4-BE49-F238E27FC236}">
                <a16:creationId xmlns:a16="http://schemas.microsoft.com/office/drawing/2014/main" id="{04663073-41B2-44BC-90F5-77996B3822CE}"/>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投影座標系：曲面を平面へ写す 3 つの方法</a:t>
            </a:r>
          </a:p>
        </p:txBody>
      </p:sp>
      <p:sp>
        <p:nvSpPr>
          <p:cNvPr id="3" name="本文2">
            <a:extLst xmlns:a="http://schemas.openxmlformats.org/drawingml/2006/main">
              <a:ext uri="{FF2B5EF4-FFF2-40B4-BE49-F238E27FC236}">
                <a16:creationId xmlns:a16="http://schemas.microsoft.com/office/drawing/2014/main" id="{3129932A-55CF-4729-94D7-FCA0BAC8650E}"/>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37</a:t>
            </a:r>
          </a:p>
        </p:txBody>
      </p:sp>
      <p:pic>
        <p:nvPicPr>
          <p:cNvPr id="4" name="">
            <a:extLst xmlns:a="http://schemas.openxmlformats.org/drawingml/2006/main">
              <a:ext uri="{FF2B5EF4-FFF2-40B4-BE49-F238E27FC236}">
                <a16:creationId xmlns:a16="http://schemas.microsoft.com/office/drawing/2014/main" id="{487242FB-4CEB-4282-9A6A-1A4ECDE2BF6A}"/>
              </a:ext>
            </a:extLst>
          </p:cNvPr>
          <p:cNvPicPr>
            <a:picLocks xmlns:a="http://schemas.openxmlformats.org/drawingml/2006/main" noChangeAspect="1"/>
          </p:cNvPicPr>
          <p:nvPr/>
        </p:nvPicPr>
        <p:blipFill>
          <a:blip xmlns:r="http://schemas.openxmlformats.org/officeDocument/2006/relationships" xmlns:a="http://schemas.openxmlformats.org/drawingml/2006/main" r:embed="R0afcd9e8169547d4"/>
          <a:stretch xmlns:a="http://schemas.openxmlformats.org/drawingml/2006/main"/>
        </p:blipFill>
        <p:spPr>
          <a:xfrm xmlns:a="http://schemas.openxmlformats.org/drawingml/2006/main">
            <a:off x="590550" y="1414780"/>
            <a:ext cx="11010900" cy="4771390"/>
          </a:xfrm>
          <a:prstGeom xmlns:a="http://schemas.openxmlformats.org/drawingml/2006/main" prst="rect">
            <a:avLst/>
          </a:prstGeom>
        </p:spPr>
      </p:pic>
    </p:spTree>
    <p:extLst>
      <p:ext uri="{BB962C8B-B14F-4D97-AF65-F5344CB8AC3E}">
        <p14:creationId xmlns:p14="http://schemas.microsoft.com/office/powerpoint/2010/main" val="2038831691"/>
      </p:ext>
    </p:extLst>
  </p:cSld>
</p:sld>
</file>

<file path=ppt/slides/slide38.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6285FB28-BD3A-48ED-B8E0-30958E79F659}"/>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3-3</a:t>
            </a:r>
          </a:p>
        </p:txBody>
      </p:sp>
      <p:sp>
        <p:nvSpPr>
          <p:cNvPr id="2" name="本文1">
            <a:extLst xmlns:a="http://schemas.openxmlformats.org/drawingml/2006/main">
              <a:ext uri="{FF2B5EF4-FFF2-40B4-BE49-F238E27FC236}">
                <a16:creationId xmlns:a16="http://schemas.microsoft.com/office/drawing/2014/main" id="{08412A25-40A1-442C-A9F5-197BE7AD4936}"/>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メルカトル：経線は平行、緯線は不等間隔</a:t>
            </a:r>
          </a:p>
        </p:txBody>
      </p:sp>
      <p:sp>
        <p:nvSpPr>
          <p:cNvPr id="3" name="本文2">
            <a:extLst xmlns:a="http://schemas.openxmlformats.org/drawingml/2006/main">
              <a:ext uri="{FF2B5EF4-FFF2-40B4-BE49-F238E27FC236}">
                <a16:creationId xmlns:a16="http://schemas.microsoft.com/office/drawing/2014/main" id="{84FB43AF-1ADC-4FD5-A1DC-A0E57FD87B23}"/>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38</a:t>
            </a:r>
          </a:p>
        </p:txBody>
      </p:sp>
      <p:sp>
        <p:nvSpPr>
          <p:cNvPr id="4" name="本文3">
            <a:extLst xmlns:a="http://schemas.openxmlformats.org/drawingml/2006/main">
              <a:ext uri="{FF2B5EF4-FFF2-40B4-BE49-F238E27FC236}">
                <a16:creationId xmlns:a16="http://schemas.microsoft.com/office/drawing/2014/main" id="{B43CD30D-9F6B-4DA9-80BF-9E9A64680CDC}"/>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絵は円筒を開くイメージ。光の影を写す方法そのものではない。</a:t>
            </a:r>
          </a:p>
        </p:txBody>
      </p:sp>
      <p:sp>
        <p:nvSpPr>
          <p:cNvPr id="5" name="本文4">
            <a:extLst xmlns:a="http://schemas.openxmlformats.org/drawingml/2006/main">
              <a:ext uri="{FF2B5EF4-FFF2-40B4-BE49-F238E27FC236}">
                <a16:creationId xmlns:a16="http://schemas.microsoft.com/office/drawing/2014/main" id="{77C6EA68-6B69-4BF0-9913-5E9708EEE753}"/>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円筒を開いた形の地図。</a:t>
            </a:r>
            <a:r>
              <a:rPr sz="1950" b="1">
                <a:solidFill>
                  <a:srgbClr val="137D78"/>
                </a:solidFill>
                <a:latin typeface="Meiryo"/>
                <a:ea typeface="Meiryo"/>
                <a:cs typeface="Meiryo"/>
              </a:rPr>
              <a:t>局所的な角を保つ</a:t>
            </a:r>
            <a:r>
              <a:rPr sz="1950" b="0">
                <a:solidFill>
                  <a:srgbClr val="213C4B"/>
                </a:solidFill>
                <a:latin typeface="Meiryo"/>
                <a:ea typeface="Meiryo"/>
                <a:cs typeface="Meiryo"/>
              </a:rPr>
              <a:t>ように計算する。</a:t>
            </a:r>
          </a:p>
        </p:txBody>
      </p:sp>
      <p:sp>
        <p:nvSpPr>
          <p:cNvPr id="6" name="本文5">
            <a:extLst xmlns:a="http://schemas.openxmlformats.org/drawingml/2006/main">
              <a:ext uri="{FF2B5EF4-FFF2-40B4-BE49-F238E27FC236}">
                <a16:creationId xmlns:a16="http://schemas.microsoft.com/office/drawing/2014/main" id="{3B388C20-15C1-40A4-B4E7-7B72A2F24C20}"/>
              </a:ext>
            </a:extLst>
          </p:cNvPr>
          <p:cNvSpPr>
            <a:spLocks xmlns:a="http://schemas.openxmlformats.org/drawingml/2006/main" noGrp="1"/>
          </p:cNvSpPr>
          <p:nvPr/>
        </p:nvSpPr>
        <p:spPr>
          <a:xfrm xmlns:a="http://schemas.openxmlformats.org/drawingml/2006/main">
            <a:off x="647700" y="20097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高緯度ほど、緯線の間隔と地図上の長さが大きくなる。</a:t>
            </a:r>
          </a:p>
        </p:txBody>
      </p:sp>
      <p:pic>
        <p:nvPicPr>
          <p:cNvPr id="7" name="">
            <a:extLst xmlns:a="http://schemas.openxmlformats.org/drawingml/2006/main">
              <a:ext uri="{FF2B5EF4-FFF2-40B4-BE49-F238E27FC236}">
                <a16:creationId xmlns:a16="http://schemas.microsoft.com/office/drawing/2014/main" id="{DB996FC9-75B6-4A51-9C24-D5427EA96BF7}"/>
              </a:ext>
            </a:extLst>
          </p:cNvPr>
          <p:cNvPicPr>
            <a:picLocks xmlns:a="http://schemas.openxmlformats.org/drawingml/2006/main" noChangeAspect="1"/>
          </p:cNvPicPr>
          <p:nvPr/>
        </p:nvPicPr>
        <p:blipFill>
          <a:blip xmlns:r="http://schemas.openxmlformats.org/officeDocument/2006/relationships" xmlns:a="http://schemas.openxmlformats.org/drawingml/2006/main" r:embed="R4134c1a3d0d54cd0"/>
          <a:stretch xmlns:a="http://schemas.openxmlformats.org/drawingml/2006/main"/>
        </p:blipFill>
        <p:spPr>
          <a:xfrm xmlns:a="http://schemas.openxmlformats.org/drawingml/2006/main">
            <a:off x="3185014" y="2600325"/>
            <a:ext cx="5821972" cy="3276600"/>
          </a:xfrm>
          <a:prstGeom xmlns:a="http://schemas.openxmlformats.org/drawingml/2006/main" prst="rect">
            <a:avLst/>
          </a:prstGeom>
        </p:spPr>
      </p:pic>
    </p:spTree>
    <p:extLst>
      <p:ext uri="{BB962C8B-B14F-4D97-AF65-F5344CB8AC3E}">
        <p14:creationId xmlns:p14="http://schemas.microsoft.com/office/powerpoint/2010/main" val="1967136980"/>
      </p:ext>
    </p:extLst>
  </p:cSld>
</p:sld>
</file>

<file path=ppt/slides/slide39.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5" name="本文0">
            <a:extLst xmlns:a="http://schemas.openxmlformats.org/drawingml/2006/main">
              <a:ext uri="{FF2B5EF4-FFF2-40B4-BE49-F238E27FC236}">
                <a16:creationId xmlns:a16="http://schemas.microsoft.com/office/drawing/2014/main" id="{4A182ABB-8E5E-4096-87FA-516ECA2BC10F}"/>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3-3</a:t>
            </a:r>
          </a:p>
        </p:txBody>
      </p:sp>
      <p:sp>
        <p:nvSpPr>
          <p:cNvPr id="2" name="本文1">
            <a:extLst xmlns:a="http://schemas.openxmlformats.org/drawingml/2006/main">
              <a:ext uri="{FF2B5EF4-FFF2-40B4-BE49-F238E27FC236}">
                <a16:creationId xmlns:a16="http://schemas.microsoft.com/office/drawing/2014/main" id="{0A713783-DF14-4A0A-8AEA-DBBA9D3B39E6}"/>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メルカトル図法：角は正しく、面積はひずむ</a:t>
            </a:r>
          </a:p>
        </p:txBody>
      </p:sp>
      <p:sp>
        <p:nvSpPr>
          <p:cNvPr id="3" name="本文2">
            <a:extLst xmlns:a="http://schemas.openxmlformats.org/drawingml/2006/main">
              <a:ext uri="{FF2B5EF4-FFF2-40B4-BE49-F238E27FC236}">
                <a16:creationId xmlns:a16="http://schemas.microsoft.com/office/drawing/2014/main" id="{0ED249EE-1FD5-4F8D-83CF-AB5D5B2E2A58}"/>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39</a:t>
            </a:r>
          </a:p>
        </p:txBody>
      </p:sp>
      <p:pic>
        <p:nvPicPr>
          <p:cNvPr id="4" name="">
            <a:extLst xmlns:a="http://schemas.openxmlformats.org/drawingml/2006/main">
              <a:ext uri="{FF2B5EF4-FFF2-40B4-BE49-F238E27FC236}">
                <a16:creationId xmlns:a16="http://schemas.microsoft.com/office/drawing/2014/main" id="{66CD76A0-C423-47A7-9572-45FB30CFB342}"/>
              </a:ext>
            </a:extLst>
          </p:cNvPr>
          <p:cNvPicPr>
            <a:picLocks xmlns:a="http://schemas.openxmlformats.org/drawingml/2006/main" noChangeAspect="1"/>
          </p:cNvPicPr>
          <p:nvPr/>
        </p:nvPicPr>
        <p:blipFill>
          <a:blip xmlns:r="http://schemas.openxmlformats.org/officeDocument/2006/relationships" xmlns:a="http://schemas.openxmlformats.org/drawingml/2006/main" r:embed="R4d2ff030084a474d"/>
          <a:stretch xmlns:a="http://schemas.openxmlformats.org/drawingml/2006/main"/>
        </p:blipFill>
        <p:spPr>
          <a:xfrm xmlns:a="http://schemas.openxmlformats.org/drawingml/2006/main">
            <a:off x="590550" y="1414780"/>
            <a:ext cx="11010900" cy="4771390"/>
          </a:xfrm>
          <a:prstGeom xmlns:a="http://schemas.openxmlformats.org/drawingml/2006/main" prst="rect">
            <a:avLst/>
          </a:prstGeom>
        </p:spPr>
      </p:pic>
    </p:spTree>
    <p:extLst>
      <p:ext uri="{BB962C8B-B14F-4D97-AF65-F5344CB8AC3E}">
        <p14:creationId xmlns:p14="http://schemas.microsoft.com/office/powerpoint/2010/main" val="149674760"/>
      </p:ext>
    </p:extLst>
  </p:cSld>
</p:sld>
</file>

<file path=ppt/slides/slide40.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5" name="本文0">
            <a:extLst xmlns:a="http://schemas.openxmlformats.org/drawingml/2006/main">
              <a:ext uri="{FF2B5EF4-FFF2-40B4-BE49-F238E27FC236}">
                <a16:creationId xmlns:a16="http://schemas.microsoft.com/office/drawing/2014/main" id="{A2384BAA-FA1A-4706-8C86-C11CDBB5E7CC}"/>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3-3</a:t>
            </a:r>
          </a:p>
        </p:txBody>
      </p:sp>
      <p:sp>
        <p:nvSpPr>
          <p:cNvPr id="2" name="本文1">
            <a:extLst xmlns:a="http://schemas.openxmlformats.org/drawingml/2006/main">
              <a:ext uri="{FF2B5EF4-FFF2-40B4-BE49-F238E27FC236}">
                <a16:creationId xmlns:a16="http://schemas.microsoft.com/office/drawing/2014/main" id="{9F371D77-8BE0-4837-A743-6029546E30CC}"/>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円筒を横に倒す：横メルカトル＝ガウス・クリューゲル投影</a:t>
            </a:r>
          </a:p>
        </p:txBody>
      </p:sp>
      <p:sp>
        <p:nvSpPr>
          <p:cNvPr id="3" name="本文2">
            <a:extLst xmlns:a="http://schemas.openxmlformats.org/drawingml/2006/main">
              <a:ext uri="{FF2B5EF4-FFF2-40B4-BE49-F238E27FC236}">
                <a16:creationId xmlns:a16="http://schemas.microsoft.com/office/drawing/2014/main" id="{0DA5B4EE-1223-44F2-8899-1FFE2A09AD0A}"/>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40</a:t>
            </a:r>
          </a:p>
        </p:txBody>
      </p:sp>
      <p:pic>
        <p:nvPicPr>
          <p:cNvPr id="4" name="">
            <a:extLst xmlns:a="http://schemas.openxmlformats.org/drawingml/2006/main">
              <a:ext uri="{FF2B5EF4-FFF2-40B4-BE49-F238E27FC236}">
                <a16:creationId xmlns:a16="http://schemas.microsoft.com/office/drawing/2014/main" id="{6F6D3EE7-4B78-4835-83C5-9A403B1188E1}"/>
              </a:ext>
            </a:extLst>
          </p:cNvPr>
          <p:cNvPicPr>
            <a:picLocks xmlns:a="http://schemas.openxmlformats.org/drawingml/2006/main" noChangeAspect="1"/>
          </p:cNvPicPr>
          <p:nvPr/>
        </p:nvPicPr>
        <p:blipFill>
          <a:blip xmlns:r="http://schemas.openxmlformats.org/officeDocument/2006/relationships" xmlns:a="http://schemas.openxmlformats.org/drawingml/2006/main" r:embed="R80a5c25c03b34865"/>
          <a:stretch xmlns:a="http://schemas.openxmlformats.org/drawingml/2006/main"/>
        </p:blipFill>
        <p:spPr>
          <a:xfrm xmlns:a="http://schemas.openxmlformats.org/drawingml/2006/main">
            <a:off x="590550" y="1414780"/>
            <a:ext cx="11010900" cy="4771390"/>
          </a:xfrm>
          <a:prstGeom xmlns:a="http://schemas.openxmlformats.org/drawingml/2006/main" prst="rect">
            <a:avLst/>
          </a:prstGeom>
        </p:spPr>
      </p:pic>
    </p:spTree>
    <p:extLst>
      <p:ext uri="{BB962C8B-B14F-4D97-AF65-F5344CB8AC3E}">
        <p14:creationId xmlns:p14="http://schemas.microsoft.com/office/powerpoint/2010/main" val="746920866"/>
      </p:ext>
    </p:extLst>
  </p:cSld>
</p:sld>
</file>

<file path=ppt/slides/slide41.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5" name="本文0">
            <a:extLst xmlns:a="http://schemas.openxmlformats.org/drawingml/2006/main">
              <a:ext uri="{FF2B5EF4-FFF2-40B4-BE49-F238E27FC236}">
                <a16:creationId xmlns:a16="http://schemas.microsoft.com/office/drawing/2014/main" id="{172E3349-D28C-41C6-A133-47D6FECD447F}"/>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3-3</a:t>
            </a:r>
          </a:p>
        </p:txBody>
      </p:sp>
      <p:sp>
        <p:nvSpPr>
          <p:cNvPr id="2" name="本文1">
            <a:extLst xmlns:a="http://schemas.openxmlformats.org/drawingml/2006/main">
              <a:ext uri="{FF2B5EF4-FFF2-40B4-BE49-F238E27FC236}">
                <a16:creationId xmlns:a16="http://schemas.microsoft.com/office/drawing/2014/main" id="{C40D3780-B975-45E7-9BA7-C34D6810F85E}"/>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UTM 座標系：6° 幅の帯で世界を覆う</a:t>
            </a:r>
          </a:p>
        </p:txBody>
      </p:sp>
      <p:sp>
        <p:nvSpPr>
          <p:cNvPr id="3" name="本文2">
            <a:extLst xmlns:a="http://schemas.openxmlformats.org/drawingml/2006/main">
              <a:ext uri="{FF2B5EF4-FFF2-40B4-BE49-F238E27FC236}">
                <a16:creationId xmlns:a16="http://schemas.microsoft.com/office/drawing/2014/main" id="{09EF683A-7760-4D7B-8346-9077CB331E04}"/>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41</a:t>
            </a:r>
          </a:p>
        </p:txBody>
      </p:sp>
      <p:pic>
        <p:nvPicPr>
          <p:cNvPr id="4" name="">
            <a:extLst xmlns:a="http://schemas.openxmlformats.org/drawingml/2006/main">
              <a:ext uri="{FF2B5EF4-FFF2-40B4-BE49-F238E27FC236}">
                <a16:creationId xmlns:a16="http://schemas.microsoft.com/office/drawing/2014/main" id="{E5E809DE-562A-4E0C-87E0-1EBBD941AA46}"/>
              </a:ext>
            </a:extLst>
          </p:cNvPr>
          <p:cNvPicPr>
            <a:picLocks xmlns:a="http://schemas.openxmlformats.org/drawingml/2006/main" noChangeAspect="1"/>
          </p:cNvPicPr>
          <p:nvPr/>
        </p:nvPicPr>
        <p:blipFill>
          <a:blip xmlns:r="http://schemas.openxmlformats.org/officeDocument/2006/relationships" xmlns:a="http://schemas.openxmlformats.org/drawingml/2006/main" r:embed="R22a9aae2ab4146e1"/>
          <a:stretch xmlns:a="http://schemas.openxmlformats.org/drawingml/2006/main"/>
        </p:blipFill>
        <p:spPr>
          <a:xfrm xmlns:a="http://schemas.openxmlformats.org/drawingml/2006/main">
            <a:off x="590550" y="1414780"/>
            <a:ext cx="11010900" cy="4771390"/>
          </a:xfrm>
          <a:prstGeom xmlns:a="http://schemas.openxmlformats.org/drawingml/2006/main" prst="rect">
            <a:avLst/>
          </a:prstGeom>
        </p:spPr>
      </p:pic>
    </p:spTree>
    <p:extLst>
      <p:ext uri="{BB962C8B-B14F-4D97-AF65-F5344CB8AC3E}">
        <p14:creationId xmlns:p14="http://schemas.microsoft.com/office/powerpoint/2010/main" val="1061506357"/>
      </p:ext>
    </p:extLst>
  </p:cSld>
</p:sld>
</file>

<file path=ppt/slides/slide42.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6" name="本文0">
            <a:extLst xmlns:a="http://schemas.openxmlformats.org/drawingml/2006/main">
              <a:ext uri="{FF2B5EF4-FFF2-40B4-BE49-F238E27FC236}">
                <a16:creationId xmlns:a16="http://schemas.microsoft.com/office/drawing/2014/main" id="{A22461AE-BBC2-4C4C-98DD-A494BE326112}"/>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3-3</a:t>
            </a:r>
          </a:p>
        </p:txBody>
      </p:sp>
      <p:sp>
        <p:nvSpPr>
          <p:cNvPr id="2" name="本文1">
            <a:extLst xmlns:a="http://schemas.openxmlformats.org/drawingml/2006/main">
              <a:ext uri="{FF2B5EF4-FFF2-40B4-BE49-F238E27FC236}">
                <a16:creationId xmlns:a16="http://schemas.microsoft.com/office/drawing/2014/main" id="{5305CAE5-88F1-4ED6-AC9F-56536F185A4F}"/>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UTMと平面直角座標系の比較</a:t>
            </a:r>
          </a:p>
        </p:txBody>
      </p:sp>
      <p:sp>
        <p:nvSpPr>
          <p:cNvPr id="3" name="本文2">
            <a:extLst xmlns:a="http://schemas.openxmlformats.org/drawingml/2006/main">
              <a:ext uri="{FF2B5EF4-FFF2-40B4-BE49-F238E27FC236}">
                <a16:creationId xmlns:a16="http://schemas.microsoft.com/office/drawing/2014/main" id="{337D77AC-F296-4754-8ADA-674C3A3FAE8D}"/>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42</a:t>
            </a:r>
          </a:p>
        </p:txBody>
      </p:sp>
      <p:sp>
        <p:nvSpPr>
          <p:cNvPr id="4" name="本文3">
            <a:extLst xmlns:a="http://schemas.openxmlformats.org/drawingml/2006/main">
              <a:ext uri="{FF2B5EF4-FFF2-40B4-BE49-F238E27FC236}">
                <a16:creationId xmlns:a16="http://schemas.microsoft.com/office/drawing/2014/main" id="{49737B3F-D774-4F3A-96E4-1F000400167B}"/>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平面直角座標系は、中央子午線から東西それぞれ約130 kmが目安。</a:t>
            </a:r>
          </a:p>
        </p:txBody>
      </p:sp>
      <mc:AlternateContent xmlns:mc="http://schemas.openxmlformats.org/markup-compatibility/2006" xmlns:a14="http://schemas.microsoft.com/office/drawing/2010/main">
        <mc:Choice Requires="a14">
          <p:graphicFrame>
            <p:nvGraphicFramePr>
              <p:cNvPr id="5" name="">
                <a:extLst xmlns:a="http://schemas.openxmlformats.org/drawingml/2006/main">
                  <a:ext uri="{FF2B5EF4-FFF2-40B4-BE49-F238E27FC236}">
                    <a16:creationId xmlns:a16="http://schemas.microsoft.com/office/drawing/2014/main" id="{40E7927C-5E23-450B-B30D-E5D9BD428C76}"/>
                  </a:ext>
                </a:extLst>
              </p:cNvPr>
              <p:cNvGraphicFramePr/>
              <p:nvPr/>
            </p:nvGraphicFramePr>
            <p:xfrm>
              <a:off xmlns:a="http://schemas.openxmlformats.org/drawingml/2006/main" x="647700" y="1466850"/>
              <a:ext xmlns:a="http://schemas.openxmlformats.org/drawingml/2006/main" cx="10896600" cy="4173855"/>
            </p:xfrm>
            <a:graphic xmlns:a="http://schemas.openxmlformats.org/drawingml/2006/main">
              <a:graphicData uri="http://schemas.openxmlformats.org/drawingml/2006/table">
                <a:tbl>
                  <a:tblPr/>
                  <a:tblGrid>
                    <a:gridCol w="2615184"/>
                    <a:gridCol w="4140708"/>
                    <a:gridCol w="4140708"/>
                  </a:tblGrid>
                  <a:tr h="596265">
                    <a:tc>
                      <a:txBody>
                        <a:bodyPr lIns="114300" tIns="114300" rIns="114300" bIns="114300">
                          <a:noAutofit/>
                        </a:bodyPr>
                        <a:lstStyle/>
                        <a:p>
                          <a:pPr algn="l"/>
                          <a:r>
                            <a:rPr sz="2100" b="1">
                              <a:solidFill>
                                <a:srgbClr val="FFFFFF"/>
                              </a:solidFill>
                              <a:latin typeface="Meiryo"/>
                              <a:ea typeface="Meiryo"/>
                              <a:cs typeface="Meiryo"/>
                            </a:rPr>
                            <a:t>項目</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平面直角座標系</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UTM</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投影</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ガウス・クリューゲル（正角）</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横メルカトル（正角）</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区分</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日本を19系</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経度6°幅、世界60帯</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中央の縮尺係数</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0.9999</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0.9996</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座標の表示</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X</m:t>
                              </m:r>
                            </m:oMath>
                          </a14:m>
                          <a:r>
                            <a:rPr sz="2100" b="0">
                              <a:solidFill>
                                <a:srgbClr val="213C4B"/>
                              </a:solidFill>
                              <a:latin typeface="Meiryo"/>
                              <a:ea typeface="Meiryo"/>
                              <a:cs typeface="Meiryo"/>
                            </a:rPr>
                            <a:t>：北、</a:t>
                          </a:r>
                          <a14:m xmlns:m="http://schemas.openxmlformats.org/officeDocument/2006/math">
                            <m:oMath xmlns:mml="http://www.w3.org/1998/Math/MathML">
                              <m:r>
                                <a:rPr sz="2100" b="0" lang="en-US">
                                  <a:solidFill>
                                    <a:srgbClr val="213C4B"/>
                                  </a:solidFill>
                                  <a:latin typeface="Cambria Math"/>
                                  <a:ea typeface="Meiryo"/>
                                </a:rPr>
                                <m:t>Y</m:t>
                              </m:r>
                            </m:oMath>
                          </a14:m>
                          <a:r>
                            <a:rPr sz="2100" b="0">
                              <a:solidFill>
                                <a:srgbClr val="213C4B"/>
                              </a:solidFill>
                              <a:latin typeface="Meiryo"/>
                              <a:ea typeface="Meiryo"/>
                              <a:cs typeface="Meiryo"/>
                            </a:rPr>
                            <a:t>：東</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N</m:t>
                              </m:r>
                            </m:oMath>
                          </a14:m>
                          <a:r>
                            <a:rPr sz="2100" b="0">
                              <a:solidFill>
                                <a:srgbClr val="213C4B"/>
                              </a:solidFill>
                              <a:latin typeface="Meiryo"/>
                              <a:ea typeface="Meiryo"/>
                              <a:cs typeface="Meiryo"/>
                            </a:rPr>
                            <a:t>：北、</a:t>
                          </a:r>
                          <a14:m xmlns:m="http://schemas.openxmlformats.org/officeDocument/2006/math">
                            <m:oMath xmlns:mml="http://www.w3.org/1998/Math/MathML">
                              <m:r>
                                <a:rPr sz="2100" b="0" lang="en-US">
                                  <a:solidFill>
                                    <a:srgbClr val="213C4B"/>
                                  </a:solidFill>
                                  <a:latin typeface="Cambria Math"/>
                                  <a:ea typeface="Meiryo"/>
                                </a:rPr>
                                <m:t>E</m:t>
                              </m:r>
                            </m:oMath>
                          </a14:m>
                          <a:r>
                            <a:rPr sz="2100" b="0">
                              <a:solidFill>
                                <a:srgbClr val="213C4B"/>
                              </a:solidFill>
                              <a:latin typeface="Meiryo"/>
                              <a:ea typeface="Meiryo"/>
                              <a:cs typeface="Meiryo"/>
                            </a:rPr>
                            <a:t>：東</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原点・加算値</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原点 </a:t>
                          </a:r>
                          <a14:m xmlns:m="http://schemas.openxmlformats.org/officeDocument/2006/math">
                            <m:oMath xmlns:mml="http://www.w3.org/1998/Math/MathML">
                              <m:r>
                                <a:rPr sz="2100" b="0" lang="en-US">
                                  <a:solidFill>
                                    <a:srgbClr val="213C4B"/>
                                  </a:solidFill>
                                  <a:latin typeface="Cambria Math"/>
                                  <a:ea typeface="Meiryo"/>
                                </a:rPr>
                                <m:t>(0,0)</m:t>
                              </m:r>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東距に500 kmを加算</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帯広</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第XIII系</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第54帯（中央141°E）</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Choice>
        <mc:Fallback>
          <p:graphicFrame>
            <p:nvGraphicFramePr>
              <p:cNvPr id="5" name="">
                <a:extLst xmlns:a="http://schemas.openxmlformats.org/drawingml/2006/main">
                  <a:ext uri="{FF2B5EF4-FFF2-40B4-BE49-F238E27FC236}">
                    <a16:creationId xmlns:a16="http://schemas.microsoft.com/office/drawing/2014/main" id="{40E7927C-5E23-450B-B30D-E5D9BD428C76}"/>
                  </a:ext>
                </a:extLst>
              </p:cNvPr>
              <p:cNvGraphicFramePr/>
              <p:nvPr/>
            </p:nvGraphicFramePr>
            <p:xfrm>
              <a:off xmlns:a="http://schemas.openxmlformats.org/drawingml/2006/main" x="647700" y="1466850"/>
              <a:ext xmlns:a="http://schemas.openxmlformats.org/drawingml/2006/main" cx="10896600" cy="4173855"/>
            </p:xfrm>
            <a:graphic xmlns:a="http://schemas.openxmlformats.org/drawingml/2006/main">
              <a:graphicData uri="http://schemas.openxmlformats.org/drawingml/2006/table">
                <a:tbl>
                  <a:tblPr/>
                  <a:tblGrid>
                    <a:gridCol w="2615184"/>
                    <a:gridCol w="4140708"/>
                    <a:gridCol w="4140708"/>
                  </a:tblGrid>
                  <a:tr h="596265">
                    <a:tc>
                      <a:txBody>
                        <a:bodyPr lIns="114300" tIns="114300" rIns="114300" bIns="114300">
                          <a:noAutofit/>
                        </a:bodyPr>
                        <a:lstStyle/>
                        <a:p>
                          <a:pPr algn="l"/>
                          <a:r>
                            <a:rPr sz="2100" b="1">
                              <a:solidFill>
                                <a:srgbClr val="FFFFFF"/>
                              </a:solidFill>
                              <a:latin typeface="Meiryo"/>
                              <a:ea typeface="Meiryo"/>
                              <a:cs typeface="Meiryo"/>
                            </a:rPr>
                            <a:t>項目</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平面直角座標系</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UTM</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投影</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ガウス・クリューゲル（正角）</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横メルカトル（正角）</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区分</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日本を19系</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経度6°幅、世界60帯</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中央の縮尺係数</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0.9999</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0.9996</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座標の表示</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Cambria Math"/>
                              <a:ea typeface="Cambria Math"/>
                              <a:cs typeface="Cambria Math"/>
                            </a:rPr>
                            <a:t>X</a:t>
                          </a:r>
                          <a:r>
                            <a:rPr sz="2100" b="0">
                              <a:solidFill>
                                <a:srgbClr val="213C4B"/>
                              </a:solidFill>
                              <a:latin typeface="Meiryo"/>
                              <a:ea typeface="Meiryo"/>
                              <a:cs typeface="Meiryo"/>
                            </a:rPr>
                            <a:t>：北、</a:t>
                          </a:r>
                          <a:r>
                            <a:rPr sz="2100" b="0">
                              <a:solidFill>
                                <a:srgbClr val="213C4B"/>
                              </a:solidFill>
                              <a:latin typeface="Cambria Math"/>
                              <a:ea typeface="Cambria Math"/>
                              <a:cs typeface="Cambria Math"/>
                            </a:rPr>
                            <a:t>Y</a:t>
                          </a:r>
                          <a:r>
                            <a:rPr sz="2100" b="0">
                              <a:solidFill>
                                <a:srgbClr val="213C4B"/>
                              </a:solidFill>
                              <a:latin typeface="Meiryo"/>
                              <a:ea typeface="Meiryo"/>
                              <a:cs typeface="Meiryo"/>
                            </a:rPr>
                            <a:t>：東</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Cambria Math"/>
                              <a:ea typeface="Cambria Math"/>
                              <a:cs typeface="Cambria Math"/>
                            </a:rPr>
                            <a:t>N</a:t>
                          </a:r>
                          <a:r>
                            <a:rPr sz="2100" b="0">
                              <a:solidFill>
                                <a:srgbClr val="213C4B"/>
                              </a:solidFill>
                              <a:latin typeface="Meiryo"/>
                              <a:ea typeface="Meiryo"/>
                              <a:cs typeface="Meiryo"/>
                            </a:rPr>
                            <a:t>：北、</a:t>
                          </a:r>
                          <a:r>
                            <a:rPr sz="2100" b="0">
                              <a:solidFill>
                                <a:srgbClr val="213C4B"/>
                              </a:solidFill>
                              <a:latin typeface="Cambria Math"/>
                              <a:ea typeface="Cambria Math"/>
                              <a:cs typeface="Cambria Math"/>
                            </a:rPr>
                            <a:t>E</a:t>
                          </a:r>
                          <a:r>
                            <a:rPr sz="2100" b="0">
                              <a:solidFill>
                                <a:srgbClr val="213C4B"/>
                              </a:solidFill>
                              <a:latin typeface="Meiryo"/>
                              <a:ea typeface="Meiryo"/>
                              <a:cs typeface="Meiryo"/>
                            </a:rPr>
                            <a:t>：東</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原点・加算値</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原点 </a:t>
                          </a:r>
                          <a:r>
                            <a:rPr sz="2100" b="0">
                              <a:solidFill>
                                <a:srgbClr val="213C4B"/>
                              </a:solidFill>
                              <a:latin typeface="Cambria Math"/>
                              <a:ea typeface="Cambria Math"/>
                              <a:cs typeface="Cambria Math"/>
                            </a:rPr>
                            <a:t>(0,0)</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東距に500 kmを加算</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帯広</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第XIII系</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第54帯（中央141°E）</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Fallback>
      </mc:AlternateContent>
    </p:spTree>
    <p:extLst>
      <p:ext uri="{BB962C8B-B14F-4D97-AF65-F5344CB8AC3E}">
        <p14:creationId xmlns:p14="http://schemas.microsoft.com/office/powerpoint/2010/main" val="126593320"/>
      </p:ext>
    </p:extLst>
  </p:cSld>
</p:sld>
</file>

<file path=ppt/slides/slide43.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4D7F8EBC-ED85-4433-BB59-585D6A0F0B20}"/>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3-3</a:t>
            </a:r>
          </a:p>
        </p:txBody>
      </p:sp>
      <p:sp>
        <p:nvSpPr>
          <p:cNvPr id="2" name="本文1">
            <a:extLst xmlns:a="http://schemas.openxmlformats.org/drawingml/2006/main">
              <a:ext uri="{FF2B5EF4-FFF2-40B4-BE49-F238E27FC236}">
                <a16:creationId xmlns:a16="http://schemas.microsoft.com/office/drawing/2014/main" id="{7FC8C17F-853C-492E-80A0-3D24BE5EE94D}"/>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日本の原点と基準点</a:t>
            </a:r>
          </a:p>
        </p:txBody>
      </p:sp>
      <p:sp>
        <p:nvSpPr>
          <p:cNvPr id="3" name="本文2">
            <a:extLst xmlns:a="http://schemas.openxmlformats.org/drawingml/2006/main">
              <a:ext uri="{FF2B5EF4-FFF2-40B4-BE49-F238E27FC236}">
                <a16:creationId xmlns:a16="http://schemas.microsoft.com/office/drawing/2014/main" id="{B2B7050D-36F1-4F23-8723-E425F853C928}"/>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43</a:t>
            </a:r>
          </a:p>
        </p:txBody>
      </p:sp>
      <p:graphicFrame>
        <p:nvGraphicFramePr>
          <p:cNvPr id="4" name="">
            <a:extLst xmlns:a="http://schemas.openxmlformats.org/drawingml/2006/main">
              <a:ext uri="{FF2B5EF4-FFF2-40B4-BE49-F238E27FC236}">
                <a16:creationId xmlns:a16="http://schemas.microsoft.com/office/drawing/2014/main" id="{19A034DC-54D1-4194-9AD1-6793BF0905F4}"/>
              </a:ext>
            </a:extLst>
          </p:cNvPr>
          <p:cNvGraphicFramePr/>
          <p:nvPr/>
        </p:nvGraphicFramePr>
        <p:xfrm>
          <a:off xmlns:a="http://schemas.openxmlformats.org/drawingml/2006/main" x="647700" y="1466850"/>
          <a:ext xmlns:a="http://schemas.openxmlformats.org/drawingml/2006/main" cx="10896600" cy="2981325"/>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基準</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役割</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日本経緯度原点（麻布台）</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経緯度の基準</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日本水準原点（永田町）</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標高の基準、24.3900 m</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電子基準点</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GNSSの連続観測網</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三角点・水準点</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現地で位置・標高を引き継ぐ点</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p:sp>
        <p:nvSpPr>
          <p:cNvPr id="5" name="本文3">
            <a:extLst xmlns:a="http://schemas.openxmlformats.org/drawingml/2006/main">
              <a:ext uri="{FF2B5EF4-FFF2-40B4-BE49-F238E27FC236}">
                <a16:creationId xmlns:a16="http://schemas.microsoft.com/office/drawing/2014/main" id="{29539BC1-D25B-453E-A262-1CCCF20F82ED}"/>
              </a:ext>
            </a:extLst>
          </p:cNvPr>
          <p:cNvSpPr>
            <a:spLocks xmlns:a="http://schemas.openxmlformats.org/drawingml/2006/main" noGrp="1"/>
          </p:cNvSpPr>
          <p:nvPr/>
        </p:nvSpPr>
        <p:spPr>
          <a:xfrm xmlns:a="http://schemas.openxmlformats.org/drawingml/2006/main">
            <a:off x="647700" y="461962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測量法第11条：位置は </a:t>
            </a:r>
            <a:r>
              <a:rPr sz="2100" b="1">
                <a:solidFill>
                  <a:srgbClr val="137D78"/>
                </a:solidFill>
                <a:latin typeface="Meiryo"/>
                <a:ea typeface="Meiryo"/>
                <a:cs typeface="Meiryo"/>
              </a:rPr>
              <a:t>地理学的経緯度と平均海面からの高さ</a:t>
            </a:r>
            <a:r>
              <a:rPr sz="2100" b="0">
                <a:solidFill>
                  <a:srgbClr val="213C4B"/>
                </a:solidFill>
                <a:latin typeface="Meiryo"/>
                <a:ea typeface="Meiryo"/>
                <a:cs typeface="Meiryo"/>
              </a:rPr>
              <a:t>などで表す。</a:t>
            </a:r>
          </a:p>
        </p:txBody>
      </p:sp>
      <p:sp>
        <p:nvSpPr>
          <p:cNvPr id="6" name="本文4">
            <a:extLst xmlns:a="http://schemas.openxmlformats.org/drawingml/2006/main">
              <a:ext uri="{FF2B5EF4-FFF2-40B4-BE49-F238E27FC236}">
                <a16:creationId xmlns:a16="http://schemas.microsoft.com/office/drawing/2014/main" id="{D18D7F7B-F12B-4D14-AACE-759A6C49402D}"/>
              </a:ext>
            </a:extLst>
          </p:cNvPr>
          <p:cNvSpPr>
            <a:spLocks xmlns:a="http://schemas.openxmlformats.org/drawingml/2006/main" noGrp="1"/>
          </p:cNvSpPr>
          <p:nvPr/>
        </p:nvSpPr>
        <p:spPr>
          <a:xfrm xmlns:a="http://schemas.openxmlformats.org/drawingml/2006/main">
            <a:off x="647700" y="526732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距離・面積の基準面は </a:t>
            </a:r>
            <a:r>
              <a:rPr sz="2100" b="1">
                <a:solidFill>
                  <a:srgbClr val="137D78"/>
                </a:solidFill>
                <a:latin typeface="Meiryo"/>
                <a:ea typeface="Meiryo"/>
                <a:cs typeface="Meiryo"/>
              </a:rPr>
              <a:t>回転楕円体の表面</a:t>
            </a:r>
            <a:r>
              <a:rPr sz="2100" b="0">
                <a:solidFill>
                  <a:srgbClr val="213C4B"/>
                </a:solidFill>
                <a:latin typeface="Meiryo"/>
                <a:ea typeface="Meiryo"/>
                <a:cs typeface="Meiryo"/>
              </a:rPr>
              <a:t>。</a:t>
            </a:r>
          </a:p>
        </p:txBody>
      </p:sp>
    </p:spTree>
    <p:extLst>
      <p:ext uri="{BB962C8B-B14F-4D97-AF65-F5344CB8AC3E}">
        <p14:creationId xmlns:p14="http://schemas.microsoft.com/office/powerpoint/2010/main" val="1679121080"/>
      </p:ext>
    </p:extLst>
  </p:cSld>
</p:sld>
</file>

<file path=ppt/slides/slide44.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E041ABCF-5E50-4838-94EC-A372A1757230}"/>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3-3</a:t>
            </a:r>
          </a:p>
        </p:txBody>
      </p:sp>
      <p:sp>
        <p:nvSpPr>
          <p:cNvPr id="2" name="本文1">
            <a:extLst xmlns:a="http://schemas.openxmlformats.org/drawingml/2006/main">
              <a:ext uri="{FF2B5EF4-FFF2-40B4-BE49-F238E27FC236}">
                <a16:creationId xmlns:a16="http://schemas.microsoft.com/office/drawing/2014/main" id="{9DF53C17-73A3-4E1E-BE67-CEF792D8941B}"/>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測地成果2024：標高成果の改定</a:t>
            </a:r>
          </a:p>
        </p:txBody>
      </p:sp>
      <p:sp>
        <p:nvSpPr>
          <p:cNvPr id="3" name="本文2">
            <a:extLst xmlns:a="http://schemas.openxmlformats.org/drawingml/2006/main">
              <a:ext uri="{FF2B5EF4-FFF2-40B4-BE49-F238E27FC236}">
                <a16:creationId xmlns:a16="http://schemas.microsoft.com/office/drawing/2014/main" id="{EE1AFB3C-2AF1-4E6F-A8B6-271BE2CA80AA}"/>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44</a:t>
            </a:r>
          </a:p>
        </p:txBody>
      </p:sp>
      <p:sp>
        <p:nvSpPr>
          <p:cNvPr id="4" name="本文3">
            <a:extLst xmlns:a="http://schemas.openxmlformats.org/drawingml/2006/main">
              <a:ext uri="{FF2B5EF4-FFF2-40B4-BE49-F238E27FC236}">
                <a16:creationId xmlns:a16="http://schemas.microsoft.com/office/drawing/2014/main" id="{AB6BCECB-926C-4044-87D3-615B3DBFE9AD}"/>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成果の年次と、使ったジオイドモデルをセットで確認する。</a:t>
            </a:r>
          </a:p>
        </p:txBody>
      </p:sp>
      <p:graphicFrame>
        <p:nvGraphicFramePr>
          <p:cNvPr id="5" name="">
            <a:extLst xmlns:a="http://schemas.openxmlformats.org/drawingml/2006/main">
              <a:ext uri="{FF2B5EF4-FFF2-40B4-BE49-F238E27FC236}">
                <a16:creationId xmlns:a16="http://schemas.microsoft.com/office/drawing/2014/main" id="{0C395391-D2B4-4E2D-8256-D1E9B0F7D7CF}"/>
              </a:ext>
            </a:extLst>
          </p:cNvPr>
          <p:cNvGraphicFramePr/>
          <p:nvPr/>
        </p:nvGraphicFramePr>
        <p:xfrm>
          <a:off xmlns:a="http://schemas.openxmlformats.org/drawingml/2006/main" x="647700" y="1466850"/>
          <a:ext xmlns:a="http://schemas.openxmlformats.org/drawingml/2006/main" cx="10896600" cy="3075623"/>
        </p:xfrm>
        <a:graphic xmlns:a="http://schemas.openxmlformats.org/drawingml/2006/main">
          <a:graphicData uri="http://schemas.openxmlformats.org/drawingml/2006/table">
            <a:tbl>
              <a:tblPr/>
              <a:tblGrid>
                <a:gridCol w="4031742"/>
                <a:gridCol w="6864858"/>
              </a:tblGrid>
              <a:tr h="582454">
                <a:tc>
                  <a:txBody>
                    <a:bodyPr lIns="114300" tIns="114300" rIns="114300" bIns="114300">
                      <a:noAutofit/>
                    </a:bodyPr>
                    <a:lstStyle/>
                    <a:p>
                      <a:pPr algn="l"/>
                      <a:r>
                        <a:rPr sz="2025" b="1">
                          <a:solidFill>
                            <a:srgbClr val="FFFFFF"/>
                          </a:solidFill>
                          <a:latin typeface="Meiryo"/>
                          <a:ea typeface="Meiryo"/>
                          <a:cs typeface="Meiryo"/>
                        </a:rPr>
                        <a:t>変わったこと</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025" b="1">
                          <a:solidFill>
                            <a:srgbClr val="FFFFFF"/>
                          </a:solidFill>
                          <a:latin typeface="Meiryo"/>
                          <a:ea typeface="Meiryo"/>
                          <a:cs typeface="Meiryo"/>
                        </a:rPr>
                        <a:t>継続していること</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955358">
                <a:tc>
                  <a:txBody>
                    <a:bodyPr lIns="114300" tIns="114300" rIns="114300" bIns="114300">
                      <a:noAutofit/>
                    </a:bodyPr>
                    <a:lstStyle/>
                    <a:p>
                      <a:pPr algn="l"/>
                      <a:r>
                        <a:rPr sz="2025" b="0">
                          <a:solidFill>
                            <a:srgbClr val="213C4B"/>
                          </a:solidFill>
                          <a:latin typeface="Meiryo"/>
                          <a:ea typeface="Meiryo"/>
                          <a:cs typeface="Meiryo"/>
                        </a:rPr>
                        <a:t>2025年4月1日に標高成果を改定</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025" b="0">
                          <a:solidFill>
                            <a:srgbClr val="213C4B"/>
                          </a:solidFill>
                          <a:latin typeface="Meiryo"/>
                          <a:ea typeface="Meiryo"/>
                          <a:cs typeface="Meiryo"/>
                        </a:rPr>
                        <a:t>緯度・経度・平面直角座標の成果</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955358">
                <a:tc>
                  <a:txBody>
                    <a:bodyPr lIns="114300" tIns="114300" rIns="114300" bIns="114300">
                      <a:noAutofit/>
                    </a:bodyPr>
                    <a:lstStyle/>
                    <a:p>
                      <a:pPr algn="l"/>
                      <a:r>
                        <a:rPr sz="2025" b="0">
                          <a:solidFill>
                            <a:srgbClr val="213C4B"/>
                          </a:solidFill>
                          <a:latin typeface="Meiryo"/>
                          <a:ea typeface="Meiryo"/>
                          <a:cs typeface="Meiryo"/>
                        </a:rPr>
                        <a:t>衛星測位と新しいジオイドモデルを利用</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025" b="0">
                          <a:solidFill>
                            <a:srgbClr val="213C4B"/>
                          </a:solidFill>
                          <a:latin typeface="Meiryo"/>
                          <a:ea typeface="Meiryo"/>
                          <a:cs typeface="Meiryo"/>
                        </a:rPr>
                        <a:t>測地系の定義・GRS80楕円体</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82454">
                <a:tc>
                  <a:txBody>
                    <a:bodyPr lIns="114300" tIns="114300" rIns="114300" bIns="114300">
                      <a:noAutofit/>
                    </a:bodyPr>
                    <a:lstStyle/>
                    <a:p>
                      <a:pPr algn="l"/>
                      <a:r>
                        <a:rPr sz="2025" b="0">
                          <a:solidFill>
                            <a:srgbClr val="213C4B"/>
                          </a:solidFill>
                          <a:latin typeface="Meiryo"/>
                          <a:ea typeface="Meiryo"/>
                          <a:cs typeface="Meiryo"/>
                        </a:rPr>
                        <a:t>名称をJGD2024に統一</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025" b="0">
                          <a:solidFill>
                            <a:srgbClr val="213C4B"/>
                          </a:solidFill>
                          <a:latin typeface="Meiryo"/>
                          <a:ea typeface="Meiryo"/>
                          <a:cs typeface="Meiryo"/>
                        </a:rPr>
                        <a:t>日本水準原点の値 24.3900 m</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p:sp>
        <p:nvSpPr>
          <p:cNvPr id="6" name="本文4">
            <a:extLst xmlns:a="http://schemas.openxmlformats.org/drawingml/2006/main">
              <a:ext uri="{FF2B5EF4-FFF2-40B4-BE49-F238E27FC236}">
                <a16:creationId xmlns:a16="http://schemas.microsoft.com/office/drawing/2014/main" id="{EF390468-E7BA-4A5E-B102-62D5C7F226C9}"/>
              </a:ext>
            </a:extLst>
          </p:cNvPr>
          <p:cNvSpPr>
            <a:spLocks xmlns:a="http://schemas.openxmlformats.org/drawingml/2006/main" noGrp="1"/>
          </p:cNvSpPr>
          <p:nvPr/>
        </p:nvSpPr>
        <p:spPr>
          <a:xfrm xmlns:a="http://schemas.openxmlformats.org/drawingml/2006/main">
            <a:off x="647700" y="4713923"/>
            <a:ext cx="10896600" cy="4619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0">
                <a:solidFill>
                  <a:srgbClr val="213C4B"/>
                </a:solidFill>
                <a:latin typeface="Meiryo"/>
                <a:ea typeface="Meiryo"/>
                <a:cs typeface="Meiryo"/>
              </a:defRPr>
            </a:defPPr>
          </a:lstStyle>
          <a:p xmlns:a="http://schemas.openxmlformats.org/drawingml/2006/main">
            <a:pPr algn="l">
              <a:defRPr sz="2025" b="0">
                <a:solidFill>
                  <a:srgbClr val="213C4B"/>
                </a:solidFill>
                <a:latin typeface="Meiryo"/>
                <a:ea typeface="Meiryo"/>
                <a:cs typeface="Meiryo"/>
              </a:defRPr>
            </a:pPr>
            <a:r>
              <a:rPr sz="2025" b="0">
                <a:solidFill>
                  <a:srgbClr val="213C4B"/>
                </a:solidFill>
                <a:latin typeface="Meiryo"/>
                <a:ea typeface="Meiryo"/>
                <a:cs typeface="Meiryo"/>
              </a:rPr>
              <a:t>•  標高の元期は </a:t>
            </a:r>
            <a:r>
              <a:rPr sz="2025" b="1">
                <a:solidFill>
                  <a:srgbClr val="137D78"/>
                </a:solidFill>
                <a:latin typeface="Meiryo"/>
                <a:ea typeface="Meiryo"/>
                <a:cs typeface="Meiryo"/>
              </a:rPr>
              <a:t>2024年6月1日</a:t>
            </a:r>
            <a:r>
              <a:rPr sz="2025" b="0">
                <a:solidFill>
                  <a:srgbClr val="213C4B"/>
                </a:solidFill>
                <a:latin typeface="Meiryo"/>
                <a:ea typeface="Meiryo"/>
                <a:cs typeface="Meiryo"/>
              </a:rPr>
              <a:t>。</a:t>
            </a:r>
          </a:p>
        </p:txBody>
      </p:sp>
      <p:sp>
        <p:nvSpPr>
          <p:cNvPr id="7" name="本文5">
            <a:extLst xmlns:a="http://schemas.openxmlformats.org/drawingml/2006/main">
              <a:ext uri="{FF2B5EF4-FFF2-40B4-BE49-F238E27FC236}">
                <a16:creationId xmlns:a16="http://schemas.microsoft.com/office/drawing/2014/main" id="{1FBCCD28-22AF-4A59-A36D-E3D5A3B68EED}"/>
              </a:ext>
            </a:extLst>
          </p:cNvPr>
          <p:cNvSpPr>
            <a:spLocks xmlns:a="http://schemas.openxmlformats.org/drawingml/2006/main" noGrp="1"/>
          </p:cNvSpPr>
          <p:nvPr/>
        </p:nvSpPr>
        <p:spPr>
          <a:xfrm xmlns:a="http://schemas.openxmlformats.org/drawingml/2006/main">
            <a:off x="647700" y="5347335"/>
            <a:ext cx="10896600" cy="4619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0">
                <a:solidFill>
                  <a:srgbClr val="213C4B"/>
                </a:solidFill>
                <a:latin typeface="Meiryo"/>
                <a:ea typeface="Meiryo"/>
                <a:cs typeface="Meiryo"/>
              </a:defRPr>
            </a:defPPr>
          </a:lstStyle>
          <a:p xmlns:a="http://schemas.openxmlformats.org/drawingml/2006/main">
            <a:pPr algn="l">
              <a:defRPr sz="2025" b="0">
                <a:solidFill>
                  <a:srgbClr val="213C4B"/>
                </a:solidFill>
                <a:latin typeface="Meiryo"/>
                <a:ea typeface="Meiryo"/>
                <a:cs typeface="Meiryo"/>
              </a:defRPr>
            </a:pPr>
            <a:r>
              <a:rPr sz="2025" b="0">
                <a:solidFill>
                  <a:srgbClr val="213C4B"/>
                </a:solidFill>
                <a:latin typeface="Meiryo"/>
                <a:ea typeface="Meiryo"/>
                <a:cs typeface="Meiryo"/>
              </a:rPr>
              <a:t>•  旧成果・旧ジオイドモデルと混ぜず、必要なら標高補正パラメータで改算する。</a:t>
            </a:r>
          </a:p>
        </p:txBody>
      </p:sp>
    </p:spTree>
    <p:extLst>
      <p:ext uri="{BB962C8B-B14F-4D97-AF65-F5344CB8AC3E}">
        <p14:creationId xmlns:p14="http://schemas.microsoft.com/office/powerpoint/2010/main" val="1249455187"/>
      </p:ext>
    </p:extLst>
  </p:cSld>
</p:sld>
</file>

<file path=ppt/slides/slide45.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B5039004-C5C8-411C-B431-37C951FC2EF4}"/>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3-3</a:t>
            </a:r>
          </a:p>
        </p:txBody>
      </p:sp>
      <p:sp>
        <p:nvSpPr>
          <p:cNvPr id="2" name="本文1">
            <a:extLst xmlns:a="http://schemas.openxmlformats.org/drawingml/2006/main">
              <a:ext uri="{FF2B5EF4-FFF2-40B4-BE49-F238E27FC236}">
                <a16:creationId xmlns:a16="http://schemas.microsoft.com/office/drawing/2014/main" id="{02797287-164B-4EA8-B3B4-44764B30019B}"/>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セミ・ダイナミック補正</a:t>
            </a:r>
          </a:p>
        </p:txBody>
      </p:sp>
      <p:sp>
        <p:nvSpPr>
          <p:cNvPr id="3" name="本文2">
            <a:extLst xmlns:a="http://schemas.openxmlformats.org/drawingml/2006/main">
              <a:ext uri="{FF2B5EF4-FFF2-40B4-BE49-F238E27FC236}">
                <a16:creationId xmlns:a16="http://schemas.microsoft.com/office/drawing/2014/main" id="{48ED569D-BC8E-44D7-B730-ED40920B45DB}"/>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45</a:t>
            </a:r>
          </a:p>
        </p:txBody>
      </p:sp>
      <p:sp>
        <p:nvSpPr>
          <p:cNvPr id="4" name="本文3">
            <a:extLst xmlns:a="http://schemas.openxmlformats.org/drawingml/2006/main">
              <a:ext uri="{FF2B5EF4-FFF2-40B4-BE49-F238E27FC236}">
                <a16:creationId xmlns:a16="http://schemas.microsoft.com/office/drawing/2014/main" id="{7E6959D0-526B-441B-A7E8-A9ED000FCDC6}"/>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長い基線では地殻変動の影響も大きくなる。時点をそろえて計算する。</a:t>
            </a:r>
          </a:p>
        </p:txBody>
      </p:sp>
      <p:sp>
        <p:nvSpPr>
          <p:cNvPr id="5" name="本文4">
            <a:extLst xmlns:a="http://schemas.openxmlformats.org/drawingml/2006/main">
              <a:ext uri="{FF2B5EF4-FFF2-40B4-BE49-F238E27FC236}">
                <a16:creationId xmlns:a16="http://schemas.microsoft.com/office/drawing/2014/main" id="{6B96818C-4D92-4269-B148-70FE2A74A260}"/>
              </a:ext>
            </a:extLst>
          </p:cNvPr>
          <p:cNvSpPr>
            <a:spLocks xmlns:a="http://schemas.openxmlformats.org/drawingml/2006/main" noGrp="1"/>
          </p:cNvSpPr>
          <p:nvPr/>
        </p:nvSpPr>
        <p:spPr>
          <a:xfrm xmlns:a="http://schemas.openxmlformats.org/drawingml/2006/main">
            <a:off x="647700" y="192595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地面は動く。成果表は </a:t>
            </a:r>
            <a:r>
              <a:rPr sz="2100" b="1">
                <a:solidFill>
                  <a:srgbClr val="137D78"/>
                </a:solidFill>
                <a:latin typeface="Meiryo"/>
                <a:ea typeface="Meiryo"/>
                <a:cs typeface="Meiryo"/>
              </a:rPr>
              <a:t>元期</a:t>
            </a:r>
            <a:r>
              <a:rPr sz="2100" b="0">
                <a:solidFill>
                  <a:srgbClr val="213C4B"/>
                </a:solidFill>
                <a:latin typeface="Meiryo"/>
                <a:ea typeface="Meiryo"/>
                <a:cs typeface="Meiryo"/>
              </a:rPr>
              <a:t>、観測は </a:t>
            </a:r>
            <a:r>
              <a:rPr sz="2100" b="1">
                <a:solidFill>
                  <a:srgbClr val="137D78"/>
                </a:solidFill>
                <a:latin typeface="Meiryo"/>
                <a:ea typeface="Meiryo"/>
                <a:cs typeface="Meiryo"/>
              </a:rPr>
              <a:t>今期</a:t>
            </a:r>
            <a:r>
              <a:rPr sz="2100" b="0">
                <a:solidFill>
                  <a:srgbClr val="213C4B"/>
                </a:solidFill>
                <a:latin typeface="Meiryo"/>
                <a:ea typeface="Meiryo"/>
                <a:cs typeface="Meiryo"/>
              </a:rPr>
              <a:t>の位置を表す。</a:t>
            </a:r>
          </a:p>
        </p:txBody>
      </p:sp>
      <p:graphicFrame>
        <p:nvGraphicFramePr>
          <p:cNvPr id="6" name="">
            <a:extLst xmlns:a="http://schemas.openxmlformats.org/drawingml/2006/main">
              <a:ext uri="{FF2B5EF4-FFF2-40B4-BE49-F238E27FC236}">
                <a16:creationId xmlns:a16="http://schemas.microsoft.com/office/drawing/2014/main" id="{19C87B2A-6BAA-4791-A20B-24228C6E8500}"/>
              </a:ext>
            </a:extLst>
          </p:cNvPr>
          <p:cNvGraphicFramePr/>
          <p:nvPr/>
        </p:nvGraphicFramePr>
        <p:xfrm>
          <a:off xmlns:a="http://schemas.openxmlformats.org/drawingml/2006/main" x="647700" y="2573655"/>
          <a:ext xmlns:a="http://schemas.openxmlformats.org/drawingml/2006/main" cx="10896600" cy="238506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手順</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座標の扱い</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1　観測日の座標へ</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元期の既知点座標に補正量を加える</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2　観測を計算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今期で網平均する</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3　成果の基準日へ</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新点の今期座標から補正量を引く</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p:spTree>
    <p:extLst>
      <p:ext uri="{BB962C8B-B14F-4D97-AF65-F5344CB8AC3E}">
        <p14:creationId xmlns:p14="http://schemas.microsoft.com/office/powerpoint/2010/main" val="1011620643"/>
      </p:ext>
    </p:extLst>
  </p:cSld>
</p:sld>
</file>

<file path=ppt/slides/slide46.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6" name="本文0">
            <a:extLst xmlns:a="http://schemas.openxmlformats.org/drawingml/2006/main">
              <a:ext uri="{FF2B5EF4-FFF2-40B4-BE49-F238E27FC236}">
                <a16:creationId xmlns:a16="http://schemas.microsoft.com/office/drawing/2014/main" id="{D88D4B60-8155-4AA8-9D6C-C381D2E7C3FA}"/>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3-3</a:t>
            </a:r>
          </a:p>
        </p:txBody>
      </p:sp>
      <p:sp>
        <p:nvSpPr>
          <p:cNvPr id="2" name="本文1">
            <a:extLst xmlns:a="http://schemas.openxmlformats.org/drawingml/2006/main">
              <a:ext uri="{FF2B5EF4-FFF2-40B4-BE49-F238E27FC236}">
                <a16:creationId xmlns:a16="http://schemas.microsoft.com/office/drawing/2014/main" id="{7BC1AB74-0DEB-45A0-AA82-E5473FFB0DF6}"/>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試験の要点：基準を取り違えない</a:t>
            </a:r>
          </a:p>
        </p:txBody>
      </p:sp>
      <p:sp>
        <p:nvSpPr>
          <p:cNvPr id="3" name="本文2">
            <a:extLst xmlns:a="http://schemas.openxmlformats.org/drawingml/2006/main">
              <a:ext uri="{FF2B5EF4-FFF2-40B4-BE49-F238E27FC236}">
                <a16:creationId xmlns:a16="http://schemas.microsoft.com/office/drawing/2014/main" id="{1C795AFC-2858-4EC7-92AF-3A7F02BC8057}"/>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46</a:t>
            </a:r>
          </a:p>
        </p:txBody>
      </p:sp>
      <p:sp>
        <p:nvSpPr>
          <p:cNvPr id="4" name="本文3">
            <a:extLst xmlns:a="http://schemas.openxmlformats.org/drawingml/2006/main">
              <a:ext uri="{FF2B5EF4-FFF2-40B4-BE49-F238E27FC236}">
                <a16:creationId xmlns:a16="http://schemas.microsoft.com/office/drawing/2014/main" id="{103C8C39-F47B-4A3F-82D7-CAFD45097BBB}"/>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定義は「何を基準に、どの方向へ測るか」で説明する。</a:t>
            </a:r>
          </a:p>
        </p:txBody>
      </p:sp>
      <mc:AlternateContent xmlns:mc="http://schemas.openxmlformats.org/markup-compatibility/2006" xmlns:a14="http://schemas.microsoft.com/office/drawing/2010/main">
        <mc:Choice Requires="a14">
          <p:graphicFrame>
            <p:nvGraphicFramePr>
              <p:cNvPr id="5" name="">
                <a:extLst xmlns:a="http://schemas.openxmlformats.org/drawingml/2006/main">
                  <a:ext uri="{FF2B5EF4-FFF2-40B4-BE49-F238E27FC236}">
                    <a16:creationId xmlns:a16="http://schemas.microsoft.com/office/drawing/2014/main" id="{0CEFFDA0-A638-4AEA-B103-439E5CD3195A}"/>
                  </a:ext>
                </a:extLst>
              </p:cNvPr>
              <p:cNvGraphicFramePr/>
              <p:nvPr/>
            </p:nvGraphicFramePr>
            <p:xfrm>
              <a:off xmlns:a="http://schemas.openxmlformats.org/drawingml/2006/main" x="647700" y="1744345"/>
              <a:ext xmlns:a="http://schemas.openxmlformats.org/drawingml/2006/main" cx="10896600" cy="357759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問われるもの</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押さえる関係</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高さ</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H=h−N</m:t>
                              </m:r>
                            </m:oMath>
                          </a14:m>
                          <a:r>
                            <a:rPr sz="2100" b="0">
                              <a:solidFill>
                                <a:srgbClr val="213C4B"/>
                              </a:solidFill>
                              <a:latin typeface="Meiryo"/>
                              <a:ea typeface="Meiryo"/>
                              <a:cs typeface="Meiryo"/>
                            </a:rPr>
                            <a:t>。</a:t>
                          </a:r>
                          <a14:m xmlns:m="http://schemas.openxmlformats.org/officeDocument/2006/math">
                            <m:oMath xmlns:mml="http://www.w3.org/1998/Math/MathML">
                              <m:r>
                                <a:rPr sz="2100" b="0" lang="en-US">
                                  <a:solidFill>
                                    <a:srgbClr val="213C4B"/>
                                  </a:solidFill>
                                  <a:latin typeface="Cambria Math"/>
                                  <a:ea typeface="Meiryo"/>
                                </a:rPr>
                                <m:t>N</m:t>
                              </m:r>
                            </m:oMath>
                          </a14:m>
                          <a:r>
                            <a:rPr sz="2100" b="0">
                              <a:solidFill>
                                <a:srgbClr val="213C4B"/>
                              </a:solidFill>
                              <a:latin typeface="Meiryo"/>
                              <a:ea typeface="Meiryo"/>
                              <a:cs typeface="Meiryo"/>
                            </a:rPr>
                            <a:t> は楕円体からジオイドまで</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地球の形</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楕円体の短軸が自転軸に一致</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地心直交座標</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日本は </a:t>
                          </a:r>
                          <a14:m xmlns:m="http://schemas.openxmlformats.org/officeDocument/2006/math">
                            <m:oMath xmlns:mml="http://www.w3.org/1998/Math/MathML">
                              <m:r>
                                <a:rPr sz="2100" b="0" lang="en-US">
                                  <a:solidFill>
                                    <a:srgbClr val="213C4B"/>
                                  </a:solidFill>
                                  <a:latin typeface="Cambria Math"/>
                                  <a:ea typeface="Meiryo"/>
                                </a:rPr>
                                <m:t>X&lt;0,</m:t>
                              </m:r>
                              <m:r>
                                <m:rPr>
                                  <m:nor/>
                                </m:rPr>
                                <a:rPr sz="2100" b="0" lang="en-US">
                                  <a:solidFill>
                                    <a:srgbClr val="213C4B"/>
                                  </a:solidFill>
                                  <a:latin typeface="Cambria Math"/>
                                  <a:ea typeface="Meiryo"/>
                                </a:rPr>
                                <m:t> </m:t>
                              </m:r>
                              <m:r>
                                <a:rPr sz="2100" b="0" lang="en-US">
                                  <a:solidFill>
                                    <a:srgbClr val="213C4B"/>
                                  </a:solidFill>
                                  <a:latin typeface="Cambria Math"/>
                                  <a:ea typeface="Meiryo"/>
                                </a:rPr>
                                <m:t>Y&gt;0,</m:t>
                              </m:r>
                              <m:r>
                                <m:rPr>
                                  <m:nor/>
                                </m:rPr>
                                <a:rPr sz="2100" b="0" lang="en-US">
                                  <a:solidFill>
                                    <a:srgbClr val="213C4B"/>
                                  </a:solidFill>
                                  <a:latin typeface="Cambria Math"/>
                                  <a:ea typeface="Meiryo"/>
                                </a:rPr>
                                <m:t> </m:t>
                              </m:r>
                              <m:r>
                                <a:rPr sz="2100" b="0" lang="en-US">
                                  <a:solidFill>
                                    <a:srgbClr val="213C4B"/>
                                  </a:solidFill>
                                  <a:latin typeface="Cambria Math"/>
                                  <a:ea typeface="Meiryo"/>
                                </a:rPr>
                                <m:t>Z&gt;0</m:t>
                              </m:r>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測地成果</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2024は標高改定。元期と今期を区別</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投影</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正角。UTMは6°幅、平面直角座標は19系</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Choice>
        <mc:Fallback>
          <p:graphicFrame>
            <p:nvGraphicFramePr>
              <p:cNvPr id="5" name="">
                <a:extLst xmlns:a="http://schemas.openxmlformats.org/drawingml/2006/main">
                  <a:ext uri="{FF2B5EF4-FFF2-40B4-BE49-F238E27FC236}">
                    <a16:creationId xmlns:a16="http://schemas.microsoft.com/office/drawing/2014/main" id="{0CEFFDA0-A638-4AEA-B103-439E5CD3195A}"/>
                  </a:ext>
                </a:extLst>
              </p:cNvPr>
              <p:cNvGraphicFramePr/>
              <p:nvPr/>
            </p:nvGraphicFramePr>
            <p:xfrm>
              <a:off xmlns:a="http://schemas.openxmlformats.org/drawingml/2006/main" x="647700" y="1744345"/>
              <a:ext xmlns:a="http://schemas.openxmlformats.org/drawingml/2006/main" cx="10896600" cy="357759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問われるもの</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押さえる関係</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高さ</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Cambria Math"/>
                              <a:ea typeface="Cambria Math"/>
                              <a:cs typeface="Cambria Math"/>
                            </a:rPr>
                            <a:t>H=h-N</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N</a:t>
                          </a:r>
                          <a:r>
                            <a:rPr sz="2100" b="0">
                              <a:solidFill>
                                <a:srgbClr val="213C4B"/>
                              </a:solidFill>
                              <a:latin typeface="Meiryo"/>
                              <a:ea typeface="Meiryo"/>
                              <a:cs typeface="Meiryo"/>
                            </a:rPr>
                            <a:t> は楕円体からジオイドまで</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地球の形</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楕円体の短軸が自転軸に一致</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地心直交座標</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日本は </a:t>
                          </a:r>
                          <a:r>
                            <a:rPr sz="2100" b="0">
                              <a:solidFill>
                                <a:srgbClr val="213C4B"/>
                              </a:solidFill>
                              <a:latin typeface="Cambria Math"/>
                              <a:ea typeface="Cambria Math"/>
                              <a:cs typeface="Cambria Math"/>
                            </a:rPr>
                            <a:t>X&lt;0,\ Y&gt;0,\ Z&gt;0</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測地成果</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2024は標高改定。元期と今期を区別</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投影</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正角。UTMは6°幅、平面直角座標は19系</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Fallback>
      </mc:AlternateContent>
    </p:spTree>
    <p:extLst>
      <p:ext uri="{BB962C8B-B14F-4D97-AF65-F5344CB8AC3E}">
        <p14:creationId xmlns:p14="http://schemas.microsoft.com/office/powerpoint/2010/main" val="1227957117"/>
      </p:ext>
    </p:extLst>
  </p:cSld>
</p:sld>
</file>

<file path=ppt/slides/slide47.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DD982C4E-87B1-4D9F-919C-AE49843CDADE}"/>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3-4</a:t>
            </a:r>
          </a:p>
        </p:txBody>
      </p:sp>
      <p:sp>
        <p:nvSpPr>
          <p:cNvPr id="2" name="本文1">
            <a:extLst xmlns:a="http://schemas.openxmlformats.org/drawingml/2006/main">
              <a:ext uri="{FF2B5EF4-FFF2-40B4-BE49-F238E27FC236}">
                <a16:creationId xmlns:a16="http://schemas.microsoft.com/office/drawing/2014/main" id="{E374620C-3713-43A9-AB85-9B67DD2A5C99}"/>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平面直角座標系：日本を19系に分ける</a:t>
            </a:r>
          </a:p>
        </p:txBody>
      </p:sp>
      <p:sp>
        <p:nvSpPr>
          <p:cNvPr id="3" name="本文2">
            <a:extLst xmlns:a="http://schemas.openxmlformats.org/drawingml/2006/main">
              <a:ext uri="{FF2B5EF4-FFF2-40B4-BE49-F238E27FC236}">
                <a16:creationId xmlns:a16="http://schemas.microsoft.com/office/drawing/2014/main" id="{46ED58A6-0541-49C2-8173-BB5675ED6E4E}"/>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47</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FC93C960-24FE-410D-B78B-C964DC3DEFD9}"/>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原点を緯度・経度で定め、その座標を </a:t>
                </a:r>
                <a14:m xmlns:m="http://schemas.openxmlformats.org/officeDocument/2006/math">
                  <m:oMath xmlns:mml="http://www.w3.org/1998/Math/MathML">
                    <m:r>
                      <a:rPr sz="1950" b="0" lang="en-US">
                        <a:solidFill>
                          <a:srgbClr val="213C4B"/>
                        </a:solidFill>
                        <a:latin typeface="Cambria Math"/>
                        <a:ea typeface="Meiryo"/>
                      </a:rPr>
                      <m:t>(X,Y)=(0,0)</m:t>
                    </m:r>
                  </m:oMath>
                </a14:m>
                <a:r>
                  <a:rPr sz="1950" b="0">
                    <a:solidFill>
                      <a:srgbClr val="213C4B"/>
                    </a:solidFill>
                    <a:latin typeface="Meiryo"/>
                    <a:ea typeface="Meiryo"/>
                    <a:cs typeface="Meiryo"/>
                  </a:rPr>
                  <a:t> とする。</a:t>
                </a:r>
              </a:p>
            </p:txBody>
          </p:sp>
        </mc:Choice>
        <mc:Fallback>
          <p:sp>
            <p:nvSpPr>
              <p:cNvPr id="4" name="本文3">
                <a:extLst xmlns:a="http://schemas.openxmlformats.org/drawingml/2006/main">
                  <a:ext uri="{FF2B5EF4-FFF2-40B4-BE49-F238E27FC236}">
                    <a16:creationId xmlns:a16="http://schemas.microsoft.com/office/drawing/2014/main" id="{FC93C960-24FE-410D-B78B-C964DC3DEFD9}"/>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原点を緯度・経度で定め、その座標を </a:t>
                </a:r>
                <a:r>
                  <a:rPr sz="1950" b="0">
                    <a:solidFill>
                      <a:srgbClr val="213C4B"/>
                    </a:solidFill>
                    <a:latin typeface="Cambria Math"/>
                    <a:ea typeface="Cambria Math"/>
                    <a:cs typeface="Cambria Math"/>
                  </a:rPr>
                  <a:t>(X,Y)=(0,0)</a:t>
                </a:r>
                <a:r>
                  <a:rPr sz="1950" b="0">
                    <a:solidFill>
                      <a:srgbClr val="213C4B"/>
                    </a:solidFill>
                    <a:latin typeface="Meiryo"/>
                    <a:ea typeface="Meiryo"/>
                    <a:cs typeface="Meiryo"/>
                  </a:rPr>
                  <a:t> とする。</a:t>
                </a:r>
              </a:p>
            </p:txBody>
          </p:sp>
        </mc:Fallback>
      </mc:AlternateContent>
      <p:sp>
        <p:nvSpPr>
          <p:cNvPr id="5" name="本文4">
            <a:extLst xmlns:a="http://schemas.openxmlformats.org/drawingml/2006/main">
              <a:ext uri="{FF2B5EF4-FFF2-40B4-BE49-F238E27FC236}">
                <a16:creationId xmlns:a16="http://schemas.microsoft.com/office/drawing/2014/main" id="{096DC5D5-DDF9-48E4-8163-3CBD99E855D9}"/>
              </a:ext>
            </a:extLst>
          </p:cNvPr>
          <p:cNvSpPr>
            <a:spLocks xmlns:a="http://schemas.openxmlformats.org/drawingml/2006/main" noGrp="1"/>
          </p:cNvSpPr>
          <p:nvPr/>
        </p:nvSpPr>
        <p:spPr>
          <a:xfrm xmlns:a="http://schemas.openxmlformats.org/drawingml/2006/main">
            <a:off x="647700" y="20097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中央子午線から東西それぞれ約130 kmを目安に、ひずみを抑える。</a:t>
            </a:r>
          </a:p>
        </p:txBody>
      </p:sp>
      <p:pic>
        <p:nvPicPr>
          <p:cNvPr id="6" name="">
            <a:extLst xmlns:a="http://schemas.openxmlformats.org/drawingml/2006/main">
              <a:ext uri="{FF2B5EF4-FFF2-40B4-BE49-F238E27FC236}">
                <a16:creationId xmlns:a16="http://schemas.microsoft.com/office/drawing/2014/main" id="{A307084C-71BF-42EB-BCB4-F866885DAB0C}"/>
              </a:ext>
            </a:extLst>
          </p:cNvPr>
          <p:cNvPicPr>
            <a:picLocks xmlns:a="http://schemas.openxmlformats.org/drawingml/2006/main" noChangeAspect="1"/>
          </p:cNvPicPr>
          <p:nvPr/>
        </p:nvPicPr>
        <p:blipFill>
          <a:blip xmlns:r="http://schemas.openxmlformats.org/officeDocument/2006/relationships" xmlns:a="http://schemas.openxmlformats.org/drawingml/2006/main" r:embed="Rb508da19d00545bc"/>
          <a:stretch xmlns:a="http://schemas.openxmlformats.org/drawingml/2006/main"/>
        </p:blipFill>
        <p:spPr>
          <a:xfrm xmlns:a="http://schemas.openxmlformats.org/drawingml/2006/main">
            <a:off x="590550" y="2850198"/>
            <a:ext cx="11010900" cy="3119755"/>
          </a:xfrm>
          <a:prstGeom xmlns:a="http://schemas.openxmlformats.org/drawingml/2006/main" prst="rect">
            <a:avLst/>
          </a:prstGeom>
        </p:spPr>
      </p:pic>
    </p:spTree>
    <p:extLst>
      <p:ext uri="{BB962C8B-B14F-4D97-AF65-F5344CB8AC3E}">
        <p14:creationId xmlns:p14="http://schemas.microsoft.com/office/powerpoint/2010/main" val="305008334"/>
      </p:ext>
    </p:extLst>
  </p:cSld>
</p:sld>
</file>

<file path=ppt/slides/slide48.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D6E0B964-9B2E-48AA-AD6A-DFD6302DFAE0}"/>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3-4</a:t>
            </a:r>
          </a:p>
        </p:txBody>
      </p:sp>
      <p:sp>
        <p:nvSpPr>
          <p:cNvPr id="2" name="本文1">
            <a:extLst xmlns:a="http://schemas.openxmlformats.org/drawingml/2006/main">
              <a:ext uri="{FF2B5EF4-FFF2-40B4-BE49-F238E27FC236}">
                <a16:creationId xmlns:a16="http://schemas.microsoft.com/office/drawing/2014/main" id="{8C3E0F7B-76F4-4C87-9E29-9B8398BC9FC7}"/>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測量では、Xが北・Yが東</a:t>
            </a:r>
          </a:p>
        </p:txBody>
      </p:sp>
      <p:sp>
        <p:nvSpPr>
          <p:cNvPr id="3" name="本文2">
            <a:extLst xmlns:a="http://schemas.openxmlformats.org/drawingml/2006/main">
              <a:ext uri="{FF2B5EF4-FFF2-40B4-BE49-F238E27FC236}">
                <a16:creationId xmlns:a16="http://schemas.microsoft.com/office/drawing/2014/main" id="{FE110051-8FFE-4840-9D5B-C206F2AFA943}"/>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48</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979CB831-F41B-4802-95A2-E413ED46B519}"/>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数学：横が </a:t>
                </a:r>
                <a14:m xmlns:m="http://schemas.openxmlformats.org/officeDocument/2006/math">
                  <m:oMath xmlns:mml="http://www.w3.org/1998/Math/MathML">
                    <m:r>
                      <a:rPr sz="1950" b="0" lang="en-US">
                        <a:solidFill>
                          <a:srgbClr val="213C4B"/>
                        </a:solidFill>
                        <a:latin typeface="Cambria Math"/>
                        <a:ea typeface="Meiryo"/>
                      </a:rPr>
                      <m:t>x</m:t>
                    </m:r>
                  </m:oMath>
                </a14:m>
                <a:r>
                  <a:rPr sz="1950" b="0">
                    <a:solidFill>
                      <a:srgbClr val="213C4B"/>
                    </a:solidFill>
                    <a:latin typeface="Meiryo"/>
                    <a:ea typeface="Meiryo"/>
                    <a:cs typeface="Meiryo"/>
                  </a:rPr>
                  <a:t>、縦が </a:t>
                </a:r>
                <a14:m xmlns:m="http://schemas.openxmlformats.org/officeDocument/2006/math">
                  <m:oMath xmlns:mml="http://www.w3.org/1998/Math/MathML">
                    <m:r>
                      <a:rPr sz="1950" b="0" lang="en-US">
                        <a:solidFill>
                          <a:srgbClr val="213C4B"/>
                        </a:solidFill>
                        <a:latin typeface="Cambria Math"/>
                        <a:ea typeface="Meiryo"/>
                      </a:rPr>
                      <m:t>y</m:t>
                    </m:r>
                  </m:oMath>
                </a14:m>
                <a:r>
                  <a:rPr sz="1950" b="0">
                    <a:solidFill>
                      <a:srgbClr val="213C4B"/>
                    </a:solidFill>
                    <a:latin typeface="Meiryo"/>
                    <a:ea typeface="Meiryo"/>
                    <a:cs typeface="Meiryo"/>
                  </a:rPr>
                  <a:t>。角は反時計回り。</a:t>
                </a:r>
              </a:p>
            </p:txBody>
          </p:sp>
        </mc:Choice>
        <mc:Fallback>
          <p:sp>
            <p:nvSpPr>
              <p:cNvPr id="4" name="本文3">
                <a:extLst xmlns:a="http://schemas.openxmlformats.org/drawingml/2006/main">
                  <a:ext uri="{FF2B5EF4-FFF2-40B4-BE49-F238E27FC236}">
                    <a16:creationId xmlns:a16="http://schemas.microsoft.com/office/drawing/2014/main" id="{979CB831-F41B-4802-95A2-E413ED46B519}"/>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数学：横が </a:t>
                </a:r>
                <a:r>
                  <a:rPr sz="1950" b="0">
                    <a:solidFill>
                      <a:srgbClr val="213C4B"/>
                    </a:solidFill>
                    <a:latin typeface="Cambria Math"/>
                    <a:ea typeface="Cambria Math"/>
                    <a:cs typeface="Cambria Math"/>
                  </a:rPr>
                  <a:t>x</a:t>
                </a:r>
                <a:r>
                  <a:rPr sz="1950" b="0">
                    <a:solidFill>
                      <a:srgbClr val="213C4B"/>
                    </a:solidFill>
                    <a:latin typeface="Meiryo"/>
                    <a:ea typeface="Meiryo"/>
                    <a:cs typeface="Meiryo"/>
                  </a:rPr>
                  <a:t>、縦が </a:t>
                </a:r>
                <a:r>
                  <a:rPr sz="1950" b="0">
                    <a:solidFill>
                      <a:srgbClr val="213C4B"/>
                    </a:solidFill>
                    <a:latin typeface="Cambria Math"/>
                    <a:ea typeface="Cambria Math"/>
                    <a:cs typeface="Cambria Math"/>
                  </a:rPr>
                  <a:t>y</a:t>
                </a:r>
                <a:r>
                  <a:rPr sz="1950" b="0">
                    <a:solidFill>
                      <a:srgbClr val="213C4B"/>
                    </a:solidFill>
                    <a:latin typeface="Meiryo"/>
                    <a:ea typeface="Meiryo"/>
                    <a:cs typeface="Meiryo"/>
                  </a:rPr>
                  <a:t>。角は反時計回り。</a:t>
                </a:r>
              </a:p>
            </p:txBody>
          </p:sp>
        </mc:Fallback>
      </mc:AlternateContent>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96E3DE8E-F837-4177-BB33-E2C6D3D37E2D}"/>
                  </a:ext>
                </a:extLst>
              </p:cNvPr>
              <p:cNvSpPr>
                <a:spLocks xmlns:a="http://schemas.openxmlformats.org/drawingml/2006/main" noGrp="1"/>
              </p:cNvSpPr>
              <p:nvPr/>
            </p:nvSpPr>
            <p:spPr>
              <a:xfrm xmlns:a="http://schemas.openxmlformats.org/drawingml/2006/main">
                <a:off x="647700" y="20097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測量：</a:t>
                </a:r>
                <a:r>
                  <a:rPr sz="1950" b="1">
                    <a:solidFill>
                      <a:srgbClr val="137D78"/>
                    </a:solidFill>
                    <a:latin typeface="Meiryo"/>
                    <a:ea typeface="Meiryo"/>
                    <a:cs typeface="Meiryo"/>
                  </a:rPr>
                  <a:t>縦が </a:t>
                </a:r>
                <a14:m xmlns:m="http://schemas.openxmlformats.org/officeDocument/2006/math">
                  <m:oMath xmlns:mml="http://www.w3.org/1998/Math/MathML">
                    <m:r>
                      <a:rPr sz="1950" b="0" lang="en-US">
                        <a:solidFill>
                          <a:srgbClr val="137D78"/>
                        </a:solidFill>
                        <a:latin typeface="Cambria Math"/>
                        <a:ea typeface="Meiryo"/>
                      </a:rPr>
                      <m:t>X</m:t>
                    </m:r>
                  </m:oMath>
                </a14:m>
                <a:r>
                  <a:rPr sz="1950" b="1">
                    <a:solidFill>
                      <a:srgbClr val="137D78"/>
                    </a:solidFill>
                    <a:latin typeface="Meiryo"/>
                    <a:ea typeface="Meiryo"/>
                    <a:cs typeface="Meiryo"/>
                  </a:rPr>
                  <a:t>、横が </a:t>
                </a:r>
                <a14:m xmlns:m="http://schemas.openxmlformats.org/officeDocument/2006/math">
                  <m:oMath xmlns:mml="http://www.w3.org/1998/Math/MathML">
                    <m:r>
                      <a:rPr sz="1950" b="0" lang="en-US">
                        <a:solidFill>
                          <a:srgbClr val="137D78"/>
                        </a:solidFill>
                        <a:latin typeface="Cambria Math"/>
                        <a:ea typeface="Meiryo"/>
                      </a:rPr>
                      <m:t>Y</m:t>
                    </m:r>
                  </m:oMath>
                </a14:m>
                <a:r>
                  <a:rPr sz="1950" b="0">
                    <a:solidFill>
                      <a:srgbClr val="213C4B"/>
                    </a:solidFill>
                    <a:latin typeface="Meiryo"/>
                    <a:ea typeface="Meiryo"/>
                    <a:cs typeface="Meiryo"/>
                  </a:rPr>
                  <a:t>。方向角は北から時計回り。</a:t>
                </a:r>
              </a:p>
            </p:txBody>
          </p:sp>
        </mc:Choice>
        <mc:Fallback>
          <p:sp>
            <p:nvSpPr>
              <p:cNvPr id="5" name="本文4">
                <a:extLst xmlns:a="http://schemas.openxmlformats.org/drawingml/2006/main">
                  <a:ext uri="{FF2B5EF4-FFF2-40B4-BE49-F238E27FC236}">
                    <a16:creationId xmlns:a16="http://schemas.microsoft.com/office/drawing/2014/main" id="{96E3DE8E-F837-4177-BB33-E2C6D3D37E2D}"/>
                  </a:ext>
                </a:extLst>
              </p:cNvPr>
              <p:cNvSpPr>
                <a:spLocks xmlns:a="http://schemas.openxmlformats.org/drawingml/2006/main" noGrp="1"/>
              </p:cNvSpPr>
              <p:nvPr/>
            </p:nvSpPr>
            <p:spPr>
              <a:xfrm xmlns:a="http://schemas.openxmlformats.org/drawingml/2006/main">
                <a:off x="647700" y="20097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測量：</a:t>
                </a:r>
                <a:r>
                  <a:rPr sz="1950" b="1">
                    <a:solidFill>
                      <a:srgbClr val="137D78"/>
                    </a:solidFill>
                    <a:latin typeface="Meiryo"/>
                    <a:ea typeface="Meiryo"/>
                    <a:cs typeface="Meiryo"/>
                  </a:rPr>
                  <a:t>縦が </a:t>
                </a:r>
                <a:r>
                  <a:rPr sz="1950" b="1">
                    <a:solidFill>
                      <a:srgbClr val="137D78"/>
                    </a:solidFill>
                    <a:latin typeface="Cambria Math"/>
                    <a:ea typeface="Cambria Math"/>
                    <a:cs typeface="Cambria Math"/>
                  </a:rPr>
                  <a:t>X</a:t>
                </a:r>
                <a:r>
                  <a:rPr sz="1950" b="1">
                    <a:solidFill>
                      <a:srgbClr val="137D78"/>
                    </a:solidFill>
                    <a:latin typeface="Meiryo"/>
                    <a:ea typeface="Meiryo"/>
                    <a:cs typeface="Meiryo"/>
                  </a:rPr>
                  <a:t>、横が </a:t>
                </a:r>
                <a:r>
                  <a:rPr sz="1950" b="1">
                    <a:solidFill>
                      <a:srgbClr val="137D78"/>
                    </a:solidFill>
                    <a:latin typeface="Cambria Math"/>
                    <a:ea typeface="Cambria Math"/>
                    <a:cs typeface="Cambria Math"/>
                  </a:rPr>
                  <a:t>Y</a:t>
                </a:r>
                <a:r>
                  <a:rPr sz="1950" b="0">
                    <a:solidFill>
                      <a:srgbClr val="213C4B"/>
                    </a:solidFill>
                    <a:latin typeface="Meiryo"/>
                    <a:ea typeface="Meiryo"/>
                    <a:cs typeface="Meiryo"/>
                  </a:rPr>
                  <a:t>。方向角は北から時計回り。</a:t>
                </a:r>
              </a:p>
            </p:txBody>
          </p:sp>
        </mc:Fallback>
      </mc:AlternateContent>
      <p:pic>
        <p:nvPicPr>
          <p:cNvPr id="6" name="">
            <a:extLst xmlns:a="http://schemas.openxmlformats.org/drawingml/2006/main">
              <a:ext uri="{FF2B5EF4-FFF2-40B4-BE49-F238E27FC236}">
                <a16:creationId xmlns:a16="http://schemas.microsoft.com/office/drawing/2014/main" id="{5220775F-3FF4-4AD7-BF66-D835528B8255}"/>
              </a:ext>
            </a:extLst>
          </p:cNvPr>
          <p:cNvPicPr>
            <a:picLocks xmlns:a="http://schemas.openxmlformats.org/drawingml/2006/main" noChangeAspect="1"/>
          </p:cNvPicPr>
          <p:nvPr/>
        </p:nvPicPr>
        <p:blipFill>
          <a:blip xmlns:r="http://schemas.openxmlformats.org/officeDocument/2006/relationships" xmlns:a="http://schemas.openxmlformats.org/drawingml/2006/main" r:embed="Rd4be53bf67104cca"/>
          <a:stretch xmlns:a="http://schemas.openxmlformats.org/drawingml/2006/main"/>
        </p:blipFill>
        <p:spPr>
          <a:xfrm xmlns:a="http://schemas.openxmlformats.org/drawingml/2006/main">
            <a:off x="590550" y="2850198"/>
            <a:ext cx="11010900" cy="3119755"/>
          </a:xfrm>
          <a:prstGeom xmlns:a="http://schemas.openxmlformats.org/drawingml/2006/main" prst="rect">
            <a:avLst/>
          </a:prstGeom>
        </p:spPr>
      </p:pic>
    </p:spTree>
    <p:extLst>
      <p:ext uri="{BB962C8B-B14F-4D97-AF65-F5344CB8AC3E}">
        <p14:creationId xmlns:p14="http://schemas.microsoft.com/office/powerpoint/2010/main" val="1283746862"/>
      </p:ext>
    </p:extLst>
  </p:cSld>
</p:sld>
</file>

<file path=ppt/slides/slide49.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6" name="本文0">
            <a:extLst xmlns:a="http://schemas.openxmlformats.org/drawingml/2006/main">
              <a:ext uri="{FF2B5EF4-FFF2-40B4-BE49-F238E27FC236}">
                <a16:creationId xmlns:a16="http://schemas.microsoft.com/office/drawing/2014/main" id="{A8ED9113-3559-4E6D-B882-12AF0F44F9EA}"/>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3-4</a:t>
            </a:r>
          </a:p>
        </p:txBody>
      </p:sp>
      <p:sp>
        <p:nvSpPr>
          <p:cNvPr id="2" name="本文1">
            <a:extLst xmlns:a="http://schemas.openxmlformats.org/drawingml/2006/main">
              <a:ext uri="{FF2B5EF4-FFF2-40B4-BE49-F238E27FC236}">
                <a16:creationId xmlns:a16="http://schemas.microsoft.com/office/drawing/2014/main" id="{1EA2CF56-C4D9-4AE1-80C4-BBE8D75FDD93}"/>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象限と座標の符号</a:t>
            </a:r>
          </a:p>
        </p:txBody>
      </p:sp>
      <p:sp>
        <p:nvSpPr>
          <p:cNvPr id="3" name="本文2">
            <a:extLst xmlns:a="http://schemas.openxmlformats.org/drawingml/2006/main">
              <a:ext uri="{FF2B5EF4-FFF2-40B4-BE49-F238E27FC236}">
                <a16:creationId xmlns:a16="http://schemas.microsoft.com/office/drawing/2014/main" id="{50B41679-7261-4879-A05D-6E31CDC4491D}"/>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49</a:t>
            </a:r>
          </a:p>
        </p:txBody>
      </p:sp>
      <mc:AlternateContent xmlns:mc="http://schemas.openxmlformats.org/markup-compatibility/2006" xmlns:a14="http://schemas.microsoft.com/office/drawing/2010/main">
        <mc:Choice Requires="a14">
          <p:graphicFrame>
            <p:nvGraphicFramePr>
              <p:cNvPr id="4" name="">
                <a:extLst xmlns:a="http://schemas.openxmlformats.org/drawingml/2006/main">
                  <a:ext uri="{FF2B5EF4-FFF2-40B4-BE49-F238E27FC236}">
                    <a16:creationId xmlns:a16="http://schemas.microsoft.com/office/drawing/2014/main" id="{F25402FB-B084-4E16-98B3-3F7A0FB38B4C}"/>
                  </a:ext>
                </a:extLst>
              </p:cNvPr>
              <p:cNvGraphicFramePr/>
              <p:nvPr/>
            </p:nvGraphicFramePr>
            <p:xfrm>
              <a:off xmlns:a="http://schemas.openxmlformats.org/drawingml/2006/main" x="647700" y="1841500"/>
              <a:ext xmlns:a="http://schemas.openxmlformats.org/drawingml/2006/main" cx="10896600" cy="2981325"/>
            </p:xfrm>
            <a:graphic xmlns:a="http://schemas.openxmlformats.org/drawingml/2006/main">
              <a:graphicData uri="http://schemas.openxmlformats.org/drawingml/2006/table">
                <a:tbl>
                  <a:tblPr/>
                  <a:tblGrid>
                    <a:gridCol w="2179320"/>
                    <a:gridCol w="2179320"/>
                    <a:gridCol w="2179320"/>
                    <a:gridCol w="2179320"/>
                    <a:gridCol w="2179320"/>
                  </a:tblGrid>
                  <a:tr h="596265">
                    <a:tc>
                      <a:txBody>
                        <a:bodyPr lIns="114300" tIns="114300" rIns="114300" bIns="114300">
                          <a:noAutofit/>
                        </a:bodyPr>
                        <a:lstStyle/>
                        <a:p>
                          <a:pPr algn="l"/>
                          <a:r>
                            <a:rPr sz="2100" b="1">
                              <a:solidFill>
                                <a:srgbClr val="FFFFFF"/>
                              </a:solidFill>
                              <a:latin typeface="Meiryo"/>
                              <a:ea typeface="Meiryo"/>
                              <a:cs typeface="Meiryo"/>
                            </a:rPr>
                            <a:t>象限</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位置</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FFFFFF"/>
                                  </a:solidFill>
                                  <a:latin typeface="Cambria Math"/>
                                  <a:ea typeface="Meiryo"/>
                                </a:rPr>
                                <m:t>X</m:t>
                              </m:r>
                            </m:oMath>
                          </a14:m>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FFFFFF"/>
                                  </a:solidFill>
                                  <a:latin typeface="Cambria Math"/>
                                  <a:ea typeface="Meiryo"/>
                                </a:rPr>
                                <m:t>Y</m:t>
                              </m:r>
                            </m:oMath>
                          </a14:m>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方向角の範囲</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第1</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北東</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0°〜90°</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第2</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南東</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90°〜180°</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第3</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南西</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180°〜270°</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第4</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北西</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270°〜360°</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Choice>
        <mc:Fallback>
          <p:graphicFrame>
            <p:nvGraphicFramePr>
              <p:cNvPr id="4" name="">
                <a:extLst xmlns:a="http://schemas.openxmlformats.org/drawingml/2006/main">
                  <a:ext uri="{FF2B5EF4-FFF2-40B4-BE49-F238E27FC236}">
                    <a16:creationId xmlns:a16="http://schemas.microsoft.com/office/drawing/2014/main" id="{F25402FB-B084-4E16-98B3-3F7A0FB38B4C}"/>
                  </a:ext>
                </a:extLst>
              </p:cNvPr>
              <p:cNvGraphicFramePr/>
              <p:nvPr/>
            </p:nvGraphicFramePr>
            <p:xfrm>
              <a:off xmlns:a="http://schemas.openxmlformats.org/drawingml/2006/main" x="647700" y="1841500"/>
              <a:ext xmlns:a="http://schemas.openxmlformats.org/drawingml/2006/main" cx="10896600" cy="2981325"/>
            </p:xfrm>
            <a:graphic xmlns:a="http://schemas.openxmlformats.org/drawingml/2006/main">
              <a:graphicData uri="http://schemas.openxmlformats.org/drawingml/2006/table">
                <a:tbl>
                  <a:tblPr/>
                  <a:tblGrid>
                    <a:gridCol w="2179320"/>
                    <a:gridCol w="2179320"/>
                    <a:gridCol w="2179320"/>
                    <a:gridCol w="2179320"/>
                    <a:gridCol w="2179320"/>
                  </a:tblGrid>
                  <a:tr h="596265">
                    <a:tc>
                      <a:txBody>
                        <a:bodyPr lIns="114300" tIns="114300" rIns="114300" bIns="114300">
                          <a:noAutofit/>
                        </a:bodyPr>
                        <a:lstStyle/>
                        <a:p>
                          <a:pPr algn="l"/>
                          <a:r>
                            <a:rPr sz="2100" b="1">
                              <a:solidFill>
                                <a:srgbClr val="FFFFFF"/>
                              </a:solidFill>
                              <a:latin typeface="Meiryo"/>
                              <a:ea typeface="Meiryo"/>
                              <a:cs typeface="Meiryo"/>
                            </a:rPr>
                            <a:t>象限</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位置</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Cambria Math"/>
                              <a:ea typeface="Cambria Math"/>
                              <a:cs typeface="Cambria Math"/>
                            </a:rPr>
                            <a:t>X</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Cambria Math"/>
                              <a:ea typeface="Cambria Math"/>
                              <a:cs typeface="Cambria Math"/>
                            </a:rPr>
                            <a:t>Y</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方向角の範囲</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第1</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北東</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0°〜90°</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第2</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南東</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90°〜180°</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第3</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南西</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180°〜270°</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第4</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北西</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270°〜360°</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Fallback>
      </mc:AlternateContent>
      <p:sp>
        <p:nvSpPr>
          <p:cNvPr id="5" name="本文3">
            <a:extLst xmlns:a="http://schemas.openxmlformats.org/drawingml/2006/main">
              <a:ext uri="{FF2B5EF4-FFF2-40B4-BE49-F238E27FC236}">
                <a16:creationId xmlns:a16="http://schemas.microsoft.com/office/drawing/2014/main" id="{276AA292-5FC0-4037-A590-36B57F65BAA1}"/>
              </a:ext>
            </a:extLst>
          </p:cNvPr>
          <p:cNvSpPr>
            <a:spLocks xmlns:a="http://schemas.openxmlformats.org/drawingml/2006/main" noGrp="1"/>
          </p:cNvSpPr>
          <p:nvPr/>
        </p:nvSpPr>
        <p:spPr>
          <a:xfrm xmlns:a="http://schemas.openxmlformats.org/drawingml/2006/main">
            <a:off x="647700" y="499427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象限は X 軸から右回りに数える（数学とは順番が違う）。</a:t>
            </a:r>
          </a:p>
        </p:txBody>
      </p:sp>
    </p:spTree>
    <p:extLst>
      <p:ext uri="{BB962C8B-B14F-4D97-AF65-F5344CB8AC3E}">
        <p14:creationId xmlns:p14="http://schemas.microsoft.com/office/powerpoint/2010/main" val="724298218"/>
      </p:ext>
    </p:extLst>
  </p:cSld>
</p:sld>
</file>

<file path=ppt/slides/slide50.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852CCBE2-CCD1-4766-A209-E6368FB20EC2}"/>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3-4</a:t>
            </a:r>
          </a:p>
        </p:txBody>
      </p:sp>
      <p:sp>
        <p:nvSpPr>
          <p:cNvPr id="2" name="本文1">
            <a:extLst xmlns:a="http://schemas.openxmlformats.org/drawingml/2006/main">
              <a:ext uri="{FF2B5EF4-FFF2-40B4-BE49-F238E27FC236}">
                <a16:creationId xmlns:a16="http://schemas.microsoft.com/office/drawing/2014/main" id="{07C124B0-02C4-4654-A817-52B3DC63010E}"/>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帯広は第XIII系</a:t>
            </a:r>
          </a:p>
        </p:txBody>
      </p:sp>
      <p:sp>
        <p:nvSpPr>
          <p:cNvPr id="3" name="本文2">
            <a:extLst xmlns:a="http://schemas.openxmlformats.org/drawingml/2006/main">
              <a:ext uri="{FF2B5EF4-FFF2-40B4-BE49-F238E27FC236}">
                <a16:creationId xmlns:a16="http://schemas.microsoft.com/office/drawing/2014/main" id="{416CF7F1-6D93-4960-BC2D-0D8495BBCB4A}"/>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50</a:t>
            </a:r>
          </a:p>
        </p:txBody>
      </p:sp>
      <p:sp>
        <p:nvSpPr>
          <p:cNvPr id="4" name="本文3">
            <a:extLst xmlns:a="http://schemas.openxmlformats.org/drawingml/2006/main">
              <a:ext uri="{FF2B5EF4-FFF2-40B4-BE49-F238E27FC236}">
                <a16:creationId xmlns:a16="http://schemas.microsoft.com/office/drawing/2014/main" id="{33402B3D-BAE3-40C7-A1E2-96983FB3E6DD}"/>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座標が負でも正常。違う系の座標をそのまま混ぜない。</a:t>
            </a:r>
          </a:p>
        </p:txBody>
      </p:sp>
      <p:graphicFrame>
        <p:nvGraphicFramePr>
          <p:cNvPr id="5" name="">
            <a:extLst xmlns:a="http://schemas.openxmlformats.org/drawingml/2006/main">
              <a:ext uri="{FF2B5EF4-FFF2-40B4-BE49-F238E27FC236}">
                <a16:creationId xmlns:a16="http://schemas.microsoft.com/office/drawing/2014/main" id="{290E73A4-6ECF-4964-8C54-474AD60167B9}"/>
              </a:ext>
            </a:extLst>
          </p:cNvPr>
          <p:cNvGraphicFramePr/>
          <p:nvPr/>
        </p:nvGraphicFramePr>
        <p:xfrm>
          <a:off xmlns:a="http://schemas.openxmlformats.org/drawingml/2006/main" x="647700" y="1856105"/>
          <a:ext xmlns:a="http://schemas.openxmlformats.org/drawingml/2006/main" cx="10896600" cy="2385060"/>
        </p:xfrm>
        <a:graphic xmlns:a="http://schemas.openxmlformats.org/drawingml/2006/main">
          <a:graphicData uri="http://schemas.openxmlformats.org/drawingml/2006/table">
            <a:tbl>
              <a:tblPr/>
              <a:tblGrid>
                <a:gridCol w="2615184"/>
                <a:gridCol w="4140708"/>
                <a:gridCol w="4140708"/>
              </a:tblGrid>
              <a:tr h="596265">
                <a:tc>
                  <a:txBody>
                    <a:bodyPr lIns="114300" tIns="114300" rIns="114300" bIns="114300">
                      <a:noAutofit/>
                    </a:bodyPr>
                    <a:lstStyle/>
                    <a:p>
                      <a:pPr algn="l"/>
                      <a:r>
                        <a:rPr sz="2100" b="1">
                          <a:solidFill>
                            <a:srgbClr val="FFFFFF"/>
                          </a:solidFill>
                          <a:latin typeface="Meiryo"/>
                          <a:ea typeface="Meiryo"/>
                          <a:cs typeface="Meiryo"/>
                        </a:rPr>
                        <a:t>系</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原点（北緯はいずれも44°）</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主な地域</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XI</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東経140°15′</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函館・小樽など</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XII</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東経142°15′</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札幌・旭川など</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XIII</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東経144°15′</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帯広・釧路・北見など</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AlternateContent xmlns:mc="http://schemas.openxmlformats.org/markup-compatibility/2006" xmlns:a14="http://schemas.microsoft.com/office/drawing/2010/main">
        <mc:Choice Requires="a14">
          <p:sp>
            <p:nvSpPr>
              <p:cNvPr id="6" name="EQM00081">
                <a:extLst xmlns:a="http://schemas.openxmlformats.org/drawingml/2006/main">
                  <a:ext uri="{FF2B5EF4-FFF2-40B4-BE49-F238E27FC236}">
                    <a16:creationId xmlns:a16="http://schemas.microsoft.com/office/drawing/2014/main" id="{5A4BFBE1-8EDD-4D6C-9A8A-5F13E4B172E9}"/>
                  </a:ext>
                </a:extLst>
              </p:cNvPr>
              <p:cNvSpPr>
                <a:spLocks xmlns:a="http://schemas.openxmlformats.org/drawingml/2006/main" noGrp="1"/>
              </p:cNvSpPr>
              <p:nvPr/>
            </p:nvSpPr>
            <p:spPr>
              <a:xfrm xmlns:a="http://schemas.openxmlformats.org/drawingml/2006/main">
                <a:off x="647700" y="4412615"/>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r>
                        <m:rPr>
                          <m:nor/>
                        </m:rPr>
                        <a:rPr sz="2700" b="0" lang="en-US">
                          <a:solidFill>
                            <a:srgbClr val="153D50"/>
                          </a:solidFill>
                          <a:latin typeface="Cambria Math"/>
                          <a:ea typeface="Meiryo"/>
                        </a:rPr>
                        <m:t>帯広は原点の南西： </m:t>
                      </m:r>
                      <m:r>
                        <a:rPr sz="2700" b="0" lang="en-US">
                          <a:solidFill>
                            <a:srgbClr val="153D50"/>
                          </a:solidFill>
                          <a:latin typeface="Cambria Math"/>
                          <a:ea typeface="Meiryo"/>
                        </a:rPr>
                        <m:t>X&lt;0,</m:t>
                      </m:r>
                      <m:r>
                        <m:rPr>
                          <m:nor/>
                        </m:rPr>
                        <a:rPr sz="2700" b="0" lang="en-US">
                          <a:solidFill>
                            <a:srgbClr val="153D50"/>
                          </a:solidFill>
                          <a:latin typeface="Cambria Math"/>
                          <a:ea typeface="Meiryo"/>
                        </a:rPr>
                        <m:t> </m:t>
                      </m:r>
                      <m:r>
                        <a:rPr sz="2700" b="0" lang="en-US">
                          <a:solidFill>
                            <a:srgbClr val="153D50"/>
                          </a:solidFill>
                          <a:latin typeface="Cambria Math"/>
                          <a:ea typeface="Meiryo"/>
                        </a:rPr>
                        <m:t>Y&lt;0</m:t>
                      </m:r>
                    </m:oMath>
                  </m:oMathPara>
                </a14:m>
              </a:p>
            </p:txBody>
          </p:sp>
        </mc:Choice>
        <mc:Fallback>
          <p:sp>
            <p:nvSpPr>
              <p:cNvPr id="6" name="EQM00081">
                <a:extLst xmlns:a="http://schemas.openxmlformats.org/drawingml/2006/main">
                  <a:ext uri="{FF2B5EF4-FFF2-40B4-BE49-F238E27FC236}">
                    <a16:creationId xmlns:a16="http://schemas.microsoft.com/office/drawing/2014/main" id="{5A4BFBE1-8EDD-4D6C-9A8A-5F13E4B172E9}"/>
                  </a:ext>
                </a:extLst>
              </p:cNvPr>
              <p:cNvSpPr>
                <a:spLocks xmlns:a="http://schemas.openxmlformats.org/drawingml/2006/main" noGrp="1"/>
              </p:cNvSpPr>
              <p:nvPr/>
            </p:nvSpPr>
            <p:spPr>
              <a:xfrm xmlns:a="http://schemas.openxmlformats.org/drawingml/2006/main">
                <a:off x="647700" y="4412615"/>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\text{帯広は原点の南西：}\quad X&lt;0,\quad Y&lt;0</a:t>
                </a:r>
              </a:p>
            </p:txBody>
          </p:sp>
        </mc:Fallback>
      </mc:AlternateContent>
    </p:spTree>
    <p:extLst>
      <p:ext uri="{BB962C8B-B14F-4D97-AF65-F5344CB8AC3E}">
        <p14:creationId xmlns:p14="http://schemas.microsoft.com/office/powerpoint/2010/main" val="2097333556"/>
      </p:ext>
    </p:extLst>
  </p:cSld>
</p:sld>
</file>

<file path=ppt/slides/slide51.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A6D07E1A-55C5-45D7-B1B5-C1A1C2BA5864}"/>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3-4</a:t>
            </a:r>
          </a:p>
        </p:txBody>
      </p:sp>
      <p:sp>
        <p:nvSpPr>
          <p:cNvPr id="2" name="本文1">
            <a:extLst xmlns:a="http://schemas.openxmlformats.org/drawingml/2006/main">
              <a:ext uri="{FF2B5EF4-FFF2-40B4-BE49-F238E27FC236}">
                <a16:creationId xmlns:a16="http://schemas.microsoft.com/office/drawing/2014/main" id="{26C19CA0-FFD0-48AE-B701-4A9BC504FF5F}"/>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縮尺係数：中央から離れるほど大きい</a:t>
            </a:r>
          </a:p>
        </p:txBody>
      </p:sp>
      <p:sp>
        <p:nvSpPr>
          <p:cNvPr id="3" name="本文2">
            <a:extLst xmlns:a="http://schemas.openxmlformats.org/drawingml/2006/main">
              <a:ext uri="{FF2B5EF4-FFF2-40B4-BE49-F238E27FC236}">
                <a16:creationId xmlns:a16="http://schemas.microsoft.com/office/drawing/2014/main" id="{9C0C595E-5BF1-45E1-AD66-A83D2FE2C908}"/>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51</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D4A0303F-4873-40F4-A6B1-47605404EC1D}"/>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中央子午線上は </a:t>
                </a:r>
                <a14:m xmlns:m="http://schemas.openxmlformats.org/officeDocument/2006/math">
                  <m:oMath xmlns:mml="http://www.w3.org/1998/Math/MathML">
                    <m:sSub>
                      <m:e>
                        <m:r>
                          <a:rPr sz="1950" b="0" lang="en-US">
                            <a:solidFill>
                              <a:srgbClr val="213C4B"/>
                            </a:solidFill>
                            <a:latin typeface="Cambria Math"/>
                            <a:ea typeface="Meiryo"/>
                          </a:rPr>
                          <m:t>m</m:t>
                        </m:r>
                      </m:e>
                      <m:sub>
                        <m:r>
                          <a:rPr sz="1950" b="0" lang="en-US">
                            <a:solidFill>
                              <a:srgbClr val="213C4B"/>
                            </a:solidFill>
                            <a:latin typeface="Cambria Math"/>
                            <a:ea typeface="Meiryo"/>
                          </a:rPr>
                          <m:t>0</m:t>
                        </m:r>
                      </m:sub>
                    </m:sSub>
                    <m:r>
                      <a:rPr sz="1950" b="0" lang="en-US">
                        <a:solidFill>
                          <a:srgbClr val="213C4B"/>
                        </a:solidFill>
                        <a:latin typeface="Cambria Math"/>
                        <a:ea typeface="Meiryo"/>
                      </a:rPr>
                      <m:t>=0.9999</m:t>
                    </m:r>
                  </m:oMath>
                </a14:m>
                <a:r>
                  <a:rPr sz="1950" b="0">
                    <a:solidFill>
                      <a:srgbClr val="213C4B"/>
                    </a:solidFill>
                    <a:latin typeface="Meiryo"/>
                    <a:ea typeface="Meiryo"/>
                    <a:cs typeface="Meiryo"/>
                  </a:rPr>
                  <a:t>。東西約90 kmで </a:t>
                </a:r>
                <a14:m xmlns:m="http://schemas.openxmlformats.org/officeDocument/2006/math">
                  <m:oMath xmlns:mml="http://www.w3.org/1998/Math/MathML">
                    <m:r>
                      <a:rPr sz="1950" b="0" lang="en-US">
                        <a:solidFill>
                          <a:srgbClr val="213C4B"/>
                        </a:solidFill>
                        <a:latin typeface="Cambria Math"/>
                        <a:ea typeface="Meiryo"/>
                      </a:rPr>
                      <m:t>m≈1</m:t>
                    </m:r>
                  </m:oMath>
                </a14:m>
                <a:r>
                  <a:rPr sz="1950" b="0">
                    <a:solidFill>
                      <a:srgbClr val="213C4B"/>
                    </a:solidFill>
                    <a:latin typeface="Meiryo"/>
                    <a:ea typeface="Meiryo"/>
                    <a:cs typeface="Meiryo"/>
                  </a:rPr>
                  <a:t>。</a:t>
                </a:r>
              </a:p>
            </p:txBody>
          </p:sp>
        </mc:Choice>
        <mc:Fallback>
          <p:sp>
            <p:nvSpPr>
              <p:cNvPr id="4" name="本文3">
                <a:extLst xmlns:a="http://schemas.openxmlformats.org/drawingml/2006/main">
                  <a:ext uri="{FF2B5EF4-FFF2-40B4-BE49-F238E27FC236}">
                    <a16:creationId xmlns:a16="http://schemas.microsoft.com/office/drawing/2014/main" id="{D4A0303F-4873-40F4-A6B1-47605404EC1D}"/>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中央子午線上は </a:t>
                </a:r>
                <a:r>
                  <a:rPr sz="1950" b="0">
                    <a:solidFill>
                      <a:srgbClr val="213C4B"/>
                    </a:solidFill>
                    <a:latin typeface="Cambria Math"/>
                    <a:ea typeface="Cambria Math"/>
                    <a:cs typeface="Cambria Math"/>
                  </a:rPr>
                  <a:t>m_0=0.9999</a:t>
                </a:r>
                <a:r>
                  <a:rPr sz="1950" b="0">
                    <a:solidFill>
                      <a:srgbClr val="213C4B"/>
                    </a:solidFill>
                    <a:latin typeface="Meiryo"/>
                    <a:ea typeface="Meiryo"/>
                    <a:cs typeface="Meiryo"/>
                  </a:rPr>
                  <a:t>。東西約90 kmで </a:t>
                </a:r>
                <a:r>
                  <a:rPr sz="1950" b="0">
                    <a:solidFill>
                      <a:srgbClr val="213C4B"/>
                    </a:solidFill>
                    <a:latin typeface="Cambria Math"/>
                    <a:ea typeface="Cambria Math"/>
                    <a:cs typeface="Cambria Math"/>
                  </a:rPr>
                  <a:t>m\approx1</a:t>
                </a:r>
                <a:r>
                  <a:rPr sz="1950" b="0">
                    <a:solidFill>
                      <a:srgbClr val="213C4B"/>
                    </a:solidFill>
                    <a:latin typeface="Meiryo"/>
                    <a:ea typeface="Meiryo"/>
                    <a:cs typeface="Meiryo"/>
                  </a:rPr>
                  <a:t>。</a:t>
                </a:r>
              </a:p>
            </p:txBody>
          </p:sp>
        </mc:Fallback>
      </mc:AlternateContent>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55BDD5E9-F2A9-4721-B0F1-FAB68F7E048E}"/>
                  </a:ext>
                </a:extLst>
              </p:cNvPr>
              <p:cNvSpPr>
                <a:spLocks xmlns:a="http://schemas.openxmlformats.org/drawingml/2006/main" noGrp="1"/>
              </p:cNvSpPr>
              <p:nvPr/>
            </p:nvSpPr>
            <p:spPr>
              <a:xfrm xmlns:a="http://schemas.openxmlformats.org/drawingml/2006/main">
                <a:off x="647700" y="20097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次の近似では、主に東西方向の距離 </a:t>
                </a:r>
                <a14:m xmlns:m="http://schemas.openxmlformats.org/officeDocument/2006/math">
                  <m:oMath xmlns:mml="http://www.w3.org/1998/Math/MathML">
                    <m:r>
                      <a:rPr sz="1950" b="0" lang="en-US">
                        <a:solidFill>
                          <a:srgbClr val="213C4B"/>
                        </a:solidFill>
                        <a:latin typeface="Cambria Math"/>
                        <a:ea typeface="Meiryo"/>
                      </a:rPr>
                      <m:t>Y</m:t>
                    </m:r>
                  </m:oMath>
                </a14:m>
                <a:r>
                  <a:rPr sz="1950" b="0">
                    <a:solidFill>
                      <a:srgbClr val="213C4B"/>
                    </a:solidFill>
                    <a:latin typeface="Meiryo"/>
                    <a:ea typeface="Meiryo"/>
                    <a:cs typeface="Meiryo"/>
                  </a:rPr>
                  <a:t> で変わる。</a:t>
                </a:r>
              </a:p>
            </p:txBody>
          </p:sp>
        </mc:Choice>
        <mc:Fallback>
          <p:sp>
            <p:nvSpPr>
              <p:cNvPr id="5" name="本文4">
                <a:extLst xmlns:a="http://schemas.openxmlformats.org/drawingml/2006/main">
                  <a:ext uri="{FF2B5EF4-FFF2-40B4-BE49-F238E27FC236}">
                    <a16:creationId xmlns:a16="http://schemas.microsoft.com/office/drawing/2014/main" id="{55BDD5E9-F2A9-4721-B0F1-FAB68F7E048E}"/>
                  </a:ext>
                </a:extLst>
              </p:cNvPr>
              <p:cNvSpPr>
                <a:spLocks xmlns:a="http://schemas.openxmlformats.org/drawingml/2006/main" noGrp="1"/>
              </p:cNvSpPr>
              <p:nvPr/>
            </p:nvSpPr>
            <p:spPr>
              <a:xfrm xmlns:a="http://schemas.openxmlformats.org/drawingml/2006/main">
                <a:off x="647700" y="20097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次の近似では、主に東西方向の距離 </a:t>
                </a:r>
                <a:r>
                  <a:rPr sz="1950" b="0">
                    <a:solidFill>
                      <a:srgbClr val="213C4B"/>
                    </a:solidFill>
                    <a:latin typeface="Cambria Math"/>
                    <a:ea typeface="Cambria Math"/>
                    <a:cs typeface="Cambria Math"/>
                  </a:rPr>
                  <a:t>Y</a:t>
                </a:r>
                <a:r>
                  <a:rPr sz="1950" b="0">
                    <a:solidFill>
                      <a:srgbClr val="213C4B"/>
                    </a:solidFill>
                    <a:latin typeface="Meiryo"/>
                    <a:ea typeface="Meiryo"/>
                    <a:cs typeface="Meiryo"/>
                  </a:rPr>
                  <a:t> で変わる。</a:t>
                </a:r>
              </a:p>
            </p:txBody>
          </p:sp>
        </mc:Fallback>
      </mc:AlternateContent>
      <mc:AlternateContent xmlns:mc="http://schemas.openxmlformats.org/markup-compatibility/2006" xmlns:a14="http://schemas.microsoft.com/office/drawing/2010/main">
        <mc:Choice Requires="a14">
          <p:sp>
            <p:nvSpPr>
              <p:cNvPr id="6" name="EQM00085">
                <a:extLst xmlns:a="http://schemas.openxmlformats.org/drawingml/2006/main">
                  <a:ext uri="{FF2B5EF4-FFF2-40B4-BE49-F238E27FC236}">
                    <a16:creationId xmlns:a16="http://schemas.microsoft.com/office/drawing/2014/main" id="{27B51F07-866C-4D29-B8DA-F01216E704D1}"/>
                  </a:ext>
                </a:extLst>
              </p:cNvPr>
              <p:cNvSpPr>
                <a:spLocks xmlns:a="http://schemas.openxmlformats.org/drawingml/2006/main" noGrp="1"/>
              </p:cNvSpPr>
              <p:nvPr/>
            </p:nvSpPr>
            <p:spPr>
              <a:xfrm xmlns:a="http://schemas.openxmlformats.org/drawingml/2006/main">
                <a:off x="647700" y="2552700"/>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550" b="0">
                    <a:solidFill>
                      <a:srgbClr val="153D50"/>
                    </a:solidFill>
                    <a:latin typeface="Meiryo"/>
                    <a:ea typeface="Meiryo"/>
                    <a:cs typeface="Meiryo"/>
                  </a:defRPr>
                </a:defPPr>
              </a:lstStyle>
              <a:p xmlns:a="http://schemas.openxmlformats.org/drawingml/2006/main">
                <a:pPr algn="ctr">
                  <a:defRPr sz="255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r>
                        <a:rPr sz="2550" b="0" lang="en-US">
                          <a:solidFill>
                            <a:srgbClr val="153D50"/>
                          </a:solidFill>
                          <a:latin typeface="Cambria Math"/>
                          <a:ea typeface="Meiryo"/>
                        </a:rPr>
                        <m:t>m≈</m:t>
                      </m:r>
                      <m:sSub>
                        <m:e>
                          <m:r>
                            <a:rPr sz="2550" b="0" lang="en-US">
                              <a:solidFill>
                                <a:srgbClr val="153D50"/>
                              </a:solidFill>
                              <a:latin typeface="Cambria Math"/>
                              <a:ea typeface="Meiryo"/>
                            </a:rPr>
                            <m:t>m</m:t>
                          </m:r>
                        </m:e>
                        <m:sub>
                          <m:r>
                            <a:rPr sz="2550" b="0" lang="en-US">
                              <a:solidFill>
                                <a:srgbClr val="153D50"/>
                              </a:solidFill>
                              <a:latin typeface="Cambria Math"/>
                              <a:ea typeface="Meiryo"/>
                            </a:rPr>
                            <m:t>0</m:t>
                          </m:r>
                        </m:sub>
                      </m:sSub>
                      <m:d>
                        <m:dPr>
                          <m:sepChr m:val=""/>
                        </m:dPr>
                        <m:e>
                          <m:r>
                            <a:rPr sz="2550" b="0" lang="en-US">
                              <a:solidFill>
                                <a:srgbClr val="153D50"/>
                              </a:solidFill>
                              <a:latin typeface="Cambria Math"/>
                              <a:ea typeface="Meiryo"/>
                            </a:rPr>
                            <m:t>1+</m:t>
                          </m:r>
                          <m:f>
                            <m:fPr>
                              <m:type m:val="bar"/>
                            </m:fPr>
                            <m:num>
                              <m:sSup>
                                <m:e>
                                  <m:r>
                                    <a:rPr sz="2550" b="0" lang="en-US">
                                      <a:solidFill>
                                        <a:srgbClr val="153D50"/>
                                      </a:solidFill>
                                      <a:latin typeface="Cambria Math"/>
                                      <a:ea typeface="Meiryo"/>
                                    </a:rPr>
                                    <m:t>Y</m:t>
                                  </m:r>
                                </m:e>
                                <m:sup>
                                  <m:r>
                                    <a:rPr sz="2550" b="0" lang="en-US">
                                      <a:solidFill>
                                        <a:srgbClr val="153D50"/>
                                      </a:solidFill>
                                      <a:latin typeface="Cambria Math"/>
                                      <a:ea typeface="Meiryo"/>
                                    </a:rPr>
                                    <m:t>2</m:t>
                                  </m:r>
                                </m:sup>
                              </m:sSup>
                            </m:num>
                            <m:den>
                              <m:r>
                                <a:rPr sz="2550" b="0" lang="en-US">
                                  <a:solidFill>
                                    <a:srgbClr val="153D50"/>
                                  </a:solidFill>
                                  <a:latin typeface="Cambria Math"/>
                                  <a:ea typeface="Meiryo"/>
                                </a:rPr>
                                <m:t>2</m:t>
                              </m:r>
                              <m:sSup>
                                <m:e>
                                  <m:r>
                                    <a:rPr sz="2550" b="0" lang="en-US">
                                      <a:solidFill>
                                        <a:srgbClr val="153D50"/>
                                      </a:solidFill>
                                      <a:latin typeface="Cambria Math"/>
                                      <a:ea typeface="Meiryo"/>
                                    </a:rPr>
                                    <m:t>R</m:t>
                                  </m:r>
                                </m:e>
                                <m:sup>
                                  <m:r>
                                    <a:rPr sz="2550" b="0" lang="en-US">
                                      <a:solidFill>
                                        <a:srgbClr val="153D50"/>
                                      </a:solidFill>
                                      <a:latin typeface="Cambria Math"/>
                                      <a:ea typeface="Meiryo"/>
                                    </a:rPr>
                                    <m:t>2</m:t>
                                  </m:r>
                                </m:sup>
                              </m:sSup>
                            </m:den>
                          </m:f>
                        </m:e>
                      </m:d>
                      <m:r>
                        <a:rPr sz="2550" b="0" lang="en-US">
                          <a:solidFill>
                            <a:srgbClr val="153D50"/>
                          </a:solidFill>
                          <a:latin typeface="Cambria Math"/>
                          <a:ea typeface="Meiryo"/>
                        </a:rPr>
                        <m:t>,</m:t>
                      </m:r>
                      <m:r>
                        <m:rPr>
                          <m:nor/>
                        </m:rPr>
                        <a:rPr sz="2550" b="0" lang="en-US">
                          <a:solidFill>
                            <a:srgbClr val="153D50"/>
                          </a:solidFill>
                          <a:latin typeface="Cambria Math"/>
                          <a:ea typeface="Meiryo"/>
                        </a:rPr>
                        <m:t>  </m:t>
                      </m:r>
                      <m:r>
                        <a:rPr sz="2550" b="0" lang="en-US">
                          <a:solidFill>
                            <a:srgbClr val="153D50"/>
                          </a:solidFill>
                          <a:latin typeface="Cambria Math"/>
                          <a:ea typeface="Meiryo"/>
                        </a:rPr>
                        <m:t>R≈6370</m:t>
                      </m:r>
                      <m:r>
                        <m:rPr>
                          <m:nor/>
                        </m:rPr>
                        <a:rPr sz="2550" b="0" lang="en-US">
                          <a:solidFill>
                            <a:srgbClr val="153D50"/>
                          </a:solidFill>
                          <a:latin typeface="Cambria Math"/>
                          <a:ea typeface="Meiryo"/>
                        </a:rPr>
                        <m:t> </m:t>
                      </m:r>
                      <m:r>
                        <m:rPr>
                          <m:sty m:val="p"/>
                        </m:rPr>
                        <a:rPr sz="2550" b="0" lang="en-US">
                          <a:solidFill>
                            <a:srgbClr val="153D50"/>
                          </a:solidFill>
                          <a:latin typeface="Cambria Math"/>
                          <a:ea typeface="Meiryo"/>
                        </a:rPr>
                        <m:t>km</m:t>
                      </m:r>
                    </m:oMath>
                  </m:oMathPara>
                </a14:m>
              </a:p>
            </p:txBody>
          </p:sp>
        </mc:Choice>
        <mc:Fallback>
          <p:sp>
            <p:nvSpPr>
              <p:cNvPr id="6" name="EQM00085">
                <a:extLst xmlns:a="http://schemas.openxmlformats.org/drawingml/2006/main">
                  <a:ext uri="{FF2B5EF4-FFF2-40B4-BE49-F238E27FC236}">
                    <a16:creationId xmlns:a16="http://schemas.microsoft.com/office/drawing/2014/main" id="{27B51F07-866C-4D29-B8DA-F01216E704D1}"/>
                  </a:ext>
                </a:extLst>
              </p:cNvPr>
              <p:cNvSpPr>
                <a:spLocks xmlns:a="http://schemas.openxmlformats.org/drawingml/2006/main" noGrp="1"/>
              </p:cNvSpPr>
              <p:nvPr/>
            </p:nvSpPr>
            <p:spPr>
              <a:xfrm xmlns:a="http://schemas.openxmlformats.org/drawingml/2006/main">
                <a:off x="647700" y="2552700"/>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550" b="0">
                    <a:solidFill>
                      <a:srgbClr val="153D50"/>
                    </a:solidFill>
                    <a:latin typeface="Meiryo"/>
                    <a:ea typeface="Meiryo"/>
                    <a:cs typeface="Meiryo"/>
                  </a:defRPr>
                </a:defPPr>
              </a:lstStyle>
              <a:p xmlns:a="http://schemas.openxmlformats.org/drawingml/2006/main">
                <a:pPr algn="ctr">
                  <a:defRPr sz="2550" b="0">
                    <a:solidFill>
                      <a:srgbClr val="153D50"/>
                    </a:solidFill>
                    <a:latin typeface="Meiryo"/>
                    <a:ea typeface="Meiryo"/>
                    <a:cs typeface="Meiryo"/>
                  </a:defRPr>
                </a:pPr>
                <a:r>
                  <a:rPr sz="2550" b="0">
                    <a:solidFill>
                      <a:srgbClr val="153D50"/>
                    </a:solidFill>
                    <a:latin typeface="Meiryo"/>
                    <a:ea typeface="Meiryo"/>
                    <a:cs typeface="Meiryo"/>
                  </a:rPr>
                  <a:t>m\approx m_0\left(1+\frac{Y^2}{2R^2}\right),\qquad R\approx6370\ \mathrm{km}</a:t>
                </a:r>
              </a:p>
            </p:txBody>
          </p:sp>
        </mc:Fallback>
      </mc:AlternateContent>
      <p:pic>
        <p:nvPicPr>
          <p:cNvPr id="7" name="">
            <a:extLst xmlns:a="http://schemas.openxmlformats.org/drawingml/2006/main">
              <a:ext uri="{FF2B5EF4-FFF2-40B4-BE49-F238E27FC236}">
                <a16:creationId xmlns:a16="http://schemas.microsoft.com/office/drawing/2014/main" id="{EA2D804D-8F5F-4B08-8802-1FD683BBCA00}"/>
              </a:ext>
            </a:extLst>
          </p:cNvPr>
          <p:cNvPicPr>
            <a:picLocks xmlns:a="http://schemas.openxmlformats.org/drawingml/2006/main" noChangeAspect="1"/>
          </p:cNvPicPr>
          <p:nvPr/>
        </p:nvPicPr>
        <p:blipFill>
          <a:blip xmlns:r="http://schemas.openxmlformats.org/officeDocument/2006/relationships" xmlns:a="http://schemas.openxmlformats.org/drawingml/2006/main" r:embed="R895cdfeafa524455"/>
          <a:stretch xmlns:a="http://schemas.openxmlformats.org/drawingml/2006/main"/>
        </p:blipFill>
        <p:spPr>
          <a:xfrm xmlns:a="http://schemas.openxmlformats.org/drawingml/2006/main">
            <a:off x="1355912" y="3533775"/>
            <a:ext cx="9480176" cy="2686050"/>
          </a:xfrm>
          <a:prstGeom xmlns:a="http://schemas.openxmlformats.org/drawingml/2006/main" prst="rect">
            <a:avLst/>
          </a:prstGeom>
        </p:spPr>
      </p:pic>
    </p:spTree>
    <p:extLst>
      <p:ext uri="{BB962C8B-B14F-4D97-AF65-F5344CB8AC3E}">
        <p14:creationId xmlns:p14="http://schemas.microsoft.com/office/powerpoint/2010/main" val="1822039412"/>
      </p:ext>
    </p:extLst>
  </p:cSld>
</p:sld>
</file>

<file path=ppt/slides/slide52.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6" name="本文0">
            <a:extLst xmlns:a="http://schemas.openxmlformats.org/drawingml/2006/main">
              <a:ext uri="{FF2B5EF4-FFF2-40B4-BE49-F238E27FC236}">
                <a16:creationId xmlns:a16="http://schemas.microsoft.com/office/drawing/2014/main" id="{037234CE-747E-4FDD-8997-3FB785CE1599}"/>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3-4</a:t>
            </a:r>
          </a:p>
        </p:txBody>
      </p:sp>
      <p:sp>
        <p:nvSpPr>
          <p:cNvPr id="2" name="本文1">
            <a:extLst xmlns:a="http://schemas.openxmlformats.org/drawingml/2006/main">
              <a:ext uri="{FF2B5EF4-FFF2-40B4-BE49-F238E27FC236}">
                <a16:creationId xmlns:a16="http://schemas.microsoft.com/office/drawing/2014/main" id="{73544ECA-9454-45B8-9152-1799AF3C12A3}"/>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距離を4段階で区別する</a:t>
            </a:r>
          </a:p>
        </p:txBody>
      </p:sp>
      <p:sp>
        <p:nvSpPr>
          <p:cNvPr id="3" name="本文2">
            <a:extLst xmlns:a="http://schemas.openxmlformats.org/drawingml/2006/main">
              <a:ext uri="{FF2B5EF4-FFF2-40B4-BE49-F238E27FC236}">
                <a16:creationId xmlns:a16="http://schemas.microsoft.com/office/drawing/2014/main" id="{25CF1796-BA9C-4B39-A7D5-E283D4677046}"/>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52</a:t>
            </a:r>
          </a:p>
        </p:txBody>
      </p:sp>
      <p:sp>
        <p:nvSpPr>
          <p:cNvPr id="4" name="本文3">
            <a:extLst xmlns:a="http://schemas.openxmlformats.org/drawingml/2006/main">
              <a:ext uri="{FF2B5EF4-FFF2-40B4-BE49-F238E27FC236}">
                <a16:creationId xmlns:a16="http://schemas.microsoft.com/office/drawing/2014/main" id="{E981DCCB-D50F-463D-81D9-579067BA023E}"/>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1">
                <a:solidFill>
                  <a:srgbClr val="137D78"/>
                </a:solidFill>
                <a:latin typeface="Meiryo"/>
                <a:ea typeface="Meiryo"/>
                <a:cs typeface="Meiryo"/>
              </a:rPr>
              <a:t>座標計算に使うのは、最後の平面距離。</a:t>
            </a:r>
          </a:p>
        </p:txBody>
      </p:sp>
      <p:pic>
        <p:nvPicPr>
          <p:cNvPr id="5" name="">
            <a:extLst xmlns:a="http://schemas.openxmlformats.org/drawingml/2006/main">
              <a:ext uri="{FF2B5EF4-FFF2-40B4-BE49-F238E27FC236}">
                <a16:creationId xmlns:a16="http://schemas.microsoft.com/office/drawing/2014/main" id="{0475E753-F961-4842-A43F-BCC84250CAC9}"/>
              </a:ext>
            </a:extLst>
          </p:cNvPr>
          <p:cNvPicPr>
            <a:picLocks xmlns:a="http://schemas.openxmlformats.org/drawingml/2006/main" noChangeAspect="1"/>
          </p:cNvPicPr>
          <p:nvPr/>
        </p:nvPicPr>
        <p:blipFill>
          <a:blip xmlns:r="http://schemas.openxmlformats.org/officeDocument/2006/relationships" xmlns:a="http://schemas.openxmlformats.org/drawingml/2006/main" r:embed="Rbf3b3da7b0274c01"/>
          <a:stretch xmlns:a="http://schemas.openxmlformats.org/drawingml/2006/main"/>
        </p:blipFill>
        <p:spPr>
          <a:xfrm xmlns:a="http://schemas.openxmlformats.org/drawingml/2006/main">
            <a:off x="590550" y="2670493"/>
            <a:ext cx="11010900" cy="2936240"/>
          </a:xfrm>
          <a:prstGeom xmlns:a="http://schemas.openxmlformats.org/drawingml/2006/main" prst="rect">
            <a:avLst/>
          </a:prstGeom>
        </p:spPr>
      </p:pic>
    </p:spTree>
    <p:extLst>
      <p:ext uri="{BB962C8B-B14F-4D97-AF65-F5344CB8AC3E}">
        <p14:creationId xmlns:p14="http://schemas.microsoft.com/office/powerpoint/2010/main" val="628457321"/>
      </p:ext>
    </p:extLst>
  </p:cSld>
</p:sld>
</file>

<file path=ppt/slides/slide53.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E6ACED0F-A942-45D0-B211-543D15B185BF}"/>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3-4</a:t>
            </a:r>
          </a:p>
        </p:txBody>
      </p:sp>
      <p:sp>
        <p:nvSpPr>
          <p:cNvPr id="2" name="本文1">
            <a:extLst xmlns:a="http://schemas.openxmlformats.org/drawingml/2006/main">
              <a:ext uri="{FF2B5EF4-FFF2-40B4-BE49-F238E27FC236}">
                <a16:creationId xmlns:a16="http://schemas.microsoft.com/office/drawing/2014/main" id="{51FE8427-E78D-4079-9DA3-EBF0D2FDF18C}"/>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水平に直し、基準面へ縮める</a:t>
            </a:r>
          </a:p>
        </p:txBody>
      </p:sp>
      <p:sp>
        <p:nvSpPr>
          <p:cNvPr id="3" name="本文2">
            <a:extLst xmlns:a="http://schemas.openxmlformats.org/drawingml/2006/main">
              <a:ext uri="{FF2B5EF4-FFF2-40B4-BE49-F238E27FC236}">
                <a16:creationId xmlns:a16="http://schemas.microsoft.com/office/drawing/2014/main" id="{E5C3E13A-04B3-4EB4-A686-E1BF472B8356}"/>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53</a:t>
            </a:r>
          </a:p>
        </p:txBody>
      </p:sp>
      <mc:AlternateContent xmlns:mc="http://schemas.openxmlformats.org/markup-compatibility/2006" xmlns:a14="http://schemas.microsoft.com/office/drawing/2010/main">
        <mc:Choice Requires="a14">
          <p:sp>
            <p:nvSpPr>
              <p:cNvPr id="4" name="EQM00086">
                <a:extLst xmlns:a="http://schemas.openxmlformats.org/drawingml/2006/main">
                  <a:ext uri="{FF2B5EF4-FFF2-40B4-BE49-F238E27FC236}">
                    <a16:creationId xmlns:a16="http://schemas.microsoft.com/office/drawing/2014/main" id="{735527B1-6C97-4002-8A5B-833001892C44}"/>
                  </a:ext>
                </a:extLst>
              </p:cNvPr>
              <p:cNvSpPr>
                <a:spLocks xmlns:a="http://schemas.openxmlformats.org/drawingml/2006/main" noGrp="1"/>
              </p:cNvSpPr>
              <p:nvPr/>
            </p:nvSpPr>
            <p:spPr>
              <a:xfrm xmlns:a="http://schemas.openxmlformats.org/drawingml/2006/main">
                <a:off x="647700" y="1466850"/>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550" b="0">
                    <a:solidFill>
                      <a:srgbClr val="153D50"/>
                    </a:solidFill>
                    <a:latin typeface="Meiryo"/>
                    <a:ea typeface="Meiryo"/>
                    <a:cs typeface="Meiryo"/>
                  </a:defRPr>
                </a:defPPr>
              </a:lstStyle>
              <a:p xmlns:a="http://schemas.openxmlformats.org/drawingml/2006/main">
                <a:pPr algn="ctr">
                  <a:defRPr sz="255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r>
                        <a:rPr sz="2550" b="0" lang="en-US">
                          <a:solidFill>
                            <a:srgbClr val="153D50"/>
                          </a:solidFill>
                          <a:latin typeface="Cambria Math"/>
                          <a:ea typeface="Meiryo"/>
                        </a:rPr>
                        <m:t>S=</m:t>
                      </m:r>
                      <m:rad>
                        <m:radPr>
                          <m:degHide m:val="on"/>
                        </m:radPr>
                        <m:deg/>
                        <m:e>
                          <m:sSup>
                            <m:e>
                              <m:r>
                                <a:rPr sz="2550" b="0" lang="en-US">
                                  <a:solidFill>
                                    <a:srgbClr val="153D50"/>
                                  </a:solidFill>
                                  <a:latin typeface="Cambria Math"/>
                                  <a:ea typeface="Meiryo"/>
                                </a:rPr>
                                <m:t>L</m:t>
                              </m:r>
                            </m:e>
                            <m:sup>
                              <m:r>
                                <a:rPr sz="2550" b="0" lang="en-US">
                                  <a:solidFill>
                                    <a:srgbClr val="153D50"/>
                                  </a:solidFill>
                                  <a:latin typeface="Cambria Math"/>
                                  <a:ea typeface="Meiryo"/>
                                </a:rPr>
                                <m:t>2</m:t>
                              </m:r>
                            </m:sup>
                          </m:sSup>
                          <m:r>
                            <a:rPr sz="2550" b="0" lang="en-US">
                              <a:solidFill>
                                <a:srgbClr val="153D50"/>
                              </a:solidFill>
                              <a:latin typeface="Cambria Math"/>
                              <a:ea typeface="Meiryo"/>
                            </a:rPr>
                            <m:t>−</m:t>
                          </m:r>
                          <m:r>
                            <m:rPr>
                              <m:sty m:val="p"/>
                            </m:rPr>
                            <a:rPr sz="2550" b="0" lang="en-US">
                              <a:solidFill>
                                <a:srgbClr val="153D50"/>
                              </a:solidFill>
                              <a:latin typeface="Cambria Math"/>
                              <a:ea typeface="Meiryo"/>
                            </a:rPr>
                            <m:t>Δ</m:t>
                          </m:r>
                          <m:sSup>
                            <m:e>
                              <m:r>
                                <a:rPr sz="2550" b="0" lang="en-US">
                                  <a:solidFill>
                                    <a:srgbClr val="153D50"/>
                                  </a:solidFill>
                                  <a:latin typeface="Cambria Math"/>
                                  <a:ea typeface="Meiryo"/>
                                </a:rPr>
                                <m:t>h</m:t>
                              </m:r>
                            </m:e>
                            <m:sup>
                              <m:r>
                                <a:rPr sz="2550" b="0" lang="en-US">
                                  <a:solidFill>
                                    <a:srgbClr val="153D50"/>
                                  </a:solidFill>
                                  <a:latin typeface="Cambria Math"/>
                                  <a:ea typeface="Meiryo"/>
                                </a:rPr>
                                <m:t>2</m:t>
                              </m:r>
                            </m:sup>
                          </m:sSup>
                        </m:e>
                      </m:rad>
                      <m:r>
                        <a:rPr sz="2550" b="0" lang="en-US">
                          <a:solidFill>
                            <a:srgbClr val="153D50"/>
                          </a:solidFill>
                          <a:latin typeface="Cambria Math"/>
                          <a:ea typeface="Meiryo"/>
                        </a:rPr>
                        <m:t>=L</m:t>
                      </m:r>
                      <m:r>
                        <m:rPr>
                          <m:sty m:val="p"/>
                        </m:rPr>
                        <a:rPr sz="2550" b="0" lang="en-US">
                          <a:solidFill>
                            <a:srgbClr val="153D50"/>
                          </a:solidFill>
                          <a:latin typeface="Cambria Math"/>
                          <a:ea typeface="Meiryo"/>
                        </a:rPr>
                        <m:t>cos</m:t>
                      </m:r>
                      <m:r>
                        <a:rPr sz="2550" b="0" lang="en-US">
                          <a:solidFill>
                            <a:srgbClr val="153D50"/>
                          </a:solidFill>
                          <a:latin typeface="Cambria Math"/>
                          <a:ea typeface="Meiryo"/>
                        </a:rPr>
                        <m:t>⁡θ</m:t>
                      </m:r>
                    </m:oMath>
                  </m:oMathPara>
                </a14:m>
              </a:p>
            </p:txBody>
          </p:sp>
        </mc:Choice>
        <mc:Fallback>
          <p:sp>
            <p:nvSpPr>
              <p:cNvPr id="4" name="EQM00086">
                <a:extLst xmlns:a="http://schemas.openxmlformats.org/drawingml/2006/main">
                  <a:ext uri="{FF2B5EF4-FFF2-40B4-BE49-F238E27FC236}">
                    <a16:creationId xmlns:a16="http://schemas.microsoft.com/office/drawing/2014/main" id="{735527B1-6C97-4002-8A5B-833001892C44}"/>
                  </a:ext>
                </a:extLst>
              </p:cNvPr>
              <p:cNvSpPr>
                <a:spLocks xmlns:a="http://schemas.openxmlformats.org/drawingml/2006/main" noGrp="1"/>
              </p:cNvSpPr>
              <p:nvPr/>
            </p:nvSpPr>
            <p:spPr>
              <a:xfrm xmlns:a="http://schemas.openxmlformats.org/drawingml/2006/main">
                <a:off x="647700" y="1466850"/>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550" b="0">
                    <a:solidFill>
                      <a:srgbClr val="153D50"/>
                    </a:solidFill>
                    <a:latin typeface="Meiryo"/>
                    <a:ea typeface="Meiryo"/>
                    <a:cs typeface="Meiryo"/>
                  </a:defRPr>
                </a:defPPr>
              </a:lstStyle>
              <a:p xmlns:a="http://schemas.openxmlformats.org/drawingml/2006/main">
                <a:pPr algn="ctr">
                  <a:defRPr sz="2550" b="0">
                    <a:solidFill>
                      <a:srgbClr val="153D50"/>
                    </a:solidFill>
                    <a:latin typeface="Meiryo"/>
                    <a:ea typeface="Meiryo"/>
                    <a:cs typeface="Meiryo"/>
                  </a:defRPr>
                </a:pPr>
                <a:r>
                  <a:rPr sz="2550" b="0">
                    <a:solidFill>
                      <a:srgbClr val="153D50"/>
                    </a:solidFill>
                    <a:latin typeface="Meiryo"/>
                    <a:ea typeface="Meiryo"/>
                    <a:cs typeface="Meiryo"/>
                  </a:rPr>
                  <a:t>S=\sqrt{L^2-\Delta h^2}=L\cos\theta</a:t>
                </a:r>
              </a:p>
            </p:txBody>
          </p:sp>
        </mc:Fallback>
      </mc:AlternateContent>
      <mc:AlternateContent xmlns:mc="http://schemas.openxmlformats.org/markup-compatibility/2006" xmlns:a14="http://schemas.microsoft.com/office/drawing/2010/main">
        <mc:Choice Requires="a14">
          <p:sp>
            <p:nvSpPr>
              <p:cNvPr id="5" name="EQM00087">
                <a:extLst xmlns:a="http://schemas.openxmlformats.org/drawingml/2006/main">
                  <a:ext uri="{FF2B5EF4-FFF2-40B4-BE49-F238E27FC236}">
                    <a16:creationId xmlns:a16="http://schemas.microsoft.com/office/drawing/2014/main" id="{CBB73F24-6D03-4885-B3F0-DFC9E689D9E7}"/>
                  </a:ext>
                </a:extLst>
              </p:cNvPr>
              <p:cNvSpPr>
                <a:spLocks xmlns:a="http://schemas.openxmlformats.org/drawingml/2006/main" noGrp="1"/>
              </p:cNvSpPr>
              <p:nvPr/>
            </p:nvSpPr>
            <p:spPr>
              <a:xfrm xmlns:a="http://schemas.openxmlformats.org/drawingml/2006/main">
                <a:off x="647700" y="2247900"/>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550" b="0">
                    <a:solidFill>
                      <a:srgbClr val="153D50"/>
                    </a:solidFill>
                    <a:latin typeface="Meiryo"/>
                    <a:ea typeface="Meiryo"/>
                    <a:cs typeface="Meiryo"/>
                  </a:defRPr>
                </a:defPPr>
              </a:lstStyle>
              <a:p xmlns:a="http://schemas.openxmlformats.org/drawingml/2006/main">
                <a:pPr algn="ctr">
                  <a:defRPr sz="255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sSub>
                        <m:e>
                          <m:r>
                            <a:rPr sz="2550" b="0" lang="en-US">
                              <a:solidFill>
                                <a:srgbClr val="153D50"/>
                              </a:solidFill>
                              <a:latin typeface="Cambria Math"/>
                              <a:ea typeface="Meiryo"/>
                            </a:rPr>
                            <m:t>S</m:t>
                          </m:r>
                        </m:e>
                        <m:sub>
                          <m:r>
                            <a:rPr sz="2550" b="0" lang="en-US">
                              <a:solidFill>
                                <a:srgbClr val="153D50"/>
                              </a:solidFill>
                              <a:latin typeface="Cambria Math"/>
                              <a:ea typeface="Meiryo"/>
                            </a:rPr>
                            <m:t>0</m:t>
                          </m:r>
                        </m:sub>
                      </m:sSub>
                      <m:r>
                        <a:rPr sz="2550" b="0" lang="en-US">
                          <a:solidFill>
                            <a:srgbClr val="153D50"/>
                          </a:solidFill>
                          <a:latin typeface="Cambria Math"/>
                          <a:ea typeface="Meiryo"/>
                        </a:rPr>
                        <m:t>=S</m:t>
                      </m:r>
                      <m:f>
                        <m:fPr>
                          <m:type m:val="bar"/>
                        </m:fPr>
                        <m:num>
                          <m:r>
                            <a:rPr sz="2550" b="0" lang="en-US">
                              <a:solidFill>
                                <a:srgbClr val="153D50"/>
                              </a:solidFill>
                              <a:latin typeface="Cambria Math"/>
                              <a:ea typeface="Meiryo"/>
                            </a:rPr>
                            <m:t>R</m:t>
                          </m:r>
                        </m:num>
                        <m:den>
                          <m:r>
                            <a:rPr sz="2550" b="0" lang="en-US">
                              <a:solidFill>
                                <a:srgbClr val="153D50"/>
                              </a:solidFill>
                              <a:latin typeface="Cambria Math"/>
                              <a:ea typeface="Meiryo"/>
                            </a:rPr>
                            <m:t>R+H</m:t>
                          </m:r>
                        </m:den>
                      </m:f>
                      <m:r>
                        <a:rPr sz="2550" b="0" lang="en-US">
                          <a:solidFill>
                            <a:srgbClr val="153D50"/>
                          </a:solidFill>
                          <a:latin typeface="Cambria Math"/>
                          <a:ea typeface="Meiryo"/>
                        </a:rPr>
                        <m:t>≈S</m:t>
                      </m:r>
                      <m:d>
                        <m:dPr>
                          <m:sepChr m:val=""/>
                        </m:dPr>
                        <m:e>
                          <m:r>
                            <a:rPr sz="2550" b="0" lang="en-US">
                              <a:solidFill>
                                <a:srgbClr val="153D50"/>
                              </a:solidFill>
                              <a:latin typeface="Cambria Math"/>
                              <a:ea typeface="Meiryo"/>
                            </a:rPr>
                            <m:t>1−</m:t>
                          </m:r>
                          <m:f>
                            <m:fPr>
                              <m:type m:val="bar"/>
                            </m:fPr>
                            <m:num>
                              <m:r>
                                <a:rPr sz="2550" b="0" lang="en-US">
                                  <a:solidFill>
                                    <a:srgbClr val="153D50"/>
                                  </a:solidFill>
                                  <a:latin typeface="Cambria Math"/>
                                  <a:ea typeface="Meiryo"/>
                                </a:rPr>
                                <m:t>H</m:t>
                              </m:r>
                            </m:num>
                            <m:den>
                              <m:r>
                                <a:rPr sz="2550" b="0" lang="en-US">
                                  <a:solidFill>
                                    <a:srgbClr val="153D50"/>
                                  </a:solidFill>
                                  <a:latin typeface="Cambria Math"/>
                                  <a:ea typeface="Meiryo"/>
                                </a:rPr>
                                <m:t>R</m:t>
                              </m:r>
                            </m:den>
                          </m:f>
                        </m:e>
                      </m:d>
                    </m:oMath>
                  </m:oMathPara>
                </a14:m>
              </a:p>
            </p:txBody>
          </p:sp>
        </mc:Choice>
        <mc:Fallback>
          <p:sp>
            <p:nvSpPr>
              <p:cNvPr id="5" name="EQM00087">
                <a:extLst xmlns:a="http://schemas.openxmlformats.org/drawingml/2006/main">
                  <a:ext uri="{FF2B5EF4-FFF2-40B4-BE49-F238E27FC236}">
                    <a16:creationId xmlns:a16="http://schemas.microsoft.com/office/drawing/2014/main" id="{CBB73F24-6D03-4885-B3F0-DFC9E689D9E7}"/>
                  </a:ext>
                </a:extLst>
              </p:cNvPr>
              <p:cNvSpPr>
                <a:spLocks xmlns:a="http://schemas.openxmlformats.org/drawingml/2006/main" noGrp="1"/>
              </p:cNvSpPr>
              <p:nvPr/>
            </p:nvSpPr>
            <p:spPr>
              <a:xfrm xmlns:a="http://schemas.openxmlformats.org/drawingml/2006/main">
                <a:off x="647700" y="2247900"/>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550" b="0">
                    <a:solidFill>
                      <a:srgbClr val="153D50"/>
                    </a:solidFill>
                    <a:latin typeface="Meiryo"/>
                    <a:ea typeface="Meiryo"/>
                    <a:cs typeface="Meiryo"/>
                  </a:defRPr>
                </a:defPPr>
              </a:lstStyle>
              <a:p xmlns:a="http://schemas.openxmlformats.org/drawingml/2006/main">
                <a:pPr algn="ctr">
                  <a:defRPr sz="2550" b="0">
                    <a:solidFill>
                      <a:srgbClr val="153D50"/>
                    </a:solidFill>
                    <a:latin typeface="Meiryo"/>
                    <a:ea typeface="Meiryo"/>
                    <a:cs typeface="Meiryo"/>
                  </a:defRPr>
                </a:pPr>
                <a:r>
                  <a:rPr sz="2550" b="0">
                    <a:solidFill>
                      <a:srgbClr val="153D50"/>
                    </a:solidFill>
                    <a:latin typeface="Meiryo"/>
                    <a:ea typeface="Meiryo"/>
                    <a:cs typeface="Meiryo"/>
                  </a:rPr>
                  <a:t>S_0=S\frac{R}{R+H}\approx S\left(1-\frac{H}{R}\right)</a:t>
                </a:r>
              </a:p>
            </p:txBody>
          </p:sp>
        </mc:Fallback>
      </mc:AlternateContent>
      <mc:AlternateContent xmlns:mc="http://schemas.openxmlformats.org/markup-compatibility/2006" xmlns:a14="http://schemas.microsoft.com/office/drawing/2010/main">
        <mc:Choice Requires="a14">
          <p:sp>
            <p:nvSpPr>
              <p:cNvPr id="6" name="本文5">
                <a:extLst xmlns:a="http://schemas.openxmlformats.org/drawingml/2006/main">
                  <a:ext uri="{FF2B5EF4-FFF2-40B4-BE49-F238E27FC236}">
                    <a16:creationId xmlns:a16="http://schemas.microsoft.com/office/drawing/2014/main" id="{4926308D-31EB-419B-8503-7F6069A5C668}"/>
                  </a:ext>
                </a:extLst>
              </p:cNvPr>
              <p:cNvSpPr>
                <a:spLocks xmlns:a="http://schemas.openxmlformats.org/drawingml/2006/main" noGrp="1"/>
              </p:cNvSpPr>
              <p:nvPr/>
            </p:nvSpPr>
            <p:spPr>
              <a:xfrm xmlns:a="http://schemas.openxmlformats.org/drawingml/2006/main">
                <a:off x="647700" y="31813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14:m xmlns:m="http://schemas.openxmlformats.org/officeDocument/2006/math">
                  <m:oMath xmlns:mml="http://www.w3.org/1998/Math/MathML">
                    <m:r>
                      <a:rPr sz="1950" b="0" lang="en-US">
                        <a:solidFill>
                          <a:srgbClr val="213C4B"/>
                        </a:solidFill>
                        <a:latin typeface="Cambria Math"/>
                        <a:ea typeface="Meiryo"/>
                      </a:rPr>
                      <m:t>θ</m:t>
                    </m:r>
                  </m:oMath>
                </a14:m>
                <a:r>
                  <a:rPr sz="1950" b="0">
                    <a:solidFill>
                      <a:srgbClr val="213C4B"/>
                    </a:solidFill>
                    <a:latin typeface="Meiryo"/>
                    <a:ea typeface="Meiryo"/>
                    <a:cs typeface="Meiryo"/>
                  </a:rPr>
                  <a:t>：高度角、</a:t>
                </a:r>
                <a14:m xmlns:m="http://schemas.openxmlformats.org/officeDocument/2006/math">
                  <m:oMath xmlns:mml="http://www.w3.org/1998/Math/MathML">
                    <m:r>
                      <m:rPr>
                        <m:sty m:val="p"/>
                      </m:rPr>
                      <a:rPr sz="1950" b="0" lang="en-US">
                        <a:solidFill>
                          <a:srgbClr val="213C4B"/>
                        </a:solidFill>
                        <a:latin typeface="Cambria Math"/>
                        <a:ea typeface="Meiryo"/>
                      </a:rPr>
                      <m:t>Δ</m:t>
                    </m:r>
                    <m:r>
                      <a:rPr sz="1950" b="0" lang="en-US">
                        <a:solidFill>
                          <a:srgbClr val="213C4B"/>
                        </a:solidFill>
                        <a:latin typeface="Cambria Math"/>
                        <a:ea typeface="Meiryo"/>
                      </a:rPr>
                      <m:t>h</m:t>
                    </m:r>
                  </m:oMath>
                </a14:m>
                <a:r>
                  <a:rPr sz="1950" b="0">
                    <a:solidFill>
                      <a:srgbClr val="213C4B"/>
                    </a:solidFill>
                    <a:latin typeface="Meiryo"/>
                    <a:ea typeface="Meiryo"/>
                    <a:cs typeface="Meiryo"/>
                  </a:rPr>
                  <a:t>：高低差、</a:t>
                </a:r>
                <a14:m xmlns:m="http://schemas.openxmlformats.org/officeDocument/2006/math">
                  <m:oMath xmlns:mml="http://www.w3.org/1998/Math/MathML">
                    <m:r>
                      <a:rPr sz="1950" b="0" lang="en-US">
                        <a:solidFill>
                          <a:srgbClr val="213C4B"/>
                        </a:solidFill>
                        <a:latin typeface="Cambria Math"/>
                        <a:ea typeface="Meiryo"/>
                      </a:rPr>
                      <m:t>H</m:t>
                    </m:r>
                  </m:oMath>
                </a14:m>
                <a:r>
                  <a:rPr sz="1950" b="0">
                    <a:solidFill>
                      <a:srgbClr val="213C4B"/>
                    </a:solidFill>
                    <a:latin typeface="Meiryo"/>
                    <a:ea typeface="Meiryo"/>
                    <a:cs typeface="Meiryo"/>
                  </a:rPr>
                  <a:t>：平均標高。</a:t>
                </a:r>
              </a:p>
            </p:txBody>
          </p:sp>
        </mc:Choice>
        <mc:Fallback>
          <p:sp>
            <p:nvSpPr>
              <p:cNvPr id="6" name="本文5">
                <a:extLst xmlns:a="http://schemas.openxmlformats.org/drawingml/2006/main">
                  <a:ext uri="{FF2B5EF4-FFF2-40B4-BE49-F238E27FC236}">
                    <a16:creationId xmlns:a16="http://schemas.microsoft.com/office/drawing/2014/main" id="{4926308D-31EB-419B-8503-7F6069A5C668}"/>
                  </a:ext>
                </a:extLst>
              </p:cNvPr>
              <p:cNvSpPr>
                <a:spLocks xmlns:a="http://schemas.openxmlformats.org/drawingml/2006/main" noGrp="1"/>
              </p:cNvSpPr>
              <p:nvPr/>
            </p:nvSpPr>
            <p:spPr>
              <a:xfrm xmlns:a="http://schemas.openxmlformats.org/drawingml/2006/main">
                <a:off x="647700" y="31813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Cambria Math"/>
                    <a:ea typeface="Cambria Math"/>
                    <a:cs typeface="Cambria Math"/>
                  </a:rPr>
                  <a:t>\theta</a:t>
                </a:r>
                <a:r>
                  <a:rPr sz="1950" b="0">
                    <a:solidFill>
                      <a:srgbClr val="213C4B"/>
                    </a:solidFill>
                    <a:latin typeface="Meiryo"/>
                    <a:ea typeface="Meiryo"/>
                    <a:cs typeface="Meiryo"/>
                  </a:rPr>
                  <a:t>：高度角、</a:t>
                </a:r>
                <a:r>
                  <a:rPr sz="1950" b="0">
                    <a:solidFill>
                      <a:srgbClr val="213C4B"/>
                    </a:solidFill>
                    <a:latin typeface="Cambria Math"/>
                    <a:ea typeface="Cambria Math"/>
                    <a:cs typeface="Cambria Math"/>
                  </a:rPr>
                  <a:t>\Delta h</a:t>
                </a:r>
                <a:r>
                  <a:rPr sz="1950" b="0">
                    <a:solidFill>
                      <a:srgbClr val="213C4B"/>
                    </a:solidFill>
                    <a:latin typeface="Meiryo"/>
                    <a:ea typeface="Meiryo"/>
                    <a:cs typeface="Meiryo"/>
                  </a:rPr>
                  <a:t>：高低差、</a:t>
                </a:r>
                <a:r>
                  <a:rPr sz="1950" b="0">
                    <a:solidFill>
                      <a:srgbClr val="213C4B"/>
                    </a:solidFill>
                    <a:latin typeface="Cambria Math"/>
                    <a:ea typeface="Cambria Math"/>
                    <a:cs typeface="Cambria Math"/>
                  </a:rPr>
                  <a:t>H</a:t>
                </a:r>
                <a:r>
                  <a:rPr sz="1950" b="0">
                    <a:solidFill>
                      <a:srgbClr val="213C4B"/>
                    </a:solidFill>
                    <a:latin typeface="Meiryo"/>
                    <a:ea typeface="Meiryo"/>
                    <a:cs typeface="Meiryo"/>
                  </a:rPr>
                  <a:t>：平均標高。</a:t>
                </a:r>
              </a:p>
            </p:txBody>
          </p:sp>
        </mc:Fallback>
      </mc:AlternateContent>
      <p:pic>
        <p:nvPicPr>
          <p:cNvPr id="7" name="">
            <a:extLst xmlns:a="http://schemas.openxmlformats.org/drawingml/2006/main">
              <a:ext uri="{FF2B5EF4-FFF2-40B4-BE49-F238E27FC236}">
                <a16:creationId xmlns:a16="http://schemas.microsoft.com/office/drawing/2014/main" id="{48BEC34E-9AF8-4D9B-A604-C3804DF5603D}"/>
              </a:ext>
            </a:extLst>
          </p:cNvPr>
          <p:cNvPicPr>
            <a:picLocks xmlns:a="http://schemas.openxmlformats.org/drawingml/2006/main" noChangeAspect="1"/>
          </p:cNvPicPr>
          <p:nvPr/>
        </p:nvPicPr>
        <p:blipFill>
          <a:blip xmlns:r="http://schemas.openxmlformats.org/officeDocument/2006/relationships" xmlns:a="http://schemas.openxmlformats.org/drawingml/2006/main" r:embed="Rb9db583595794da2"/>
          <a:stretch xmlns:a="http://schemas.openxmlformats.org/drawingml/2006/main"/>
        </p:blipFill>
        <p:spPr>
          <a:xfrm xmlns:a="http://schemas.openxmlformats.org/drawingml/2006/main">
            <a:off x="1776132" y="3771900"/>
            <a:ext cx="8639735" cy="2447925"/>
          </a:xfrm>
          <a:prstGeom xmlns:a="http://schemas.openxmlformats.org/drawingml/2006/main" prst="rect">
            <a:avLst/>
          </a:prstGeom>
        </p:spPr>
      </p:pic>
    </p:spTree>
    <p:extLst>
      <p:ext uri="{BB962C8B-B14F-4D97-AF65-F5344CB8AC3E}">
        <p14:creationId xmlns:p14="http://schemas.microsoft.com/office/powerpoint/2010/main" val="688981185"/>
      </p:ext>
    </p:extLst>
  </p:cSld>
</p:sld>
</file>

<file path=ppt/slides/slide54.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5C84581A-8A1D-4C41-B08B-C07477B9C719}"/>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3-4</a:t>
            </a:r>
          </a:p>
        </p:txBody>
      </p:sp>
      <p:sp>
        <p:nvSpPr>
          <p:cNvPr id="2" name="本文1">
            <a:extLst xmlns:a="http://schemas.openxmlformats.org/drawingml/2006/main">
              <a:ext uri="{FF2B5EF4-FFF2-40B4-BE49-F238E27FC236}">
                <a16:creationId xmlns:a16="http://schemas.microsoft.com/office/drawing/2014/main" id="{FC52EF68-A473-469F-9992-82349DDD4770}"/>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基準面から平面へ：縮尺係数</a:t>
            </a:r>
          </a:p>
        </p:txBody>
      </p:sp>
      <p:sp>
        <p:nvSpPr>
          <p:cNvPr id="3" name="本文2">
            <a:extLst xmlns:a="http://schemas.openxmlformats.org/drawingml/2006/main">
              <a:ext uri="{FF2B5EF4-FFF2-40B4-BE49-F238E27FC236}">
                <a16:creationId xmlns:a16="http://schemas.microsoft.com/office/drawing/2014/main" id="{85F73FF8-F196-46DB-B261-629045EF3526}"/>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54</a:t>
            </a:r>
          </a:p>
        </p:txBody>
      </p:sp>
      <mc:AlternateContent xmlns:mc="http://schemas.openxmlformats.org/markup-compatibility/2006" xmlns:a14="http://schemas.microsoft.com/office/drawing/2010/main">
        <mc:Choice Requires="a14">
          <p:sp>
            <p:nvSpPr>
              <p:cNvPr id="4" name="EQM00091">
                <a:extLst xmlns:a="http://schemas.openxmlformats.org/drawingml/2006/main">
                  <a:ext uri="{FF2B5EF4-FFF2-40B4-BE49-F238E27FC236}">
                    <a16:creationId xmlns:a16="http://schemas.microsoft.com/office/drawing/2014/main" id="{6D8628B2-EA8B-40A0-AB1B-D2C38582E186}"/>
                  </a:ext>
                </a:extLst>
              </p:cNvPr>
              <p:cNvSpPr>
                <a:spLocks xmlns:a="http://schemas.openxmlformats.org/drawingml/2006/main" noGrp="1"/>
              </p:cNvSpPr>
              <p:nvPr/>
            </p:nvSpPr>
            <p:spPr>
              <a:xfrm xmlns:a="http://schemas.openxmlformats.org/drawingml/2006/main">
                <a:off x="647700" y="1466850"/>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borderBox>
                        <m:e>
                          <m:r>
                            <a:rPr sz="2700" b="0" lang="en-US">
                              <a:solidFill>
                                <a:srgbClr val="153D50"/>
                              </a:solidFill>
                              <a:latin typeface="Cambria Math"/>
                              <a:ea typeface="Meiryo"/>
                            </a:rPr>
                            <m:t>s=m</m:t>
                          </m:r>
                          <m:sSub>
                            <m:e>
                              <m:argPr>
                                <m:argSz m:val="0"/>
                              </m:argPr>
                              <m:r>
                                <a:rPr sz="2700" b="0" lang="en-US">
                                  <a:solidFill>
                                    <a:srgbClr val="153D50"/>
                                  </a:solidFill>
                                  <a:latin typeface="Cambria Math"/>
                                  <a:ea typeface="Meiryo"/>
                                </a:rPr>
                                <m:t>S</m:t>
                              </m:r>
                            </m:e>
                            <m:sub>
                              <m:argPr>
                                <m:argSz m:val="0"/>
                              </m:argPr>
                              <m:r>
                                <a:rPr sz="2700" b="0" lang="en-US">
                                  <a:solidFill>
                                    <a:srgbClr val="153D50"/>
                                  </a:solidFill>
                                  <a:latin typeface="Cambria Math"/>
                                  <a:ea typeface="Meiryo"/>
                                </a:rPr>
                                <m:t>0</m:t>
                              </m:r>
                            </m:sub>
                          </m:sSub>
                        </m:e>
                      </m:borderBox>
                    </m:oMath>
                  </m:oMathPara>
                </a14:m>
              </a:p>
            </p:txBody>
          </p:sp>
        </mc:Choice>
        <mc:Fallback>
          <p:sp>
            <p:nvSpPr>
              <p:cNvPr id="4" name="EQM00091">
                <a:extLst xmlns:a="http://schemas.openxmlformats.org/drawingml/2006/main">
                  <a:ext uri="{FF2B5EF4-FFF2-40B4-BE49-F238E27FC236}">
                    <a16:creationId xmlns:a16="http://schemas.microsoft.com/office/drawing/2014/main" id="{6D8628B2-EA8B-40A0-AB1B-D2C38582E186}"/>
                  </a:ext>
                </a:extLst>
              </p:cNvPr>
              <p:cNvSpPr>
                <a:spLocks xmlns:a="http://schemas.openxmlformats.org/drawingml/2006/main" noGrp="1"/>
              </p:cNvSpPr>
              <p:nvPr/>
            </p:nvSpPr>
            <p:spPr>
              <a:xfrm xmlns:a="http://schemas.openxmlformats.org/drawingml/2006/main">
                <a:off x="647700" y="1466850"/>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\boxed{s=mS_0}</a:t>
                </a:r>
              </a:p>
            </p:txBody>
          </p:sp>
        </mc:Fallback>
      </mc:AlternateContent>
      <mc:AlternateContent xmlns:mc="http://schemas.openxmlformats.org/markup-compatibility/2006" xmlns:a14="http://schemas.microsoft.com/office/drawing/2010/main">
        <mc:Choice Requires="a14">
          <p:graphicFrame>
            <p:nvGraphicFramePr>
              <p:cNvPr id="5" name="">
                <a:extLst xmlns:a="http://schemas.openxmlformats.org/drawingml/2006/main">
                  <a:ext uri="{FF2B5EF4-FFF2-40B4-BE49-F238E27FC236}">
                    <a16:creationId xmlns:a16="http://schemas.microsoft.com/office/drawing/2014/main" id="{926C855E-50FF-4155-93F5-648AFBBE6689}"/>
                  </a:ext>
                </a:extLst>
              </p:cNvPr>
              <p:cNvGraphicFramePr/>
              <p:nvPr/>
            </p:nvGraphicFramePr>
            <p:xfrm>
              <a:off xmlns:a="http://schemas.openxmlformats.org/drawingml/2006/main" x="647700" y="2324100"/>
              <a:ext xmlns:a="http://schemas.openxmlformats.org/drawingml/2006/main" cx="10896600" cy="238506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縮尺係数</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平面距離はどうなるか</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m&lt;1</m:t>
                              </m:r>
                            </m:oMath>
                          </a14:m>
                          <a:r>
                            <a:rPr sz="2100" b="0">
                              <a:solidFill>
                                <a:srgbClr val="213C4B"/>
                              </a:solidFill>
                              <a:latin typeface="Meiryo"/>
                              <a:ea typeface="Meiryo"/>
                              <a:cs typeface="Meiryo"/>
                            </a:rPr>
                            <a:t>（中央付近）</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短くなる</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m=1</m:t>
                              </m:r>
                            </m:oMath>
                          </a14:m>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変わらない</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m&gt;1</m:t>
                              </m:r>
                            </m:oMath>
                          </a14:m>
                          <a:r>
                            <a:rPr sz="2100" b="0">
                              <a:solidFill>
                                <a:srgbClr val="213C4B"/>
                              </a:solidFill>
                              <a:latin typeface="Meiryo"/>
                              <a:ea typeface="Meiryo"/>
                              <a:cs typeface="Meiryo"/>
                            </a:rPr>
                            <a:t>（中央から離れる）</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長くなる</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Choice>
        <mc:Fallback>
          <p:graphicFrame>
            <p:nvGraphicFramePr>
              <p:cNvPr id="5" name="">
                <a:extLst xmlns:a="http://schemas.openxmlformats.org/drawingml/2006/main">
                  <a:ext uri="{FF2B5EF4-FFF2-40B4-BE49-F238E27FC236}">
                    <a16:creationId xmlns:a16="http://schemas.microsoft.com/office/drawing/2014/main" id="{926C855E-50FF-4155-93F5-648AFBBE6689}"/>
                  </a:ext>
                </a:extLst>
              </p:cNvPr>
              <p:cNvGraphicFramePr/>
              <p:nvPr/>
            </p:nvGraphicFramePr>
            <p:xfrm>
              <a:off xmlns:a="http://schemas.openxmlformats.org/drawingml/2006/main" x="647700" y="2324100"/>
              <a:ext xmlns:a="http://schemas.openxmlformats.org/drawingml/2006/main" cx="10896600" cy="238506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縮尺係数</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平面距離はどうなるか</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Cambria Math"/>
                              <a:ea typeface="Cambria Math"/>
                              <a:cs typeface="Cambria Math"/>
                            </a:rPr>
                            <a:t>m&lt;1</a:t>
                          </a:r>
                          <a:r>
                            <a:rPr sz="2100" b="0">
                              <a:solidFill>
                                <a:srgbClr val="213C4B"/>
                              </a:solidFill>
                              <a:latin typeface="Meiryo"/>
                              <a:ea typeface="Meiryo"/>
                              <a:cs typeface="Meiryo"/>
                            </a:rPr>
                            <a:t>（中央付近）</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短くなる</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Cambria Math"/>
                              <a:ea typeface="Cambria Math"/>
                              <a:cs typeface="Cambria Math"/>
                            </a:rPr>
                            <a:t>m=1</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変わらない</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Cambria Math"/>
                              <a:ea typeface="Cambria Math"/>
                              <a:cs typeface="Cambria Math"/>
                            </a:rPr>
                            <a:t>m&gt;1</a:t>
                          </a:r>
                          <a:r>
                            <a:rPr sz="2100" b="0">
                              <a:solidFill>
                                <a:srgbClr val="213C4B"/>
                              </a:solidFill>
                              <a:latin typeface="Meiryo"/>
                              <a:ea typeface="Meiryo"/>
                              <a:cs typeface="Meiryo"/>
                            </a:rPr>
                            <a:t>（中央から離れる）</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長くなる</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Fallback>
      </mc:AlternateContent>
      <p:sp>
        <p:nvSpPr>
          <p:cNvPr id="6" name="本文4">
            <a:extLst xmlns:a="http://schemas.openxmlformats.org/drawingml/2006/main">
              <a:ext uri="{FF2B5EF4-FFF2-40B4-BE49-F238E27FC236}">
                <a16:creationId xmlns:a16="http://schemas.microsoft.com/office/drawing/2014/main" id="{11B62FF6-5514-4A1F-BF30-B11402EC5C85}"/>
              </a:ext>
            </a:extLst>
          </p:cNvPr>
          <p:cNvSpPr>
            <a:spLocks xmlns:a="http://schemas.openxmlformats.org/drawingml/2006/main" noGrp="1"/>
          </p:cNvSpPr>
          <p:nvPr/>
        </p:nvSpPr>
        <p:spPr>
          <a:xfrm xmlns:a="http://schemas.openxmlformats.org/drawingml/2006/main">
            <a:off x="647700" y="488061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標高による縮約と、投影による補正は </a:t>
            </a:r>
            <a:r>
              <a:rPr sz="2100" b="1">
                <a:solidFill>
                  <a:srgbClr val="137D78"/>
                </a:solidFill>
                <a:latin typeface="Meiryo"/>
                <a:ea typeface="Meiryo"/>
                <a:cs typeface="Meiryo"/>
              </a:rPr>
              <a:t>別々に行う</a:t>
            </a:r>
            <a:r>
              <a:rPr sz="2100" b="0">
                <a:solidFill>
                  <a:srgbClr val="213C4B"/>
                </a:solidFill>
                <a:latin typeface="Meiryo"/>
                <a:ea typeface="Meiryo"/>
                <a:cs typeface="Meiryo"/>
              </a:rPr>
              <a:t>。</a:t>
            </a:r>
          </a:p>
        </p:txBody>
      </p:sp>
      <mc:AlternateContent xmlns:mc="http://schemas.openxmlformats.org/markup-compatibility/2006" xmlns:a14="http://schemas.microsoft.com/office/drawing/2010/main">
        <mc:Choice Requires="a14">
          <p:sp>
            <p:nvSpPr>
              <p:cNvPr id="7" name="本文5">
                <a:extLst xmlns:a="http://schemas.openxmlformats.org/drawingml/2006/main">
                  <a:ext uri="{FF2B5EF4-FFF2-40B4-BE49-F238E27FC236}">
                    <a16:creationId xmlns:a16="http://schemas.microsoft.com/office/drawing/2014/main" id="{5351B01D-757E-48DF-9F6D-E5AA50927B32}"/>
                  </a:ext>
                </a:extLst>
              </p:cNvPr>
              <p:cNvSpPr>
                <a:spLocks xmlns:a="http://schemas.openxmlformats.org/drawingml/2006/main" noGrp="1"/>
              </p:cNvSpPr>
              <p:nvPr/>
            </p:nvSpPr>
            <p:spPr>
              <a:xfrm xmlns:a="http://schemas.openxmlformats.org/drawingml/2006/main">
                <a:off x="647700" y="552831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厳密な楕円体面への縮約には </a:t>
                </a:r>
                <a14:m xmlns:m="http://schemas.openxmlformats.org/officeDocument/2006/math">
                  <m:oMath xmlns:mml="http://www.w3.org/1998/Math/MathML">
                    <m:r>
                      <a:rPr sz="2100" b="0" lang="en-US">
                        <a:solidFill>
                          <a:srgbClr val="213C4B"/>
                        </a:solidFill>
                        <a:latin typeface="Cambria Math"/>
                        <a:ea typeface="Meiryo"/>
                      </a:rPr>
                      <m:t>h=H+N</m:t>
                    </m:r>
                  </m:oMath>
                </a14:m>
                <a:r>
                  <a:rPr sz="2100" b="0">
                    <a:solidFill>
                      <a:srgbClr val="213C4B"/>
                    </a:solidFill>
                    <a:latin typeface="Meiryo"/>
                    <a:ea typeface="Meiryo"/>
                    <a:cs typeface="Meiryo"/>
                  </a:rPr>
                  <a:t> を使う。授業の例は </a:t>
                </a:r>
                <a14:m xmlns:m="http://schemas.openxmlformats.org/officeDocument/2006/math">
                  <m:oMath xmlns:mml="http://www.w3.org/1998/Math/MathML">
                    <m:r>
                      <a:rPr sz="2100" b="0" lang="en-US">
                        <a:solidFill>
                          <a:srgbClr val="213C4B"/>
                        </a:solidFill>
                        <a:latin typeface="Cambria Math"/>
                        <a:ea typeface="Meiryo"/>
                      </a:rPr>
                      <m:t>H</m:t>
                    </m:r>
                  </m:oMath>
                </a14:m>
                <a:r>
                  <a:rPr sz="2100" b="0">
                    <a:solidFill>
                      <a:srgbClr val="213C4B"/>
                    </a:solidFill>
                    <a:latin typeface="Meiryo"/>
                    <a:ea typeface="Meiryo"/>
                    <a:cs typeface="Meiryo"/>
                  </a:rPr>
                  <a:t> による近似。</a:t>
                </a:r>
              </a:p>
            </p:txBody>
          </p:sp>
        </mc:Choice>
        <mc:Fallback>
          <p:sp>
            <p:nvSpPr>
              <p:cNvPr id="7" name="本文5">
                <a:extLst xmlns:a="http://schemas.openxmlformats.org/drawingml/2006/main">
                  <a:ext uri="{FF2B5EF4-FFF2-40B4-BE49-F238E27FC236}">
                    <a16:creationId xmlns:a16="http://schemas.microsoft.com/office/drawing/2014/main" id="{5351B01D-757E-48DF-9F6D-E5AA50927B32}"/>
                  </a:ext>
                </a:extLst>
              </p:cNvPr>
              <p:cNvSpPr>
                <a:spLocks xmlns:a="http://schemas.openxmlformats.org/drawingml/2006/main" noGrp="1"/>
              </p:cNvSpPr>
              <p:nvPr/>
            </p:nvSpPr>
            <p:spPr>
              <a:xfrm xmlns:a="http://schemas.openxmlformats.org/drawingml/2006/main">
                <a:off x="647700" y="552831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厳密な楕円体面への縮約には </a:t>
                </a:r>
                <a:r>
                  <a:rPr sz="2100" b="0">
                    <a:solidFill>
                      <a:srgbClr val="213C4B"/>
                    </a:solidFill>
                    <a:latin typeface="Cambria Math"/>
                    <a:ea typeface="Cambria Math"/>
                    <a:cs typeface="Cambria Math"/>
                  </a:rPr>
                  <a:t>h=H+N</a:t>
                </a:r>
                <a:r>
                  <a:rPr sz="2100" b="0">
                    <a:solidFill>
                      <a:srgbClr val="213C4B"/>
                    </a:solidFill>
                    <a:latin typeface="Meiryo"/>
                    <a:ea typeface="Meiryo"/>
                    <a:cs typeface="Meiryo"/>
                  </a:rPr>
                  <a:t> を使う。授業の例は </a:t>
                </a:r>
                <a:r>
                  <a:rPr sz="2100" b="0">
                    <a:solidFill>
                      <a:srgbClr val="213C4B"/>
                    </a:solidFill>
                    <a:latin typeface="Cambria Math"/>
                    <a:ea typeface="Cambria Math"/>
                    <a:cs typeface="Cambria Math"/>
                  </a:rPr>
                  <a:t>H</a:t>
                </a:r>
                <a:r>
                  <a:rPr sz="2100" b="0">
                    <a:solidFill>
                      <a:srgbClr val="213C4B"/>
                    </a:solidFill>
                    <a:latin typeface="Meiryo"/>
                    <a:ea typeface="Meiryo"/>
                    <a:cs typeface="Meiryo"/>
                  </a:rPr>
                  <a:t> による近似。</a:t>
                </a:r>
              </a:p>
            </p:txBody>
          </p:sp>
        </mc:Fallback>
      </mc:AlternateContent>
    </p:spTree>
    <p:extLst>
      <p:ext uri="{BB962C8B-B14F-4D97-AF65-F5344CB8AC3E}">
        <p14:creationId xmlns:p14="http://schemas.microsoft.com/office/powerpoint/2010/main" val="1836324033"/>
      </p:ext>
    </p:extLst>
  </p:cSld>
</p:sld>
</file>

<file path=ppt/slides/slide55.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D5E057A5-1723-460F-AFF2-D422426D86CA}"/>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3-4</a:t>
            </a:r>
          </a:p>
        </p:txBody>
      </p:sp>
      <p:sp>
        <p:nvSpPr>
          <p:cNvPr id="2" name="本文1">
            <a:extLst xmlns:a="http://schemas.openxmlformats.org/drawingml/2006/main">
              <a:ext uri="{FF2B5EF4-FFF2-40B4-BE49-F238E27FC236}">
                <a16:creationId xmlns:a16="http://schemas.microsoft.com/office/drawing/2014/main" id="{9F86AA94-CB7C-4767-B9D8-745456B1D19E}"/>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例題：1 kmの距離を換算する</a:t>
            </a:r>
          </a:p>
        </p:txBody>
      </p:sp>
      <p:sp>
        <p:nvSpPr>
          <p:cNvPr id="3" name="本文2">
            <a:extLst xmlns:a="http://schemas.openxmlformats.org/drawingml/2006/main">
              <a:ext uri="{FF2B5EF4-FFF2-40B4-BE49-F238E27FC236}">
                <a16:creationId xmlns:a16="http://schemas.microsoft.com/office/drawing/2014/main" id="{CDA56E58-202E-4C8F-AEA3-392B7769E57B}"/>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55</a:t>
            </a:r>
          </a:p>
        </p:txBody>
      </p:sp>
      <p:sp>
        <p:nvSpPr>
          <p:cNvPr id="4" name="本文3">
            <a:extLst xmlns:a="http://schemas.openxmlformats.org/drawingml/2006/main">
              <a:ext uri="{FF2B5EF4-FFF2-40B4-BE49-F238E27FC236}">
                <a16:creationId xmlns:a16="http://schemas.microsoft.com/office/drawing/2014/main" id="{4B92FCE7-4CEE-47D2-A82E-AE599608ED46}"/>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水平距離から約0.116 m短くなる。途中では丸めない。</a:t>
            </a:r>
          </a:p>
        </p:txBody>
      </p:sp>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D9ACC76B-EF49-4354-ABAE-4384985C8143}"/>
                  </a:ext>
                </a:extLst>
              </p:cNvPr>
              <p:cNvSpPr>
                <a:spLocks xmlns:a="http://schemas.openxmlformats.org/drawingml/2006/main" noGrp="1"/>
              </p:cNvSpPr>
              <p:nvPr/>
            </p:nvSpPr>
            <p:spPr>
              <a:xfrm xmlns:a="http://schemas.openxmlformats.org/drawingml/2006/main">
                <a:off x="647700" y="183705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14:m xmlns:m="http://schemas.openxmlformats.org/officeDocument/2006/math">
                  <m:oMath xmlns:mml="http://www.w3.org/1998/Math/MathML">
                    <m:r>
                      <a:rPr sz="2100" b="0" lang="en-US">
                        <a:solidFill>
                          <a:srgbClr val="213C4B"/>
                        </a:solidFill>
                        <a:latin typeface="Cambria Math"/>
                        <a:ea typeface="Meiryo"/>
                      </a:rPr>
                      <m:t>L=1000.049</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r>
                  <a:rPr sz="2100" b="0">
                    <a:solidFill>
                      <a:srgbClr val="213C4B"/>
                    </a:solidFill>
                    <a:latin typeface="Meiryo"/>
                    <a:ea typeface="Meiryo"/>
                    <a:cs typeface="Meiryo"/>
                  </a:rPr>
                  <a:t>、</a:t>
                </a:r>
                <a14:m xmlns:m="http://schemas.openxmlformats.org/officeDocument/2006/math">
                  <m:oMath xmlns:mml="http://www.w3.org/1998/Math/MathML">
                    <m:r>
                      <m:rPr>
                        <m:sty m:val="p"/>
                      </m:rPr>
                      <a:rPr sz="2100" b="0" lang="en-US">
                        <a:solidFill>
                          <a:srgbClr val="213C4B"/>
                        </a:solidFill>
                        <a:latin typeface="Cambria Math"/>
                        <a:ea typeface="Meiryo"/>
                      </a:rPr>
                      <m:t>Δ</m:t>
                    </m:r>
                    <m:r>
                      <a:rPr sz="2100" b="0" lang="en-US">
                        <a:solidFill>
                          <a:srgbClr val="213C4B"/>
                        </a:solidFill>
                        <a:latin typeface="Cambria Math"/>
                        <a:ea typeface="Meiryo"/>
                      </a:rPr>
                      <m:t>h=9.900</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r>
                  <a:rPr sz="2100" b="0">
                    <a:solidFill>
                      <a:srgbClr val="213C4B"/>
                    </a:solidFill>
                    <a:latin typeface="Meiryo"/>
                    <a:ea typeface="Meiryo"/>
                    <a:cs typeface="Meiryo"/>
                  </a:rPr>
                  <a:t>、</a:t>
                </a:r>
                <a14:m xmlns:m="http://schemas.openxmlformats.org/officeDocument/2006/math">
                  <m:oMath xmlns:mml="http://www.w3.org/1998/Math/MathML">
                    <m:r>
                      <a:rPr sz="2100" b="0" lang="en-US">
                        <a:solidFill>
                          <a:srgbClr val="213C4B"/>
                        </a:solidFill>
                        <a:latin typeface="Cambria Math"/>
                        <a:ea typeface="Meiryo"/>
                      </a:rPr>
                      <m:t>H=100</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r>
                  <a:rPr sz="2100" b="0">
                    <a:solidFill>
                      <a:srgbClr val="213C4B"/>
                    </a:solidFill>
                    <a:latin typeface="Meiryo"/>
                    <a:ea typeface="Meiryo"/>
                    <a:cs typeface="Meiryo"/>
                  </a:rPr>
                  <a:t>、</a:t>
                </a:r>
                <a14:m xmlns:m="http://schemas.openxmlformats.org/officeDocument/2006/math">
                  <m:oMath xmlns:mml="http://www.w3.org/1998/Math/MathML">
                    <m:r>
                      <a:rPr sz="2100" b="0" lang="en-US">
                        <a:solidFill>
                          <a:srgbClr val="213C4B"/>
                        </a:solidFill>
                        <a:latin typeface="Cambria Math"/>
                        <a:ea typeface="Meiryo"/>
                      </a:rPr>
                      <m:t>m=0.9999</m:t>
                    </m:r>
                  </m:oMath>
                </a14:m>
                <a:r>
                  <a:rPr sz="2100" b="0">
                    <a:solidFill>
                      <a:srgbClr val="213C4B"/>
                    </a:solidFill>
                    <a:latin typeface="Meiryo"/>
                    <a:ea typeface="Meiryo"/>
                    <a:cs typeface="Meiryo"/>
                  </a:rPr>
                  <a:t>。</a:t>
                </a:r>
              </a:p>
            </p:txBody>
          </p:sp>
        </mc:Choice>
        <mc:Fallback>
          <p:sp>
            <p:nvSpPr>
              <p:cNvPr id="5" name="本文4">
                <a:extLst xmlns:a="http://schemas.openxmlformats.org/drawingml/2006/main">
                  <a:ext uri="{FF2B5EF4-FFF2-40B4-BE49-F238E27FC236}">
                    <a16:creationId xmlns:a16="http://schemas.microsoft.com/office/drawing/2014/main" id="{D9ACC76B-EF49-4354-ABAE-4384985C8143}"/>
                  </a:ext>
                </a:extLst>
              </p:cNvPr>
              <p:cNvSpPr>
                <a:spLocks xmlns:a="http://schemas.openxmlformats.org/drawingml/2006/main" noGrp="1"/>
              </p:cNvSpPr>
              <p:nvPr/>
            </p:nvSpPr>
            <p:spPr>
              <a:xfrm xmlns:a="http://schemas.openxmlformats.org/drawingml/2006/main">
                <a:off x="647700" y="183705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Cambria Math"/>
                    <a:ea typeface="Cambria Math"/>
                    <a:cs typeface="Cambria Math"/>
                  </a:rPr>
                  <a:t>L=1000.049\ \mathrm{m}</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\Delta h=9.900\ \mathrm{m}</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H=100\ \mathrm{m}</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m=0.9999</a:t>
                </a:r>
                <a:r>
                  <a:rPr sz="2100" b="0">
                    <a:solidFill>
                      <a:srgbClr val="213C4B"/>
                    </a:solidFill>
                    <a:latin typeface="Meiryo"/>
                    <a:ea typeface="Meiryo"/>
                    <a:cs typeface="Meiryo"/>
                  </a:rPr>
                  <a:t>。</a:t>
                </a:r>
              </a:p>
            </p:txBody>
          </p:sp>
        </mc:Fallback>
      </mc:AlternateContent>
      <mc:AlternateContent xmlns:mc="http://schemas.openxmlformats.org/markup-compatibility/2006" xmlns:a14="http://schemas.microsoft.com/office/drawing/2010/main">
        <mc:Choice Requires="a14">
          <p:graphicFrame>
            <p:nvGraphicFramePr>
              <p:cNvPr id="6" name="">
                <a:extLst xmlns:a="http://schemas.openxmlformats.org/drawingml/2006/main">
                  <a:ext uri="{FF2B5EF4-FFF2-40B4-BE49-F238E27FC236}">
                    <a16:creationId xmlns:a16="http://schemas.microsoft.com/office/drawing/2014/main" id="{1AAEECBF-7FA8-4312-8219-1A982C1262EB}"/>
                  </a:ext>
                </a:extLst>
              </p:cNvPr>
              <p:cNvGraphicFramePr/>
              <p:nvPr/>
            </p:nvGraphicFramePr>
            <p:xfrm>
              <a:off xmlns:a="http://schemas.openxmlformats.org/drawingml/2006/main" x="647700" y="2484755"/>
              <a:ext xmlns:a="http://schemas.openxmlformats.org/drawingml/2006/main" cx="10896600" cy="2651760"/>
            </p:xfrm>
            <a:graphic xmlns:a="http://schemas.openxmlformats.org/drawingml/2006/main">
              <a:graphicData uri="http://schemas.openxmlformats.org/drawingml/2006/table">
                <a:tbl>
                  <a:tblPr/>
                  <a:tblGrid>
                    <a:gridCol w="2070354"/>
                    <a:gridCol w="6320028"/>
                    <a:gridCol w="2506218"/>
                  </a:tblGrid>
                  <a:tr h="596265">
                    <a:tc>
                      <a:txBody>
                        <a:bodyPr lIns="114300" tIns="114300" rIns="114300" bIns="114300">
                          <a:noAutofit/>
                        </a:bodyPr>
                        <a:lstStyle/>
                        <a:p>
                          <a:pPr algn="l"/>
                          <a:r>
                            <a:rPr sz="2100" b="1">
                              <a:solidFill>
                                <a:srgbClr val="FFFFFF"/>
                              </a:solidFill>
                              <a:latin typeface="Meiryo"/>
                              <a:ea typeface="Meiryo"/>
                              <a:cs typeface="Meiryo"/>
                            </a:rPr>
                            <a:t>段階</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計算</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結果（m）</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729615">
                    <a:tc>
                      <a:txBody>
                        <a:bodyPr lIns="114300" tIns="114300" rIns="114300" bIns="114300">
                          <a:noAutofit/>
                        </a:bodyPr>
                        <a:lstStyle/>
                        <a:p>
                          <a:pPr algn="l"/>
                          <a:r>
                            <a:rPr sz="2100" b="0">
                              <a:solidFill>
                                <a:srgbClr val="213C4B"/>
                              </a:solidFill>
                              <a:latin typeface="Meiryo"/>
                              <a:ea typeface="Meiryo"/>
                              <a:cs typeface="Meiryo"/>
                            </a:rPr>
                            <a:t>水平</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S=</m:t>
                              </m:r>
                              <m:rad>
                                <m:radPr>
                                  <m:degHide m:val="on"/>
                                </m:radPr>
                                <m:deg/>
                                <m:e>
                                  <m:sSup>
                                    <m:e>
                                      <m:r>
                                        <a:rPr sz="2100" b="0" lang="en-US">
                                          <a:solidFill>
                                            <a:srgbClr val="213C4B"/>
                                          </a:solidFill>
                                          <a:latin typeface="Cambria Math"/>
                                          <a:ea typeface="Meiryo"/>
                                        </a:rPr>
                                        <m:t>L</m:t>
                                      </m:r>
                                    </m:e>
                                    <m:sup>
                                      <m:r>
                                        <a:rPr sz="2100" b="0" lang="en-US">
                                          <a:solidFill>
                                            <a:srgbClr val="213C4B"/>
                                          </a:solidFill>
                                          <a:latin typeface="Cambria Math"/>
                                          <a:ea typeface="Meiryo"/>
                                        </a:rPr>
                                        <m:t>2</m:t>
                                      </m:r>
                                    </m:sup>
                                  </m:sSup>
                                  <m:r>
                                    <a:rPr sz="2100" b="0" lang="en-US">
                                      <a:solidFill>
                                        <a:srgbClr val="213C4B"/>
                                      </a:solidFill>
                                      <a:latin typeface="Cambria Math"/>
                                      <a:ea typeface="Meiryo"/>
                                    </a:rPr>
                                    <m:t>−</m:t>
                                  </m:r>
                                  <m:r>
                                    <m:rPr>
                                      <m:sty m:val="p"/>
                                    </m:rPr>
                                    <a:rPr sz="2100" b="0" lang="en-US">
                                      <a:solidFill>
                                        <a:srgbClr val="213C4B"/>
                                      </a:solidFill>
                                      <a:latin typeface="Cambria Math"/>
                                      <a:ea typeface="Meiryo"/>
                                    </a:rPr>
                                    <m:t>Δ</m:t>
                                  </m:r>
                                  <m:sSup>
                                    <m:e>
                                      <m:r>
                                        <a:rPr sz="2100" b="0" lang="en-US">
                                          <a:solidFill>
                                            <a:srgbClr val="213C4B"/>
                                          </a:solidFill>
                                          <a:latin typeface="Cambria Math"/>
                                          <a:ea typeface="Meiryo"/>
                                        </a:rPr>
                                        <m:t>h</m:t>
                                      </m:r>
                                    </m:e>
                                    <m:sup>
                                      <m:r>
                                        <a:rPr sz="2100" b="0" lang="en-US">
                                          <a:solidFill>
                                            <a:srgbClr val="213C4B"/>
                                          </a:solidFill>
                                          <a:latin typeface="Cambria Math"/>
                                          <a:ea typeface="Meiryo"/>
                                        </a:rPr>
                                        <m:t>2</m:t>
                                      </m:r>
                                    </m:sup>
                                  </m:sSup>
                                </m:e>
                              </m:rad>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1000.000</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729615">
                    <a:tc>
                      <a:txBody>
                        <a:bodyPr lIns="114300" tIns="114300" rIns="114300" bIns="114300">
                          <a:noAutofit/>
                        </a:bodyPr>
                        <a:lstStyle/>
                        <a:p>
                          <a:pPr algn="l"/>
                          <a:r>
                            <a:rPr sz="2100" b="0">
                              <a:solidFill>
                                <a:srgbClr val="213C4B"/>
                              </a:solidFill>
                              <a:latin typeface="Meiryo"/>
                              <a:ea typeface="Meiryo"/>
                              <a:cs typeface="Meiryo"/>
                            </a:rPr>
                            <a:t>基準面</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sSub>
                                <m:e>
                                  <m:r>
                                    <a:rPr sz="2100" b="0" lang="en-US">
                                      <a:solidFill>
                                        <a:srgbClr val="213C4B"/>
                                      </a:solidFill>
                                      <a:latin typeface="Cambria Math"/>
                                      <a:ea typeface="Meiryo"/>
                                    </a:rPr>
                                    <m:t>S</m:t>
                                  </m:r>
                                </m:e>
                                <m:sub>
                                  <m:r>
                                    <a:rPr sz="2100" b="0" lang="en-US">
                                      <a:solidFill>
                                        <a:srgbClr val="213C4B"/>
                                      </a:solidFill>
                                      <a:latin typeface="Cambria Math"/>
                                      <a:ea typeface="Meiryo"/>
                                    </a:rPr>
                                    <m:t>0</m:t>
                                  </m:r>
                                </m:sub>
                              </m:sSub>
                              <m:r>
                                <a:rPr sz="2100" b="0" lang="en-US">
                                  <a:solidFill>
                                    <a:srgbClr val="213C4B"/>
                                  </a:solidFill>
                                  <a:latin typeface="Cambria Math"/>
                                  <a:ea typeface="Meiryo"/>
                                </a:rPr>
                                <m:t>=S</m:t>
                              </m:r>
                              <m:f>
                                <m:fPr>
                                  <m:type m:val="bar"/>
                                </m:fPr>
                                <m:num>
                                  <m:r>
                                    <a:rPr sz="2100" b="0" lang="en-US">
                                      <a:solidFill>
                                        <a:srgbClr val="213C4B"/>
                                      </a:solidFill>
                                      <a:latin typeface="Cambria Math"/>
                                      <a:ea typeface="Meiryo"/>
                                    </a:rPr>
                                    <m:t>6</m:t>
                                  </m:r>
                                  <m:r>
                                    <m:rPr>
                                      <m:nor/>
                                    </m:rPr>
                                    <a:rPr sz="2100" b="0" lang="en-US">
                                      <a:solidFill>
                                        <a:srgbClr val="213C4B"/>
                                      </a:solidFill>
                                      <a:latin typeface="Cambria Math"/>
                                      <a:ea typeface="Meiryo"/>
                                    </a:rPr>
                                    <m:t> </m:t>
                                  </m:r>
                                  <m:r>
                                    <a:rPr sz="2100" b="0" lang="en-US">
                                      <a:solidFill>
                                        <a:srgbClr val="213C4B"/>
                                      </a:solidFill>
                                      <a:latin typeface="Cambria Math"/>
                                      <a:ea typeface="Meiryo"/>
                                    </a:rPr>
                                    <m:t>370</m:t>
                                  </m:r>
                                  <m:r>
                                    <m:rPr>
                                      <m:nor/>
                                    </m:rPr>
                                    <a:rPr sz="2100" b="0" lang="en-US">
                                      <a:solidFill>
                                        <a:srgbClr val="213C4B"/>
                                      </a:solidFill>
                                      <a:latin typeface="Cambria Math"/>
                                      <a:ea typeface="Meiryo"/>
                                    </a:rPr>
                                    <m:t> </m:t>
                                  </m:r>
                                  <m:r>
                                    <a:rPr sz="2100" b="0" lang="en-US">
                                      <a:solidFill>
                                        <a:srgbClr val="213C4B"/>
                                      </a:solidFill>
                                      <a:latin typeface="Cambria Math"/>
                                      <a:ea typeface="Meiryo"/>
                                    </a:rPr>
                                    <m:t>000</m:t>
                                  </m:r>
                                </m:num>
                                <m:den>
                                  <m:r>
                                    <a:rPr sz="2100" b="0" lang="en-US">
                                      <a:solidFill>
                                        <a:srgbClr val="213C4B"/>
                                      </a:solidFill>
                                      <a:latin typeface="Cambria Math"/>
                                      <a:ea typeface="Meiryo"/>
                                    </a:rPr>
                                    <m:t>6</m:t>
                                  </m:r>
                                  <m:r>
                                    <m:rPr>
                                      <m:nor/>
                                    </m:rPr>
                                    <a:rPr sz="2100" b="0" lang="en-US">
                                      <a:solidFill>
                                        <a:srgbClr val="213C4B"/>
                                      </a:solidFill>
                                      <a:latin typeface="Cambria Math"/>
                                      <a:ea typeface="Meiryo"/>
                                    </a:rPr>
                                    <m:t> </m:t>
                                  </m:r>
                                  <m:r>
                                    <a:rPr sz="2100" b="0" lang="en-US">
                                      <a:solidFill>
                                        <a:srgbClr val="213C4B"/>
                                      </a:solidFill>
                                      <a:latin typeface="Cambria Math"/>
                                      <a:ea typeface="Meiryo"/>
                                    </a:rPr>
                                    <m:t>370</m:t>
                                  </m:r>
                                  <m:r>
                                    <m:rPr>
                                      <m:nor/>
                                    </m:rPr>
                                    <a:rPr sz="2100" b="0" lang="en-US">
                                      <a:solidFill>
                                        <a:srgbClr val="213C4B"/>
                                      </a:solidFill>
                                      <a:latin typeface="Cambria Math"/>
                                      <a:ea typeface="Meiryo"/>
                                    </a:rPr>
                                    <m:t> </m:t>
                                  </m:r>
                                  <m:r>
                                    <a:rPr sz="2100" b="0" lang="en-US">
                                      <a:solidFill>
                                        <a:srgbClr val="213C4B"/>
                                      </a:solidFill>
                                      <a:latin typeface="Cambria Math"/>
                                      <a:ea typeface="Meiryo"/>
                                    </a:rPr>
                                    <m:t>100</m:t>
                                  </m:r>
                                </m:den>
                              </m:f>
                            </m:oMath>
                          </a14:m>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999.984</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平面</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s=0.9999</m:t>
                              </m:r>
                              <m:sSub>
                                <m:e>
                                  <m:r>
                                    <a:rPr sz="2100" b="0" lang="en-US">
                                      <a:solidFill>
                                        <a:srgbClr val="213C4B"/>
                                      </a:solidFill>
                                      <a:latin typeface="Cambria Math"/>
                                      <a:ea typeface="Meiryo"/>
                                    </a:rPr>
                                    <m:t>S</m:t>
                                  </m:r>
                                </m:e>
                                <m:sub>
                                  <m:r>
                                    <a:rPr sz="2100" b="0" lang="en-US">
                                      <a:solidFill>
                                        <a:srgbClr val="213C4B"/>
                                      </a:solidFill>
                                      <a:latin typeface="Cambria Math"/>
                                      <a:ea typeface="Meiryo"/>
                                    </a:rPr>
                                    <m:t>0</m:t>
                                  </m:r>
                                </m:sub>
                              </m:sSub>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1">
                              <a:solidFill>
                                <a:srgbClr val="137D78"/>
                              </a:solidFill>
                              <a:latin typeface="Meiryo"/>
                              <a:ea typeface="Meiryo"/>
                              <a:cs typeface="Meiryo"/>
                            </a:rPr>
                            <a:t>999.884</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Choice>
        <mc:Fallback>
          <p:graphicFrame>
            <p:nvGraphicFramePr>
              <p:cNvPr id="6" name="">
                <a:extLst xmlns:a="http://schemas.openxmlformats.org/drawingml/2006/main">
                  <a:ext uri="{FF2B5EF4-FFF2-40B4-BE49-F238E27FC236}">
                    <a16:creationId xmlns:a16="http://schemas.microsoft.com/office/drawing/2014/main" id="{1AAEECBF-7FA8-4312-8219-1A982C1262EB}"/>
                  </a:ext>
                </a:extLst>
              </p:cNvPr>
              <p:cNvGraphicFramePr/>
              <p:nvPr/>
            </p:nvGraphicFramePr>
            <p:xfrm>
              <a:off xmlns:a="http://schemas.openxmlformats.org/drawingml/2006/main" x="647700" y="2484755"/>
              <a:ext xmlns:a="http://schemas.openxmlformats.org/drawingml/2006/main" cx="10896600" cy="2651760"/>
            </p:xfrm>
            <a:graphic xmlns:a="http://schemas.openxmlformats.org/drawingml/2006/main">
              <a:graphicData uri="http://schemas.openxmlformats.org/drawingml/2006/table">
                <a:tbl>
                  <a:tblPr/>
                  <a:tblGrid>
                    <a:gridCol w="2070354"/>
                    <a:gridCol w="6320028"/>
                    <a:gridCol w="2506218"/>
                  </a:tblGrid>
                  <a:tr h="596265">
                    <a:tc>
                      <a:txBody>
                        <a:bodyPr lIns="114300" tIns="114300" rIns="114300" bIns="114300">
                          <a:noAutofit/>
                        </a:bodyPr>
                        <a:lstStyle/>
                        <a:p>
                          <a:pPr algn="l"/>
                          <a:r>
                            <a:rPr sz="2100" b="1">
                              <a:solidFill>
                                <a:srgbClr val="FFFFFF"/>
                              </a:solidFill>
                              <a:latin typeface="Meiryo"/>
                              <a:ea typeface="Meiryo"/>
                              <a:cs typeface="Meiryo"/>
                            </a:rPr>
                            <a:t>段階</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計算</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結果（m）</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729615">
                    <a:tc>
                      <a:txBody>
                        <a:bodyPr lIns="114300" tIns="114300" rIns="114300" bIns="114300">
                          <a:noAutofit/>
                        </a:bodyPr>
                        <a:lstStyle/>
                        <a:p>
                          <a:pPr algn="l"/>
                          <a:r>
                            <a:rPr sz="2100" b="0">
                              <a:solidFill>
                                <a:srgbClr val="213C4B"/>
                              </a:solidFill>
                              <a:latin typeface="Meiryo"/>
                              <a:ea typeface="Meiryo"/>
                              <a:cs typeface="Meiryo"/>
                            </a:rPr>
                            <a:t>水平</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Cambria Math"/>
                              <a:ea typeface="Cambria Math"/>
                              <a:cs typeface="Cambria Math"/>
                            </a:rPr>
                            <a:t>S=\sqrt{L^2-\Delta h^2}</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1000.000</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729615">
                    <a:tc>
                      <a:txBody>
                        <a:bodyPr lIns="114300" tIns="114300" rIns="114300" bIns="114300">
                          <a:noAutofit/>
                        </a:bodyPr>
                        <a:lstStyle/>
                        <a:p>
                          <a:pPr algn="l"/>
                          <a:r>
                            <a:rPr sz="2100" b="0">
                              <a:solidFill>
                                <a:srgbClr val="213C4B"/>
                              </a:solidFill>
                              <a:latin typeface="Meiryo"/>
                              <a:ea typeface="Meiryo"/>
                              <a:cs typeface="Meiryo"/>
                            </a:rPr>
                            <a:t>基準面</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Cambria Math"/>
                              <a:ea typeface="Cambria Math"/>
                              <a:cs typeface="Cambria Math"/>
                            </a:rPr>
                            <a:t>S_0=S\frac{6\,370\,000}{6\,370\,100}</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999.984</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平面</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Cambria Math"/>
                              <a:ea typeface="Cambria Math"/>
                              <a:cs typeface="Cambria Math"/>
                            </a:rPr>
                            <a:t>s=0.9999S_0</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1">
                              <a:solidFill>
                                <a:srgbClr val="137D78"/>
                              </a:solidFill>
                              <a:latin typeface="Meiryo"/>
                              <a:ea typeface="Meiryo"/>
                              <a:cs typeface="Meiryo"/>
                            </a:rPr>
                            <a:t>999.884</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Fallback>
      </mc:AlternateContent>
    </p:spTree>
    <p:extLst>
      <p:ext uri="{BB962C8B-B14F-4D97-AF65-F5344CB8AC3E}">
        <p14:creationId xmlns:p14="http://schemas.microsoft.com/office/powerpoint/2010/main" val="1721954628"/>
      </p:ext>
    </p:extLst>
  </p:cSld>
</p:sld>
</file>

<file path=ppt/slides/slide56.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9" name="本文0">
            <a:extLst xmlns:a="http://schemas.openxmlformats.org/drawingml/2006/main">
              <a:ext uri="{FF2B5EF4-FFF2-40B4-BE49-F238E27FC236}">
                <a16:creationId xmlns:a16="http://schemas.microsoft.com/office/drawing/2014/main" id="{FFB8C383-DCF8-44B0-BF4F-8E41A30B0F92}"/>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3-4</a:t>
            </a:r>
          </a:p>
        </p:txBody>
      </p:sp>
      <p:sp>
        <p:nvSpPr>
          <p:cNvPr id="2" name="本文1">
            <a:extLst xmlns:a="http://schemas.openxmlformats.org/drawingml/2006/main">
              <a:ext uri="{FF2B5EF4-FFF2-40B4-BE49-F238E27FC236}">
                <a16:creationId xmlns:a16="http://schemas.microsoft.com/office/drawing/2014/main" id="{5564AD67-9E3D-4A66-8C63-8456A5E5D7DA}"/>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逆換算：図面の距離を現地へ</a:t>
            </a:r>
          </a:p>
        </p:txBody>
      </p:sp>
      <p:sp>
        <p:nvSpPr>
          <p:cNvPr id="3" name="本文2">
            <a:extLst xmlns:a="http://schemas.openxmlformats.org/drawingml/2006/main">
              <a:ext uri="{FF2B5EF4-FFF2-40B4-BE49-F238E27FC236}">
                <a16:creationId xmlns:a16="http://schemas.microsoft.com/office/drawing/2014/main" id="{CB22D050-60C1-4727-A089-2A8C4594CFBB}"/>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56</a:t>
            </a:r>
          </a:p>
        </p:txBody>
      </p:sp>
      <p:sp>
        <p:nvSpPr>
          <p:cNvPr id="4" name="本文3">
            <a:extLst xmlns:a="http://schemas.openxmlformats.org/drawingml/2006/main">
              <a:ext uri="{FF2B5EF4-FFF2-40B4-BE49-F238E27FC236}">
                <a16:creationId xmlns:a16="http://schemas.microsoft.com/office/drawing/2014/main" id="{1BABE414-696E-40AA-9852-2697420CC92B}"/>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この条件では、現地の水平距離は図面より約4 cm長い。</a:t>
            </a:r>
          </a:p>
        </p:txBody>
      </p:sp>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4E4CD11B-11C8-4747-A771-5925FBC97447}"/>
                  </a:ext>
                </a:extLst>
              </p:cNvPr>
              <p:cNvSpPr>
                <a:spLocks xmlns:a="http://schemas.openxmlformats.org/drawingml/2006/main" noGrp="1"/>
              </p:cNvSpPr>
              <p:nvPr/>
            </p:nvSpPr>
            <p:spPr>
              <a:xfrm xmlns:a="http://schemas.openxmlformats.org/drawingml/2006/main">
                <a:off x="647700" y="188912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図面の平面距離 </a:t>
                </a:r>
                <a14:m xmlns:m="http://schemas.openxmlformats.org/officeDocument/2006/math">
                  <m:oMath xmlns:mml="http://www.w3.org/1998/Math/MathML">
                    <m:r>
                      <a:rPr sz="2100" b="0" lang="en-US">
                        <a:solidFill>
                          <a:srgbClr val="213C4B"/>
                        </a:solidFill>
                        <a:latin typeface="Cambria Math"/>
                        <a:ea typeface="Meiryo"/>
                      </a:rPr>
                      <m:t>s</m:t>
                    </m:r>
                  </m:oMath>
                </a14:m>
                <a:r>
                  <a:rPr sz="2100" b="0">
                    <a:solidFill>
                      <a:srgbClr val="213C4B"/>
                    </a:solidFill>
                    <a:latin typeface="Meiryo"/>
                    <a:ea typeface="Meiryo"/>
                    <a:cs typeface="Meiryo"/>
                  </a:rPr>
                  <a:t> から、現地で測る水平距離 </a:t>
                </a:r>
                <a14:m xmlns:m="http://schemas.openxmlformats.org/officeDocument/2006/math">
                  <m:oMath xmlns:mml="http://www.w3.org/1998/Math/MathML">
                    <m:r>
                      <a:rPr sz="2100" b="0" lang="en-US">
                        <a:solidFill>
                          <a:srgbClr val="213C4B"/>
                        </a:solidFill>
                        <a:latin typeface="Cambria Math"/>
                        <a:ea typeface="Meiryo"/>
                      </a:rPr>
                      <m:t>S</m:t>
                    </m:r>
                  </m:oMath>
                </a14:m>
                <a:r>
                  <a:rPr sz="2100" b="0">
                    <a:solidFill>
                      <a:srgbClr val="213C4B"/>
                    </a:solidFill>
                    <a:latin typeface="Meiryo"/>
                    <a:ea typeface="Meiryo"/>
                    <a:cs typeface="Meiryo"/>
                  </a:rPr>
                  <a:t> を求める。</a:t>
                </a:r>
              </a:p>
            </p:txBody>
          </p:sp>
        </mc:Choice>
        <mc:Fallback>
          <p:sp>
            <p:nvSpPr>
              <p:cNvPr id="5" name="本文4">
                <a:extLst xmlns:a="http://schemas.openxmlformats.org/drawingml/2006/main">
                  <a:ext uri="{FF2B5EF4-FFF2-40B4-BE49-F238E27FC236}">
                    <a16:creationId xmlns:a16="http://schemas.microsoft.com/office/drawing/2014/main" id="{4E4CD11B-11C8-4747-A771-5925FBC97447}"/>
                  </a:ext>
                </a:extLst>
              </p:cNvPr>
              <p:cNvSpPr>
                <a:spLocks xmlns:a="http://schemas.openxmlformats.org/drawingml/2006/main" noGrp="1"/>
              </p:cNvSpPr>
              <p:nvPr/>
            </p:nvSpPr>
            <p:spPr>
              <a:xfrm xmlns:a="http://schemas.openxmlformats.org/drawingml/2006/main">
                <a:off x="647700" y="188912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図面の平面距離 </a:t>
                </a:r>
                <a:r>
                  <a:rPr sz="2100" b="0">
                    <a:solidFill>
                      <a:srgbClr val="213C4B"/>
                    </a:solidFill>
                    <a:latin typeface="Cambria Math"/>
                    <a:ea typeface="Cambria Math"/>
                    <a:cs typeface="Cambria Math"/>
                  </a:rPr>
                  <a:t>s</a:t>
                </a:r>
                <a:r>
                  <a:rPr sz="2100" b="0">
                    <a:solidFill>
                      <a:srgbClr val="213C4B"/>
                    </a:solidFill>
                    <a:latin typeface="Meiryo"/>
                    <a:ea typeface="Meiryo"/>
                    <a:cs typeface="Meiryo"/>
                  </a:rPr>
                  <a:t> から、現地で測る水平距離 </a:t>
                </a:r>
                <a:r>
                  <a:rPr sz="2100" b="0">
                    <a:solidFill>
                      <a:srgbClr val="213C4B"/>
                    </a:solidFill>
                    <a:latin typeface="Cambria Math"/>
                    <a:ea typeface="Cambria Math"/>
                    <a:cs typeface="Cambria Math"/>
                  </a:rPr>
                  <a:t>S</a:t>
                </a:r>
                <a:r>
                  <a:rPr sz="2100" b="0">
                    <a:solidFill>
                      <a:srgbClr val="213C4B"/>
                    </a:solidFill>
                    <a:latin typeface="Meiryo"/>
                    <a:ea typeface="Meiryo"/>
                    <a:cs typeface="Meiryo"/>
                  </a:rPr>
                  <a:t> を求める。</a:t>
                </a:r>
              </a:p>
            </p:txBody>
          </p:sp>
        </mc:Fallback>
      </mc:AlternateContent>
      <mc:AlternateContent xmlns:mc="http://schemas.openxmlformats.org/markup-compatibility/2006" xmlns:a14="http://schemas.microsoft.com/office/drawing/2010/main">
        <mc:Choice Requires="a14">
          <p:sp>
            <p:nvSpPr>
              <p:cNvPr id="6" name="EQM00106">
                <a:extLst xmlns:a="http://schemas.openxmlformats.org/drawingml/2006/main">
                  <a:ext uri="{FF2B5EF4-FFF2-40B4-BE49-F238E27FC236}">
                    <a16:creationId xmlns:a16="http://schemas.microsoft.com/office/drawing/2014/main" id="{3FDBFC10-9A16-40BE-844B-1597A1B114D5}"/>
                  </a:ext>
                </a:extLst>
              </p:cNvPr>
              <p:cNvSpPr>
                <a:spLocks xmlns:a="http://schemas.openxmlformats.org/drawingml/2006/main" noGrp="1"/>
              </p:cNvSpPr>
              <p:nvPr/>
            </p:nvSpPr>
            <p:spPr>
              <a:xfrm xmlns:a="http://schemas.openxmlformats.org/drawingml/2006/main">
                <a:off x="647700" y="2536825"/>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r>
                        <a:rPr sz="2700" b="0" lang="en-US">
                          <a:solidFill>
                            <a:srgbClr val="153D50"/>
                          </a:solidFill>
                          <a:latin typeface="Cambria Math"/>
                          <a:ea typeface="Meiryo"/>
                        </a:rPr>
                        <m:t>S=</m:t>
                      </m:r>
                      <m:f>
                        <m:fPr>
                          <m:type m:val="bar"/>
                        </m:fPr>
                        <m:num>
                          <m:r>
                            <a:rPr sz="2700" b="0" lang="en-US">
                              <a:solidFill>
                                <a:srgbClr val="153D50"/>
                              </a:solidFill>
                              <a:latin typeface="Cambria Math"/>
                              <a:ea typeface="Meiryo"/>
                            </a:rPr>
                            <m:t>s</m:t>
                          </m:r>
                        </m:num>
                        <m:den>
                          <m:r>
                            <a:rPr sz="2700" b="0" lang="en-US">
                              <a:solidFill>
                                <a:srgbClr val="153D50"/>
                              </a:solidFill>
                              <a:latin typeface="Cambria Math"/>
                              <a:ea typeface="Meiryo"/>
                            </a:rPr>
                            <m:t>m</m:t>
                          </m:r>
                        </m:den>
                      </m:f>
                      <m:r>
                        <a:rPr sz="2700" b="0" lang="en-US">
                          <a:solidFill>
                            <a:srgbClr val="153D50"/>
                          </a:solidFill>
                          <a:latin typeface="Cambria Math"/>
                          <a:ea typeface="Meiryo"/>
                        </a:rPr>
                        <m:t>⋅</m:t>
                      </m:r>
                      <m:f>
                        <m:fPr>
                          <m:type m:val="bar"/>
                        </m:fPr>
                        <m:num>
                          <m:r>
                            <a:rPr sz="2700" b="0" lang="en-US">
                              <a:solidFill>
                                <a:srgbClr val="153D50"/>
                              </a:solidFill>
                              <a:latin typeface="Cambria Math"/>
                              <a:ea typeface="Meiryo"/>
                            </a:rPr>
                            <m:t>R+H</m:t>
                          </m:r>
                        </m:num>
                        <m:den>
                          <m:r>
                            <a:rPr sz="2700" b="0" lang="en-US">
                              <a:solidFill>
                                <a:srgbClr val="153D50"/>
                              </a:solidFill>
                              <a:latin typeface="Cambria Math"/>
                              <a:ea typeface="Meiryo"/>
                            </a:rPr>
                            <m:t>R</m:t>
                          </m:r>
                        </m:den>
                      </m:f>
                    </m:oMath>
                  </m:oMathPara>
                </a14:m>
              </a:p>
            </p:txBody>
          </p:sp>
        </mc:Choice>
        <mc:Fallback>
          <p:sp>
            <p:nvSpPr>
              <p:cNvPr id="6" name="EQM00106">
                <a:extLst xmlns:a="http://schemas.openxmlformats.org/drawingml/2006/main">
                  <a:ext uri="{FF2B5EF4-FFF2-40B4-BE49-F238E27FC236}">
                    <a16:creationId xmlns:a16="http://schemas.microsoft.com/office/drawing/2014/main" id="{3FDBFC10-9A16-40BE-844B-1597A1B114D5}"/>
                  </a:ext>
                </a:extLst>
              </p:cNvPr>
              <p:cNvSpPr>
                <a:spLocks xmlns:a="http://schemas.openxmlformats.org/drawingml/2006/main" noGrp="1"/>
              </p:cNvSpPr>
              <p:nvPr/>
            </p:nvSpPr>
            <p:spPr>
              <a:xfrm xmlns:a="http://schemas.openxmlformats.org/drawingml/2006/main">
                <a:off x="647700" y="2536825"/>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S=\frac{s}{m}\cdot\frac{R+H}{R}</a:t>
                </a:r>
              </a:p>
            </p:txBody>
          </p:sp>
        </mc:Fallback>
      </mc:AlternateContent>
      <mc:AlternateContent xmlns:mc="http://schemas.openxmlformats.org/markup-compatibility/2006" xmlns:a14="http://schemas.microsoft.com/office/drawing/2010/main">
        <mc:Choice Requires="a14">
          <p:sp>
            <p:nvSpPr>
              <p:cNvPr id="7" name="本文6">
                <a:extLst xmlns:a="http://schemas.openxmlformats.org/drawingml/2006/main">
                  <a:ext uri="{FF2B5EF4-FFF2-40B4-BE49-F238E27FC236}">
                    <a16:creationId xmlns:a16="http://schemas.microsoft.com/office/drawing/2014/main" id="{11FFD874-955F-4BED-B08A-9E493B302EC7}"/>
                  </a:ext>
                </a:extLst>
              </p:cNvPr>
              <p:cNvSpPr>
                <a:spLocks xmlns:a="http://schemas.openxmlformats.org/drawingml/2006/main" noGrp="1"/>
              </p:cNvSpPr>
              <p:nvPr/>
            </p:nvSpPr>
            <p:spPr>
              <a:xfrm xmlns:a="http://schemas.openxmlformats.org/drawingml/2006/main">
                <a:off x="647700" y="354647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14:m xmlns:m="http://schemas.openxmlformats.org/officeDocument/2006/math">
                  <m:oMath xmlns:mml="http://www.w3.org/1998/Math/MathML">
                    <m:r>
                      <a:rPr sz="2100" b="0" lang="en-US">
                        <a:solidFill>
                          <a:srgbClr val="213C4B"/>
                        </a:solidFill>
                        <a:latin typeface="Cambria Math"/>
                        <a:ea typeface="Meiryo"/>
                      </a:rPr>
                      <m:t>s=300.000</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r>
                  <a:rPr sz="2100" b="0">
                    <a:solidFill>
                      <a:srgbClr val="213C4B"/>
                    </a:solidFill>
                    <a:latin typeface="Meiryo"/>
                    <a:ea typeface="Meiryo"/>
                    <a:cs typeface="Meiryo"/>
                  </a:rPr>
                  <a:t>、</a:t>
                </a:r>
                <a14:m xmlns:m="http://schemas.openxmlformats.org/officeDocument/2006/math">
                  <m:oMath xmlns:mml="http://www.w3.org/1998/Math/MathML">
                    <m:r>
                      <a:rPr sz="2100" b="0" lang="en-US">
                        <a:solidFill>
                          <a:srgbClr val="213C4B"/>
                        </a:solidFill>
                        <a:latin typeface="Cambria Math"/>
                        <a:ea typeface="Meiryo"/>
                      </a:rPr>
                      <m:t>H=200</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r>
                  <a:rPr sz="2100" b="0">
                    <a:solidFill>
                      <a:srgbClr val="213C4B"/>
                    </a:solidFill>
                    <a:latin typeface="Meiryo"/>
                    <a:ea typeface="Meiryo"/>
                    <a:cs typeface="Meiryo"/>
                  </a:rPr>
                  <a:t>、</a:t>
                </a:r>
                <a14:m xmlns:m="http://schemas.openxmlformats.org/officeDocument/2006/math">
                  <m:oMath xmlns:mml="http://www.w3.org/1998/Math/MathML">
                    <m:r>
                      <a:rPr sz="2100" b="0" lang="en-US">
                        <a:solidFill>
                          <a:srgbClr val="213C4B"/>
                        </a:solidFill>
                        <a:latin typeface="Cambria Math"/>
                        <a:ea typeface="Meiryo"/>
                      </a:rPr>
                      <m:t>m=0.9999</m:t>
                    </m:r>
                  </m:oMath>
                </a14:m>
                <a:r>
                  <a:rPr sz="2100" b="0">
                    <a:solidFill>
                      <a:srgbClr val="213C4B"/>
                    </a:solidFill>
                    <a:latin typeface="Meiryo"/>
                    <a:ea typeface="Meiryo"/>
                    <a:cs typeface="Meiryo"/>
                  </a:rPr>
                  <a:t> のとき：</a:t>
                </a:r>
              </a:p>
            </p:txBody>
          </p:sp>
        </mc:Choice>
        <mc:Fallback>
          <p:sp>
            <p:nvSpPr>
              <p:cNvPr id="7" name="本文6">
                <a:extLst xmlns:a="http://schemas.openxmlformats.org/drawingml/2006/main">
                  <a:ext uri="{FF2B5EF4-FFF2-40B4-BE49-F238E27FC236}">
                    <a16:creationId xmlns:a16="http://schemas.microsoft.com/office/drawing/2014/main" id="{11FFD874-955F-4BED-B08A-9E493B302EC7}"/>
                  </a:ext>
                </a:extLst>
              </p:cNvPr>
              <p:cNvSpPr>
                <a:spLocks xmlns:a="http://schemas.openxmlformats.org/drawingml/2006/main" noGrp="1"/>
              </p:cNvSpPr>
              <p:nvPr/>
            </p:nvSpPr>
            <p:spPr>
              <a:xfrm xmlns:a="http://schemas.openxmlformats.org/drawingml/2006/main">
                <a:off x="647700" y="354647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Cambria Math"/>
                    <a:ea typeface="Cambria Math"/>
                    <a:cs typeface="Cambria Math"/>
                  </a:rPr>
                  <a:t>s=300.000\ \mathrm{m}</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H=200\ \mathrm{m}</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m=0.9999</a:t>
                </a:r>
                <a:r>
                  <a:rPr sz="2100" b="0">
                    <a:solidFill>
                      <a:srgbClr val="213C4B"/>
                    </a:solidFill>
                    <a:latin typeface="Meiryo"/>
                    <a:ea typeface="Meiryo"/>
                    <a:cs typeface="Meiryo"/>
                  </a:rPr>
                  <a:t> のとき：</a:t>
                </a:r>
              </a:p>
            </p:txBody>
          </p:sp>
        </mc:Fallback>
      </mc:AlternateContent>
      <mc:AlternateContent xmlns:mc="http://schemas.openxmlformats.org/markup-compatibility/2006" xmlns:a14="http://schemas.microsoft.com/office/drawing/2010/main">
        <mc:Choice Requires="a14">
          <p:sp>
            <p:nvSpPr>
              <p:cNvPr id="8" name="EQM00110">
                <a:extLst xmlns:a="http://schemas.openxmlformats.org/drawingml/2006/main">
                  <a:ext uri="{FF2B5EF4-FFF2-40B4-BE49-F238E27FC236}">
                    <a16:creationId xmlns:a16="http://schemas.microsoft.com/office/drawing/2014/main" id="{C3CB8135-6ABF-407E-B989-68BCBE17369B}"/>
                  </a:ext>
                </a:extLst>
              </p:cNvPr>
              <p:cNvSpPr>
                <a:spLocks xmlns:a="http://schemas.openxmlformats.org/drawingml/2006/main" noGrp="1"/>
              </p:cNvSpPr>
              <p:nvPr/>
            </p:nvSpPr>
            <p:spPr>
              <a:xfrm xmlns:a="http://schemas.openxmlformats.org/drawingml/2006/main">
                <a:off x="647700" y="4194175"/>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r>
                        <a:rPr sz="2700" b="0" lang="en-US">
                          <a:solidFill>
                            <a:srgbClr val="153D50"/>
                          </a:solidFill>
                          <a:latin typeface="Cambria Math"/>
                          <a:ea typeface="Meiryo"/>
                        </a:rPr>
                        <m:t>S=</m:t>
                      </m:r>
                      <m:f>
                        <m:fPr>
                          <m:type m:val="bar"/>
                        </m:fPr>
                        <m:num>
                          <m:r>
                            <a:rPr sz="2700" b="0" lang="en-US">
                              <a:solidFill>
                                <a:srgbClr val="153D50"/>
                              </a:solidFill>
                              <a:latin typeface="Cambria Math"/>
                              <a:ea typeface="Meiryo"/>
                            </a:rPr>
                            <m:t>300.000</m:t>
                          </m:r>
                        </m:num>
                        <m:den>
                          <m:r>
                            <a:rPr sz="2700" b="0" lang="en-US">
                              <a:solidFill>
                                <a:srgbClr val="153D50"/>
                              </a:solidFill>
                              <a:latin typeface="Cambria Math"/>
                              <a:ea typeface="Meiryo"/>
                            </a:rPr>
                            <m:t>0.9999</m:t>
                          </m:r>
                        </m:den>
                      </m:f>
                      <m:r>
                        <a:rPr sz="2700" b="0" lang="en-US">
                          <a:solidFill>
                            <a:srgbClr val="153D50"/>
                          </a:solidFill>
                          <a:latin typeface="Cambria Math"/>
                          <a:ea typeface="Meiryo"/>
                        </a:rPr>
                        <m:t>⋅</m:t>
                      </m:r>
                      <m:f>
                        <m:fPr>
                          <m:type m:val="bar"/>
                        </m:fPr>
                        <m:num>
                          <m:r>
                            <a:rPr sz="2700" b="0" lang="en-US">
                              <a:solidFill>
                                <a:srgbClr val="153D50"/>
                              </a:solidFill>
                              <a:latin typeface="Cambria Math"/>
                              <a:ea typeface="Meiryo"/>
                            </a:rPr>
                            <m:t>6</m:t>
                          </m:r>
                          <m:r>
                            <m:rPr>
                              <m:nor/>
                            </m:rPr>
                            <a:rPr sz="2700" b="0" lang="en-US">
                              <a:solidFill>
                                <a:srgbClr val="153D50"/>
                              </a:solidFill>
                              <a:latin typeface="Cambria Math"/>
                              <a:ea typeface="Meiryo"/>
                            </a:rPr>
                            <m:t> </m:t>
                          </m:r>
                          <m:r>
                            <a:rPr sz="2700" b="0" lang="en-US">
                              <a:solidFill>
                                <a:srgbClr val="153D50"/>
                              </a:solidFill>
                              <a:latin typeface="Cambria Math"/>
                              <a:ea typeface="Meiryo"/>
                            </a:rPr>
                            <m:t>370</m:t>
                          </m:r>
                          <m:r>
                            <m:rPr>
                              <m:nor/>
                            </m:rPr>
                            <a:rPr sz="2700" b="0" lang="en-US">
                              <a:solidFill>
                                <a:srgbClr val="153D50"/>
                              </a:solidFill>
                              <a:latin typeface="Cambria Math"/>
                              <a:ea typeface="Meiryo"/>
                            </a:rPr>
                            <m:t> </m:t>
                          </m:r>
                          <m:r>
                            <a:rPr sz="2700" b="0" lang="en-US">
                              <a:solidFill>
                                <a:srgbClr val="153D50"/>
                              </a:solidFill>
                              <a:latin typeface="Cambria Math"/>
                              <a:ea typeface="Meiryo"/>
                            </a:rPr>
                            <m:t>200</m:t>
                          </m:r>
                        </m:num>
                        <m:den>
                          <m:r>
                            <a:rPr sz="2700" b="0" lang="en-US">
                              <a:solidFill>
                                <a:srgbClr val="153D50"/>
                              </a:solidFill>
                              <a:latin typeface="Cambria Math"/>
                              <a:ea typeface="Meiryo"/>
                            </a:rPr>
                            <m:t>6</m:t>
                          </m:r>
                          <m:r>
                            <m:rPr>
                              <m:nor/>
                            </m:rPr>
                            <a:rPr sz="2700" b="0" lang="en-US">
                              <a:solidFill>
                                <a:srgbClr val="153D50"/>
                              </a:solidFill>
                              <a:latin typeface="Cambria Math"/>
                              <a:ea typeface="Meiryo"/>
                            </a:rPr>
                            <m:t> </m:t>
                          </m:r>
                          <m:r>
                            <a:rPr sz="2700" b="0" lang="en-US">
                              <a:solidFill>
                                <a:srgbClr val="153D50"/>
                              </a:solidFill>
                              <a:latin typeface="Cambria Math"/>
                              <a:ea typeface="Meiryo"/>
                            </a:rPr>
                            <m:t>370</m:t>
                          </m:r>
                          <m:r>
                            <m:rPr>
                              <m:nor/>
                            </m:rPr>
                            <a:rPr sz="2700" b="0" lang="en-US">
                              <a:solidFill>
                                <a:srgbClr val="153D50"/>
                              </a:solidFill>
                              <a:latin typeface="Cambria Math"/>
                              <a:ea typeface="Meiryo"/>
                            </a:rPr>
                            <m:t> </m:t>
                          </m:r>
                          <m:r>
                            <a:rPr sz="2700" b="0" lang="en-US">
                              <a:solidFill>
                                <a:srgbClr val="153D50"/>
                              </a:solidFill>
                              <a:latin typeface="Cambria Math"/>
                              <a:ea typeface="Meiryo"/>
                            </a:rPr>
                            <m:t>000</m:t>
                          </m:r>
                        </m:den>
                      </m:f>
                      <m:r>
                        <a:rPr sz="2700" b="0" lang="en-US">
                          <a:solidFill>
                            <a:srgbClr val="153D50"/>
                          </a:solidFill>
                          <a:latin typeface="Cambria Math"/>
                          <a:ea typeface="Meiryo"/>
                        </a:rPr>
                        <m:t>≈300.039</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oMath>
                  </m:oMathPara>
                </a14:m>
              </a:p>
            </p:txBody>
          </p:sp>
        </mc:Choice>
        <mc:Fallback>
          <p:sp>
            <p:nvSpPr>
              <p:cNvPr id="8" name="EQM00110">
                <a:extLst xmlns:a="http://schemas.openxmlformats.org/drawingml/2006/main">
                  <a:ext uri="{FF2B5EF4-FFF2-40B4-BE49-F238E27FC236}">
                    <a16:creationId xmlns:a16="http://schemas.microsoft.com/office/drawing/2014/main" id="{C3CB8135-6ABF-407E-B989-68BCBE17369B}"/>
                  </a:ext>
                </a:extLst>
              </p:cNvPr>
              <p:cNvSpPr>
                <a:spLocks xmlns:a="http://schemas.openxmlformats.org/drawingml/2006/main" noGrp="1"/>
              </p:cNvSpPr>
              <p:nvPr/>
            </p:nvSpPr>
            <p:spPr>
              <a:xfrm xmlns:a="http://schemas.openxmlformats.org/drawingml/2006/main">
                <a:off x="647700" y="4194175"/>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S=\frac{300.000}{0.9999}\cdot\frac{6\,370\,200}{6\,370\,000}
\approx300.039\ \mathrm{m}</a:t>
                </a:r>
              </a:p>
            </p:txBody>
          </p:sp>
        </mc:Fallback>
      </mc:AlternateContent>
    </p:spTree>
    <p:extLst>
      <p:ext uri="{BB962C8B-B14F-4D97-AF65-F5344CB8AC3E}">
        <p14:creationId xmlns:p14="http://schemas.microsoft.com/office/powerpoint/2010/main" val="356157757"/>
      </p:ext>
    </p:extLst>
  </p:cSld>
</p:sld>
</file>

<file path=ppt/slides/slide57.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A5F54435-C15B-4CCC-9E36-F776F54CFE4E}"/>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3-4</a:t>
            </a:r>
          </a:p>
        </p:txBody>
      </p:sp>
      <p:sp>
        <p:nvSpPr>
          <p:cNvPr id="2" name="本文1">
            <a:extLst xmlns:a="http://schemas.openxmlformats.org/drawingml/2006/main">
              <a:ext uri="{FF2B5EF4-FFF2-40B4-BE49-F238E27FC236}">
                <a16:creationId xmlns:a16="http://schemas.microsoft.com/office/drawing/2014/main" id="{222078FA-DE03-4CF3-A8C4-722AAA9DE138}"/>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ここまでの確認②</a:t>
            </a:r>
          </a:p>
        </p:txBody>
      </p:sp>
      <p:sp>
        <p:nvSpPr>
          <p:cNvPr id="3" name="本文2">
            <a:extLst xmlns:a="http://schemas.openxmlformats.org/drawingml/2006/main">
              <a:ext uri="{FF2B5EF4-FFF2-40B4-BE49-F238E27FC236}">
                <a16:creationId xmlns:a16="http://schemas.microsoft.com/office/drawing/2014/main" id="{3DBD211F-6C9D-4E34-9DC3-33F7C5CA6807}"/>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57</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378624CA-F69F-44D9-8922-ED17EA21FD1A}"/>
                  </a:ext>
                </a:extLst>
              </p:cNvPr>
              <p:cNvSpPr>
                <a:spLocks xmlns:a="http://schemas.openxmlformats.org/drawingml/2006/main" noGrp="1"/>
              </p:cNvSpPr>
              <p:nvPr/>
            </p:nvSpPr>
            <p:spPr>
              <a:xfrm xmlns:a="http://schemas.openxmlformats.org/drawingml/2006/main">
                <a:off x="647700" y="19621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a:t>
                </a:r>
                <a14:m xmlns:m="http://schemas.openxmlformats.org/officeDocument/2006/math">
                  <m:oMath xmlns:mml="http://www.w3.org/1998/Math/MathML">
                    <m:r>
                      <a:rPr sz="2100" b="0" lang="en-US">
                        <a:solidFill>
                          <a:srgbClr val="213C4B"/>
                        </a:solidFill>
                        <a:latin typeface="Cambria Math"/>
                        <a:ea typeface="Meiryo"/>
                      </a:rPr>
                      <m:t>X=−200</m:t>
                    </m:r>
                  </m:oMath>
                </a14:m>
                <a:r>
                  <a:rPr sz="2100" b="0">
                    <a:solidFill>
                      <a:srgbClr val="213C4B"/>
                    </a:solidFill>
                    <a:latin typeface="Meiryo"/>
                    <a:ea typeface="Meiryo"/>
                    <a:cs typeface="Meiryo"/>
                  </a:rPr>
                  <a:t> m、</a:t>
                </a:r>
                <a14:m xmlns:m="http://schemas.openxmlformats.org/officeDocument/2006/math">
                  <m:oMath xmlns:mml="http://www.w3.org/1998/Math/MathML">
                    <m:r>
                      <a:rPr sz="2100" b="0" lang="en-US">
                        <a:solidFill>
                          <a:srgbClr val="213C4B"/>
                        </a:solidFill>
                        <a:latin typeface="Cambria Math"/>
                        <a:ea typeface="Meiryo"/>
                      </a:rPr>
                      <m:t>Y=+300</m:t>
                    </m:r>
                  </m:oMath>
                </a14:m>
                <a:r>
                  <a:rPr sz="2100" b="0">
                    <a:solidFill>
                      <a:srgbClr val="213C4B"/>
                    </a:solidFill>
                    <a:latin typeface="Meiryo"/>
                    <a:ea typeface="Meiryo"/>
                    <a:cs typeface="Meiryo"/>
                  </a:rPr>
                  <a:t> m の点は、原点から見てどの方角か？</a:t>
                </a:r>
              </a:p>
            </p:txBody>
          </p:sp>
        </mc:Choice>
        <mc:Fallback>
          <p:sp>
            <p:nvSpPr>
              <p:cNvPr id="4" name="本文3">
                <a:extLst xmlns:a="http://schemas.openxmlformats.org/drawingml/2006/main">
                  <a:ext uri="{FF2B5EF4-FFF2-40B4-BE49-F238E27FC236}">
                    <a16:creationId xmlns:a16="http://schemas.microsoft.com/office/drawing/2014/main" id="{378624CA-F69F-44D9-8922-ED17EA21FD1A}"/>
                  </a:ext>
                </a:extLst>
              </p:cNvPr>
              <p:cNvSpPr>
                <a:spLocks xmlns:a="http://schemas.openxmlformats.org/drawingml/2006/main" noGrp="1"/>
              </p:cNvSpPr>
              <p:nvPr/>
            </p:nvSpPr>
            <p:spPr>
              <a:xfrm xmlns:a="http://schemas.openxmlformats.org/drawingml/2006/main">
                <a:off x="647700" y="19621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a:t>
                </a:r>
                <a:r>
                  <a:rPr sz="2100" b="0">
                    <a:solidFill>
                      <a:srgbClr val="213C4B"/>
                    </a:solidFill>
                    <a:latin typeface="Cambria Math"/>
                    <a:ea typeface="Cambria Math"/>
                    <a:cs typeface="Cambria Math"/>
                  </a:rPr>
                  <a:t>X=-200</a:t>
                </a:r>
                <a:r>
                  <a:rPr sz="2100" b="0">
                    <a:solidFill>
                      <a:srgbClr val="213C4B"/>
                    </a:solidFill>
                    <a:latin typeface="Meiryo"/>
                    <a:ea typeface="Meiryo"/>
                    <a:cs typeface="Meiryo"/>
                  </a:rPr>
                  <a:t> m、</a:t>
                </a:r>
                <a:r>
                  <a:rPr sz="2100" b="0">
                    <a:solidFill>
                      <a:srgbClr val="213C4B"/>
                    </a:solidFill>
                    <a:latin typeface="Cambria Math"/>
                    <a:ea typeface="Cambria Math"/>
                    <a:cs typeface="Cambria Math"/>
                  </a:rPr>
                  <a:t>Y=+300</a:t>
                </a:r>
                <a:r>
                  <a:rPr sz="2100" b="0">
                    <a:solidFill>
                      <a:srgbClr val="213C4B"/>
                    </a:solidFill>
                    <a:latin typeface="Meiryo"/>
                    <a:ea typeface="Meiryo"/>
                    <a:cs typeface="Meiryo"/>
                  </a:rPr>
                  <a:t> m の点は、原点から見てどの方角か？</a:t>
                </a:r>
              </a:p>
            </p:txBody>
          </p:sp>
        </mc:Fallback>
      </mc:AlternateContent>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A3E8DD7D-5454-43E1-916E-22A0C0863A3E}"/>
                  </a:ext>
                </a:extLst>
              </p:cNvPr>
              <p:cNvSpPr>
                <a:spLocks xmlns:a="http://schemas.openxmlformats.org/drawingml/2006/main" noGrp="1"/>
              </p:cNvSpPr>
              <p:nvPr/>
            </p:nvSpPr>
            <p:spPr>
              <a:xfrm xmlns:a="http://schemas.openxmlformats.org/drawingml/2006/main">
                <a:off x="647700" y="2609850"/>
                <a:ext cx="108966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標高 500 m の地点で水平距離 2000 m を基準面に下ろすと、補正量はいくらか？（</a:t>
                </a:r>
                <a14:m xmlns:m="http://schemas.openxmlformats.org/officeDocument/2006/math">
                  <m:oMath xmlns:mml="http://www.w3.org/1998/Math/MathML">
                    <m:r>
                      <a:rPr sz="2100" b="0" lang="en-US">
                        <a:solidFill>
                          <a:srgbClr val="213C4B"/>
                        </a:solidFill>
                        <a:latin typeface="Cambria Math"/>
                        <a:ea typeface="Meiryo"/>
                      </a:rPr>
                      <m:t>R=6370</m:t>
                    </m:r>
                  </m:oMath>
                </a14:m>
                <a:r>
                  <a:rPr sz="2100" b="0">
                    <a:solidFill>
                      <a:srgbClr val="213C4B"/>
                    </a:solidFill>
                    <a:latin typeface="Meiryo"/>
                    <a:ea typeface="Meiryo"/>
                    <a:cs typeface="Meiryo"/>
                  </a:rPr>
                  <a:t> km）</a:t>
                </a:r>
              </a:p>
            </p:txBody>
          </p:sp>
        </mc:Choice>
        <mc:Fallback>
          <p:sp>
            <p:nvSpPr>
              <p:cNvPr id="5" name="本文4">
                <a:extLst xmlns:a="http://schemas.openxmlformats.org/drawingml/2006/main">
                  <a:ext uri="{FF2B5EF4-FFF2-40B4-BE49-F238E27FC236}">
                    <a16:creationId xmlns:a16="http://schemas.microsoft.com/office/drawing/2014/main" id="{A3E8DD7D-5454-43E1-916E-22A0C0863A3E}"/>
                  </a:ext>
                </a:extLst>
              </p:cNvPr>
              <p:cNvSpPr>
                <a:spLocks xmlns:a="http://schemas.openxmlformats.org/drawingml/2006/main" noGrp="1"/>
              </p:cNvSpPr>
              <p:nvPr/>
            </p:nvSpPr>
            <p:spPr>
              <a:xfrm xmlns:a="http://schemas.openxmlformats.org/drawingml/2006/main">
                <a:off x="647700" y="2609850"/>
                <a:ext cx="108966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標高 500 m の地点で水平距離 2000 m を基準面に下ろすと、補正量はいくらか？（</a:t>
                </a:r>
                <a:r>
                  <a:rPr sz="2100" b="0">
                    <a:solidFill>
                      <a:srgbClr val="213C4B"/>
                    </a:solidFill>
                    <a:latin typeface="Cambria Math"/>
                    <a:ea typeface="Cambria Math"/>
                    <a:cs typeface="Cambria Math"/>
                  </a:rPr>
                  <a:t>R=6370</a:t>
                </a:r>
                <a:r>
                  <a:rPr sz="2100" b="0">
                    <a:solidFill>
                      <a:srgbClr val="213C4B"/>
                    </a:solidFill>
                    <a:latin typeface="Meiryo"/>
                    <a:ea typeface="Meiryo"/>
                    <a:cs typeface="Meiryo"/>
                  </a:rPr>
                  <a:t> km）</a:t>
                </a:r>
              </a:p>
            </p:txBody>
          </p:sp>
        </mc:Fallback>
      </mc:AlternateContent>
      <p:sp>
        <p:nvSpPr>
          <p:cNvPr id="6" name="本文5">
            <a:extLst xmlns:a="http://schemas.openxmlformats.org/drawingml/2006/main">
              <a:ext uri="{FF2B5EF4-FFF2-40B4-BE49-F238E27FC236}">
                <a16:creationId xmlns:a16="http://schemas.microsoft.com/office/drawing/2014/main" id="{7F8F7D4D-D60F-4981-8641-73648E47996B}"/>
              </a:ext>
            </a:extLst>
          </p:cNvPr>
          <p:cNvSpPr>
            <a:spLocks xmlns:a="http://schemas.openxmlformats.org/drawingml/2006/main" noGrp="1"/>
          </p:cNvSpPr>
          <p:nvPr/>
        </p:nvSpPr>
        <p:spPr>
          <a:xfrm xmlns:a="http://schemas.openxmlformats.org/drawingml/2006/main">
            <a:off x="647700" y="36576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原点から東へ 90 km の地点の縮尺係数はいくらか？</a:t>
            </a:r>
          </a:p>
        </p:txBody>
      </p:sp>
    </p:spTree>
    <p:extLst>
      <p:ext uri="{BB962C8B-B14F-4D97-AF65-F5344CB8AC3E}">
        <p14:creationId xmlns:p14="http://schemas.microsoft.com/office/powerpoint/2010/main" val="207681279"/>
      </p:ext>
    </p:extLst>
  </p:cSld>
</p:sld>
</file>

<file path=ppt/slides/slide58.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6" name="本文0">
            <a:extLst xmlns:a="http://schemas.openxmlformats.org/drawingml/2006/main">
              <a:ext uri="{FF2B5EF4-FFF2-40B4-BE49-F238E27FC236}">
                <a16:creationId xmlns:a16="http://schemas.microsoft.com/office/drawing/2014/main" id="{8A81A9CC-1F0F-4464-B405-D69B7BE8974D}"/>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3-4</a:t>
            </a:r>
          </a:p>
        </p:txBody>
      </p:sp>
      <p:sp>
        <p:nvSpPr>
          <p:cNvPr id="2" name="本文1">
            <a:extLst xmlns:a="http://schemas.openxmlformats.org/drawingml/2006/main">
              <a:ext uri="{FF2B5EF4-FFF2-40B4-BE49-F238E27FC236}">
                <a16:creationId xmlns:a16="http://schemas.microsoft.com/office/drawing/2014/main" id="{03FC519E-8415-4B52-93F8-DA3D02998D35}"/>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試験の要点：軸と距離の補正</a:t>
            </a:r>
          </a:p>
        </p:txBody>
      </p:sp>
      <p:sp>
        <p:nvSpPr>
          <p:cNvPr id="3" name="本文2">
            <a:extLst xmlns:a="http://schemas.openxmlformats.org/drawingml/2006/main">
              <a:ext uri="{FF2B5EF4-FFF2-40B4-BE49-F238E27FC236}">
                <a16:creationId xmlns:a16="http://schemas.microsoft.com/office/drawing/2014/main" id="{5C25A098-13DE-4710-AC3D-DBA32B89439F}"/>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58</a:t>
            </a:r>
          </a:p>
        </p:txBody>
      </p:sp>
      <p:sp>
        <p:nvSpPr>
          <p:cNvPr id="4" name="本文3">
            <a:extLst xmlns:a="http://schemas.openxmlformats.org/drawingml/2006/main">
              <a:ext uri="{FF2B5EF4-FFF2-40B4-BE49-F238E27FC236}">
                <a16:creationId xmlns:a16="http://schemas.microsoft.com/office/drawing/2014/main" id="{784D3FAB-1AE8-4039-A5AC-C162C830D5A9}"/>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どの距離から、どの距離へ換算するのかを先に書く。</a:t>
            </a:r>
          </a:p>
        </p:txBody>
      </p:sp>
      <mc:AlternateContent xmlns:mc="http://schemas.openxmlformats.org/markup-compatibility/2006" xmlns:a14="http://schemas.microsoft.com/office/drawing/2010/main">
        <mc:Choice Requires="a14">
          <p:graphicFrame>
            <p:nvGraphicFramePr>
              <p:cNvPr id="5" name="">
                <a:extLst xmlns:a="http://schemas.openxmlformats.org/drawingml/2006/main">
                  <a:ext uri="{FF2B5EF4-FFF2-40B4-BE49-F238E27FC236}">
                    <a16:creationId xmlns:a16="http://schemas.microsoft.com/office/drawing/2014/main" id="{2A568176-0EE0-478C-AF75-9357A942A789}"/>
                  </a:ext>
                </a:extLst>
              </p:cNvPr>
              <p:cNvGraphicFramePr/>
              <p:nvPr/>
            </p:nvGraphicFramePr>
            <p:xfrm>
              <a:off xmlns:a="http://schemas.openxmlformats.org/drawingml/2006/main" x="647700" y="1699895"/>
              <a:ext xmlns:a="http://schemas.openxmlformats.org/drawingml/2006/main" cx="10896600" cy="371094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問われるもの</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押さえる関係</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軸</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X</m:t>
                              </m:r>
                            </m:oMath>
                          </a14:m>
                          <a:r>
                            <a:rPr sz="2100" b="0">
                              <a:solidFill>
                                <a:srgbClr val="213C4B"/>
                              </a:solidFill>
                              <a:latin typeface="Meiryo"/>
                              <a:ea typeface="Meiryo"/>
                              <a:cs typeface="Meiryo"/>
                            </a:rPr>
                            <a:t>は北、</a:t>
                          </a:r>
                          <a14:m xmlns:m="http://schemas.openxmlformats.org/officeDocument/2006/math">
                            <m:oMath xmlns:mml="http://www.w3.org/1998/Math/MathML">
                              <m:r>
                                <a:rPr sz="2100" b="0" lang="en-US">
                                  <a:solidFill>
                                    <a:srgbClr val="213C4B"/>
                                  </a:solidFill>
                                  <a:latin typeface="Cambria Math"/>
                                  <a:ea typeface="Meiryo"/>
                                </a:rPr>
                                <m:t>Y</m:t>
                              </m:r>
                            </m:oMath>
                          </a14:m>
                          <a:r>
                            <a:rPr sz="2100" b="0">
                              <a:solidFill>
                                <a:srgbClr val="213C4B"/>
                              </a:solidFill>
                              <a:latin typeface="Meiryo"/>
                              <a:ea typeface="Meiryo"/>
                              <a:cs typeface="Meiryo"/>
                            </a:rPr>
                            <a:t>は東。原点でX軸が子午線に一致</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原点</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19系、</a:t>
                          </a:r>
                          <a14:m xmlns:m="http://schemas.openxmlformats.org/officeDocument/2006/math">
                            <m:oMath xmlns:mml="http://www.w3.org/1998/Math/MathML">
                              <m:r>
                                <a:rPr sz="2100" b="0" lang="en-US">
                                  <a:solidFill>
                                    <a:srgbClr val="213C4B"/>
                                  </a:solidFill>
                                  <a:latin typeface="Cambria Math"/>
                                  <a:ea typeface="Meiryo"/>
                                </a:rPr>
                                <m:t>(0,0)</m:t>
                              </m:r>
                            </m:oMath>
                          </a14:m>
                          <a:r>
                            <a:rPr sz="2100" b="0">
                              <a:solidFill>
                                <a:srgbClr val="213C4B"/>
                              </a:solidFill>
                              <a:latin typeface="Meiryo"/>
                              <a:ea typeface="Meiryo"/>
                              <a:cs typeface="Meiryo"/>
                            </a:rPr>
                            <a:t>、縮尺係数0.9999</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縮尺係数</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中央子午線から東西に離れるほど大きい</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729615">
                    <a:tc>
                      <a:txBody>
                        <a:bodyPr lIns="114300" tIns="114300" rIns="114300" bIns="114300">
                          <a:noAutofit/>
                        </a:bodyPr>
                        <a:lstStyle/>
                        <a:p>
                          <a:pPr algn="l"/>
                          <a:r>
                            <a:rPr sz="2100" b="0">
                              <a:solidFill>
                                <a:srgbClr val="213C4B"/>
                              </a:solidFill>
                              <a:latin typeface="Meiryo"/>
                              <a:ea typeface="Meiryo"/>
                              <a:cs typeface="Meiryo"/>
                            </a:rPr>
                            <a:t>基準面への縮約</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H&gt;0</m:t>
                              </m:r>
                            </m:oMath>
                          </a14:m>
                          <a:r>
                            <a:rPr sz="2100" b="0">
                              <a:solidFill>
                                <a:srgbClr val="213C4B"/>
                              </a:solidFill>
                              <a:latin typeface="Meiryo"/>
                              <a:ea typeface="Meiryo"/>
                              <a:cs typeface="Meiryo"/>
                            </a:rPr>
                            <a:t> なら短くなる。補正量は概ね </a:t>
                          </a:r>
                          <a14:m xmlns:m="http://schemas.openxmlformats.org/officeDocument/2006/math">
                            <m:oMath xmlns:mml="http://www.w3.org/1998/Math/MathML">
                              <m:r>
                                <a:rPr sz="2100" b="0" lang="en-US">
                                  <a:solidFill>
                                    <a:srgbClr val="213C4B"/>
                                  </a:solidFill>
                                  <a:latin typeface="Cambria Math"/>
                                  <a:ea typeface="Meiryo"/>
                                </a:rPr>
                                <m:t>−</m:t>
                              </m:r>
                              <m:f>
                                <m:fPr>
                                  <m:type m:val="bar"/>
                                </m:fPr>
                                <m:num>
                                  <m:r>
                                    <a:rPr sz="2100" b="0" lang="en-US">
                                      <a:solidFill>
                                        <a:srgbClr val="213C4B"/>
                                      </a:solidFill>
                                      <a:latin typeface="Cambria Math"/>
                                      <a:ea typeface="Meiryo"/>
                                    </a:rPr>
                                    <m:t>SH</m:t>
                                  </m:r>
                                </m:num>
                                <m:den>
                                  <m:r>
                                    <a:rPr sz="2100" b="0" lang="en-US">
                                      <a:solidFill>
                                        <a:srgbClr val="213C4B"/>
                                      </a:solidFill>
                                      <a:latin typeface="Cambria Math"/>
                                      <a:ea typeface="Meiryo"/>
                                    </a:rPr>
                                    <m:t>R</m:t>
                                  </m:r>
                                </m:den>
                              </m:f>
                            </m:oMath>
                          </a14:m>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平面への換算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s=m</m:t>
                              </m:r>
                              <m:sSub>
                                <m:e>
                                  <m:r>
                                    <a:rPr sz="2100" b="0" lang="en-US">
                                      <a:solidFill>
                                        <a:srgbClr val="213C4B"/>
                                      </a:solidFill>
                                      <a:latin typeface="Cambria Math"/>
                                      <a:ea typeface="Meiryo"/>
                                    </a:rPr>
                                    <m:t>S</m:t>
                                  </m:r>
                                </m:e>
                                <m:sub>
                                  <m:r>
                                    <a:rPr sz="2100" b="0" lang="en-US">
                                      <a:solidFill>
                                        <a:srgbClr val="213C4B"/>
                                      </a:solidFill>
                                      <a:latin typeface="Cambria Math"/>
                                      <a:ea typeface="Meiryo"/>
                                    </a:rPr>
                                    <m:t>0</m:t>
                                  </m:r>
                                </m:sub>
                              </m:sSub>
                            </m:oMath>
                          </a14:m>
                          <a:r>
                            <a:rPr sz="2100" b="0">
                              <a:solidFill>
                                <a:srgbClr val="213C4B"/>
                              </a:solidFill>
                              <a:latin typeface="Meiryo"/>
                              <a:ea typeface="Meiryo"/>
                              <a:cs typeface="Meiryo"/>
                            </a:rPr>
                            <a:t>。短くなるかは </a:t>
                          </a:r>
                          <a14:m xmlns:m="http://schemas.openxmlformats.org/officeDocument/2006/math">
                            <m:oMath xmlns:mml="http://www.w3.org/1998/Math/MathML">
                              <m:r>
                                <a:rPr sz="2100" b="0" lang="en-US">
                                  <a:solidFill>
                                    <a:srgbClr val="213C4B"/>
                                  </a:solidFill>
                                  <a:latin typeface="Cambria Math"/>
                                  <a:ea typeface="Meiryo"/>
                                </a:rPr>
                                <m:t>m</m:t>
                              </m:r>
                            </m:oMath>
                          </a14:m>
                          <a:r>
                            <a:rPr sz="2100" b="0">
                              <a:solidFill>
                                <a:srgbClr val="213C4B"/>
                              </a:solidFill>
                              <a:latin typeface="Meiryo"/>
                              <a:ea typeface="Meiryo"/>
                              <a:cs typeface="Meiryo"/>
                            </a:rPr>
                            <a:t> で判断</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Choice>
        <mc:Fallback>
          <p:graphicFrame>
            <p:nvGraphicFramePr>
              <p:cNvPr id="5" name="">
                <a:extLst xmlns:a="http://schemas.openxmlformats.org/drawingml/2006/main">
                  <a:ext uri="{FF2B5EF4-FFF2-40B4-BE49-F238E27FC236}">
                    <a16:creationId xmlns:a16="http://schemas.microsoft.com/office/drawing/2014/main" id="{2A568176-0EE0-478C-AF75-9357A942A789}"/>
                  </a:ext>
                </a:extLst>
              </p:cNvPr>
              <p:cNvGraphicFramePr/>
              <p:nvPr/>
            </p:nvGraphicFramePr>
            <p:xfrm>
              <a:off xmlns:a="http://schemas.openxmlformats.org/drawingml/2006/main" x="647700" y="1699895"/>
              <a:ext xmlns:a="http://schemas.openxmlformats.org/drawingml/2006/main" cx="10896600" cy="371094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問われるもの</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押さえる関係</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軸</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Cambria Math"/>
                              <a:ea typeface="Cambria Math"/>
                              <a:cs typeface="Cambria Math"/>
                            </a:rPr>
                            <a:t>X</a:t>
                          </a:r>
                          <a:r>
                            <a:rPr sz="2100" b="0">
                              <a:solidFill>
                                <a:srgbClr val="213C4B"/>
                              </a:solidFill>
                              <a:latin typeface="Meiryo"/>
                              <a:ea typeface="Meiryo"/>
                              <a:cs typeface="Meiryo"/>
                            </a:rPr>
                            <a:t>は北、</a:t>
                          </a:r>
                          <a:r>
                            <a:rPr sz="2100" b="0">
                              <a:solidFill>
                                <a:srgbClr val="213C4B"/>
                              </a:solidFill>
                              <a:latin typeface="Cambria Math"/>
                              <a:ea typeface="Cambria Math"/>
                              <a:cs typeface="Cambria Math"/>
                            </a:rPr>
                            <a:t>Y</a:t>
                          </a:r>
                          <a:r>
                            <a:rPr sz="2100" b="0">
                              <a:solidFill>
                                <a:srgbClr val="213C4B"/>
                              </a:solidFill>
                              <a:latin typeface="Meiryo"/>
                              <a:ea typeface="Meiryo"/>
                              <a:cs typeface="Meiryo"/>
                            </a:rPr>
                            <a:t>は東。原点でX軸が子午線に一致</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原点</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19系、</a:t>
                          </a:r>
                          <a:r>
                            <a:rPr sz="2100" b="0">
                              <a:solidFill>
                                <a:srgbClr val="213C4B"/>
                              </a:solidFill>
                              <a:latin typeface="Cambria Math"/>
                              <a:ea typeface="Cambria Math"/>
                              <a:cs typeface="Cambria Math"/>
                            </a:rPr>
                            <a:t>(0,0)</a:t>
                          </a:r>
                          <a:r>
                            <a:rPr sz="2100" b="0">
                              <a:solidFill>
                                <a:srgbClr val="213C4B"/>
                              </a:solidFill>
                              <a:latin typeface="Meiryo"/>
                              <a:ea typeface="Meiryo"/>
                              <a:cs typeface="Meiryo"/>
                            </a:rPr>
                            <a:t>、縮尺係数0.9999</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縮尺係数</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中央子午線から東西に離れるほど大きい</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729615">
                    <a:tc>
                      <a:txBody>
                        <a:bodyPr lIns="114300" tIns="114300" rIns="114300" bIns="114300">
                          <a:noAutofit/>
                        </a:bodyPr>
                        <a:lstStyle/>
                        <a:p>
                          <a:pPr algn="l"/>
                          <a:r>
                            <a:rPr sz="2100" b="0">
                              <a:solidFill>
                                <a:srgbClr val="213C4B"/>
                              </a:solidFill>
                              <a:latin typeface="Meiryo"/>
                              <a:ea typeface="Meiryo"/>
                              <a:cs typeface="Meiryo"/>
                            </a:rPr>
                            <a:t>基準面への縮約</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Cambria Math"/>
                              <a:ea typeface="Cambria Math"/>
                              <a:cs typeface="Cambria Math"/>
                            </a:rPr>
                            <a:t>H&gt;0</a:t>
                          </a:r>
                          <a:r>
                            <a:rPr sz="2100" b="0">
                              <a:solidFill>
                                <a:srgbClr val="213C4B"/>
                              </a:solidFill>
                              <a:latin typeface="Meiryo"/>
                              <a:ea typeface="Meiryo"/>
                              <a:cs typeface="Meiryo"/>
                            </a:rPr>
                            <a:t> なら短くなる。補正量は概ね </a:t>
                          </a:r>
                          <a:r>
                            <a:rPr sz="2100" b="0">
                              <a:solidFill>
                                <a:srgbClr val="213C4B"/>
                              </a:solidFill>
                              <a:latin typeface="Cambria Math"/>
                              <a:ea typeface="Cambria Math"/>
                              <a:cs typeface="Cambria Math"/>
                            </a:rPr>
                            <a:t>-\frac{SH}{R}</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平面への換算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Cambria Math"/>
                              <a:ea typeface="Cambria Math"/>
                              <a:cs typeface="Cambria Math"/>
                            </a:rPr>
                            <a:t>s=mS_0</a:t>
                          </a:r>
                          <a:r>
                            <a:rPr sz="2100" b="0">
                              <a:solidFill>
                                <a:srgbClr val="213C4B"/>
                              </a:solidFill>
                              <a:latin typeface="Meiryo"/>
                              <a:ea typeface="Meiryo"/>
                              <a:cs typeface="Meiryo"/>
                            </a:rPr>
                            <a:t>。短くなるかは </a:t>
                          </a:r>
                          <a:r>
                            <a:rPr sz="2100" b="0">
                              <a:solidFill>
                                <a:srgbClr val="213C4B"/>
                              </a:solidFill>
                              <a:latin typeface="Cambria Math"/>
                              <a:ea typeface="Cambria Math"/>
                              <a:cs typeface="Cambria Math"/>
                            </a:rPr>
                            <a:t>m</a:t>
                          </a:r>
                          <a:r>
                            <a:rPr sz="2100" b="0">
                              <a:solidFill>
                                <a:srgbClr val="213C4B"/>
                              </a:solidFill>
                              <a:latin typeface="Meiryo"/>
                              <a:ea typeface="Meiryo"/>
                              <a:cs typeface="Meiryo"/>
                            </a:rPr>
                            <a:t> で判断</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Fallback>
      </mc:AlternateContent>
    </p:spTree>
    <p:extLst>
      <p:ext uri="{BB962C8B-B14F-4D97-AF65-F5344CB8AC3E}">
        <p14:creationId xmlns:p14="http://schemas.microsoft.com/office/powerpoint/2010/main" val="1117006007"/>
      </p:ext>
    </p:extLst>
  </p:cSld>
</p:sld>
</file>

<file path=ppt/slides/slide59.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37D03F7D-D6CC-4655-895C-B80D4294D088}"/>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3-5</a:t>
            </a:r>
          </a:p>
        </p:txBody>
      </p:sp>
      <p:sp>
        <p:nvSpPr>
          <p:cNvPr id="2" name="本文1">
            <a:extLst xmlns:a="http://schemas.openxmlformats.org/drawingml/2006/main">
              <a:ext uri="{FF2B5EF4-FFF2-40B4-BE49-F238E27FC236}">
                <a16:creationId xmlns:a16="http://schemas.microsoft.com/office/drawing/2014/main" id="{4B87ED38-A190-4577-A0E8-79E542035803}"/>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「北」の違いで、角の名前が変わる</a:t>
            </a:r>
          </a:p>
        </p:txBody>
      </p:sp>
      <p:sp>
        <p:nvSpPr>
          <p:cNvPr id="3" name="本文2">
            <a:extLst xmlns:a="http://schemas.openxmlformats.org/drawingml/2006/main">
              <a:ext uri="{FF2B5EF4-FFF2-40B4-BE49-F238E27FC236}">
                <a16:creationId xmlns:a16="http://schemas.microsoft.com/office/drawing/2014/main" id="{F3F8C1C6-8B60-44AF-B083-41F18C5686B8}"/>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59</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22D5C483-B510-495F-8544-ED8F8F37D4CE}"/>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a:t>
                </a:r>
                <a:r>
                  <a:rPr sz="1950" b="1">
                    <a:solidFill>
                      <a:srgbClr val="137D78"/>
                    </a:solidFill>
                    <a:latin typeface="Meiryo"/>
                    <a:ea typeface="Meiryo"/>
                    <a:cs typeface="Meiryo"/>
                  </a:rPr>
                  <a:t>真北</a:t>
                </a:r>
                <a:r>
                  <a:rPr sz="1950" b="0">
                    <a:solidFill>
                      <a:srgbClr val="213C4B"/>
                    </a:solidFill>
                    <a:latin typeface="Meiryo"/>
                    <a:ea typeface="Meiryo"/>
                    <a:cs typeface="Meiryo"/>
                  </a:rPr>
                  <a:t>から測る：方位角 </a:t>
                </a:r>
                <a14:m xmlns:m="http://schemas.openxmlformats.org/officeDocument/2006/math">
                  <m:oMath xmlns:mml="http://www.w3.org/1998/Math/MathML">
                    <m:r>
                      <a:rPr sz="1950" b="0" lang="en-US">
                        <a:solidFill>
                          <a:srgbClr val="213C4B"/>
                        </a:solidFill>
                        <a:latin typeface="Cambria Math"/>
                        <a:ea typeface="Meiryo"/>
                      </a:rPr>
                      <m:t>α</m:t>
                    </m:r>
                  </m:oMath>
                </a14:m>
                <a:r>
                  <a:rPr sz="1950" b="0">
                    <a:solidFill>
                      <a:srgbClr val="213C4B"/>
                    </a:solidFill>
                    <a:latin typeface="Meiryo"/>
                    <a:ea typeface="Meiryo"/>
                    <a:cs typeface="Meiryo"/>
                  </a:rPr>
                  <a:t>。</a:t>
                </a:r>
              </a:p>
            </p:txBody>
          </p:sp>
        </mc:Choice>
        <mc:Fallback>
          <p:sp>
            <p:nvSpPr>
              <p:cNvPr id="4" name="本文3">
                <a:extLst xmlns:a="http://schemas.openxmlformats.org/drawingml/2006/main">
                  <a:ext uri="{FF2B5EF4-FFF2-40B4-BE49-F238E27FC236}">
                    <a16:creationId xmlns:a16="http://schemas.microsoft.com/office/drawing/2014/main" id="{22D5C483-B510-495F-8544-ED8F8F37D4CE}"/>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a:t>
                </a:r>
                <a:r>
                  <a:rPr sz="1950" b="1">
                    <a:solidFill>
                      <a:srgbClr val="137D78"/>
                    </a:solidFill>
                    <a:latin typeface="Meiryo"/>
                    <a:ea typeface="Meiryo"/>
                    <a:cs typeface="Meiryo"/>
                  </a:rPr>
                  <a:t>真北</a:t>
                </a:r>
                <a:r>
                  <a:rPr sz="1950" b="0">
                    <a:solidFill>
                      <a:srgbClr val="213C4B"/>
                    </a:solidFill>
                    <a:latin typeface="Meiryo"/>
                    <a:ea typeface="Meiryo"/>
                    <a:cs typeface="Meiryo"/>
                  </a:rPr>
                  <a:t>から測る：方位角 </a:t>
                </a:r>
                <a:r>
                  <a:rPr sz="1950" b="0">
                    <a:solidFill>
                      <a:srgbClr val="213C4B"/>
                    </a:solidFill>
                    <a:latin typeface="Cambria Math"/>
                    <a:ea typeface="Cambria Math"/>
                    <a:cs typeface="Cambria Math"/>
                  </a:rPr>
                  <a:t>\alpha</a:t>
                </a:r>
                <a:r>
                  <a:rPr sz="1950" b="0">
                    <a:solidFill>
                      <a:srgbClr val="213C4B"/>
                    </a:solidFill>
                    <a:latin typeface="Meiryo"/>
                    <a:ea typeface="Meiryo"/>
                    <a:cs typeface="Meiryo"/>
                  </a:rPr>
                  <a:t>。</a:t>
                </a:r>
              </a:p>
            </p:txBody>
          </p:sp>
        </mc:Fallback>
      </mc:AlternateContent>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CE86359D-E88D-43F9-A4F6-AB79BB3E5033}"/>
                  </a:ext>
                </a:extLst>
              </p:cNvPr>
              <p:cNvSpPr>
                <a:spLocks xmlns:a="http://schemas.openxmlformats.org/drawingml/2006/main" noGrp="1"/>
              </p:cNvSpPr>
              <p:nvPr/>
            </p:nvSpPr>
            <p:spPr>
              <a:xfrm xmlns:a="http://schemas.openxmlformats.org/drawingml/2006/main">
                <a:off x="647700" y="20097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a:t>
                </a:r>
                <a:r>
                  <a:rPr sz="1950" b="1">
                    <a:solidFill>
                      <a:srgbClr val="137D78"/>
                    </a:solidFill>
                    <a:latin typeface="Meiryo"/>
                    <a:ea typeface="Meiryo"/>
                    <a:cs typeface="Meiryo"/>
                  </a:rPr>
                  <a:t>座標北</a:t>
                </a:r>
                <a:r>
                  <a:rPr sz="1950" b="0">
                    <a:solidFill>
                      <a:srgbClr val="213C4B"/>
                    </a:solidFill>
                    <a:latin typeface="Meiryo"/>
                    <a:ea typeface="Meiryo"/>
                    <a:cs typeface="Meiryo"/>
                  </a:rPr>
                  <a:t>から測る：方向角 </a:t>
                </a:r>
                <a14:m xmlns:m="http://schemas.openxmlformats.org/officeDocument/2006/math">
                  <m:oMath xmlns:mml="http://www.w3.org/1998/Math/MathML">
                    <m:r>
                      <a:rPr sz="1950" b="0" lang="en-US">
                        <a:solidFill>
                          <a:srgbClr val="213C4B"/>
                        </a:solidFill>
                        <a:latin typeface="Cambria Math"/>
                        <a:ea typeface="Meiryo"/>
                      </a:rPr>
                      <m:t>T</m:t>
                    </m:r>
                  </m:oMath>
                </a14:m>
                <a:r>
                  <a:rPr sz="1950" b="0">
                    <a:solidFill>
                      <a:srgbClr val="213C4B"/>
                    </a:solidFill>
                    <a:latin typeface="Meiryo"/>
                    <a:ea typeface="Meiryo"/>
                    <a:cs typeface="Meiryo"/>
                  </a:rPr>
                  <a:t>。座標計算に使う角。</a:t>
                </a:r>
              </a:p>
            </p:txBody>
          </p:sp>
        </mc:Choice>
        <mc:Fallback>
          <p:sp>
            <p:nvSpPr>
              <p:cNvPr id="5" name="本文4">
                <a:extLst xmlns:a="http://schemas.openxmlformats.org/drawingml/2006/main">
                  <a:ext uri="{FF2B5EF4-FFF2-40B4-BE49-F238E27FC236}">
                    <a16:creationId xmlns:a16="http://schemas.microsoft.com/office/drawing/2014/main" id="{CE86359D-E88D-43F9-A4F6-AB79BB3E5033}"/>
                  </a:ext>
                </a:extLst>
              </p:cNvPr>
              <p:cNvSpPr>
                <a:spLocks xmlns:a="http://schemas.openxmlformats.org/drawingml/2006/main" noGrp="1"/>
              </p:cNvSpPr>
              <p:nvPr/>
            </p:nvSpPr>
            <p:spPr>
              <a:xfrm xmlns:a="http://schemas.openxmlformats.org/drawingml/2006/main">
                <a:off x="647700" y="2009775"/>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a:t>
                </a:r>
                <a:r>
                  <a:rPr sz="1950" b="1">
                    <a:solidFill>
                      <a:srgbClr val="137D78"/>
                    </a:solidFill>
                    <a:latin typeface="Meiryo"/>
                    <a:ea typeface="Meiryo"/>
                    <a:cs typeface="Meiryo"/>
                  </a:rPr>
                  <a:t>座標北</a:t>
                </a:r>
                <a:r>
                  <a:rPr sz="1950" b="0">
                    <a:solidFill>
                      <a:srgbClr val="213C4B"/>
                    </a:solidFill>
                    <a:latin typeface="Meiryo"/>
                    <a:ea typeface="Meiryo"/>
                    <a:cs typeface="Meiryo"/>
                  </a:rPr>
                  <a:t>から測る：方向角 </a:t>
                </a:r>
                <a:r>
                  <a:rPr sz="1950" b="0">
                    <a:solidFill>
                      <a:srgbClr val="213C4B"/>
                    </a:solidFill>
                    <a:latin typeface="Cambria Math"/>
                    <a:ea typeface="Cambria Math"/>
                    <a:cs typeface="Cambria Math"/>
                  </a:rPr>
                  <a:t>T</a:t>
                </a:r>
                <a:r>
                  <a:rPr sz="1950" b="0">
                    <a:solidFill>
                      <a:srgbClr val="213C4B"/>
                    </a:solidFill>
                    <a:latin typeface="Meiryo"/>
                    <a:ea typeface="Meiryo"/>
                    <a:cs typeface="Meiryo"/>
                  </a:rPr>
                  <a:t>。座標計算に使う角。</a:t>
                </a:r>
              </a:p>
            </p:txBody>
          </p:sp>
        </mc:Fallback>
      </mc:AlternateContent>
      <p:sp>
        <p:nvSpPr>
          <p:cNvPr id="6" name="本文5">
            <a:extLst xmlns:a="http://schemas.openxmlformats.org/drawingml/2006/main">
              <a:ext uri="{FF2B5EF4-FFF2-40B4-BE49-F238E27FC236}">
                <a16:creationId xmlns:a16="http://schemas.microsoft.com/office/drawing/2014/main" id="{451F3D0A-09D7-4100-B184-BEAA717A4001}"/>
              </a:ext>
            </a:extLst>
          </p:cNvPr>
          <p:cNvSpPr>
            <a:spLocks xmlns:a="http://schemas.openxmlformats.org/drawingml/2006/main" noGrp="1"/>
          </p:cNvSpPr>
          <p:nvPr/>
        </p:nvSpPr>
        <p:spPr>
          <a:xfrm xmlns:a="http://schemas.openxmlformats.org/drawingml/2006/main">
            <a:off x="647700" y="255270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  </a:t>
            </a:r>
            <a:r>
              <a:rPr sz="1950" b="1">
                <a:solidFill>
                  <a:srgbClr val="137D78"/>
                </a:solidFill>
                <a:latin typeface="Meiryo"/>
                <a:ea typeface="Meiryo"/>
                <a:cs typeface="Meiryo"/>
              </a:rPr>
              <a:t>磁北</a:t>
            </a:r>
            <a:r>
              <a:rPr sz="1950" b="0">
                <a:solidFill>
                  <a:srgbClr val="213C4B"/>
                </a:solidFill>
                <a:latin typeface="Meiryo"/>
                <a:ea typeface="Meiryo"/>
                <a:cs typeface="Meiryo"/>
              </a:rPr>
              <a:t>から測る：磁針方位。磁北は場所・年で変わる。</a:t>
            </a:r>
          </a:p>
        </p:txBody>
      </p:sp>
      <p:pic>
        <p:nvPicPr>
          <p:cNvPr id="7" name="">
            <a:extLst xmlns:a="http://schemas.openxmlformats.org/drawingml/2006/main">
              <a:ext uri="{FF2B5EF4-FFF2-40B4-BE49-F238E27FC236}">
                <a16:creationId xmlns:a16="http://schemas.microsoft.com/office/drawing/2014/main" id="{A5DABEA0-9309-4D30-958F-AA7F6BFAE8A0}"/>
              </a:ext>
            </a:extLst>
          </p:cNvPr>
          <p:cNvPicPr>
            <a:picLocks xmlns:a="http://schemas.openxmlformats.org/drawingml/2006/main" noChangeAspect="1"/>
          </p:cNvPicPr>
          <p:nvPr/>
        </p:nvPicPr>
        <p:blipFill>
          <a:blip xmlns:r="http://schemas.openxmlformats.org/officeDocument/2006/relationships" xmlns:a="http://schemas.openxmlformats.org/drawingml/2006/main" r:embed="Ra405d087b24b443c"/>
          <a:stretch xmlns:a="http://schemas.openxmlformats.org/drawingml/2006/main"/>
        </p:blipFill>
        <p:spPr>
          <a:xfrm xmlns:a="http://schemas.openxmlformats.org/drawingml/2006/main">
            <a:off x="666750" y="3143250"/>
            <a:ext cx="10858500" cy="3076575"/>
          </a:xfrm>
          <a:prstGeom xmlns:a="http://schemas.openxmlformats.org/drawingml/2006/main" prst="rect">
            <a:avLst/>
          </a:prstGeom>
        </p:spPr>
      </p:pic>
    </p:spTree>
    <p:extLst>
      <p:ext uri="{BB962C8B-B14F-4D97-AF65-F5344CB8AC3E}">
        <p14:creationId xmlns:p14="http://schemas.microsoft.com/office/powerpoint/2010/main" val="1223768075"/>
      </p:ext>
    </p:extLst>
  </p:cSld>
</p:sld>
</file>

<file path=ppt/slides/slide60.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01C232D2-A4A2-4FE3-9301-E1F48FE99F5D}"/>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3-5</a:t>
            </a:r>
          </a:p>
        </p:txBody>
      </p:sp>
      <p:sp>
        <p:nvSpPr>
          <p:cNvPr id="2" name="本文1">
            <a:extLst xmlns:a="http://schemas.openxmlformats.org/drawingml/2006/main">
              <a:ext uri="{FF2B5EF4-FFF2-40B4-BE49-F238E27FC236}">
                <a16:creationId xmlns:a16="http://schemas.microsoft.com/office/drawing/2014/main" id="{153F466B-BA65-44CA-B72F-3826F952108C}"/>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真北方向角 γ と方位角</a:t>
            </a:r>
          </a:p>
        </p:txBody>
      </p:sp>
      <p:sp>
        <p:nvSpPr>
          <p:cNvPr id="3" name="本文2">
            <a:extLst xmlns:a="http://schemas.openxmlformats.org/drawingml/2006/main">
              <a:ext uri="{FF2B5EF4-FFF2-40B4-BE49-F238E27FC236}">
                <a16:creationId xmlns:a16="http://schemas.microsoft.com/office/drawing/2014/main" id="{154BBE63-4CA4-43DA-9276-050D42FD4595}"/>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60</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76DAAA94-F4A7-4A14-84D7-7BD2785F7996}"/>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帯広付近（第XIII系）は西側。</a:t>
                </a:r>
                <a14:m xmlns:m="http://schemas.openxmlformats.org/officeDocument/2006/math">
                  <m:oMath xmlns:mml="http://www.w3.org/1998/Math/MathML">
                    <m:r>
                      <a:rPr sz="1725" b="0" lang="en-US">
                        <a:solidFill>
                          <a:srgbClr val="137D78"/>
                        </a:solidFill>
                        <a:latin typeface="Cambria Math"/>
                        <a:ea typeface="Meiryo"/>
                      </a:rPr>
                      <m:t>γ≈+</m:t>
                    </m:r>
                    <m:sSup>
                      <m:e>
                        <m:r>
                          <a:rPr sz="1725" b="0" lang="en-US">
                            <a:solidFill>
                              <a:srgbClr val="137D78"/>
                            </a:solidFill>
                            <a:latin typeface="Cambria Math"/>
                            <a:ea typeface="Meiryo"/>
                          </a:rPr>
                          <m:t>0</m:t>
                        </m:r>
                      </m:e>
                      <m:sup>
                        <m:r>
                          <a:rPr sz="1725" b="0" lang="en-US">
                            <a:solidFill>
                              <a:srgbClr val="137D78"/>
                            </a:solidFill>
                            <a:latin typeface="Cambria Math"/>
                            <a:ea typeface="Meiryo"/>
                          </a:rPr>
                          <m:t>∘</m:t>
                        </m:r>
                      </m:sup>
                    </m:sSup>
                    <m:sSup>
                      <m:e>
                        <m:r>
                          <a:rPr sz="1725" b="0" lang="en-US">
                            <a:solidFill>
                              <a:srgbClr val="137D78"/>
                            </a:solidFill>
                            <a:latin typeface="Cambria Math"/>
                            <a:ea typeface="Meiryo"/>
                          </a:rPr>
                          <m:t>43</m:t>
                        </m:r>
                      </m:e>
                      <m:sup>
                        <m:r>
                          <m:rPr>
                            <m:sty m:val="p"/>
                          </m:rPr>
                          <a:rPr sz="1725" b="0" lang="en-US">
                            <a:solidFill>
                              <a:srgbClr val="137D78"/>
                            </a:solidFill>
                            <a:latin typeface="Cambria Math"/>
                            <a:ea typeface="Meiryo"/>
                          </a:rPr>
                          <m:t>′</m:t>
                        </m:r>
                      </m:sup>
                    </m:sSup>
                  </m:oMath>
                </a14:m>
                <a:r>
                  <a:rPr sz="1725" b="1">
                    <a:solidFill>
                      <a:srgbClr val="137D78"/>
                    </a:solidFill>
                    <a:latin typeface="Meiryo"/>
                    <a:ea typeface="Meiryo"/>
                    <a:cs typeface="Meiryo"/>
                  </a:rPr>
                  <a:t>。</a:t>
                </a:r>
              </a:p>
            </p:txBody>
          </p:sp>
        </mc:Choice>
        <mc:Fallback>
          <p:sp>
            <p:nvSpPr>
              <p:cNvPr id="4" name="本文3">
                <a:extLst xmlns:a="http://schemas.openxmlformats.org/drawingml/2006/main">
                  <a:ext uri="{FF2B5EF4-FFF2-40B4-BE49-F238E27FC236}">
                    <a16:creationId xmlns:a16="http://schemas.microsoft.com/office/drawing/2014/main" id="{76DAAA94-F4A7-4A14-84D7-7BD2785F7996}"/>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帯広付近（第XIII系）は西側。</a:t>
                </a:r>
                <a:r>
                  <a:rPr sz="1725" b="1">
                    <a:solidFill>
                      <a:srgbClr val="137D78"/>
                    </a:solidFill>
                    <a:latin typeface="Cambria Math"/>
                    <a:ea typeface="Cambria Math"/>
                    <a:cs typeface="Cambria Math"/>
                  </a:rPr>
                  <a:t>\gamma\approx+0^\circ43'</a:t>
                </a:r>
                <a:r>
                  <a:rPr sz="1725" b="1">
                    <a:solidFill>
                      <a:srgbClr val="137D78"/>
                    </a:solidFill>
                    <a:latin typeface="Meiryo"/>
                    <a:ea typeface="Meiryo"/>
                    <a:cs typeface="Meiryo"/>
                  </a:rPr>
                  <a:t>。</a:t>
                </a:r>
              </a:p>
            </p:txBody>
          </p:sp>
        </mc:Fallback>
      </mc:AlternateContent>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0F4A4CC8-C1E7-4B10-B96F-7B1C57F67498}"/>
                  </a:ext>
                </a:extLst>
              </p:cNvPr>
              <p:cNvSpPr>
                <a:spLocks xmlns:a="http://schemas.openxmlformats.org/drawingml/2006/main" noGrp="1"/>
              </p:cNvSpPr>
              <p:nvPr/>
            </p:nvSpPr>
            <p:spPr>
              <a:xfrm xmlns:a="http://schemas.openxmlformats.org/drawingml/2006/main">
                <a:off x="647700" y="14668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14:m xmlns:m="http://schemas.openxmlformats.org/officeDocument/2006/math">
                  <m:oMath xmlns:mml="http://www.w3.org/1998/Math/MathML">
                    <m:r>
                      <a:rPr sz="2100" b="0" lang="en-US">
                        <a:solidFill>
                          <a:srgbClr val="213C4B"/>
                        </a:solidFill>
                        <a:latin typeface="Cambria Math"/>
                        <a:ea typeface="Meiryo"/>
                      </a:rPr>
                      <m:t>γ</m:t>
                    </m:r>
                  </m:oMath>
                </a14:m>
                <a:r>
                  <a:rPr sz="2100" b="0">
                    <a:solidFill>
                      <a:srgbClr val="213C4B"/>
                    </a:solidFill>
                    <a:latin typeface="Meiryo"/>
                    <a:ea typeface="Meiryo"/>
                    <a:cs typeface="Meiryo"/>
                  </a:rPr>
                  <a:t> は </a:t>
                </a:r>
                <a:r>
                  <a:rPr sz="2100" b="1">
                    <a:solidFill>
                      <a:srgbClr val="137D78"/>
                    </a:solidFill>
                    <a:latin typeface="Meiryo"/>
                    <a:ea typeface="Meiryo"/>
                    <a:cs typeface="Meiryo"/>
                  </a:rPr>
                  <a:t>座標北から真北へ、時計回りを正</a:t>
                </a:r>
                <a:r>
                  <a:rPr sz="2100" b="0">
                    <a:solidFill>
                      <a:srgbClr val="213C4B"/>
                    </a:solidFill>
                    <a:latin typeface="Meiryo"/>
                    <a:ea typeface="Meiryo"/>
                    <a:cs typeface="Meiryo"/>
                  </a:rPr>
                  <a:t>に測る角。</a:t>
                </a:r>
              </a:p>
            </p:txBody>
          </p:sp>
        </mc:Choice>
        <mc:Fallback>
          <p:sp>
            <p:nvSpPr>
              <p:cNvPr id="5" name="本文4">
                <a:extLst xmlns:a="http://schemas.openxmlformats.org/drawingml/2006/main">
                  <a:ext uri="{FF2B5EF4-FFF2-40B4-BE49-F238E27FC236}">
                    <a16:creationId xmlns:a16="http://schemas.microsoft.com/office/drawing/2014/main" id="{0F4A4CC8-C1E7-4B10-B96F-7B1C57F67498}"/>
                  </a:ext>
                </a:extLst>
              </p:cNvPr>
              <p:cNvSpPr>
                <a:spLocks xmlns:a="http://schemas.openxmlformats.org/drawingml/2006/main" noGrp="1"/>
              </p:cNvSpPr>
              <p:nvPr/>
            </p:nvSpPr>
            <p:spPr>
              <a:xfrm xmlns:a="http://schemas.openxmlformats.org/drawingml/2006/main">
                <a:off x="647700" y="14668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Cambria Math"/>
                    <a:ea typeface="Cambria Math"/>
                    <a:cs typeface="Cambria Math"/>
                  </a:rPr>
                  <a:t>\gamma</a:t>
                </a:r>
                <a:r>
                  <a:rPr sz="2100" b="0">
                    <a:solidFill>
                      <a:srgbClr val="213C4B"/>
                    </a:solidFill>
                    <a:latin typeface="Meiryo"/>
                    <a:ea typeface="Meiryo"/>
                    <a:cs typeface="Meiryo"/>
                  </a:rPr>
                  <a:t> は </a:t>
                </a:r>
                <a:r>
                  <a:rPr sz="2100" b="1">
                    <a:solidFill>
                      <a:srgbClr val="137D78"/>
                    </a:solidFill>
                    <a:latin typeface="Meiryo"/>
                    <a:ea typeface="Meiryo"/>
                    <a:cs typeface="Meiryo"/>
                  </a:rPr>
                  <a:t>座標北から真北へ、時計回りを正</a:t>
                </a:r>
                <a:r>
                  <a:rPr sz="2100" b="0">
                    <a:solidFill>
                      <a:srgbClr val="213C4B"/>
                    </a:solidFill>
                    <a:latin typeface="Meiryo"/>
                    <a:ea typeface="Meiryo"/>
                    <a:cs typeface="Meiryo"/>
                  </a:rPr>
                  <a:t>に測る角。</a:t>
                </a:r>
              </a:p>
            </p:txBody>
          </p:sp>
        </mc:Fallback>
      </mc:AlternateContent>
      <mc:AlternateContent xmlns:mc="http://schemas.openxmlformats.org/markup-compatibility/2006" xmlns:a14="http://schemas.microsoft.com/office/drawing/2010/main">
        <mc:Choice Requires="a14">
          <p:sp>
            <p:nvSpPr>
              <p:cNvPr id="6" name="EQM00125">
                <a:extLst xmlns:a="http://schemas.openxmlformats.org/drawingml/2006/main">
                  <a:ext uri="{FF2B5EF4-FFF2-40B4-BE49-F238E27FC236}">
                    <a16:creationId xmlns:a16="http://schemas.microsoft.com/office/drawing/2014/main" id="{400CBC0D-B2A4-4E5A-8D06-D5D21ACD376F}"/>
                  </a:ext>
                </a:extLst>
              </p:cNvPr>
              <p:cNvSpPr>
                <a:spLocks xmlns:a="http://schemas.openxmlformats.org/drawingml/2006/main" noGrp="1"/>
              </p:cNvSpPr>
              <p:nvPr/>
            </p:nvSpPr>
            <p:spPr>
              <a:xfrm xmlns:a="http://schemas.openxmlformats.org/drawingml/2006/main">
                <a:off x="647700" y="2114550"/>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borderBox>
                        <m:e>
                          <m:r>
                            <a:rPr sz="2700" b="0" lang="en-US">
                              <a:solidFill>
                                <a:srgbClr val="153D50"/>
                              </a:solidFill>
                              <a:latin typeface="Cambria Math"/>
                              <a:ea typeface="Meiryo"/>
                            </a:rPr>
                            <m:t>α=T−γ</m:t>
                          </m:r>
                        </m:e>
                      </m:borderBox>
                    </m:oMath>
                  </m:oMathPara>
                </a14:m>
              </a:p>
            </p:txBody>
          </p:sp>
        </mc:Choice>
        <mc:Fallback>
          <p:sp>
            <p:nvSpPr>
              <p:cNvPr id="6" name="EQM00125">
                <a:extLst xmlns:a="http://schemas.openxmlformats.org/drawingml/2006/main">
                  <a:ext uri="{FF2B5EF4-FFF2-40B4-BE49-F238E27FC236}">
                    <a16:creationId xmlns:a16="http://schemas.microsoft.com/office/drawing/2014/main" id="{400CBC0D-B2A4-4E5A-8D06-D5D21ACD376F}"/>
                  </a:ext>
                </a:extLst>
              </p:cNvPr>
              <p:cNvSpPr>
                <a:spLocks xmlns:a="http://schemas.openxmlformats.org/drawingml/2006/main" noGrp="1"/>
              </p:cNvSpPr>
              <p:nvPr/>
            </p:nvSpPr>
            <p:spPr>
              <a:xfrm xmlns:a="http://schemas.openxmlformats.org/drawingml/2006/main">
                <a:off x="647700" y="2114550"/>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\boxed{\alpha=T-\gamma}</a:t>
                </a:r>
              </a:p>
            </p:txBody>
          </p:sp>
        </mc:Fallback>
      </mc:AlternateContent>
      <mc:AlternateContent xmlns:mc="http://schemas.openxmlformats.org/markup-compatibility/2006" xmlns:a14="http://schemas.microsoft.com/office/drawing/2010/main">
        <mc:Choice Requires="a14">
          <p:graphicFrame>
            <p:nvGraphicFramePr>
              <p:cNvPr id="7" name="">
                <a:extLst xmlns:a="http://schemas.openxmlformats.org/drawingml/2006/main">
                  <a:ext uri="{FF2B5EF4-FFF2-40B4-BE49-F238E27FC236}">
                    <a16:creationId xmlns:a16="http://schemas.microsoft.com/office/drawing/2014/main" id="{A05FA070-95EB-4E07-BADA-1F6C57DC4F1B}"/>
                  </a:ext>
                </a:extLst>
              </p:cNvPr>
              <p:cNvGraphicFramePr/>
              <p:nvPr/>
            </p:nvGraphicFramePr>
            <p:xfrm>
              <a:off xmlns:a="http://schemas.openxmlformats.org/drawingml/2006/main" x="647700" y="2971800"/>
              <a:ext xmlns:a="http://schemas.openxmlformats.org/drawingml/2006/main" cx="10896600" cy="238506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位置</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真北方向角の符号</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中央子午線上</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γ=0</m:t>
                              </m:r>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東側（</a:t>
                          </a:r>
                          <a14:m xmlns:m="http://schemas.openxmlformats.org/officeDocument/2006/math">
                            <m:oMath xmlns:mml="http://www.w3.org/1998/Math/MathML">
                              <m:r>
                                <a:rPr sz="2100" b="0" lang="en-US">
                                  <a:solidFill>
                                    <a:srgbClr val="213C4B"/>
                                  </a:solidFill>
                                  <a:latin typeface="Cambria Math"/>
                                  <a:ea typeface="Meiryo"/>
                                </a:rPr>
                                <m:t>Y&gt;0</m:t>
                              </m:r>
                            </m:oMath>
                          </a14:m>
                          <a:r>
                            <a:rPr sz="2100" b="0">
                              <a:solidFill>
                                <a:srgbClr val="213C4B"/>
                              </a:solidFill>
                              <a:latin typeface="Meiryo"/>
                              <a:ea typeface="Meiryo"/>
                              <a:cs typeface="Meiryo"/>
                            </a:rPr>
                            <a:t>）</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γ&lt;0</m:t>
                              </m:r>
                            </m:oMath>
                          </a14:m>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西側（</a:t>
                          </a:r>
                          <a14:m xmlns:m="http://schemas.openxmlformats.org/officeDocument/2006/math">
                            <m:oMath xmlns:mml="http://www.w3.org/1998/Math/MathML">
                              <m:r>
                                <a:rPr sz="2100" b="0" lang="en-US">
                                  <a:solidFill>
                                    <a:srgbClr val="213C4B"/>
                                  </a:solidFill>
                                  <a:latin typeface="Cambria Math"/>
                                  <a:ea typeface="Meiryo"/>
                                </a:rPr>
                                <m:t>Y&lt;0</m:t>
                              </m:r>
                            </m:oMath>
                          </a14:m>
                          <a:r>
                            <a:rPr sz="2100" b="0">
                              <a:solidFill>
                                <a:srgbClr val="213C4B"/>
                              </a:solidFill>
                              <a:latin typeface="Meiryo"/>
                              <a:ea typeface="Meiryo"/>
                              <a:cs typeface="Meiryo"/>
                            </a:rPr>
                            <a:t>）</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γ&gt;0</m:t>
                              </m:r>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Choice>
        <mc:Fallback>
          <p:graphicFrame>
            <p:nvGraphicFramePr>
              <p:cNvPr id="7" name="">
                <a:extLst xmlns:a="http://schemas.openxmlformats.org/drawingml/2006/main">
                  <a:ext uri="{FF2B5EF4-FFF2-40B4-BE49-F238E27FC236}">
                    <a16:creationId xmlns:a16="http://schemas.microsoft.com/office/drawing/2014/main" id="{A05FA070-95EB-4E07-BADA-1F6C57DC4F1B}"/>
                  </a:ext>
                </a:extLst>
              </p:cNvPr>
              <p:cNvGraphicFramePr/>
              <p:nvPr/>
            </p:nvGraphicFramePr>
            <p:xfrm>
              <a:off xmlns:a="http://schemas.openxmlformats.org/drawingml/2006/main" x="647700" y="2971800"/>
              <a:ext xmlns:a="http://schemas.openxmlformats.org/drawingml/2006/main" cx="10896600" cy="238506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位置</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真北方向角の符号</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中央子午線上</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Cambria Math"/>
                              <a:ea typeface="Cambria Math"/>
                              <a:cs typeface="Cambria Math"/>
                            </a:rPr>
                            <a:t>\gamma=0</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東側（</a:t>
                          </a:r>
                          <a:r>
                            <a:rPr sz="2100" b="0">
                              <a:solidFill>
                                <a:srgbClr val="213C4B"/>
                              </a:solidFill>
                              <a:latin typeface="Cambria Math"/>
                              <a:ea typeface="Cambria Math"/>
                              <a:cs typeface="Cambria Math"/>
                            </a:rPr>
                            <a:t>Y&gt;0</a:t>
                          </a:r>
                          <a:r>
                            <a:rPr sz="2100" b="0">
                              <a:solidFill>
                                <a:srgbClr val="213C4B"/>
                              </a:solidFill>
                              <a:latin typeface="Meiryo"/>
                              <a:ea typeface="Meiryo"/>
                              <a:cs typeface="Meiryo"/>
                            </a:rPr>
                            <a:t>）</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Cambria Math"/>
                              <a:ea typeface="Cambria Math"/>
                              <a:cs typeface="Cambria Math"/>
                            </a:rPr>
                            <a:t>\gamma&lt;0</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西側（</a:t>
                          </a:r>
                          <a:r>
                            <a:rPr sz="2100" b="0">
                              <a:solidFill>
                                <a:srgbClr val="213C4B"/>
                              </a:solidFill>
                              <a:latin typeface="Cambria Math"/>
                              <a:ea typeface="Cambria Math"/>
                              <a:cs typeface="Cambria Math"/>
                            </a:rPr>
                            <a:t>Y&lt;0</a:t>
                          </a:r>
                          <a:r>
                            <a:rPr sz="2100" b="0">
                              <a:solidFill>
                                <a:srgbClr val="213C4B"/>
                              </a:solidFill>
                              <a:latin typeface="Meiryo"/>
                              <a:ea typeface="Meiryo"/>
                              <a:cs typeface="Meiryo"/>
                            </a:rPr>
                            <a:t>）</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Cambria Math"/>
                              <a:ea typeface="Cambria Math"/>
                              <a:cs typeface="Cambria Math"/>
                            </a:rPr>
                            <a:t>\gamma&gt;0</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Fallback>
      </mc:AlternateContent>
    </p:spTree>
    <p:extLst>
      <p:ext uri="{BB962C8B-B14F-4D97-AF65-F5344CB8AC3E}">
        <p14:creationId xmlns:p14="http://schemas.microsoft.com/office/powerpoint/2010/main" val="1503006375"/>
      </p:ext>
    </p:extLst>
  </p:cSld>
</p:sld>
</file>

<file path=ppt/slides/slide61.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6" name="本文0">
            <a:extLst xmlns:a="http://schemas.openxmlformats.org/drawingml/2006/main">
              <a:ext uri="{FF2B5EF4-FFF2-40B4-BE49-F238E27FC236}">
                <a16:creationId xmlns:a16="http://schemas.microsoft.com/office/drawing/2014/main" id="{EEA7483B-29F8-4D9C-BAC3-0FFB39E7056E}"/>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3-5</a:t>
            </a:r>
          </a:p>
        </p:txBody>
      </p:sp>
      <p:sp>
        <p:nvSpPr>
          <p:cNvPr id="2" name="本文1">
            <a:extLst xmlns:a="http://schemas.openxmlformats.org/drawingml/2006/main">
              <a:ext uri="{FF2B5EF4-FFF2-40B4-BE49-F238E27FC236}">
                <a16:creationId xmlns:a16="http://schemas.microsoft.com/office/drawing/2014/main" id="{12629C82-1213-461B-89E2-71981C0D659E}"/>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方位（N 30° E など）と方向角の換算</a:t>
            </a:r>
          </a:p>
        </p:txBody>
      </p:sp>
      <p:sp>
        <p:nvSpPr>
          <p:cNvPr id="3" name="本文2">
            <a:extLst xmlns:a="http://schemas.openxmlformats.org/drawingml/2006/main">
              <a:ext uri="{FF2B5EF4-FFF2-40B4-BE49-F238E27FC236}">
                <a16:creationId xmlns:a16="http://schemas.microsoft.com/office/drawing/2014/main" id="{58536319-1059-410C-ADEA-785129B2A6F5}"/>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61</a:t>
            </a:r>
          </a:p>
        </p:txBody>
      </p:sp>
      <mc:AlternateContent xmlns:mc="http://schemas.openxmlformats.org/markup-compatibility/2006" xmlns:a14="http://schemas.microsoft.com/office/drawing/2010/main">
        <mc:Choice Requires="a14">
          <p:graphicFrame>
            <p:nvGraphicFramePr>
              <p:cNvPr id="4" name="">
                <a:extLst xmlns:a="http://schemas.openxmlformats.org/drawingml/2006/main">
                  <a:ext uri="{FF2B5EF4-FFF2-40B4-BE49-F238E27FC236}">
                    <a16:creationId xmlns:a16="http://schemas.microsoft.com/office/drawing/2014/main" id="{0B0BC7A0-4E2C-41DE-9A15-61EE05BFA65F}"/>
                  </a:ext>
                </a:extLst>
              </p:cNvPr>
              <p:cNvGraphicFramePr/>
              <p:nvPr/>
            </p:nvGraphicFramePr>
            <p:xfrm>
              <a:off xmlns:a="http://schemas.openxmlformats.org/drawingml/2006/main" x="647700" y="1841500"/>
              <a:ext xmlns:a="http://schemas.openxmlformats.org/drawingml/2006/main" cx="10896600" cy="2981325"/>
            </p:xfrm>
            <a:graphic xmlns:a="http://schemas.openxmlformats.org/drawingml/2006/main">
              <a:graphicData uri="http://schemas.openxmlformats.org/drawingml/2006/table">
                <a:tbl>
                  <a:tblPr/>
                  <a:tblGrid>
                    <a:gridCol w="2615184"/>
                    <a:gridCol w="4140708"/>
                    <a:gridCol w="4140708"/>
                  </a:tblGrid>
                  <a:tr h="596265">
                    <a:tc>
                      <a:txBody>
                        <a:bodyPr lIns="114300" tIns="114300" rIns="114300" bIns="114300">
                          <a:noAutofit/>
                        </a:bodyPr>
                        <a:lstStyle/>
                        <a:p>
                          <a:pPr algn="l"/>
                          <a:r>
                            <a:rPr sz="2100" b="1">
                              <a:solidFill>
                                <a:srgbClr val="FFFFFF"/>
                              </a:solidFill>
                              <a:latin typeface="Meiryo"/>
                              <a:ea typeface="Meiryo"/>
                              <a:cs typeface="Meiryo"/>
                            </a:rPr>
                            <a:t>象限</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方位の書き方</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方向角 </a:t>
                          </a:r>
                          <a14:m xmlns:m="http://schemas.openxmlformats.org/officeDocument/2006/math">
                            <m:oMath xmlns:mml="http://www.w3.org/1998/Math/MathML">
                              <m:r>
                                <a:rPr sz="2100" b="0" lang="en-US">
                                  <a:solidFill>
                                    <a:srgbClr val="FFFFFF"/>
                                  </a:solidFill>
                                  <a:latin typeface="Cambria Math"/>
                                  <a:ea typeface="Meiryo"/>
                                </a:rPr>
                                <m:t>T</m:t>
                              </m:r>
                            </m:oMath>
                          </a14:m>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北東</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N </a:t>
                          </a:r>
                          <a14:m xmlns:m="http://schemas.openxmlformats.org/officeDocument/2006/math">
                            <m:oMath xmlns:mml="http://www.w3.org/1998/Math/MathML">
                              <m:r>
                                <a:rPr sz="2100" b="0" lang="en-US">
                                  <a:solidFill>
                                    <a:srgbClr val="213C4B"/>
                                  </a:solidFill>
                                  <a:latin typeface="Cambria Math"/>
                                  <a:ea typeface="Meiryo"/>
                                </a:rPr>
                                <m:t>β</m:t>
                              </m:r>
                            </m:oMath>
                          </a14:m>
                          <a:r>
                            <a:rPr sz="2100" b="0">
                              <a:solidFill>
                                <a:srgbClr val="213C4B"/>
                              </a:solidFill>
                              <a:latin typeface="Meiryo"/>
                              <a:ea typeface="Meiryo"/>
                              <a:cs typeface="Meiryo"/>
                            </a:rPr>
                            <a:t> E</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T=β</m:t>
                              </m:r>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南東</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S </a:t>
                          </a:r>
                          <a14:m xmlns:m="http://schemas.openxmlformats.org/officeDocument/2006/math">
                            <m:oMath xmlns:mml="http://www.w3.org/1998/Math/MathML">
                              <m:r>
                                <a:rPr sz="2100" b="0" lang="en-US">
                                  <a:solidFill>
                                    <a:srgbClr val="213C4B"/>
                                  </a:solidFill>
                                  <a:latin typeface="Cambria Math"/>
                                  <a:ea typeface="Meiryo"/>
                                </a:rPr>
                                <m:t>β</m:t>
                              </m:r>
                            </m:oMath>
                          </a14:m>
                          <a:r>
                            <a:rPr sz="2100" b="0">
                              <a:solidFill>
                                <a:srgbClr val="213C4B"/>
                              </a:solidFill>
                              <a:latin typeface="Meiryo"/>
                              <a:ea typeface="Meiryo"/>
                              <a:cs typeface="Meiryo"/>
                            </a:rPr>
                            <a:t> E</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T=</m:t>
                              </m:r>
                              <m:sSup>
                                <m:e>
                                  <m:r>
                                    <a:rPr sz="2100" b="0" lang="en-US">
                                      <a:solidFill>
                                        <a:srgbClr val="213C4B"/>
                                      </a:solidFill>
                                      <a:latin typeface="Cambria Math"/>
                                      <a:ea typeface="Meiryo"/>
                                    </a:rPr>
                                    <m:t>180</m:t>
                                  </m:r>
                                </m:e>
                                <m:sup>
                                  <m:r>
                                    <a:rPr sz="2100" b="0" lang="en-US">
                                      <a:solidFill>
                                        <a:srgbClr val="213C4B"/>
                                      </a:solidFill>
                                      <a:latin typeface="Cambria Math"/>
                                      <a:ea typeface="Meiryo"/>
                                    </a:rPr>
                                    <m:t>∘</m:t>
                                  </m:r>
                                </m:sup>
                              </m:sSup>
                              <m:r>
                                <a:rPr sz="2100" b="0" lang="en-US">
                                  <a:solidFill>
                                    <a:srgbClr val="213C4B"/>
                                  </a:solidFill>
                                  <a:latin typeface="Cambria Math"/>
                                  <a:ea typeface="Meiryo"/>
                                </a:rPr>
                                <m:t>−β</m:t>
                              </m:r>
                            </m:oMath>
                          </a14:m>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南西</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S </a:t>
                          </a:r>
                          <a14:m xmlns:m="http://schemas.openxmlformats.org/officeDocument/2006/math">
                            <m:oMath xmlns:mml="http://www.w3.org/1998/Math/MathML">
                              <m:r>
                                <a:rPr sz="2100" b="0" lang="en-US">
                                  <a:solidFill>
                                    <a:srgbClr val="213C4B"/>
                                  </a:solidFill>
                                  <a:latin typeface="Cambria Math"/>
                                  <a:ea typeface="Meiryo"/>
                                </a:rPr>
                                <m:t>β</m:t>
                              </m:r>
                            </m:oMath>
                          </a14:m>
                          <a:r>
                            <a:rPr sz="2100" b="0">
                              <a:solidFill>
                                <a:srgbClr val="213C4B"/>
                              </a:solidFill>
                              <a:latin typeface="Meiryo"/>
                              <a:ea typeface="Meiryo"/>
                              <a:cs typeface="Meiryo"/>
                            </a:rPr>
                            <a:t> W</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T=</m:t>
                              </m:r>
                              <m:sSup>
                                <m:e>
                                  <m:r>
                                    <a:rPr sz="2100" b="0" lang="en-US">
                                      <a:solidFill>
                                        <a:srgbClr val="213C4B"/>
                                      </a:solidFill>
                                      <a:latin typeface="Cambria Math"/>
                                      <a:ea typeface="Meiryo"/>
                                    </a:rPr>
                                    <m:t>180</m:t>
                                  </m:r>
                                </m:e>
                                <m:sup>
                                  <m:r>
                                    <a:rPr sz="2100" b="0" lang="en-US">
                                      <a:solidFill>
                                        <a:srgbClr val="213C4B"/>
                                      </a:solidFill>
                                      <a:latin typeface="Cambria Math"/>
                                      <a:ea typeface="Meiryo"/>
                                    </a:rPr>
                                    <m:t>∘</m:t>
                                  </m:r>
                                </m:sup>
                              </m:sSup>
                              <m:r>
                                <a:rPr sz="2100" b="0" lang="en-US">
                                  <a:solidFill>
                                    <a:srgbClr val="213C4B"/>
                                  </a:solidFill>
                                  <a:latin typeface="Cambria Math"/>
                                  <a:ea typeface="Meiryo"/>
                                </a:rPr>
                                <m:t>+β</m:t>
                              </m:r>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北西</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N </a:t>
                          </a:r>
                          <a14:m xmlns:m="http://schemas.openxmlformats.org/officeDocument/2006/math">
                            <m:oMath xmlns:mml="http://www.w3.org/1998/Math/MathML">
                              <m:r>
                                <a:rPr sz="2100" b="0" lang="en-US">
                                  <a:solidFill>
                                    <a:srgbClr val="213C4B"/>
                                  </a:solidFill>
                                  <a:latin typeface="Cambria Math"/>
                                  <a:ea typeface="Meiryo"/>
                                </a:rPr>
                                <m:t>β</m:t>
                              </m:r>
                            </m:oMath>
                          </a14:m>
                          <a:r>
                            <a:rPr sz="2100" b="0">
                              <a:solidFill>
                                <a:srgbClr val="213C4B"/>
                              </a:solidFill>
                              <a:latin typeface="Meiryo"/>
                              <a:ea typeface="Meiryo"/>
                              <a:cs typeface="Meiryo"/>
                            </a:rPr>
                            <a:t> W</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T=</m:t>
                              </m:r>
                              <m:sSup>
                                <m:e>
                                  <m:r>
                                    <a:rPr sz="2100" b="0" lang="en-US">
                                      <a:solidFill>
                                        <a:srgbClr val="213C4B"/>
                                      </a:solidFill>
                                      <a:latin typeface="Cambria Math"/>
                                      <a:ea typeface="Meiryo"/>
                                    </a:rPr>
                                    <m:t>360</m:t>
                                  </m:r>
                                </m:e>
                                <m:sup>
                                  <m:r>
                                    <a:rPr sz="2100" b="0" lang="en-US">
                                      <a:solidFill>
                                        <a:srgbClr val="213C4B"/>
                                      </a:solidFill>
                                      <a:latin typeface="Cambria Math"/>
                                      <a:ea typeface="Meiryo"/>
                                    </a:rPr>
                                    <m:t>∘</m:t>
                                  </m:r>
                                </m:sup>
                              </m:sSup>
                              <m:r>
                                <a:rPr sz="2100" b="0" lang="en-US">
                                  <a:solidFill>
                                    <a:srgbClr val="213C4B"/>
                                  </a:solidFill>
                                  <a:latin typeface="Cambria Math"/>
                                  <a:ea typeface="Meiryo"/>
                                </a:rPr>
                                <m:t>−β</m:t>
                              </m:r>
                            </m:oMath>
                          </a14:m>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Choice>
        <mc:Fallback>
          <p:graphicFrame>
            <p:nvGraphicFramePr>
              <p:cNvPr id="4" name="">
                <a:extLst xmlns:a="http://schemas.openxmlformats.org/drawingml/2006/main">
                  <a:ext uri="{FF2B5EF4-FFF2-40B4-BE49-F238E27FC236}">
                    <a16:creationId xmlns:a16="http://schemas.microsoft.com/office/drawing/2014/main" id="{0B0BC7A0-4E2C-41DE-9A15-61EE05BFA65F}"/>
                  </a:ext>
                </a:extLst>
              </p:cNvPr>
              <p:cNvGraphicFramePr/>
              <p:nvPr/>
            </p:nvGraphicFramePr>
            <p:xfrm>
              <a:off xmlns:a="http://schemas.openxmlformats.org/drawingml/2006/main" x="647700" y="1841500"/>
              <a:ext xmlns:a="http://schemas.openxmlformats.org/drawingml/2006/main" cx="10896600" cy="2981325"/>
            </p:xfrm>
            <a:graphic xmlns:a="http://schemas.openxmlformats.org/drawingml/2006/main">
              <a:graphicData uri="http://schemas.openxmlformats.org/drawingml/2006/table">
                <a:tbl>
                  <a:tblPr/>
                  <a:tblGrid>
                    <a:gridCol w="2615184"/>
                    <a:gridCol w="4140708"/>
                    <a:gridCol w="4140708"/>
                  </a:tblGrid>
                  <a:tr h="596265">
                    <a:tc>
                      <a:txBody>
                        <a:bodyPr lIns="114300" tIns="114300" rIns="114300" bIns="114300">
                          <a:noAutofit/>
                        </a:bodyPr>
                        <a:lstStyle/>
                        <a:p>
                          <a:pPr algn="l"/>
                          <a:r>
                            <a:rPr sz="2100" b="1">
                              <a:solidFill>
                                <a:srgbClr val="FFFFFF"/>
                              </a:solidFill>
                              <a:latin typeface="Meiryo"/>
                              <a:ea typeface="Meiryo"/>
                              <a:cs typeface="Meiryo"/>
                            </a:rPr>
                            <a:t>象限</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方位の書き方</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方向角 </a:t>
                          </a:r>
                          <a:r>
                            <a:rPr sz="2100" b="1">
                              <a:solidFill>
                                <a:srgbClr val="FFFFFF"/>
                              </a:solidFill>
                              <a:latin typeface="Cambria Math"/>
                              <a:ea typeface="Cambria Math"/>
                              <a:cs typeface="Cambria Math"/>
                            </a:rPr>
                            <a:t>T</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北東</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N </a:t>
                          </a:r>
                          <a:r>
                            <a:rPr sz="2100" b="0">
                              <a:solidFill>
                                <a:srgbClr val="213C4B"/>
                              </a:solidFill>
                              <a:latin typeface="Cambria Math"/>
                              <a:ea typeface="Cambria Math"/>
                              <a:cs typeface="Cambria Math"/>
                            </a:rPr>
                            <a:t>\beta</a:t>
                          </a:r>
                          <a:r>
                            <a:rPr sz="2100" b="0">
                              <a:solidFill>
                                <a:srgbClr val="213C4B"/>
                              </a:solidFill>
                              <a:latin typeface="Meiryo"/>
                              <a:ea typeface="Meiryo"/>
                              <a:cs typeface="Meiryo"/>
                            </a:rPr>
                            <a:t> E</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Cambria Math"/>
                              <a:ea typeface="Cambria Math"/>
                              <a:cs typeface="Cambria Math"/>
                            </a:rPr>
                            <a:t>T=\beta</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南東</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S </a:t>
                          </a:r>
                          <a:r>
                            <a:rPr sz="2100" b="0">
                              <a:solidFill>
                                <a:srgbClr val="213C4B"/>
                              </a:solidFill>
                              <a:latin typeface="Cambria Math"/>
                              <a:ea typeface="Cambria Math"/>
                              <a:cs typeface="Cambria Math"/>
                            </a:rPr>
                            <a:t>\beta</a:t>
                          </a:r>
                          <a:r>
                            <a:rPr sz="2100" b="0">
                              <a:solidFill>
                                <a:srgbClr val="213C4B"/>
                              </a:solidFill>
                              <a:latin typeface="Meiryo"/>
                              <a:ea typeface="Meiryo"/>
                              <a:cs typeface="Meiryo"/>
                            </a:rPr>
                            <a:t> E</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Cambria Math"/>
                              <a:ea typeface="Cambria Math"/>
                              <a:cs typeface="Cambria Math"/>
                            </a:rPr>
                            <a:t>T=180^\circ-\beta</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南西</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S </a:t>
                          </a:r>
                          <a:r>
                            <a:rPr sz="2100" b="0">
                              <a:solidFill>
                                <a:srgbClr val="213C4B"/>
                              </a:solidFill>
                              <a:latin typeface="Cambria Math"/>
                              <a:ea typeface="Cambria Math"/>
                              <a:cs typeface="Cambria Math"/>
                            </a:rPr>
                            <a:t>\beta</a:t>
                          </a:r>
                          <a:r>
                            <a:rPr sz="2100" b="0">
                              <a:solidFill>
                                <a:srgbClr val="213C4B"/>
                              </a:solidFill>
                              <a:latin typeface="Meiryo"/>
                              <a:ea typeface="Meiryo"/>
                              <a:cs typeface="Meiryo"/>
                            </a:rPr>
                            <a:t> W</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Cambria Math"/>
                              <a:ea typeface="Cambria Math"/>
                              <a:cs typeface="Cambria Math"/>
                            </a:rPr>
                            <a:t>T=180^\circ+\beta</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北西</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N </a:t>
                          </a:r>
                          <a:r>
                            <a:rPr sz="2100" b="0">
                              <a:solidFill>
                                <a:srgbClr val="213C4B"/>
                              </a:solidFill>
                              <a:latin typeface="Cambria Math"/>
                              <a:ea typeface="Cambria Math"/>
                              <a:cs typeface="Cambria Math"/>
                            </a:rPr>
                            <a:t>\beta</a:t>
                          </a:r>
                          <a:r>
                            <a:rPr sz="2100" b="0">
                              <a:solidFill>
                                <a:srgbClr val="213C4B"/>
                              </a:solidFill>
                              <a:latin typeface="Meiryo"/>
                              <a:ea typeface="Meiryo"/>
                              <a:cs typeface="Meiryo"/>
                            </a:rPr>
                            <a:t> W</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Cambria Math"/>
                              <a:ea typeface="Cambria Math"/>
                              <a:cs typeface="Cambria Math"/>
                            </a:rPr>
                            <a:t>T=360^\circ-\beta</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Fallback>
      </mc:AlternateContent>
      <mc:AlternateContent xmlns:mc="http://schemas.openxmlformats.org/markup-compatibility/2006" xmlns:a14="http://schemas.microsoft.com/office/drawing/2010/main">
        <mc:Choice Requires="a14">
          <p:sp>
            <p:nvSpPr>
              <p:cNvPr id="5" name="本文3">
                <a:extLst xmlns:a="http://schemas.openxmlformats.org/drawingml/2006/main">
                  <a:ext uri="{FF2B5EF4-FFF2-40B4-BE49-F238E27FC236}">
                    <a16:creationId xmlns:a16="http://schemas.microsoft.com/office/drawing/2014/main" id="{F492F47D-8C62-4530-924B-D1265E0D670B}"/>
                  </a:ext>
                </a:extLst>
              </p:cNvPr>
              <p:cNvSpPr>
                <a:spLocks xmlns:a="http://schemas.openxmlformats.org/drawingml/2006/main" noGrp="1"/>
              </p:cNvSpPr>
              <p:nvPr/>
            </p:nvSpPr>
            <p:spPr>
              <a:xfrm xmlns:a="http://schemas.openxmlformats.org/drawingml/2006/main">
                <a:off x="647700" y="499427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例：S 30° E → </a:t>
                </a:r>
                <a14:m xmlns:m="http://schemas.openxmlformats.org/officeDocument/2006/math">
                  <m:oMath xmlns:mml="http://www.w3.org/1998/Math/MathML">
                    <m:r>
                      <a:rPr sz="2100" b="0" lang="en-US">
                        <a:solidFill>
                          <a:srgbClr val="213C4B"/>
                        </a:solidFill>
                        <a:latin typeface="Cambria Math"/>
                        <a:ea typeface="Meiryo"/>
                      </a:rPr>
                      <m:t>T=</m:t>
                    </m:r>
                    <m:sSup>
                      <m:e>
                        <m:r>
                          <a:rPr sz="2100" b="0" lang="en-US">
                            <a:solidFill>
                              <a:srgbClr val="213C4B"/>
                            </a:solidFill>
                            <a:latin typeface="Cambria Math"/>
                            <a:ea typeface="Meiryo"/>
                          </a:rPr>
                          <m:t>150</m:t>
                        </m:r>
                      </m:e>
                      <m:sup>
                        <m:r>
                          <a:rPr sz="2100" b="0" lang="en-US">
                            <a:solidFill>
                              <a:srgbClr val="213C4B"/>
                            </a:solidFill>
                            <a:latin typeface="Cambria Math"/>
                            <a:ea typeface="Meiryo"/>
                          </a:rPr>
                          <m:t>∘</m:t>
                        </m:r>
                      </m:sup>
                    </m:sSup>
                  </m:oMath>
                </a14:m>
                <a:r>
                  <a:rPr sz="2100" b="0">
                    <a:solidFill>
                      <a:srgbClr val="213C4B"/>
                    </a:solidFill>
                    <a:latin typeface="Meiryo"/>
                    <a:ea typeface="Meiryo"/>
                    <a:cs typeface="Meiryo"/>
                  </a:rPr>
                  <a:t>、N 40° W → </a:t>
                </a:r>
                <a14:m xmlns:m="http://schemas.openxmlformats.org/officeDocument/2006/math">
                  <m:oMath xmlns:mml="http://www.w3.org/1998/Math/MathML">
                    <m:r>
                      <a:rPr sz="2100" b="0" lang="en-US">
                        <a:solidFill>
                          <a:srgbClr val="213C4B"/>
                        </a:solidFill>
                        <a:latin typeface="Cambria Math"/>
                        <a:ea typeface="Meiryo"/>
                      </a:rPr>
                      <m:t>T=</m:t>
                    </m:r>
                    <m:sSup>
                      <m:e>
                        <m:r>
                          <a:rPr sz="2100" b="0" lang="en-US">
                            <a:solidFill>
                              <a:srgbClr val="213C4B"/>
                            </a:solidFill>
                            <a:latin typeface="Cambria Math"/>
                            <a:ea typeface="Meiryo"/>
                          </a:rPr>
                          <m:t>320</m:t>
                        </m:r>
                      </m:e>
                      <m:sup>
                        <m:r>
                          <a:rPr sz="2100" b="0" lang="en-US">
                            <a:solidFill>
                              <a:srgbClr val="213C4B"/>
                            </a:solidFill>
                            <a:latin typeface="Cambria Math"/>
                            <a:ea typeface="Meiryo"/>
                          </a:rPr>
                          <m:t>∘</m:t>
                        </m:r>
                      </m:sup>
                    </m:sSup>
                  </m:oMath>
                </a14:m>
                <a:r>
                  <a:rPr sz="2100" b="0">
                    <a:solidFill>
                      <a:srgbClr val="213C4B"/>
                    </a:solidFill>
                    <a:latin typeface="Meiryo"/>
                    <a:ea typeface="Meiryo"/>
                    <a:cs typeface="Meiryo"/>
                  </a:rPr>
                  <a:t>。</a:t>
                </a:r>
              </a:p>
            </p:txBody>
          </p:sp>
        </mc:Choice>
        <mc:Fallback>
          <p:sp>
            <p:nvSpPr>
              <p:cNvPr id="5" name="本文3">
                <a:extLst xmlns:a="http://schemas.openxmlformats.org/drawingml/2006/main">
                  <a:ext uri="{FF2B5EF4-FFF2-40B4-BE49-F238E27FC236}">
                    <a16:creationId xmlns:a16="http://schemas.microsoft.com/office/drawing/2014/main" id="{F492F47D-8C62-4530-924B-D1265E0D670B}"/>
                  </a:ext>
                </a:extLst>
              </p:cNvPr>
              <p:cNvSpPr>
                <a:spLocks xmlns:a="http://schemas.openxmlformats.org/drawingml/2006/main" noGrp="1"/>
              </p:cNvSpPr>
              <p:nvPr/>
            </p:nvSpPr>
            <p:spPr>
              <a:xfrm xmlns:a="http://schemas.openxmlformats.org/drawingml/2006/main">
                <a:off x="647700" y="499427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例：S 30° E → </a:t>
                </a:r>
                <a:r>
                  <a:rPr sz="2100" b="0">
                    <a:solidFill>
                      <a:srgbClr val="213C4B"/>
                    </a:solidFill>
                    <a:latin typeface="Cambria Math"/>
                    <a:ea typeface="Cambria Math"/>
                    <a:cs typeface="Cambria Math"/>
                  </a:rPr>
                  <a:t>T=150^\circ</a:t>
                </a:r>
                <a:r>
                  <a:rPr sz="2100" b="0">
                    <a:solidFill>
                      <a:srgbClr val="213C4B"/>
                    </a:solidFill>
                    <a:latin typeface="Meiryo"/>
                    <a:ea typeface="Meiryo"/>
                    <a:cs typeface="Meiryo"/>
                  </a:rPr>
                  <a:t>、N 40° W → </a:t>
                </a:r>
                <a:r>
                  <a:rPr sz="2100" b="0">
                    <a:solidFill>
                      <a:srgbClr val="213C4B"/>
                    </a:solidFill>
                    <a:latin typeface="Cambria Math"/>
                    <a:ea typeface="Cambria Math"/>
                    <a:cs typeface="Cambria Math"/>
                  </a:rPr>
                  <a:t>T=320^\circ</a:t>
                </a:r>
                <a:r>
                  <a:rPr sz="2100" b="0">
                    <a:solidFill>
                      <a:srgbClr val="213C4B"/>
                    </a:solidFill>
                    <a:latin typeface="Meiryo"/>
                    <a:ea typeface="Meiryo"/>
                    <a:cs typeface="Meiryo"/>
                  </a:rPr>
                  <a:t>。</a:t>
                </a:r>
              </a:p>
            </p:txBody>
          </p:sp>
        </mc:Fallback>
      </mc:AlternateContent>
    </p:spTree>
    <p:extLst>
      <p:ext uri="{BB962C8B-B14F-4D97-AF65-F5344CB8AC3E}">
        <p14:creationId xmlns:p14="http://schemas.microsoft.com/office/powerpoint/2010/main" val="935913036"/>
      </p:ext>
    </p:extLst>
  </p:cSld>
</p:sld>
</file>

<file path=ppt/slides/slide62.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A6434C0F-10DC-42A9-8EDC-12FF89164761}"/>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3-5</a:t>
            </a:r>
          </a:p>
        </p:txBody>
      </p:sp>
      <p:sp>
        <p:nvSpPr>
          <p:cNvPr id="2" name="本文1">
            <a:extLst xmlns:a="http://schemas.openxmlformats.org/drawingml/2006/main">
              <a:ext uri="{FF2B5EF4-FFF2-40B4-BE49-F238E27FC236}">
                <a16:creationId xmlns:a16="http://schemas.microsoft.com/office/drawing/2014/main" id="{9AA26CA7-8866-4EA3-88D5-35434FF387F5}"/>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順計算：距離を南北・東西に分ける</a:t>
            </a:r>
          </a:p>
        </p:txBody>
      </p:sp>
      <p:sp>
        <p:nvSpPr>
          <p:cNvPr id="3" name="本文2">
            <a:extLst xmlns:a="http://schemas.openxmlformats.org/drawingml/2006/main">
              <a:ext uri="{FF2B5EF4-FFF2-40B4-BE49-F238E27FC236}">
                <a16:creationId xmlns:a16="http://schemas.microsoft.com/office/drawing/2014/main" id="{9D65AD71-9127-4DD6-977E-5B321535F4A9}"/>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62</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E87F7D03-8C84-4409-BB2C-DCE04C94490D}"/>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既知点Aから、平面距離 </a:t>
                </a:r>
                <a14:m xmlns:m="http://schemas.openxmlformats.org/officeDocument/2006/math">
                  <m:oMath xmlns:mml="http://www.w3.org/1998/Math/MathML">
                    <m:r>
                      <a:rPr sz="1950" b="0" lang="en-US">
                        <a:solidFill>
                          <a:srgbClr val="213C4B"/>
                        </a:solidFill>
                        <a:latin typeface="Cambria Math"/>
                        <a:ea typeface="Meiryo"/>
                      </a:rPr>
                      <m:t>S</m:t>
                    </m:r>
                  </m:oMath>
                </a14:m>
                <a:r>
                  <a:rPr sz="1950" b="0">
                    <a:solidFill>
                      <a:srgbClr val="213C4B"/>
                    </a:solidFill>
                    <a:latin typeface="Meiryo"/>
                    <a:ea typeface="Meiryo"/>
                    <a:cs typeface="Meiryo"/>
                  </a:rPr>
                  <a:t> と方向角 </a:t>
                </a:r>
                <a14:m xmlns:m="http://schemas.openxmlformats.org/officeDocument/2006/math">
                  <m:oMath xmlns:mml="http://www.w3.org/1998/Math/MathML">
                    <m:r>
                      <a:rPr sz="1950" b="0" lang="en-US">
                        <a:solidFill>
                          <a:srgbClr val="213C4B"/>
                        </a:solidFill>
                        <a:latin typeface="Cambria Math"/>
                        <a:ea typeface="Meiryo"/>
                      </a:rPr>
                      <m:t>T</m:t>
                    </m:r>
                  </m:oMath>
                </a14:m>
                <a:r>
                  <a:rPr sz="1950" b="0">
                    <a:solidFill>
                      <a:srgbClr val="213C4B"/>
                    </a:solidFill>
                    <a:latin typeface="Meiryo"/>
                    <a:ea typeface="Meiryo"/>
                    <a:cs typeface="Meiryo"/>
                  </a:rPr>
                  <a:t> で新点Bを求める。</a:t>
                </a:r>
              </a:p>
            </p:txBody>
          </p:sp>
        </mc:Choice>
        <mc:Fallback>
          <p:sp>
            <p:nvSpPr>
              <p:cNvPr id="4" name="本文3">
                <a:extLst xmlns:a="http://schemas.openxmlformats.org/drawingml/2006/main">
                  <a:ext uri="{FF2B5EF4-FFF2-40B4-BE49-F238E27FC236}">
                    <a16:creationId xmlns:a16="http://schemas.microsoft.com/office/drawing/2014/main" id="{E87F7D03-8C84-4409-BB2C-DCE04C94490D}"/>
                  </a:ext>
                </a:extLst>
              </p:cNvPr>
              <p:cNvSpPr>
                <a:spLocks xmlns:a="http://schemas.openxmlformats.org/drawingml/2006/main" noGrp="1"/>
              </p:cNvSpPr>
              <p:nvPr/>
            </p:nvSpPr>
            <p:spPr>
              <a:xfrm xmlns:a="http://schemas.openxmlformats.org/drawingml/2006/main">
                <a:off x="647700" y="1466850"/>
                <a:ext cx="1089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0">
                    <a:solidFill>
                      <a:srgbClr val="213C4B"/>
                    </a:solidFill>
                    <a:latin typeface="Meiryo"/>
                    <a:ea typeface="Meiryo"/>
                    <a:cs typeface="Meiryo"/>
                  </a:defRPr>
                </a:defPPr>
              </a:lstStyle>
              <a:p xmlns:a="http://schemas.openxmlformats.org/drawingml/2006/main">
                <a:pPr algn="l">
                  <a:defRPr sz="1950" b="0">
                    <a:solidFill>
                      <a:srgbClr val="213C4B"/>
                    </a:solidFill>
                    <a:latin typeface="Meiryo"/>
                    <a:ea typeface="Meiryo"/>
                    <a:cs typeface="Meiryo"/>
                  </a:defRPr>
                </a:pPr>
                <a:r>
                  <a:rPr sz="1950" b="0">
                    <a:solidFill>
                      <a:srgbClr val="213C4B"/>
                    </a:solidFill>
                    <a:latin typeface="Meiryo"/>
                    <a:ea typeface="Meiryo"/>
                    <a:cs typeface="Meiryo"/>
                  </a:rPr>
                  <a:t>既知点Aから、平面距離 </a:t>
                </a:r>
                <a:r>
                  <a:rPr sz="1950" b="0">
                    <a:solidFill>
                      <a:srgbClr val="213C4B"/>
                    </a:solidFill>
                    <a:latin typeface="Cambria Math"/>
                    <a:ea typeface="Cambria Math"/>
                    <a:cs typeface="Cambria Math"/>
                  </a:rPr>
                  <a:t>S</a:t>
                </a:r>
                <a:r>
                  <a:rPr sz="1950" b="0">
                    <a:solidFill>
                      <a:srgbClr val="213C4B"/>
                    </a:solidFill>
                    <a:latin typeface="Meiryo"/>
                    <a:ea typeface="Meiryo"/>
                    <a:cs typeface="Meiryo"/>
                  </a:rPr>
                  <a:t> と方向角 </a:t>
                </a:r>
                <a:r>
                  <a:rPr sz="1950" b="0">
                    <a:solidFill>
                      <a:srgbClr val="213C4B"/>
                    </a:solidFill>
                    <a:latin typeface="Cambria Math"/>
                    <a:ea typeface="Cambria Math"/>
                    <a:cs typeface="Cambria Math"/>
                  </a:rPr>
                  <a:t>T</a:t>
                </a:r>
                <a:r>
                  <a:rPr sz="1950" b="0">
                    <a:solidFill>
                      <a:srgbClr val="213C4B"/>
                    </a:solidFill>
                    <a:latin typeface="Meiryo"/>
                    <a:ea typeface="Meiryo"/>
                    <a:cs typeface="Meiryo"/>
                  </a:rPr>
                  <a:t> で新点Bを求める。</a:t>
                </a:r>
              </a:p>
            </p:txBody>
          </p:sp>
        </mc:Fallback>
      </mc:AlternateContent>
      <mc:AlternateContent xmlns:mc="http://schemas.openxmlformats.org/markup-compatibility/2006" xmlns:a14="http://schemas.microsoft.com/office/drawing/2010/main">
        <mc:Choice Requires="a14">
          <p:sp>
            <p:nvSpPr>
              <p:cNvPr id="5" name="EQM00144">
                <a:extLst xmlns:a="http://schemas.openxmlformats.org/drawingml/2006/main">
                  <a:ext uri="{FF2B5EF4-FFF2-40B4-BE49-F238E27FC236}">
                    <a16:creationId xmlns:a16="http://schemas.microsoft.com/office/drawing/2014/main" id="{C82438E6-C1FC-418D-91CA-0C34DDAFEF50}"/>
                  </a:ext>
                </a:extLst>
              </p:cNvPr>
              <p:cNvSpPr>
                <a:spLocks xmlns:a="http://schemas.openxmlformats.org/drawingml/2006/main" noGrp="1"/>
              </p:cNvSpPr>
              <p:nvPr/>
            </p:nvSpPr>
            <p:spPr>
              <a:xfrm xmlns:a="http://schemas.openxmlformats.org/drawingml/2006/main">
                <a:off x="647700" y="2009775"/>
                <a:ext cx="108966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550" b="0">
                    <a:solidFill>
                      <a:srgbClr val="153D50"/>
                    </a:solidFill>
                    <a:latin typeface="Meiryo"/>
                    <a:ea typeface="Meiryo"/>
                    <a:cs typeface="Meiryo"/>
                  </a:defRPr>
                </a:defPPr>
              </a:lstStyle>
              <a:p xmlns:a="http://schemas.openxmlformats.org/drawingml/2006/main">
                <a:pPr algn="ctr">
                  <a:defRPr sz="255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eqArr>
                        <m:e>
                          <m:sSub>
                            <m:e>
                              <m:argPr>
                                <m:argSz m:val="0"/>
                              </m:argPr>
                              <m:r>
                                <a:rPr sz="2550" b="0" lang="en-US">
                                  <a:solidFill>
                                    <a:srgbClr val="153D50"/>
                                  </a:solidFill>
                                  <a:latin typeface="Cambria Math"/>
                                  <a:ea typeface="Meiryo"/>
                                </a:rPr>
                                <m:t>X</m:t>
                              </m:r>
                            </m:e>
                            <m:sub>
                              <m:argPr>
                                <m:argSz m:val="0"/>
                              </m:argPr>
                              <m:r>
                                <a:rPr sz="2550" b="0" lang="en-US">
                                  <a:solidFill>
                                    <a:srgbClr val="153D50"/>
                                  </a:solidFill>
                                  <a:latin typeface="Cambria Math"/>
                                  <a:ea typeface="Meiryo"/>
                                </a:rPr>
                                <m:t>B</m:t>
                              </m:r>
                            </m:sub>
                          </m:sSub>
                          <m:r>
                            <a:rPr sz="2550" b="0" lang="en-US">
                              <a:solidFill>
                                <a:srgbClr val="153D50"/>
                              </a:solidFill>
                              <a:latin typeface="Cambria Math"/>
                              <a:ea typeface="Meiryo"/>
                            </a:rPr>
                            <m:t>&amp;</m:t>
                          </m:r>
                          <m:r>
                            <a:rPr sz="2550" b="0" lang="en-US">
                              <a:solidFill>
                                <a:srgbClr val="153D50"/>
                              </a:solidFill>
                              <a:latin typeface="Cambria Math"/>
                              <a:ea typeface="Meiryo"/>
                            </a:rPr>
                            <m:t>=</m:t>
                          </m:r>
                          <m:sSub>
                            <m:e>
                              <m:argPr>
                                <m:argSz m:val="0"/>
                              </m:argPr>
                              <m:r>
                                <a:rPr sz="2550" b="0" lang="en-US">
                                  <a:solidFill>
                                    <a:srgbClr val="153D50"/>
                                  </a:solidFill>
                                  <a:latin typeface="Cambria Math"/>
                                  <a:ea typeface="Meiryo"/>
                                </a:rPr>
                                <m:t>X</m:t>
                              </m:r>
                            </m:e>
                            <m:sub>
                              <m:argPr>
                                <m:argSz m:val="0"/>
                              </m:argPr>
                              <m:r>
                                <a:rPr sz="2550" b="0" lang="en-US">
                                  <a:solidFill>
                                    <a:srgbClr val="153D50"/>
                                  </a:solidFill>
                                  <a:latin typeface="Cambria Math"/>
                                  <a:ea typeface="Meiryo"/>
                                </a:rPr>
                                <m:t>A</m:t>
                              </m:r>
                            </m:sub>
                          </m:sSub>
                          <m:r>
                            <a:rPr sz="2550" b="0" lang="en-US">
                              <a:solidFill>
                                <a:srgbClr val="153D50"/>
                              </a:solidFill>
                              <a:latin typeface="Cambria Math"/>
                              <a:ea typeface="Meiryo"/>
                            </a:rPr>
                            <m:t>+S</m:t>
                          </m:r>
                          <m:r>
                            <m:rPr>
                              <m:sty m:val="p"/>
                            </m:rPr>
                            <a:rPr sz="2550" b="0" lang="en-US">
                              <a:solidFill>
                                <a:srgbClr val="153D50"/>
                              </a:solidFill>
                              <a:latin typeface="Cambria Math"/>
                              <a:ea typeface="Meiryo"/>
                            </a:rPr>
                            <m:t>cos</m:t>
                          </m:r>
                          <m:r>
                            <a:rPr sz="2550" b="0" lang="en-US">
                              <a:solidFill>
                                <a:srgbClr val="153D50"/>
                              </a:solidFill>
                              <a:latin typeface="Cambria Math"/>
                              <a:ea typeface="Meiryo"/>
                            </a:rPr>
                            <m:t>⁡T</m:t>
                          </m:r>
                        </m:e>
                        <m:e>
                          <m:sSub>
                            <m:e>
                              <m:argPr>
                                <m:argSz m:val="0"/>
                              </m:argPr>
                              <m:r>
                                <a:rPr sz="2550" b="0" lang="en-US">
                                  <a:solidFill>
                                    <a:srgbClr val="153D50"/>
                                  </a:solidFill>
                                  <a:latin typeface="Cambria Math"/>
                                  <a:ea typeface="Meiryo"/>
                                </a:rPr>
                                <m:t>Y</m:t>
                              </m:r>
                            </m:e>
                            <m:sub>
                              <m:argPr>
                                <m:argSz m:val="0"/>
                              </m:argPr>
                              <m:r>
                                <a:rPr sz="2550" b="0" lang="en-US">
                                  <a:solidFill>
                                    <a:srgbClr val="153D50"/>
                                  </a:solidFill>
                                  <a:latin typeface="Cambria Math"/>
                                  <a:ea typeface="Meiryo"/>
                                </a:rPr>
                                <m:t>B</m:t>
                              </m:r>
                            </m:sub>
                          </m:sSub>
                          <m:r>
                            <a:rPr sz="2550" b="0" lang="en-US">
                              <a:solidFill>
                                <a:srgbClr val="153D50"/>
                              </a:solidFill>
                              <a:latin typeface="Cambria Math"/>
                              <a:ea typeface="Meiryo"/>
                            </a:rPr>
                            <m:t>&amp;</m:t>
                          </m:r>
                          <m:r>
                            <a:rPr sz="2550" b="0" lang="en-US">
                              <a:solidFill>
                                <a:srgbClr val="153D50"/>
                              </a:solidFill>
                              <a:latin typeface="Cambria Math"/>
                              <a:ea typeface="Meiryo"/>
                            </a:rPr>
                            <m:t>=</m:t>
                          </m:r>
                          <m:sSub>
                            <m:e>
                              <m:argPr>
                                <m:argSz m:val="0"/>
                              </m:argPr>
                              <m:r>
                                <a:rPr sz="2550" b="0" lang="en-US">
                                  <a:solidFill>
                                    <a:srgbClr val="153D50"/>
                                  </a:solidFill>
                                  <a:latin typeface="Cambria Math"/>
                                  <a:ea typeface="Meiryo"/>
                                </a:rPr>
                                <m:t>Y</m:t>
                              </m:r>
                            </m:e>
                            <m:sub>
                              <m:argPr>
                                <m:argSz m:val="0"/>
                              </m:argPr>
                              <m:r>
                                <a:rPr sz="2550" b="0" lang="en-US">
                                  <a:solidFill>
                                    <a:srgbClr val="153D50"/>
                                  </a:solidFill>
                                  <a:latin typeface="Cambria Math"/>
                                  <a:ea typeface="Meiryo"/>
                                </a:rPr>
                                <m:t>A</m:t>
                              </m:r>
                            </m:sub>
                          </m:sSub>
                          <m:r>
                            <a:rPr sz="2550" b="0" lang="en-US">
                              <a:solidFill>
                                <a:srgbClr val="153D50"/>
                              </a:solidFill>
                              <a:latin typeface="Cambria Math"/>
                              <a:ea typeface="Meiryo"/>
                            </a:rPr>
                            <m:t>+S</m:t>
                          </m:r>
                          <m:r>
                            <m:rPr>
                              <m:sty m:val="p"/>
                            </m:rPr>
                            <a:rPr sz="2550" b="0" lang="en-US">
                              <a:solidFill>
                                <a:srgbClr val="153D50"/>
                              </a:solidFill>
                              <a:latin typeface="Cambria Math"/>
                              <a:ea typeface="Meiryo"/>
                            </a:rPr>
                            <m:t>sin</m:t>
                          </m:r>
                          <m:r>
                            <a:rPr sz="2550" b="0" lang="en-US">
                              <a:solidFill>
                                <a:srgbClr val="153D50"/>
                              </a:solidFill>
                              <a:latin typeface="Cambria Math"/>
                              <a:ea typeface="Meiryo"/>
                            </a:rPr>
                            <m:t>⁡T</m:t>
                          </m:r>
                        </m:e>
                      </m:eqArr>
                    </m:oMath>
                  </m:oMathPara>
                </a14:m>
              </a:p>
            </p:txBody>
          </p:sp>
        </mc:Choice>
        <mc:Fallback>
          <p:sp>
            <p:nvSpPr>
              <p:cNvPr id="5" name="EQM00144">
                <a:extLst xmlns:a="http://schemas.openxmlformats.org/drawingml/2006/main">
                  <a:ext uri="{FF2B5EF4-FFF2-40B4-BE49-F238E27FC236}">
                    <a16:creationId xmlns:a16="http://schemas.microsoft.com/office/drawing/2014/main" id="{C82438E6-C1FC-418D-91CA-0C34DDAFEF50}"/>
                  </a:ext>
                </a:extLst>
              </p:cNvPr>
              <p:cNvSpPr>
                <a:spLocks xmlns:a="http://schemas.openxmlformats.org/drawingml/2006/main" noGrp="1"/>
              </p:cNvSpPr>
              <p:nvPr/>
            </p:nvSpPr>
            <p:spPr>
              <a:xfrm xmlns:a="http://schemas.openxmlformats.org/drawingml/2006/main">
                <a:off x="647700" y="2009775"/>
                <a:ext cx="108966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550" b="0">
                    <a:solidFill>
                      <a:srgbClr val="153D50"/>
                    </a:solidFill>
                    <a:latin typeface="Meiryo"/>
                    <a:ea typeface="Meiryo"/>
                    <a:cs typeface="Meiryo"/>
                  </a:defRPr>
                </a:defPPr>
              </a:lstStyle>
              <a:p xmlns:a="http://schemas.openxmlformats.org/drawingml/2006/main">
                <a:pPr algn="ctr">
                  <a:defRPr sz="2550" b="0">
                    <a:solidFill>
                      <a:srgbClr val="153D50"/>
                    </a:solidFill>
                    <a:latin typeface="Meiryo"/>
                    <a:ea typeface="Meiryo"/>
                    <a:cs typeface="Meiryo"/>
                  </a:defRPr>
                </a:pPr>
                <a:r>
                  <a:rPr sz="2550" b="0">
                    <a:solidFill>
                      <a:srgbClr val="153D50"/>
                    </a:solidFill>
                    <a:latin typeface="Meiryo"/>
                    <a:ea typeface="Meiryo"/>
                    <a:cs typeface="Meiryo"/>
                  </a:rPr>
                  <a:t>\begin{aligned}X_B&amp;=X_A+S\cos T\\Y_B&amp;=Y_A+S\sin T\end{aligned}</a:t>
                </a:r>
              </a:p>
            </p:txBody>
          </p:sp>
        </mc:Fallback>
      </mc:AlternateContent>
      <p:pic>
        <p:nvPicPr>
          <p:cNvPr id="6" name="">
            <a:extLst xmlns:a="http://schemas.openxmlformats.org/drawingml/2006/main">
              <a:ext uri="{FF2B5EF4-FFF2-40B4-BE49-F238E27FC236}">
                <a16:creationId xmlns:a16="http://schemas.microsoft.com/office/drawing/2014/main" id="{ABE99FA4-AA81-43C0-8823-6FF550364FC9}"/>
              </a:ext>
            </a:extLst>
          </p:cNvPr>
          <p:cNvPicPr>
            <a:picLocks xmlns:a="http://schemas.openxmlformats.org/drawingml/2006/main" noChangeAspect="1"/>
          </p:cNvPicPr>
          <p:nvPr/>
        </p:nvPicPr>
        <p:blipFill>
          <a:blip xmlns:r="http://schemas.openxmlformats.org/officeDocument/2006/relationships" xmlns:a="http://schemas.openxmlformats.org/drawingml/2006/main" r:embed="R727b67ce65b24cff"/>
          <a:stretch xmlns:a="http://schemas.openxmlformats.org/drawingml/2006/main"/>
        </p:blipFill>
        <p:spPr>
          <a:xfrm xmlns:a="http://schemas.openxmlformats.org/drawingml/2006/main">
            <a:off x="801221" y="3219450"/>
            <a:ext cx="10589559" cy="3000375"/>
          </a:xfrm>
          <a:prstGeom xmlns:a="http://schemas.openxmlformats.org/drawingml/2006/main" prst="rect">
            <a:avLst/>
          </a:prstGeom>
        </p:spPr>
      </p:pic>
    </p:spTree>
    <p:extLst>
      <p:ext uri="{BB962C8B-B14F-4D97-AF65-F5344CB8AC3E}">
        <p14:creationId xmlns:p14="http://schemas.microsoft.com/office/powerpoint/2010/main" val="1440084598"/>
      </p:ext>
    </p:extLst>
  </p:cSld>
</p:sld>
</file>

<file path=ppt/slides/slide63.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EEFA2988-C96C-4543-B974-25F68B1C2CA0}"/>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3-5</a:t>
            </a:r>
          </a:p>
        </p:txBody>
      </p:sp>
      <p:sp>
        <p:nvSpPr>
          <p:cNvPr id="2" name="本文1">
            <a:extLst xmlns:a="http://schemas.openxmlformats.org/drawingml/2006/main">
              <a:ext uri="{FF2B5EF4-FFF2-40B4-BE49-F238E27FC236}">
                <a16:creationId xmlns:a16="http://schemas.microsoft.com/office/drawing/2014/main" id="{09199A6D-DD2A-4E55-A0EF-AF088B2557BF}"/>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順計算の例：方向角120°</a:t>
            </a:r>
          </a:p>
        </p:txBody>
      </p:sp>
      <p:sp>
        <p:nvSpPr>
          <p:cNvPr id="3" name="本文2">
            <a:extLst xmlns:a="http://schemas.openxmlformats.org/drawingml/2006/main">
              <a:ext uri="{FF2B5EF4-FFF2-40B4-BE49-F238E27FC236}">
                <a16:creationId xmlns:a16="http://schemas.microsoft.com/office/drawing/2014/main" id="{7C753189-BE9F-49B8-9350-37D3FCF4620E}"/>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63</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E75B65BA-ACF9-4AAA-BCC0-7155D50A3DEF}"/>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120°は南東。</a:t>
                </a:r>
                <a14:m xmlns:m="http://schemas.openxmlformats.org/officeDocument/2006/math">
                  <m:oMath xmlns:mml="http://www.w3.org/1998/Math/MathML">
                    <m:r>
                      <m:rPr>
                        <m:sty m:val="p"/>
                      </m:rPr>
                      <a:rPr sz="1725" b="0" lang="en-US">
                        <a:solidFill>
                          <a:srgbClr val="137D78"/>
                        </a:solidFill>
                        <a:latin typeface="Cambria Math"/>
                        <a:ea typeface="Meiryo"/>
                      </a:rPr>
                      <m:t>Δ</m:t>
                    </m:r>
                    <m:r>
                      <a:rPr sz="1725" b="0" lang="en-US">
                        <a:solidFill>
                          <a:srgbClr val="137D78"/>
                        </a:solidFill>
                        <a:latin typeface="Cambria Math"/>
                        <a:ea typeface="Meiryo"/>
                      </a:rPr>
                      <m:t>X&lt;0</m:t>
                    </m:r>
                  </m:oMath>
                </a14:m>
                <a:r>
                  <a:rPr sz="1725" b="1">
                    <a:solidFill>
                      <a:srgbClr val="137D78"/>
                    </a:solidFill>
                    <a:latin typeface="Meiryo"/>
                    <a:ea typeface="Meiryo"/>
                    <a:cs typeface="Meiryo"/>
                  </a:rPr>
                  <a:t>、</a:t>
                </a:r>
                <a14:m xmlns:m="http://schemas.openxmlformats.org/officeDocument/2006/math">
                  <m:oMath xmlns:mml="http://www.w3.org/1998/Math/MathML">
                    <m:r>
                      <m:rPr>
                        <m:sty m:val="p"/>
                      </m:rPr>
                      <a:rPr sz="1725" b="0" lang="en-US">
                        <a:solidFill>
                          <a:srgbClr val="137D78"/>
                        </a:solidFill>
                        <a:latin typeface="Cambria Math"/>
                        <a:ea typeface="Meiryo"/>
                      </a:rPr>
                      <m:t>Δ</m:t>
                    </m:r>
                    <m:r>
                      <a:rPr sz="1725" b="0" lang="en-US">
                        <a:solidFill>
                          <a:srgbClr val="137D78"/>
                        </a:solidFill>
                        <a:latin typeface="Cambria Math"/>
                        <a:ea typeface="Meiryo"/>
                      </a:rPr>
                      <m:t>Y&gt;0</m:t>
                    </m:r>
                  </m:oMath>
                </a14:m>
                <a:r>
                  <a:rPr sz="1725" b="1">
                    <a:solidFill>
                      <a:srgbClr val="137D78"/>
                    </a:solidFill>
                    <a:latin typeface="Meiryo"/>
                    <a:ea typeface="Meiryo"/>
                    <a:cs typeface="Meiryo"/>
                  </a:rPr>
                  <a:t> と一致する。</a:t>
                </a:r>
              </a:p>
            </p:txBody>
          </p:sp>
        </mc:Choice>
        <mc:Fallback>
          <p:sp>
            <p:nvSpPr>
              <p:cNvPr id="4" name="本文3">
                <a:extLst xmlns:a="http://schemas.openxmlformats.org/drawingml/2006/main">
                  <a:ext uri="{FF2B5EF4-FFF2-40B4-BE49-F238E27FC236}">
                    <a16:creationId xmlns:a16="http://schemas.microsoft.com/office/drawing/2014/main" id="{E75B65BA-ACF9-4AAA-BCC0-7155D50A3DEF}"/>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120°は南東。</a:t>
                </a:r>
                <a:r>
                  <a:rPr sz="1725" b="1">
                    <a:solidFill>
                      <a:srgbClr val="137D78"/>
                    </a:solidFill>
                    <a:latin typeface="Cambria Math"/>
                    <a:ea typeface="Cambria Math"/>
                    <a:cs typeface="Cambria Math"/>
                  </a:rPr>
                  <a:t>\Delta X&lt;0</a:t>
                </a:r>
                <a:r>
                  <a:rPr sz="1725" b="1">
                    <a:solidFill>
                      <a:srgbClr val="137D78"/>
                    </a:solidFill>
                    <a:latin typeface="Meiryo"/>
                    <a:ea typeface="Meiryo"/>
                    <a:cs typeface="Meiryo"/>
                  </a:rPr>
                  <a:t>、</a:t>
                </a:r>
                <a:r>
                  <a:rPr sz="1725" b="1">
                    <a:solidFill>
                      <a:srgbClr val="137D78"/>
                    </a:solidFill>
                    <a:latin typeface="Cambria Math"/>
                    <a:ea typeface="Cambria Math"/>
                    <a:cs typeface="Cambria Math"/>
                  </a:rPr>
                  <a:t>\Delta Y&gt;0</a:t>
                </a:r>
                <a:r>
                  <a:rPr sz="1725" b="1">
                    <a:solidFill>
                      <a:srgbClr val="137D78"/>
                    </a:solidFill>
                    <a:latin typeface="Meiryo"/>
                    <a:ea typeface="Meiryo"/>
                    <a:cs typeface="Meiryo"/>
                  </a:rPr>
                  <a:t> と一致する。</a:t>
                </a:r>
              </a:p>
            </p:txBody>
          </p:sp>
        </mc:Fallback>
      </mc:AlternateContent>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CE0DCF31-8AF6-409B-BC44-A873AF62A1DC}"/>
                  </a:ext>
                </a:extLst>
              </p:cNvPr>
              <p:cNvSpPr>
                <a:spLocks xmlns:a="http://schemas.openxmlformats.org/drawingml/2006/main" noGrp="1"/>
              </p:cNvSpPr>
              <p:nvPr/>
            </p:nvSpPr>
            <p:spPr>
              <a:xfrm xmlns:a="http://schemas.openxmlformats.org/drawingml/2006/main">
                <a:off x="647700" y="195262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A</a:t>
                </a:r>
                <a14:m xmlns:m="http://schemas.openxmlformats.org/officeDocument/2006/math">
                  <m:oMath xmlns:mml="http://www.w3.org/1998/Math/MathML">
                    <m:r>
                      <a:rPr sz="2100" b="0" lang="en-US">
                        <a:solidFill>
                          <a:srgbClr val="213C4B"/>
                        </a:solidFill>
                        <a:latin typeface="Cambria Math"/>
                        <a:ea typeface="Meiryo"/>
                      </a:rPr>
                      <m:t>(1000.000,</m:t>
                    </m:r>
                    <m:r>
                      <m:rPr>
                        <m:nor/>
                      </m:rPr>
                      <a:rPr sz="2100" b="0" lang="en-US">
                        <a:solidFill>
                          <a:srgbClr val="213C4B"/>
                        </a:solidFill>
                        <a:latin typeface="Cambria Math"/>
                        <a:ea typeface="Meiryo"/>
                      </a:rPr>
                      <m:t> </m:t>
                    </m:r>
                    <m:r>
                      <a:rPr sz="2100" b="0" lang="en-US">
                        <a:solidFill>
                          <a:srgbClr val="213C4B"/>
                        </a:solidFill>
                        <a:latin typeface="Cambria Math"/>
                        <a:ea typeface="Meiryo"/>
                      </a:rPr>
                      <m:t>2000.000)</m:t>
                    </m:r>
                  </m:oMath>
                </a14:m>
                <a:r>
                  <a:rPr sz="2100" b="0">
                    <a:solidFill>
                      <a:srgbClr val="213C4B"/>
                    </a:solidFill>
                    <a:latin typeface="Meiryo"/>
                    <a:ea typeface="Meiryo"/>
                    <a:cs typeface="Meiryo"/>
                  </a:rPr>
                  <a:t>、</a:t>
                </a:r>
                <a14:m xmlns:m="http://schemas.openxmlformats.org/officeDocument/2006/math">
                  <m:oMath xmlns:mml="http://www.w3.org/1998/Math/MathML">
                    <m:r>
                      <a:rPr sz="2100" b="0" lang="en-US">
                        <a:solidFill>
                          <a:srgbClr val="213C4B"/>
                        </a:solidFill>
                        <a:latin typeface="Cambria Math"/>
                        <a:ea typeface="Meiryo"/>
                      </a:rPr>
                      <m:t>T=</m:t>
                    </m:r>
                    <m:sSup>
                      <m:e>
                        <m:r>
                          <a:rPr sz="2100" b="0" lang="en-US">
                            <a:solidFill>
                              <a:srgbClr val="213C4B"/>
                            </a:solidFill>
                            <a:latin typeface="Cambria Math"/>
                            <a:ea typeface="Meiryo"/>
                          </a:rPr>
                          <m:t>120</m:t>
                        </m:r>
                      </m:e>
                      <m:sup>
                        <m:r>
                          <a:rPr sz="2100" b="0" lang="en-US">
                            <a:solidFill>
                              <a:srgbClr val="213C4B"/>
                            </a:solidFill>
                            <a:latin typeface="Cambria Math"/>
                            <a:ea typeface="Meiryo"/>
                          </a:rPr>
                          <m:t>∘</m:t>
                        </m:r>
                      </m:sup>
                    </m:sSup>
                  </m:oMath>
                </a14:m>
                <a:r>
                  <a:rPr sz="2100" b="0">
                    <a:solidFill>
                      <a:srgbClr val="213C4B"/>
                    </a:solidFill>
                    <a:latin typeface="Meiryo"/>
                    <a:ea typeface="Meiryo"/>
                    <a:cs typeface="Meiryo"/>
                  </a:rPr>
                  <a:t>、</a:t>
                </a:r>
                <a14:m xmlns:m="http://schemas.openxmlformats.org/officeDocument/2006/math">
                  <m:oMath xmlns:mml="http://www.w3.org/1998/Math/MathML">
                    <m:r>
                      <a:rPr sz="2100" b="0" lang="en-US">
                        <a:solidFill>
                          <a:srgbClr val="213C4B"/>
                        </a:solidFill>
                        <a:latin typeface="Cambria Math"/>
                        <a:ea typeface="Meiryo"/>
                      </a:rPr>
                      <m:t>S=150.000</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r>
                  <a:rPr sz="2100" b="0">
                    <a:solidFill>
                      <a:srgbClr val="213C4B"/>
                    </a:solidFill>
                    <a:latin typeface="Meiryo"/>
                    <a:ea typeface="Meiryo"/>
                    <a:cs typeface="Meiryo"/>
                  </a:rPr>
                  <a:t>。</a:t>
                </a:r>
              </a:p>
            </p:txBody>
          </p:sp>
        </mc:Choice>
        <mc:Fallback>
          <p:sp>
            <p:nvSpPr>
              <p:cNvPr id="5" name="本文4">
                <a:extLst xmlns:a="http://schemas.openxmlformats.org/drawingml/2006/main">
                  <a:ext uri="{FF2B5EF4-FFF2-40B4-BE49-F238E27FC236}">
                    <a16:creationId xmlns:a16="http://schemas.microsoft.com/office/drawing/2014/main" id="{CE0DCF31-8AF6-409B-BC44-A873AF62A1DC}"/>
                  </a:ext>
                </a:extLst>
              </p:cNvPr>
              <p:cNvSpPr>
                <a:spLocks xmlns:a="http://schemas.openxmlformats.org/drawingml/2006/main" noGrp="1"/>
              </p:cNvSpPr>
              <p:nvPr/>
            </p:nvSpPr>
            <p:spPr>
              <a:xfrm xmlns:a="http://schemas.openxmlformats.org/drawingml/2006/main">
                <a:off x="647700" y="195262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A</a:t>
                </a:r>
                <a:r>
                  <a:rPr sz="2100" b="0">
                    <a:solidFill>
                      <a:srgbClr val="213C4B"/>
                    </a:solidFill>
                    <a:latin typeface="Cambria Math"/>
                    <a:ea typeface="Cambria Math"/>
                    <a:cs typeface="Cambria Math"/>
                  </a:rPr>
                  <a:t>(1000.000,\ 2000.000)</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T=120^\circ</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S=150.000\ \mathrm{m}</a:t>
                </a:r>
                <a:r>
                  <a:rPr sz="2100" b="0">
                    <a:solidFill>
                      <a:srgbClr val="213C4B"/>
                    </a:solidFill>
                    <a:latin typeface="Meiryo"/>
                    <a:ea typeface="Meiryo"/>
                    <a:cs typeface="Meiryo"/>
                  </a:rPr>
                  <a:t>。</a:t>
                </a:r>
              </a:p>
            </p:txBody>
          </p:sp>
        </mc:Fallback>
      </mc:AlternateContent>
      <mc:AlternateContent xmlns:mc="http://schemas.openxmlformats.org/markup-compatibility/2006" xmlns:a14="http://schemas.microsoft.com/office/drawing/2010/main">
        <mc:Choice Requires="a14">
          <p:sp>
            <p:nvSpPr>
              <p:cNvPr id="6" name="EQM00150">
                <a:extLst xmlns:a="http://schemas.openxmlformats.org/drawingml/2006/main">
                  <a:ext uri="{FF2B5EF4-FFF2-40B4-BE49-F238E27FC236}">
                    <a16:creationId xmlns:a16="http://schemas.microsoft.com/office/drawing/2014/main" id="{11BB8C48-A1A0-48F8-A52C-9568DF164AB8}"/>
                  </a:ext>
                </a:extLst>
              </p:cNvPr>
              <p:cNvSpPr>
                <a:spLocks xmlns:a="http://schemas.openxmlformats.org/drawingml/2006/main" noGrp="1"/>
              </p:cNvSpPr>
              <p:nvPr/>
            </p:nvSpPr>
            <p:spPr>
              <a:xfrm xmlns:a="http://schemas.openxmlformats.org/drawingml/2006/main">
                <a:off x="647700" y="2600325"/>
                <a:ext cx="108966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eqArr>
                        <m:e>
                          <m:r>
                            <m:rPr>
                              <m:sty m:val="p"/>
                            </m:rPr>
                            <a:rPr sz="2700" b="0" lang="en-US">
                              <a:solidFill>
                                <a:srgbClr val="153D50"/>
                              </a:solidFill>
                              <a:latin typeface="Cambria Math"/>
                              <a:ea typeface="Meiryo"/>
                            </a:rPr>
                            <m:t>Δ</m:t>
                          </m:r>
                          <m:r>
                            <a:rPr sz="2700" b="0" lang="en-US">
                              <a:solidFill>
                                <a:srgbClr val="153D50"/>
                              </a:solidFill>
                              <a:latin typeface="Cambria Math"/>
                              <a:ea typeface="Meiryo"/>
                            </a:rPr>
                            <m:t>X</m:t>
                          </m:r>
                          <m:r>
                            <a:rPr sz="2700" b="0" lang="en-US">
                              <a:solidFill>
                                <a:srgbClr val="153D50"/>
                              </a:solidFill>
                              <a:latin typeface="Cambria Math"/>
                              <a:ea typeface="Meiryo"/>
                            </a:rPr>
                            <m:t>&amp;</m:t>
                          </m:r>
                          <m:r>
                            <a:rPr sz="2700" b="0" lang="en-US">
                              <a:solidFill>
                                <a:srgbClr val="153D50"/>
                              </a:solidFill>
                              <a:latin typeface="Cambria Math"/>
                              <a:ea typeface="Meiryo"/>
                            </a:rPr>
                            <m:t>=150</m:t>
                          </m:r>
                          <m:r>
                            <m:rPr>
                              <m:sty m:val="p"/>
                            </m:rPr>
                            <a:rPr sz="2700" b="0" lang="en-US">
                              <a:solidFill>
                                <a:srgbClr val="153D50"/>
                              </a:solidFill>
                              <a:latin typeface="Cambria Math"/>
                              <a:ea typeface="Meiryo"/>
                            </a:rPr>
                            <m:t>cos</m:t>
                          </m:r>
                          <m:r>
                            <a:rPr sz="2700" b="0" lang="en-US">
                              <a:solidFill>
                                <a:srgbClr val="153D50"/>
                              </a:solidFill>
                              <a:latin typeface="Cambria Math"/>
                              <a:ea typeface="Meiryo"/>
                            </a:rPr>
                            <m:t>⁡</m:t>
                          </m:r>
                          <m:sSup>
                            <m:e>
                              <m:argPr>
                                <m:argSz m:val="0"/>
                              </m:argPr>
                              <m:r>
                                <a:rPr sz="2700" b="0" lang="en-US">
                                  <a:solidFill>
                                    <a:srgbClr val="153D50"/>
                                  </a:solidFill>
                                  <a:latin typeface="Cambria Math"/>
                                  <a:ea typeface="Meiryo"/>
                                </a:rPr>
                                <m:t>120</m:t>
                              </m:r>
                            </m:e>
                            <m:sup>
                              <m:argPr>
                                <m:argSz m:val="0"/>
                              </m:argPr>
                              <m:r>
                                <a:rPr sz="2700" b="0" lang="en-US">
                                  <a:solidFill>
                                    <a:srgbClr val="153D50"/>
                                  </a:solidFill>
                                  <a:latin typeface="Cambria Math"/>
                                  <a:ea typeface="Meiryo"/>
                                </a:rPr>
                                <m:t>∘</m:t>
                              </m:r>
                            </m:sup>
                          </m:sSup>
                          <m:r>
                            <a:rPr sz="2700" b="0" lang="en-US">
                              <a:solidFill>
                                <a:srgbClr val="153D50"/>
                              </a:solidFill>
                              <a:latin typeface="Cambria Math"/>
                              <a:ea typeface="Meiryo"/>
                            </a:rPr>
                            <m:t>=−75.000</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e>
                        <m:e>
                          <m:r>
                            <m:rPr>
                              <m:sty m:val="p"/>
                            </m:rPr>
                            <a:rPr sz="2700" b="0" lang="en-US">
                              <a:solidFill>
                                <a:srgbClr val="153D50"/>
                              </a:solidFill>
                              <a:latin typeface="Cambria Math"/>
                              <a:ea typeface="Meiryo"/>
                            </a:rPr>
                            <m:t>Δ</m:t>
                          </m:r>
                          <m:r>
                            <a:rPr sz="2700" b="0" lang="en-US">
                              <a:solidFill>
                                <a:srgbClr val="153D50"/>
                              </a:solidFill>
                              <a:latin typeface="Cambria Math"/>
                              <a:ea typeface="Meiryo"/>
                            </a:rPr>
                            <m:t>Y</m:t>
                          </m:r>
                          <m:r>
                            <a:rPr sz="2700" b="0" lang="en-US">
                              <a:solidFill>
                                <a:srgbClr val="153D50"/>
                              </a:solidFill>
                              <a:latin typeface="Cambria Math"/>
                              <a:ea typeface="Meiryo"/>
                            </a:rPr>
                            <m:t>&amp;</m:t>
                          </m:r>
                          <m:r>
                            <a:rPr sz="2700" b="0" lang="en-US">
                              <a:solidFill>
                                <a:srgbClr val="153D50"/>
                              </a:solidFill>
                              <a:latin typeface="Cambria Math"/>
                              <a:ea typeface="Meiryo"/>
                            </a:rPr>
                            <m:t>=150</m:t>
                          </m:r>
                          <m:r>
                            <m:rPr>
                              <m:sty m:val="p"/>
                            </m:rPr>
                            <a:rPr sz="2700" b="0" lang="en-US">
                              <a:solidFill>
                                <a:srgbClr val="153D50"/>
                              </a:solidFill>
                              <a:latin typeface="Cambria Math"/>
                              <a:ea typeface="Meiryo"/>
                            </a:rPr>
                            <m:t>sin</m:t>
                          </m:r>
                          <m:r>
                            <a:rPr sz="2700" b="0" lang="en-US">
                              <a:solidFill>
                                <a:srgbClr val="153D50"/>
                              </a:solidFill>
                              <a:latin typeface="Cambria Math"/>
                              <a:ea typeface="Meiryo"/>
                            </a:rPr>
                            <m:t>⁡</m:t>
                          </m:r>
                          <m:sSup>
                            <m:e>
                              <m:argPr>
                                <m:argSz m:val="0"/>
                              </m:argPr>
                              <m:r>
                                <a:rPr sz="2700" b="0" lang="en-US">
                                  <a:solidFill>
                                    <a:srgbClr val="153D50"/>
                                  </a:solidFill>
                                  <a:latin typeface="Cambria Math"/>
                                  <a:ea typeface="Meiryo"/>
                                </a:rPr>
                                <m:t>120</m:t>
                              </m:r>
                            </m:e>
                            <m:sup>
                              <m:argPr>
                                <m:argSz m:val="0"/>
                              </m:argPr>
                              <m:r>
                                <a:rPr sz="2700" b="0" lang="en-US">
                                  <a:solidFill>
                                    <a:srgbClr val="153D50"/>
                                  </a:solidFill>
                                  <a:latin typeface="Cambria Math"/>
                                  <a:ea typeface="Meiryo"/>
                                </a:rPr>
                                <m:t>∘</m:t>
                              </m:r>
                            </m:sup>
                          </m:sSup>
                          <m:r>
                            <a:rPr sz="2700" b="0" lang="en-US">
                              <a:solidFill>
                                <a:srgbClr val="153D50"/>
                              </a:solidFill>
                              <a:latin typeface="Cambria Math"/>
                              <a:ea typeface="Meiryo"/>
                            </a:rPr>
                            <m:t>=+129.904</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e>
                      </m:eqArr>
                    </m:oMath>
                  </m:oMathPara>
                </a14:m>
              </a:p>
            </p:txBody>
          </p:sp>
        </mc:Choice>
        <mc:Fallback>
          <p:sp>
            <p:nvSpPr>
              <p:cNvPr id="6" name="EQM00150">
                <a:extLst xmlns:a="http://schemas.openxmlformats.org/drawingml/2006/main">
                  <a:ext uri="{FF2B5EF4-FFF2-40B4-BE49-F238E27FC236}">
                    <a16:creationId xmlns:a16="http://schemas.microsoft.com/office/drawing/2014/main" id="{11BB8C48-A1A0-48F8-A52C-9568DF164AB8}"/>
                  </a:ext>
                </a:extLst>
              </p:cNvPr>
              <p:cNvSpPr>
                <a:spLocks xmlns:a="http://schemas.openxmlformats.org/drawingml/2006/main" noGrp="1"/>
              </p:cNvSpPr>
              <p:nvPr/>
            </p:nvSpPr>
            <p:spPr>
              <a:xfrm xmlns:a="http://schemas.openxmlformats.org/drawingml/2006/main">
                <a:off x="647700" y="2600325"/>
                <a:ext cx="108966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\begin{aligned}
\Delta X&amp;=150\cos120^\circ=-75.000\ \mathrm{m}\\
\Delta Y&amp;=150\sin120^\circ=+129.904\ \mathrm{m}
\end{aligned}</a:t>
                </a:r>
              </a:p>
            </p:txBody>
          </p:sp>
        </mc:Fallback>
      </mc:AlternateContent>
      <mc:AlternateContent xmlns:mc="http://schemas.openxmlformats.org/markup-compatibility/2006" xmlns:a14="http://schemas.microsoft.com/office/drawing/2010/main">
        <mc:Choice Requires="a14">
          <p:sp>
            <p:nvSpPr>
              <p:cNvPr id="7" name="EQM00151">
                <a:extLst xmlns:a="http://schemas.openxmlformats.org/drawingml/2006/main">
                  <a:ext uri="{FF2B5EF4-FFF2-40B4-BE49-F238E27FC236}">
                    <a16:creationId xmlns:a16="http://schemas.microsoft.com/office/drawing/2014/main" id="{A39C511F-DB12-4B0F-93B7-0209099407CF}"/>
                  </a:ext>
                </a:extLst>
              </p:cNvPr>
              <p:cNvSpPr>
                <a:spLocks xmlns:a="http://schemas.openxmlformats.org/drawingml/2006/main" noGrp="1"/>
              </p:cNvSpPr>
              <p:nvPr/>
            </p:nvSpPr>
            <p:spPr>
              <a:xfrm xmlns:a="http://schemas.openxmlformats.org/drawingml/2006/main">
                <a:off x="647700" y="3838575"/>
                <a:ext cx="108966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eqArr>
                        <m:e>
                          <m:sSub>
                            <m:e>
                              <m:argPr>
                                <m:argSz m:val="0"/>
                              </m:argPr>
                              <m:r>
                                <a:rPr sz="2700" b="0" lang="en-US">
                                  <a:solidFill>
                                    <a:srgbClr val="153D50"/>
                                  </a:solidFill>
                                  <a:latin typeface="Cambria Math"/>
                                  <a:ea typeface="Meiryo"/>
                                </a:rPr>
                                <m:t>X</m:t>
                              </m:r>
                            </m:e>
                            <m:sub>
                              <m:argPr>
                                <m:argSz m:val="0"/>
                              </m:argPr>
                              <m:r>
                                <a:rPr sz="2700" b="0" lang="en-US">
                                  <a:solidFill>
                                    <a:srgbClr val="153D50"/>
                                  </a:solidFill>
                                  <a:latin typeface="Cambria Math"/>
                                  <a:ea typeface="Meiryo"/>
                                </a:rPr>
                                <m:t>B</m:t>
                              </m:r>
                            </m:sub>
                          </m:sSub>
                          <m:r>
                            <a:rPr sz="2700" b="0" lang="en-US">
                              <a:solidFill>
                                <a:srgbClr val="153D50"/>
                              </a:solidFill>
                              <a:latin typeface="Cambria Math"/>
                              <a:ea typeface="Meiryo"/>
                            </a:rPr>
                            <m:t>&amp;</m:t>
                          </m:r>
                          <m:r>
                            <a:rPr sz="2700" b="0" lang="en-US">
                              <a:solidFill>
                                <a:srgbClr val="153D50"/>
                              </a:solidFill>
                              <a:latin typeface="Cambria Math"/>
                              <a:ea typeface="Meiryo"/>
                            </a:rPr>
                            <m:t>=1000.000−75.000=925.000</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e>
                        <m:e>
                          <m:sSub>
                            <m:e>
                              <m:argPr>
                                <m:argSz m:val="0"/>
                              </m:argPr>
                              <m:r>
                                <a:rPr sz="2700" b="0" lang="en-US">
                                  <a:solidFill>
                                    <a:srgbClr val="153D50"/>
                                  </a:solidFill>
                                  <a:latin typeface="Cambria Math"/>
                                  <a:ea typeface="Meiryo"/>
                                </a:rPr>
                                <m:t>Y</m:t>
                              </m:r>
                            </m:e>
                            <m:sub>
                              <m:argPr>
                                <m:argSz m:val="0"/>
                              </m:argPr>
                              <m:r>
                                <a:rPr sz="2700" b="0" lang="en-US">
                                  <a:solidFill>
                                    <a:srgbClr val="153D50"/>
                                  </a:solidFill>
                                  <a:latin typeface="Cambria Math"/>
                                  <a:ea typeface="Meiryo"/>
                                </a:rPr>
                                <m:t>B</m:t>
                              </m:r>
                            </m:sub>
                          </m:sSub>
                          <m:r>
                            <a:rPr sz="2700" b="0" lang="en-US">
                              <a:solidFill>
                                <a:srgbClr val="153D50"/>
                              </a:solidFill>
                              <a:latin typeface="Cambria Math"/>
                              <a:ea typeface="Meiryo"/>
                            </a:rPr>
                            <m:t>&amp;</m:t>
                          </m:r>
                          <m:r>
                            <a:rPr sz="2700" b="0" lang="en-US">
                              <a:solidFill>
                                <a:srgbClr val="153D50"/>
                              </a:solidFill>
                              <a:latin typeface="Cambria Math"/>
                              <a:ea typeface="Meiryo"/>
                            </a:rPr>
                            <m:t>=2000.000+129.904=2129.904</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e>
                      </m:eqArr>
                    </m:oMath>
                  </m:oMathPara>
                </a14:m>
              </a:p>
            </p:txBody>
          </p:sp>
        </mc:Choice>
        <mc:Fallback>
          <p:sp>
            <p:nvSpPr>
              <p:cNvPr id="7" name="EQM00151">
                <a:extLst xmlns:a="http://schemas.openxmlformats.org/drawingml/2006/main">
                  <a:ext uri="{FF2B5EF4-FFF2-40B4-BE49-F238E27FC236}">
                    <a16:creationId xmlns:a16="http://schemas.microsoft.com/office/drawing/2014/main" id="{A39C511F-DB12-4B0F-93B7-0209099407CF}"/>
                  </a:ext>
                </a:extLst>
              </p:cNvPr>
              <p:cNvSpPr>
                <a:spLocks xmlns:a="http://schemas.openxmlformats.org/drawingml/2006/main" noGrp="1"/>
              </p:cNvSpPr>
              <p:nvPr/>
            </p:nvSpPr>
            <p:spPr>
              <a:xfrm xmlns:a="http://schemas.openxmlformats.org/drawingml/2006/main">
                <a:off x="647700" y="3838575"/>
                <a:ext cx="108966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\begin{aligned}
X_B&amp;=1000.000-75.000=925.000\ \mathrm{m}\\
Y_B&amp;=2000.000+129.904=2129.904\ \mathrm{m}
\end{aligned}</a:t>
                </a:r>
              </a:p>
            </p:txBody>
          </p:sp>
        </mc:Fallback>
      </mc:AlternateContent>
    </p:spTree>
    <p:extLst>
      <p:ext uri="{BB962C8B-B14F-4D97-AF65-F5344CB8AC3E}">
        <p14:creationId xmlns:p14="http://schemas.microsoft.com/office/powerpoint/2010/main" val="507963128"/>
      </p:ext>
    </p:extLst>
  </p:cSld>
</p:sld>
</file>

<file path=ppt/slides/slide64.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10" name="本文0">
            <a:extLst xmlns:a="http://schemas.openxmlformats.org/drawingml/2006/main">
              <a:ext uri="{FF2B5EF4-FFF2-40B4-BE49-F238E27FC236}">
                <a16:creationId xmlns:a16="http://schemas.microsoft.com/office/drawing/2014/main" id="{8F305A99-F1BE-41AF-81F4-495A9CCABA57}"/>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3-5</a:t>
            </a:r>
          </a:p>
        </p:txBody>
      </p:sp>
      <p:sp>
        <p:nvSpPr>
          <p:cNvPr id="2" name="本文1">
            <a:extLst xmlns:a="http://schemas.openxmlformats.org/drawingml/2006/main">
              <a:ext uri="{FF2B5EF4-FFF2-40B4-BE49-F238E27FC236}">
                <a16:creationId xmlns:a16="http://schemas.microsoft.com/office/drawing/2014/main" id="{F138C9EB-5DE7-4444-87F7-5748BFAD0AA8}"/>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逆計算：座標差から距離と方向角</a:t>
            </a:r>
          </a:p>
        </p:txBody>
      </p:sp>
      <p:sp>
        <p:nvSpPr>
          <p:cNvPr id="3" name="本文2">
            <a:extLst xmlns:a="http://schemas.openxmlformats.org/drawingml/2006/main">
              <a:ext uri="{FF2B5EF4-FFF2-40B4-BE49-F238E27FC236}">
                <a16:creationId xmlns:a16="http://schemas.microsoft.com/office/drawing/2014/main" id="{9637F9B9-CF31-4AAB-8B44-EEEE9B580BE8}"/>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64</a:t>
            </a:r>
          </a:p>
        </p:txBody>
      </p:sp>
      <p:sp>
        <p:nvSpPr>
          <p:cNvPr id="4" name="本文3">
            <a:extLst xmlns:a="http://schemas.openxmlformats.org/drawingml/2006/main">
              <a:ext uri="{FF2B5EF4-FFF2-40B4-BE49-F238E27FC236}">
                <a16:creationId xmlns:a16="http://schemas.microsoft.com/office/drawing/2014/main" id="{27BE4FB1-326C-4D7E-BD2A-0290CBE3314A}"/>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同一点では方向角は定まらない。</a:t>
            </a:r>
          </a:p>
        </p:txBody>
      </p:sp>
      <p:sp>
        <p:nvSpPr>
          <p:cNvPr id="5" name="本文4">
            <a:extLst xmlns:a="http://schemas.openxmlformats.org/drawingml/2006/main">
              <a:ext uri="{FF2B5EF4-FFF2-40B4-BE49-F238E27FC236}">
                <a16:creationId xmlns:a16="http://schemas.microsoft.com/office/drawing/2014/main" id="{49E5852D-D7DD-44A9-BE9F-9C8754E13664}"/>
              </a:ext>
            </a:extLst>
          </p:cNvPr>
          <p:cNvSpPr>
            <a:spLocks xmlns:a="http://schemas.openxmlformats.org/drawingml/2006/main" noGrp="1"/>
          </p:cNvSpPr>
          <p:nvPr/>
        </p:nvSpPr>
        <p:spPr>
          <a:xfrm xmlns:a="http://schemas.openxmlformats.org/drawingml/2006/main">
            <a:off x="647700" y="172402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まず「終点B − 始点A」の差を取る。</a:t>
            </a:r>
          </a:p>
        </p:txBody>
      </p:sp>
      <mc:AlternateContent xmlns:mc="http://schemas.openxmlformats.org/markup-compatibility/2006" xmlns:a14="http://schemas.microsoft.com/office/drawing/2010/main">
        <mc:Choice Requires="a14">
          <p:sp>
            <p:nvSpPr>
              <p:cNvPr id="6" name="EQM00152">
                <a:extLst xmlns:a="http://schemas.openxmlformats.org/drawingml/2006/main">
                  <a:ext uri="{FF2B5EF4-FFF2-40B4-BE49-F238E27FC236}">
                    <a16:creationId xmlns:a16="http://schemas.microsoft.com/office/drawing/2014/main" id="{17B8AAF8-B1C5-4B55-AF06-7FBE4B379243}"/>
                  </a:ext>
                </a:extLst>
              </p:cNvPr>
              <p:cNvSpPr>
                <a:spLocks xmlns:a="http://schemas.openxmlformats.org/drawingml/2006/main" noGrp="1"/>
              </p:cNvSpPr>
              <p:nvPr/>
            </p:nvSpPr>
            <p:spPr>
              <a:xfrm xmlns:a="http://schemas.openxmlformats.org/drawingml/2006/main">
                <a:off x="647700" y="2371725"/>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r>
                        <m:rPr>
                          <m:sty m:val="p"/>
                        </m:rPr>
                        <a:rPr sz="2700" b="0" lang="en-US">
                          <a:solidFill>
                            <a:srgbClr val="153D50"/>
                          </a:solidFill>
                          <a:latin typeface="Cambria Math"/>
                          <a:ea typeface="Meiryo"/>
                        </a:rPr>
                        <m:t>Δ</m:t>
                      </m:r>
                      <m:r>
                        <a:rPr sz="2700" b="0" lang="en-US">
                          <a:solidFill>
                            <a:srgbClr val="153D50"/>
                          </a:solidFill>
                          <a:latin typeface="Cambria Math"/>
                          <a:ea typeface="Meiryo"/>
                        </a:rPr>
                        <m:t>X=</m:t>
                      </m:r>
                      <m:sSub>
                        <m:e>
                          <m:r>
                            <a:rPr sz="2700" b="0" lang="en-US">
                              <a:solidFill>
                                <a:srgbClr val="153D50"/>
                              </a:solidFill>
                              <a:latin typeface="Cambria Math"/>
                              <a:ea typeface="Meiryo"/>
                            </a:rPr>
                            <m:t>X</m:t>
                          </m:r>
                        </m:e>
                        <m:sub>
                          <m:r>
                            <a:rPr sz="2700" b="0" lang="en-US">
                              <a:solidFill>
                                <a:srgbClr val="153D50"/>
                              </a:solidFill>
                              <a:latin typeface="Cambria Math"/>
                              <a:ea typeface="Meiryo"/>
                            </a:rPr>
                            <m:t>B</m:t>
                          </m:r>
                        </m:sub>
                      </m:sSub>
                      <m:r>
                        <a:rPr sz="2700" b="0" lang="en-US">
                          <a:solidFill>
                            <a:srgbClr val="153D50"/>
                          </a:solidFill>
                          <a:latin typeface="Cambria Math"/>
                          <a:ea typeface="Meiryo"/>
                        </a:rPr>
                        <m:t>−</m:t>
                      </m:r>
                      <m:sSub>
                        <m:e>
                          <m:r>
                            <a:rPr sz="2700" b="0" lang="en-US">
                              <a:solidFill>
                                <a:srgbClr val="153D50"/>
                              </a:solidFill>
                              <a:latin typeface="Cambria Math"/>
                              <a:ea typeface="Meiryo"/>
                            </a:rPr>
                            <m:t>X</m:t>
                          </m:r>
                        </m:e>
                        <m:sub>
                          <m:r>
                            <a:rPr sz="2700" b="0" lang="en-US">
                              <a:solidFill>
                                <a:srgbClr val="153D50"/>
                              </a:solidFill>
                              <a:latin typeface="Cambria Math"/>
                              <a:ea typeface="Meiryo"/>
                            </a:rPr>
                            <m:t>A</m:t>
                          </m:r>
                        </m:sub>
                      </m:sSub>
                      <m:r>
                        <a:rPr sz="2700" b="0" lang="en-US">
                          <a:solidFill>
                            <a:srgbClr val="153D50"/>
                          </a:solidFill>
                          <a:latin typeface="Cambria Math"/>
                          <a:ea typeface="Meiryo"/>
                        </a:rPr>
                        <m:t>,</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Δ</m:t>
                      </m:r>
                      <m:r>
                        <a:rPr sz="2700" b="0" lang="en-US">
                          <a:solidFill>
                            <a:srgbClr val="153D50"/>
                          </a:solidFill>
                          <a:latin typeface="Cambria Math"/>
                          <a:ea typeface="Meiryo"/>
                        </a:rPr>
                        <m:t>Y=</m:t>
                      </m:r>
                      <m:sSub>
                        <m:e>
                          <m:r>
                            <a:rPr sz="2700" b="0" lang="en-US">
                              <a:solidFill>
                                <a:srgbClr val="153D50"/>
                              </a:solidFill>
                              <a:latin typeface="Cambria Math"/>
                              <a:ea typeface="Meiryo"/>
                            </a:rPr>
                            <m:t>Y</m:t>
                          </m:r>
                        </m:e>
                        <m:sub>
                          <m:r>
                            <a:rPr sz="2700" b="0" lang="en-US">
                              <a:solidFill>
                                <a:srgbClr val="153D50"/>
                              </a:solidFill>
                              <a:latin typeface="Cambria Math"/>
                              <a:ea typeface="Meiryo"/>
                            </a:rPr>
                            <m:t>B</m:t>
                          </m:r>
                        </m:sub>
                      </m:sSub>
                      <m:r>
                        <a:rPr sz="2700" b="0" lang="en-US">
                          <a:solidFill>
                            <a:srgbClr val="153D50"/>
                          </a:solidFill>
                          <a:latin typeface="Cambria Math"/>
                          <a:ea typeface="Meiryo"/>
                        </a:rPr>
                        <m:t>−</m:t>
                      </m:r>
                      <m:sSub>
                        <m:e>
                          <m:r>
                            <a:rPr sz="2700" b="0" lang="en-US">
                              <a:solidFill>
                                <a:srgbClr val="153D50"/>
                              </a:solidFill>
                              <a:latin typeface="Cambria Math"/>
                              <a:ea typeface="Meiryo"/>
                            </a:rPr>
                            <m:t>Y</m:t>
                          </m:r>
                        </m:e>
                        <m:sub>
                          <m:r>
                            <a:rPr sz="2700" b="0" lang="en-US">
                              <a:solidFill>
                                <a:srgbClr val="153D50"/>
                              </a:solidFill>
                              <a:latin typeface="Cambria Math"/>
                              <a:ea typeface="Meiryo"/>
                            </a:rPr>
                            <m:t>A</m:t>
                          </m:r>
                        </m:sub>
                      </m:sSub>
                    </m:oMath>
                  </m:oMathPara>
                </a14:m>
              </a:p>
            </p:txBody>
          </p:sp>
        </mc:Choice>
        <mc:Fallback>
          <p:sp>
            <p:nvSpPr>
              <p:cNvPr id="6" name="EQM00152">
                <a:extLst xmlns:a="http://schemas.openxmlformats.org/drawingml/2006/main">
                  <a:ext uri="{FF2B5EF4-FFF2-40B4-BE49-F238E27FC236}">
                    <a16:creationId xmlns:a16="http://schemas.microsoft.com/office/drawing/2014/main" id="{17B8AAF8-B1C5-4B55-AF06-7FBE4B379243}"/>
                  </a:ext>
                </a:extLst>
              </p:cNvPr>
              <p:cNvSpPr>
                <a:spLocks xmlns:a="http://schemas.openxmlformats.org/drawingml/2006/main" noGrp="1"/>
              </p:cNvSpPr>
              <p:nvPr/>
            </p:nvSpPr>
            <p:spPr>
              <a:xfrm xmlns:a="http://schemas.openxmlformats.org/drawingml/2006/main">
                <a:off x="647700" y="2371725"/>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\Delta X=X_B-X_A,\qquad\Delta Y=Y_B-Y_A</a:t>
                </a:r>
              </a:p>
            </p:txBody>
          </p:sp>
        </mc:Fallback>
      </mc:AlternateContent>
      <mc:AlternateContent xmlns:mc="http://schemas.openxmlformats.org/markup-compatibility/2006" xmlns:a14="http://schemas.microsoft.com/office/drawing/2010/main">
        <mc:Choice Requires="a14">
          <p:sp>
            <p:nvSpPr>
              <p:cNvPr id="7" name="EQM00153">
                <a:extLst xmlns:a="http://schemas.openxmlformats.org/drawingml/2006/main">
                  <a:ext uri="{FF2B5EF4-FFF2-40B4-BE49-F238E27FC236}">
                    <a16:creationId xmlns:a16="http://schemas.microsoft.com/office/drawing/2014/main" id="{DD5BF4F0-29D8-429F-A20A-02454EBA5B85}"/>
                  </a:ext>
                </a:extLst>
              </p:cNvPr>
              <p:cNvSpPr>
                <a:spLocks xmlns:a="http://schemas.openxmlformats.org/drawingml/2006/main" noGrp="1"/>
              </p:cNvSpPr>
              <p:nvPr/>
            </p:nvSpPr>
            <p:spPr>
              <a:xfrm xmlns:a="http://schemas.openxmlformats.org/drawingml/2006/main">
                <a:off x="647700" y="3228975"/>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r>
                        <a:rPr sz="2700" b="0" lang="en-US">
                          <a:solidFill>
                            <a:srgbClr val="153D50"/>
                          </a:solidFill>
                          <a:latin typeface="Cambria Math"/>
                          <a:ea typeface="Meiryo"/>
                        </a:rPr>
                        <m:t>S=</m:t>
                      </m:r>
                      <m:rad>
                        <m:radPr>
                          <m:degHide m:val="on"/>
                        </m:radPr>
                        <m:deg/>
                        <m:e>
                          <m:r>
                            <m:rPr>
                              <m:sty m:val="p"/>
                            </m:rPr>
                            <a:rPr sz="2700" b="0" lang="en-US">
                              <a:solidFill>
                                <a:srgbClr val="153D50"/>
                              </a:solidFill>
                              <a:latin typeface="Cambria Math"/>
                              <a:ea typeface="Meiryo"/>
                            </a:rPr>
                            <m:t>Δ</m:t>
                          </m:r>
                          <m:sSup>
                            <m:e>
                              <m:r>
                                <a:rPr sz="2700" b="0" lang="en-US">
                                  <a:solidFill>
                                    <a:srgbClr val="153D50"/>
                                  </a:solidFill>
                                  <a:latin typeface="Cambria Math"/>
                                  <a:ea typeface="Meiryo"/>
                                </a:rPr>
                                <m:t>X</m:t>
                              </m:r>
                            </m:e>
                            <m:sup>
                              <m:r>
                                <a:rPr sz="2700" b="0" lang="en-US">
                                  <a:solidFill>
                                    <a:srgbClr val="153D50"/>
                                  </a:solidFill>
                                  <a:latin typeface="Cambria Math"/>
                                  <a:ea typeface="Meiryo"/>
                                </a:rPr>
                                <m:t>2</m:t>
                              </m:r>
                            </m:sup>
                          </m:sSup>
                          <m:r>
                            <a:rPr sz="2700" b="0" lang="en-US">
                              <a:solidFill>
                                <a:srgbClr val="153D50"/>
                              </a:solidFill>
                              <a:latin typeface="Cambria Math"/>
                              <a:ea typeface="Meiryo"/>
                            </a:rPr>
                            <m:t>+</m:t>
                          </m:r>
                          <m:r>
                            <m:rPr>
                              <m:sty m:val="p"/>
                            </m:rPr>
                            <a:rPr sz="2700" b="0" lang="en-US">
                              <a:solidFill>
                                <a:srgbClr val="153D50"/>
                              </a:solidFill>
                              <a:latin typeface="Cambria Math"/>
                              <a:ea typeface="Meiryo"/>
                            </a:rPr>
                            <m:t>Δ</m:t>
                          </m:r>
                          <m:sSup>
                            <m:e>
                              <m:r>
                                <a:rPr sz="2700" b="0" lang="en-US">
                                  <a:solidFill>
                                    <a:srgbClr val="153D50"/>
                                  </a:solidFill>
                                  <a:latin typeface="Cambria Math"/>
                                  <a:ea typeface="Meiryo"/>
                                </a:rPr>
                                <m:t>Y</m:t>
                              </m:r>
                            </m:e>
                            <m:sup>
                              <m:r>
                                <a:rPr sz="2700" b="0" lang="en-US">
                                  <a:solidFill>
                                    <a:srgbClr val="153D50"/>
                                  </a:solidFill>
                                  <a:latin typeface="Cambria Math"/>
                                  <a:ea typeface="Meiryo"/>
                                </a:rPr>
                                <m:t>2</m:t>
                              </m:r>
                            </m:sup>
                          </m:sSup>
                        </m:e>
                      </m:rad>
                      <m:r>
                        <a:rPr sz="2700" b="0" lang="en-US">
                          <a:solidFill>
                            <a:srgbClr val="153D50"/>
                          </a:solidFill>
                          <a:latin typeface="Cambria Math"/>
                          <a:ea typeface="Meiryo"/>
                        </a:rPr>
                        <m:t>,</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tan</m:t>
                      </m:r>
                      <m:r>
                        <a:rPr sz="2700" b="0" lang="en-US">
                          <a:solidFill>
                            <a:srgbClr val="153D50"/>
                          </a:solidFill>
                          <a:latin typeface="Cambria Math"/>
                          <a:ea typeface="Meiryo"/>
                        </a:rPr>
                        <m:t>⁡T=</m:t>
                      </m:r>
                      <m:f>
                        <m:fPr>
                          <m:type m:val="bar"/>
                        </m:fPr>
                        <m:num>
                          <m:r>
                            <m:rPr>
                              <m:sty m:val="p"/>
                            </m:rPr>
                            <a:rPr sz="2700" b="0" lang="en-US">
                              <a:solidFill>
                                <a:srgbClr val="153D50"/>
                              </a:solidFill>
                              <a:latin typeface="Cambria Math"/>
                              <a:ea typeface="Meiryo"/>
                            </a:rPr>
                            <m:t>Δ</m:t>
                          </m:r>
                          <m:r>
                            <a:rPr sz="2700" b="0" lang="en-US">
                              <a:solidFill>
                                <a:srgbClr val="153D50"/>
                              </a:solidFill>
                              <a:latin typeface="Cambria Math"/>
                              <a:ea typeface="Meiryo"/>
                            </a:rPr>
                            <m:t>Y</m:t>
                          </m:r>
                        </m:num>
                        <m:den>
                          <m:r>
                            <m:rPr>
                              <m:sty m:val="p"/>
                            </m:rPr>
                            <a:rPr sz="2700" b="0" lang="en-US">
                              <a:solidFill>
                                <a:srgbClr val="153D50"/>
                              </a:solidFill>
                              <a:latin typeface="Cambria Math"/>
                              <a:ea typeface="Meiryo"/>
                            </a:rPr>
                            <m:t>Δ</m:t>
                          </m:r>
                          <m:r>
                            <a:rPr sz="2700" b="0" lang="en-US">
                              <a:solidFill>
                                <a:srgbClr val="153D50"/>
                              </a:solidFill>
                              <a:latin typeface="Cambria Math"/>
                              <a:ea typeface="Meiryo"/>
                            </a:rPr>
                            <m:t>X</m:t>
                          </m:r>
                        </m:den>
                      </m:f>
                    </m:oMath>
                  </m:oMathPara>
                </a14:m>
              </a:p>
            </p:txBody>
          </p:sp>
        </mc:Choice>
        <mc:Fallback>
          <p:sp>
            <p:nvSpPr>
              <p:cNvPr id="7" name="EQM00153">
                <a:extLst xmlns:a="http://schemas.openxmlformats.org/drawingml/2006/main">
                  <a:ext uri="{FF2B5EF4-FFF2-40B4-BE49-F238E27FC236}">
                    <a16:creationId xmlns:a16="http://schemas.microsoft.com/office/drawing/2014/main" id="{DD5BF4F0-29D8-429F-A20A-02454EBA5B85}"/>
                  </a:ext>
                </a:extLst>
              </p:cNvPr>
              <p:cNvSpPr>
                <a:spLocks xmlns:a="http://schemas.openxmlformats.org/drawingml/2006/main" noGrp="1"/>
              </p:cNvSpPr>
              <p:nvPr/>
            </p:nvSpPr>
            <p:spPr>
              <a:xfrm xmlns:a="http://schemas.openxmlformats.org/drawingml/2006/main">
                <a:off x="647700" y="3228975"/>
                <a:ext cx="10896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S=\sqrt{\Delta X^2+\Delta Y^2},\qquad\tan T=\frac{\Delta Y}{\Delta X}</a:t>
                </a:r>
              </a:p>
            </p:txBody>
          </p:sp>
        </mc:Fallback>
      </mc:AlternateContent>
      <mc:AlternateContent xmlns:mc="http://schemas.openxmlformats.org/markup-compatibility/2006" xmlns:a14="http://schemas.microsoft.com/office/drawing/2010/main">
        <mc:Choice Requires="a14">
          <p:sp>
            <p:nvSpPr>
              <p:cNvPr id="8" name="本文7">
                <a:extLst xmlns:a="http://schemas.openxmlformats.org/drawingml/2006/main">
                  <a:ext uri="{FF2B5EF4-FFF2-40B4-BE49-F238E27FC236}">
                    <a16:creationId xmlns:a16="http://schemas.microsoft.com/office/drawing/2014/main" id="{223EEC3D-BBED-4976-9748-09E2AC0CA5E0}"/>
                  </a:ext>
                </a:extLst>
              </p:cNvPr>
              <p:cNvSpPr>
                <a:spLocks xmlns:a="http://schemas.openxmlformats.org/drawingml/2006/main" noGrp="1"/>
              </p:cNvSpPr>
              <p:nvPr/>
            </p:nvSpPr>
            <p:spPr>
              <a:xfrm xmlns:a="http://schemas.openxmlformats.org/drawingml/2006/main">
                <a:off x="647700" y="423862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a:t>
                </a:r>
                <a14:m xmlns:m="http://schemas.openxmlformats.org/officeDocument/2006/math">
                  <m:oMath xmlns:mml="http://www.w3.org/1998/Math/MathML">
                    <m:r>
                      <m:rPr>
                        <m:sty m:val="p"/>
                      </m:rPr>
                      <a:rPr sz="2100" b="0" lang="en-US">
                        <a:solidFill>
                          <a:srgbClr val="213C4B"/>
                        </a:solidFill>
                        <a:latin typeface="Cambria Math"/>
                        <a:ea typeface="Meiryo"/>
                      </a:rPr>
                      <m:t>arctan</m:t>
                    </m:r>
                    <m:r>
                      <a:rPr sz="2100" b="0" lang="en-US">
                        <a:solidFill>
                          <a:srgbClr val="213C4B"/>
                        </a:solidFill>
                        <a:latin typeface="Cambria Math"/>
                        <a:ea typeface="Meiryo"/>
                      </a:rPr>
                      <m:t>⁡</m:t>
                    </m:r>
                  </m:oMath>
                </a14:m>
                <a:r>
                  <a:rPr sz="2100" b="0">
                    <a:solidFill>
                      <a:srgbClr val="213C4B"/>
                    </a:solidFill>
                    <a:latin typeface="Meiryo"/>
                    <a:ea typeface="Meiryo"/>
                    <a:cs typeface="Meiryo"/>
                  </a:rPr>
                  <a:t> の値だけでは象限が決まらない。</a:t>
                </a:r>
                <a:r>
                  <a:rPr sz="2100" b="1">
                    <a:solidFill>
                      <a:srgbClr val="137D78"/>
                    </a:solidFill>
                    <a:latin typeface="Meiryo"/>
                    <a:ea typeface="Meiryo"/>
                    <a:cs typeface="Meiryo"/>
                  </a:rPr>
                  <a:t>符号を先に確認</a:t>
                </a:r>
                <a:r>
                  <a:rPr sz="2100" b="0">
                    <a:solidFill>
                      <a:srgbClr val="213C4B"/>
                    </a:solidFill>
                    <a:latin typeface="Meiryo"/>
                    <a:ea typeface="Meiryo"/>
                    <a:cs typeface="Meiryo"/>
                  </a:rPr>
                  <a:t>。</a:t>
                </a:r>
              </a:p>
            </p:txBody>
          </p:sp>
        </mc:Choice>
        <mc:Fallback>
          <p:sp>
            <p:nvSpPr>
              <p:cNvPr id="8" name="本文7">
                <a:extLst xmlns:a="http://schemas.openxmlformats.org/drawingml/2006/main">
                  <a:ext uri="{FF2B5EF4-FFF2-40B4-BE49-F238E27FC236}">
                    <a16:creationId xmlns:a16="http://schemas.microsoft.com/office/drawing/2014/main" id="{223EEC3D-BBED-4976-9748-09E2AC0CA5E0}"/>
                  </a:ext>
                </a:extLst>
              </p:cNvPr>
              <p:cNvSpPr>
                <a:spLocks xmlns:a="http://schemas.openxmlformats.org/drawingml/2006/main" noGrp="1"/>
              </p:cNvSpPr>
              <p:nvPr/>
            </p:nvSpPr>
            <p:spPr>
              <a:xfrm xmlns:a="http://schemas.openxmlformats.org/drawingml/2006/main">
                <a:off x="647700" y="423862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a:t>
                </a:r>
                <a:r>
                  <a:rPr sz="2100" b="0">
                    <a:solidFill>
                      <a:srgbClr val="213C4B"/>
                    </a:solidFill>
                    <a:latin typeface="Cambria Math"/>
                    <a:ea typeface="Cambria Math"/>
                    <a:cs typeface="Cambria Math"/>
                  </a:rPr>
                  <a:t>\arctan</a:t>
                </a:r>
                <a:r>
                  <a:rPr sz="2100" b="0">
                    <a:solidFill>
                      <a:srgbClr val="213C4B"/>
                    </a:solidFill>
                    <a:latin typeface="Meiryo"/>
                    <a:ea typeface="Meiryo"/>
                    <a:cs typeface="Meiryo"/>
                  </a:rPr>
                  <a:t> の値だけでは象限が決まらない。</a:t>
                </a:r>
                <a:r>
                  <a:rPr sz="2100" b="1">
                    <a:solidFill>
                      <a:srgbClr val="137D78"/>
                    </a:solidFill>
                    <a:latin typeface="Meiryo"/>
                    <a:ea typeface="Meiryo"/>
                    <a:cs typeface="Meiryo"/>
                  </a:rPr>
                  <a:t>符号を先に確認</a:t>
                </a:r>
                <a:r>
                  <a:rPr sz="2100" b="0">
                    <a:solidFill>
                      <a:srgbClr val="213C4B"/>
                    </a:solidFill>
                    <a:latin typeface="Meiryo"/>
                    <a:ea typeface="Meiryo"/>
                    <a:cs typeface="Meiryo"/>
                  </a:rPr>
                  <a:t>。</a:t>
                </a:r>
              </a:p>
            </p:txBody>
          </p:sp>
        </mc:Fallback>
      </mc:AlternateContent>
      <mc:AlternateContent xmlns:mc="http://schemas.openxmlformats.org/markup-compatibility/2006" xmlns:a14="http://schemas.microsoft.com/office/drawing/2010/main">
        <mc:Choice Requires="a14">
          <p:sp>
            <p:nvSpPr>
              <p:cNvPr id="9" name="本文8">
                <a:extLst xmlns:a="http://schemas.openxmlformats.org/drawingml/2006/main">
                  <a:ext uri="{FF2B5EF4-FFF2-40B4-BE49-F238E27FC236}">
                    <a16:creationId xmlns:a16="http://schemas.microsoft.com/office/drawing/2014/main" id="{09BB6B87-F57C-4478-9C7C-14CFBC119CEB}"/>
                  </a:ext>
                </a:extLst>
              </p:cNvPr>
              <p:cNvSpPr>
                <a:spLocks xmlns:a="http://schemas.openxmlformats.org/drawingml/2006/main" noGrp="1"/>
              </p:cNvSpPr>
              <p:nvPr/>
            </p:nvSpPr>
            <p:spPr>
              <a:xfrm xmlns:a="http://schemas.openxmlformats.org/drawingml/2006/main">
                <a:off x="647700" y="488632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a:t>
                </a:r>
                <a14:m xmlns:m="http://schemas.openxmlformats.org/officeDocument/2006/math">
                  <m:oMath xmlns:mml="http://www.w3.org/1998/Math/MathML">
                    <m:r>
                      <m:rPr>
                        <m:sty m:val="p"/>
                      </m:rPr>
                      <a:rPr sz="2100" b="0" lang="en-US">
                        <a:solidFill>
                          <a:srgbClr val="213C4B"/>
                        </a:solidFill>
                        <a:latin typeface="Cambria Math"/>
                        <a:ea typeface="Meiryo"/>
                      </a:rPr>
                      <m:t>Δ</m:t>
                    </m:r>
                    <m:r>
                      <a:rPr sz="2100" b="0" lang="en-US">
                        <a:solidFill>
                          <a:srgbClr val="213C4B"/>
                        </a:solidFill>
                        <a:latin typeface="Cambria Math"/>
                        <a:ea typeface="Meiryo"/>
                      </a:rPr>
                      <m:t>X=0</m:t>
                    </m:r>
                  </m:oMath>
                </a14:m>
                <a:r>
                  <a:rPr sz="2100" b="0">
                    <a:solidFill>
                      <a:srgbClr val="213C4B"/>
                    </a:solidFill>
                    <a:latin typeface="Meiryo"/>
                    <a:ea typeface="Meiryo"/>
                    <a:cs typeface="Meiryo"/>
                  </a:rPr>
                  <a:t> では割らず、東なら90°、西なら270°と判断。</a:t>
                </a:r>
              </a:p>
            </p:txBody>
          </p:sp>
        </mc:Choice>
        <mc:Fallback>
          <p:sp>
            <p:nvSpPr>
              <p:cNvPr id="9" name="本文8">
                <a:extLst xmlns:a="http://schemas.openxmlformats.org/drawingml/2006/main">
                  <a:ext uri="{FF2B5EF4-FFF2-40B4-BE49-F238E27FC236}">
                    <a16:creationId xmlns:a16="http://schemas.microsoft.com/office/drawing/2014/main" id="{09BB6B87-F57C-4478-9C7C-14CFBC119CEB}"/>
                  </a:ext>
                </a:extLst>
              </p:cNvPr>
              <p:cNvSpPr>
                <a:spLocks xmlns:a="http://schemas.openxmlformats.org/drawingml/2006/main" noGrp="1"/>
              </p:cNvSpPr>
              <p:nvPr/>
            </p:nvSpPr>
            <p:spPr>
              <a:xfrm xmlns:a="http://schemas.openxmlformats.org/drawingml/2006/main">
                <a:off x="647700" y="488632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a:t>
                </a:r>
                <a:r>
                  <a:rPr sz="2100" b="0">
                    <a:solidFill>
                      <a:srgbClr val="213C4B"/>
                    </a:solidFill>
                    <a:latin typeface="Cambria Math"/>
                    <a:ea typeface="Cambria Math"/>
                    <a:cs typeface="Cambria Math"/>
                  </a:rPr>
                  <a:t>\Delta X=0</a:t>
                </a:r>
                <a:r>
                  <a:rPr sz="2100" b="0">
                    <a:solidFill>
                      <a:srgbClr val="213C4B"/>
                    </a:solidFill>
                    <a:latin typeface="Meiryo"/>
                    <a:ea typeface="Meiryo"/>
                    <a:cs typeface="Meiryo"/>
                  </a:rPr>
                  <a:t> では割らず、東なら90°、西なら270°と判断。</a:t>
                </a:r>
              </a:p>
            </p:txBody>
          </p:sp>
        </mc:Fallback>
      </mc:AlternateContent>
    </p:spTree>
    <p:extLst>
      <p:ext uri="{BB962C8B-B14F-4D97-AF65-F5344CB8AC3E}">
        <p14:creationId xmlns:p14="http://schemas.microsoft.com/office/powerpoint/2010/main" val="46224274"/>
      </p:ext>
    </p:extLst>
  </p:cSld>
</p:sld>
</file>

<file path=ppt/slides/slide65.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6" name="本文0">
            <a:extLst xmlns:a="http://schemas.openxmlformats.org/drawingml/2006/main">
              <a:ext uri="{FF2B5EF4-FFF2-40B4-BE49-F238E27FC236}">
                <a16:creationId xmlns:a16="http://schemas.microsoft.com/office/drawing/2014/main" id="{9A339022-41C1-49EC-8BDC-65B169B20DF5}"/>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3-5</a:t>
            </a:r>
          </a:p>
        </p:txBody>
      </p:sp>
      <p:sp>
        <p:nvSpPr>
          <p:cNvPr id="2" name="本文1">
            <a:extLst xmlns:a="http://schemas.openxmlformats.org/drawingml/2006/main">
              <a:ext uri="{FF2B5EF4-FFF2-40B4-BE49-F238E27FC236}">
                <a16:creationId xmlns:a16="http://schemas.microsoft.com/office/drawing/2014/main" id="{253F3EFF-94EF-40E5-865F-EC89C6EB5C34}"/>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方向角は、象限を見て補正する</a:t>
            </a:r>
          </a:p>
        </p:txBody>
      </p:sp>
      <p:sp>
        <p:nvSpPr>
          <p:cNvPr id="3" name="本文2">
            <a:extLst xmlns:a="http://schemas.openxmlformats.org/drawingml/2006/main">
              <a:ext uri="{FF2B5EF4-FFF2-40B4-BE49-F238E27FC236}">
                <a16:creationId xmlns:a16="http://schemas.microsoft.com/office/drawing/2014/main" id="{E5C6BCCC-7B29-4464-86CF-D49AED2DDE7D}"/>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65</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1921BBFE-9147-4EBF-99D8-8699D71AE299}"/>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14:m xmlns:m="http://schemas.openxmlformats.org/officeDocument/2006/math">
                  <m:oMath xmlns:mml="http://www.w3.org/1998/Math/MathML">
                    <m:r>
                      <m:rPr>
                        <m:sty m:val="p"/>
                      </m:rPr>
                      <a:rPr sz="1725" b="0" lang="en-US">
                        <a:solidFill>
                          <a:srgbClr val="137D78"/>
                        </a:solidFill>
                        <a:latin typeface="Cambria Math"/>
                        <a:ea typeface="Meiryo"/>
                      </a:rPr>
                      <m:t>Δ</m:t>
                    </m:r>
                    <m:r>
                      <a:rPr sz="1725" b="0" lang="en-US">
                        <a:solidFill>
                          <a:srgbClr val="137D78"/>
                        </a:solidFill>
                        <a:latin typeface="Cambria Math"/>
                        <a:ea typeface="Meiryo"/>
                      </a:rPr>
                      <m:t>X&lt;0</m:t>
                    </m:r>
                  </m:oMath>
                </a14:m>
                <a:r>
                  <a:rPr sz="1725" b="1">
                    <a:solidFill>
                      <a:srgbClr val="137D78"/>
                    </a:solidFill>
                    <a:latin typeface="Meiryo"/>
                    <a:ea typeface="Meiryo"/>
                    <a:cs typeface="Meiryo"/>
                  </a:rPr>
                  <a:t> なら180°を加算。北西なら360°を加算。</a:t>
                </a:r>
              </a:p>
            </p:txBody>
          </p:sp>
        </mc:Choice>
        <mc:Fallback>
          <p:sp>
            <p:nvSpPr>
              <p:cNvPr id="4" name="本文3">
                <a:extLst xmlns:a="http://schemas.openxmlformats.org/drawingml/2006/main">
                  <a:ext uri="{FF2B5EF4-FFF2-40B4-BE49-F238E27FC236}">
                    <a16:creationId xmlns:a16="http://schemas.microsoft.com/office/drawing/2014/main" id="{1921BBFE-9147-4EBF-99D8-8699D71AE299}"/>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Cambria Math"/>
                    <a:ea typeface="Cambria Math"/>
                    <a:cs typeface="Cambria Math"/>
                  </a:rPr>
                  <a:t>\Delta X&lt;0</a:t>
                </a:r>
                <a:r>
                  <a:rPr sz="1725" b="1">
                    <a:solidFill>
                      <a:srgbClr val="137D78"/>
                    </a:solidFill>
                    <a:latin typeface="Meiryo"/>
                    <a:ea typeface="Meiryo"/>
                    <a:cs typeface="Meiryo"/>
                  </a:rPr>
                  <a:t> なら180°を加算。北西なら360°を加算。</a:t>
                </a:r>
              </a:p>
            </p:txBody>
          </p:sp>
        </mc:Fallback>
      </mc:AlternateContent>
      <p:pic>
        <p:nvPicPr>
          <p:cNvPr id="5" name="">
            <a:extLst xmlns:a="http://schemas.openxmlformats.org/drawingml/2006/main">
              <a:ext uri="{FF2B5EF4-FFF2-40B4-BE49-F238E27FC236}">
                <a16:creationId xmlns:a16="http://schemas.microsoft.com/office/drawing/2014/main" id="{E33FA75E-505B-498D-9B32-4D3C25CCA3F2}"/>
              </a:ext>
            </a:extLst>
          </p:cNvPr>
          <p:cNvPicPr>
            <a:picLocks xmlns:a="http://schemas.openxmlformats.org/drawingml/2006/main" noChangeAspect="1"/>
          </p:cNvPicPr>
          <p:nvPr/>
        </p:nvPicPr>
        <p:blipFill>
          <a:blip xmlns:r="http://schemas.openxmlformats.org/officeDocument/2006/relationships" xmlns:a="http://schemas.openxmlformats.org/drawingml/2006/main" r:embed="R9325f09d80da490c"/>
          <a:stretch xmlns:a="http://schemas.openxmlformats.org/drawingml/2006/main"/>
        </p:blipFill>
        <p:spPr>
          <a:xfrm xmlns:a="http://schemas.openxmlformats.org/drawingml/2006/main">
            <a:off x="590550" y="2069147"/>
            <a:ext cx="11010900" cy="3119755"/>
          </a:xfrm>
          <a:prstGeom xmlns:a="http://schemas.openxmlformats.org/drawingml/2006/main" prst="rect">
            <a:avLst/>
          </a:prstGeom>
        </p:spPr>
      </p:pic>
    </p:spTree>
    <p:extLst>
      <p:ext uri="{BB962C8B-B14F-4D97-AF65-F5344CB8AC3E}">
        <p14:creationId xmlns:p14="http://schemas.microsoft.com/office/powerpoint/2010/main" val="466106894"/>
      </p:ext>
    </p:extLst>
  </p:cSld>
</p:sld>
</file>

<file path=ppt/slides/slide66.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8EF73338-FAF5-41CF-A76A-C06235C32607}"/>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3-5</a:t>
            </a:r>
          </a:p>
        </p:txBody>
      </p:sp>
      <p:sp>
        <p:nvSpPr>
          <p:cNvPr id="2" name="本文1">
            <a:extLst xmlns:a="http://schemas.openxmlformats.org/drawingml/2006/main">
              <a:ext uri="{FF2B5EF4-FFF2-40B4-BE49-F238E27FC236}">
                <a16:creationId xmlns:a16="http://schemas.microsoft.com/office/drawing/2014/main" id="{68BDF773-F864-4ED9-8631-1D6F64F6D824}"/>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逆計算で、距離と方向角を確かめる</a:t>
            </a:r>
          </a:p>
        </p:txBody>
      </p:sp>
      <p:sp>
        <p:nvSpPr>
          <p:cNvPr id="3" name="本文2">
            <a:extLst xmlns:a="http://schemas.openxmlformats.org/drawingml/2006/main">
              <a:ext uri="{FF2B5EF4-FFF2-40B4-BE49-F238E27FC236}">
                <a16:creationId xmlns:a16="http://schemas.microsoft.com/office/drawing/2014/main" id="{FBDCF5C5-4BC3-47A0-A60C-359A59E31C57}"/>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66</a:t>
            </a:r>
          </a:p>
        </p:txBody>
      </p:sp>
      <p:sp>
        <p:nvSpPr>
          <p:cNvPr id="4" name="本文3">
            <a:extLst xmlns:a="http://schemas.openxmlformats.org/drawingml/2006/main">
              <a:ext uri="{FF2B5EF4-FFF2-40B4-BE49-F238E27FC236}">
                <a16:creationId xmlns:a16="http://schemas.microsoft.com/office/drawing/2014/main" id="{5762BCD1-6015-4F3F-B237-902D42009C6B}"/>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南東なので180°を加える。丸めた座標からの逆算は近似値。</a:t>
            </a:r>
          </a:p>
        </p:txBody>
      </p:sp>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8CAE2A2D-18FA-4A73-8DF8-768471C46D13}"/>
                  </a:ext>
                </a:extLst>
              </p:cNvPr>
              <p:cNvSpPr>
                <a:spLocks xmlns:a="http://schemas.openxmlformats.org/drawingml/2006/main" noGrp="1"/>
              </p:cNvSpPr>
              <p:nvPr/>
            </p:nvSpPr>
            <p:spPr>
              <a:xfrm xmlns:a="http://schemas.openxmlformats.org/drawingml/2006/main">
                <a:off x="647700" y="19621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前の例のBからAを引くと、</a:t>
                </a:r>
                <a14:m xmlns:m="http://schemas.openxmlformats.org/officeDocument/2006/math">
                  <m:oMath xmlns:mml="http://www.w3.org/1998/Math/MathML">
                    <m:r>
                      <m:rPr>
                        <m:sty m:val="p"/>
                      </m:rPr>
                      <a:rPr sz="2100" b="0" lang="en-US">
                        <a:solidFill>
                          <a:srgbClr val="213C4B"/>
                        </a:solidFill>
                        <a:latin typeface="Cambria Math"/>
                        <a:ea typeface="Meiryo"/>
                      </a:rPr>
                      <m:t>Δ</m:t>
                    </m:r>
                    <m:r>
                      <a:rPr sz="2100" b="0" lang="en-US">
                        <a:solidFill>
                          <a:srgbClr val="213C4B"/>
                        </a:solidFill>
                        <a:latin typeface="Cambria Math"/>
                        <a:ea typeface="Meiryo"/>
                      </a:rPr>
                      <m:t>X=−75.000</m:t>
                    </m:r>
                  </m:oMath>
                </a14:m>
                <a:r>
                  <a:rPr sz="2100" b="0">
                    <a:solidFill>
                      <a:srgbClr val="213C4B"/>
                    </a:solidFill>
                    <a:latin typeface="Meiryo"/>
                    <a:ea typeface="Meiryo"/>
                    <a:cs typeface="Meiryo"/>
                  </a:rPr>
                  <a:t>、</a:t>
                </a:r>
                <a14:m xmlns:m="http://schemas.openxmlformats.org/officeDocument/2006/math">
                  <m:oMath xmlns:mml="http://www.w3.org/1998/Math/MathML">
                    <m:r>
                      <m:rPr>
                        <m:sty m:val="p"/>
                      </m:rPr>
                      <a:rPr sz="2100" b="0" lang="en-US">
                        <a:solidFill>
                          <a:srgbClr val="213C4B"/>
                        </a:solidFill>
                        <a:latin typeface="Cambria Math"/>
                        <a:ea typeface="Meiryo"/>
                      </a:rPr>
                      <m:t>Δ</m:t>
                    </m:r>
                    <m:r>
                      <a:rPr sz="2100" b="0" lang="en-US">
                        <a:solidFill>
                          <a:srgbClr val="213C4B"/>
                        </a:solidFill>
                        <a:latin typeface="Cambria Math"/>
                        <a:ea typeface="Meiryo"/>
                      </a:rPr>
                      <m:t>Y=129.904</m:t>
                    </m:r>
                  </m:oMath>
                </a14:m>
                <a:r>
                  <a:rPr sz="2100" b="0">
                    <a:solidFill>
                      <a:srgbClr val="213C4B"/>
                    </a:solidFill>
                    <a:latin typeface="Meiryo"/>
                    <a:ea typeface="Meiryo"/>
                    <a:cs typeface="Meiryo"/>
                  </a:rPr>
                  <a:t>（m）。</a:t>
                </a:r>
              </a:p>
            </p:txBody>
          </p:sp>
        </mc:Choice>
        <mc:Fallback>
          <p:sp>
            <p:nvSpPr>
              <p:cNvPr id="5" name="本文4">
                <a:extLst xmlns:a="http://schemas.openxmlformats.org/drawingml/2006/main">
                  <a:ext uri="{FF2B5EF4-FFF2-40B4-BE49-F238E27FC236}">
                    <a16:creationId xmlns:a16="http://schemas.microsoft.com/office/drawing/2014/main" id="{8CAE2A2D-18FA-4A73-8DF8-768471C46D13}"/>
                  </a:ext>
                </a:extLst>
              </p:cNvPr>
              <p:cNvSpPr>
                <a:spLocks xmlns:a="http://schemas.openxmlformats.org/drawingml/2006/main" noGrp="1"/>
              </p:cNvSpPr>
              <p:nvPr/>
            </p:nvSpPr>
            <p:spPr>
              <a:xfrm xmlns:a="http://schemas.openxmlformats.org/drawingml/2006/main">
                <a:off x="647700" y="19621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前の例のBからAを引くと、</a:t>
                </a:r>
                <a:r>
                  <a:rPr sz="2100" b="0">
                    <a:solidFill>
                      <a:srgbClr val="213C4B"/>
                    </a:solidFill>
                    <a:latin typeface="Cambria Math"/>
                    <a:ea typeface="Cambria Math"/>
                    <a:cs typeface="Cambria Math"/>
                  </a:rPr>
                  <a:t>\Delta X=-75.000</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\Delta Y=129.904</a:t>
                </a:r>
                <a:r>
                  <a:rPr sz="2100" b="0">
                    <a:solidFill>
                      <a:srgbClr val="213C4B"/>
                    </a:solidFill>
                    <a:latin typeface="Meiryo"/>
                    <a:ea typeface="Meiryo"/>
                    <a:cs typeface="Meiryo"/>
                  </a:rPr>
                  <a:t>（m）。</a:t>
                </a:r>
              </a:p>
            </p:txBody>
          </p:sp>
        </mc:Fallback>
      </mc:AlternateContent>
      <mc:AlternateContent xmlns:mc="http://schemas.openxmlformats.org/markup-compatibility/2006" xmlns:a14="http://schemas.microsoft.com/office/drawing/2010/main">
        <mc:Choice Requires="a14">
          <p:sp>
            <p:nvSpPr>
              <p:cNvPr id="6" name="EQM00159">
                <a:extLst xmlns:a="http://schemas.openxmlformats.org/drawingml/2006/main">
                  <a:ext uri="{FF2B5EF4-FFF2-40B4-BE49-F238E27FC236}">
                    <a16:creationId xmlns:a16="http://schemas.microsoft.com/office/drawing/2014/main" id="{FA6F7C0E-0703-4026-B03D-7481D2C254CF}"/>
                  </a:ext>
                </a:extLst>
              </p:cNvPr>
              <p:cNvSpPr>
                <a:spLocks xmlns:a="http://schemas.openxmlformats.org/drawingml/2006/main" noGrp="1"/>
              </p:cNvSpPr>
              <p:nvPr/>
            </p:nvSpPr>
            <p:spPr>
              <a:xfrm xmlns:a="http://schemas.openxmlformats.org/drawingml/2006/main">
                <a:off x="647700" y="2609850"/>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r>
                        <a:rPr sz="2700" b="0" lang="en-US">
                          <a:solidFill>
                            <a:srgbClr val="153D50"/>
                          </a:solidFill>
                          <a:latin typeface="Cambria Math"/>
                          <a:ea typeface="Meiryo"/>
                        </a:rPr>
                        <m:t>S=</m:t>
                      </m:r>
                      <m:rad>
                        <m:radPr>
                          <m:degHide m:val="on"/>
                        </m:radPr>
                        <m:deg/>
                        <m:e>
                          <m:r>
                            <a:rPr sz="2700" b="0" lang="en-US">
                              <a:solidFill>
                                <a:srgbClr val="153D50"/>
                              </a:solidFill>
                              <a:latin typeface="Cambria Math"/>
                              <a:ea typeface="Meiryo"/>
                            </a:rPr>
                            <m:t>(−75.000</m:t>
                          </m:r>
                          <m:sSup>
                            <m:e>
                              <m:r>
                                <a:rPr sz="2700" b="0" lang="en-US">
                                  <a:solidFill>
                                    <a:srgbClr val="153D50"/>
                                  </a:solidFill>
                                  <a:latin typeface="Cambria Math"/>
                                  <a:ea typeface="Meiryo"/>
                                </a:rPr>
                                <m:t>)</m:t>
                              </m:r>
                            </m:e>
                            <m:sup>
                              <m:r>
                                <a:rPr sz="2700" b="0" lang="en-US">
                                  <a:solidFill>
                                    <a:srgbClr val="153D50"/>
                                  </a:solidFill>
                                  <a:latin typeface="Cambria Math"/>
                                  <a:ea typeface="Meiryo"/>
                                </a:rPr>
                                <m:t>2</m:t>
                              </m:r>
                            </m:sup>
                          </m:sSup>
                          <m:r>
                            <a:rPr sz="2700" b="0" lang="en-US">
                              <a:solidFill>
                                <a:srgbClr val="153D50"/>
                              </a:solidFill>
                              <a:latin typeface="Cambria Math"/>
                              <a:ea typeface="Meiryo"/>
                            </a:rPr>
                            <m:t>+</m:t>
                          </m:r>
                          <m:sSup>
                            <m:e>
                              <m:r>
                                <a:rPr sz="2700" b="0" lang="en-US">
                                  <a:solidFill>
                                    <a:srgbClr val="153D50"/>
                                  </a:solidFill>
                                  <a:latin typeface="Cambria Math"/>
                                  <a:ea typeface="Meiryo"/>
                                </a:rPr>
                                <m:t>129.904</m:t>
                              </m:r>
                            </m:e>
                            <m:sup>
                              <m:r>
                                <a:rPr sz="2700" b="0" lang="en-US">
                                  <a:solidFill>
                                    <a:srgbClr val="153D50"/>
                                  </a:solidFill>
                                  <a:latin typeface="Cambria Math"/>
                                  <a:ea typeface="Meiryo"/>
                                </a:rPr>
                                <m:t>2</m:t>
                              </m:r>
                            </m:sup>
                          </m:sSup>
                        </m:e>
                      </m:rad>
                      <m:r>
                        <a:rPr sz="2700" b="0" lang="en-US">
                          <a:solidFill>
                            <a:srgbClr val="153D50"/>
                          </a:solidFill>
                          <a:latin typeface="Cambria Math"/>
                          <a:ea typeface="Meiryo"/>
                        </a:rPr>
                        <m:t>≈150.000</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oMath>
                  </m:oMathPara>
                </a14:m>
              </a:p>
            </p:txBody>
          </p:sp>
        </mc:Choice>
        <mc:Fallback>
          <p:sp>
            <p:nvSpPr>
              <p:cNvPr id="6" name="EQM00159">
                <a:extLst xmlns:a="http://schemas.openxmlformats.org/drawingml/2006/main">
                  <a:ext uri="{FF2B5EF4-FFF2-40B4-BE49-F238E27FC236}">
                    <a16:creationId xmlns:a16="http://schemas.microsoft.com/office/drawing/2014/main" id="{FA6F7C0E-0703-4026-B03D-7481D2C254CF}"/>
                  </a:ext>
                </a:extLst>
              </p:cNvPr>
              <p:cNvSpPr>
                <a:spLocks xmlns:a="http://schemas.openxmlformats.org/drawingml/2006/main" noGrp="1"/>
              </p:cNvSpPr>
              <p:nvPr/>
            </p:nvSpPr>
            <p:spPr>
              <a:xfrm xmlns:a="http://schemas.openxmlformats.org/drawingml/2006/main">
                <a:off x="647700" y="2609850"/>
                <a:ext cx="1089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S=\sqrt{(-75.000)^2+129.904^2}\approx150.000\ \mathrm{m}</a:t>
                </a:r>
              </a:p>
            </p:txBody>
          </p:sp>
        </mc:Fallback>
      </mc:AlternateContent>
      <mc:AlternateContent xmlns:mc="http://schemas.openxmlformats.org/markup-compatibility/2006" xmlns:a14="http://schemas.microsoft.com/office/drawing/2010/main">
        <mc:Choice Requires="a14">
          <p:sp>
            <p:nvSpPr>
              <p:cNvPr id="7" name="EQM00160">
                <a:extLst xmlns:a="http://schemas.openxmlformats.org/drawingml/2006/main">
                  <a:ext uri="{FF2B5EF4-FFF2-40B4-BE49-F238E27FC236}">
                    <a16:creationId xmlns:a16="http://schemas.microsoft.com/office/drawing/2014/main" id="{B2F1B29D-AE14-4973-9371-B13ACF505A80}"/>
                  </a:ext>
                </a:extLst>
              </p:cNvPr>
              <p:cNvSpPr>
                <a:spLocks xmlns:a="http://schemas.openxmlformats.org/drawingml/2006/main" noGrp="1"/>
              </p:cNvSpPr>
              <p:nvPr/>
            </p:nvSpPr>
            <p:spPr>
              <a:xfrm xmlns:a="http://schemas.openxmlformats.org/drawingml/2006/main">
                <a:off x="647700" y="3467100"/>
                <a:ext cx="108966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eqArr>
                        <m:e>
                          <m:r>
                            <a:rPr sz="2700" b="0" lang="en-US">
                              <a:solidFill>
                                <a:srgbClr val="153D50"/>
                              </a:solidFill>
                              <a:latin typeface="Cambria Math"/>
                              <a:ea typeface="Meiryo"/>
                            </a:rPr>
                            <m:t>t</m:t>
                          </m:r>
                          <m:r>
                            <a:rPr sz="2700" b="0" lang="en-US">
                              <a:solidFill>
                                <a:srgbClr val="153D50"/>
                              </a:solidFill>
                              <a:latin typeface="Cambria Math"/>
                              <a:ea typeface="Meiryo"/>
                            </a:rPr>
                            <m:t>&amp;</m:t>
                          </m:r>
                          <m:r>
                            <a:rPr sz="2700" b="0" lang="en-US">
                              <a:solidFill>
                                <a:srgbClr val="153D50"/>
                              </a:solidFill>
                              <a:latin typeface="Cambria Math"/>
                              <a:ea typeface="Meiryo"/>
                            </a:rPr>
                            <m:t>=</m:t>
                          </m:r>
                          <m:r>
                            <m:rPr>
                              <m:sty m:val="p"/>
                            </m:rPr>
                            <a:rPr sz="2700" b="0" lang="en-US">
                              <a:solidFill>
                                <a:srgbClr val="153D50"/>
                              </a:solidFill>
                              <a:latin typeface="Cambria Math"/>
                              <a:ea typeface="Meiryo"/>
                            </a:rPr>
                            <m:t>arctan</m:t>
                          </m:r>
                          <m:r>
                            <a:rPr sz="2700" b="0" lang="en-US">
                              <a:solidFill>
                                <a:srgbClr val="153D50"/>
                              </a:solidFill>
                              <a:latin typeface="Cambria Math"/>
                              <a:ea typeface="Meiryo"/>
                            </a:rPr>
                            <m:t>⁡</m:t>
                          </m:r>
                          <m:f>
                            <m:fPr>
                              <m:type m:val="bar"/>
                            </m:fPr>
                            <m:num>
                              <m:argPr>
                                <m:argSz m:val="0"/>
                              </m:argPr>
                              <m:r>
                                <a:rPr sz="2700" b="0" lang="en-US">
                                  <a:solidFill>
                                    <a:srgbClr val="153D50"/>
                                  </a:solidFill>
                                  <a:latin typeface="Cambria Math"/>
                                  <a:ea typeface="Meiryo"/>
                                </a:rPr>
                                <m:t>129.904</m:t>
                              </m:r>
                            </m:num>
                            <m:den>
                              <m:argPr>
                                <m:argSz m:val="0"/>
                              </m:argPr>
                              <m:r>
                                <a:rPr sz="2700" b="0" lang="en-US">
                                  <a:solidFill>
                                    <a:srgbClr val="153D50"/>
                                  </a:solidFill>
                                  <a:latin typeface="Cambria Math"/>
                                  <a:ea typeface="Meiryo"/>
                                </a:rPr>
                                <m:t>−75.000</m:t>
                              </m:r>
                            </m:den>
                          </m:f>
                          <m:r>
                            <a:rPr sz="2700" b="0" lang="en-US">
                              <a:solidFill>
                                <a:srgbClr val="153D50"/>
                              </a:solidFill>
                              <a:latin typeface="Cambria Math"/>
                              <a:ea typeface="Meiryo"/>
                            </a:rPr>
                            <m:t>≈−</m:t>
                          </m:r>
                          <m:sSup>
                            <m:e>
                              <m:argPr>
                                <m:argSz m:val="0"/>
                              </m:argPr>
                              <m:r>
                                <a:rPr sz="2700" b="0" lang="en-US">
                                  <a:solidFill>
                                    <a:srgbClr val="153D50"/>
                                  </a:solidFill>
                                  <a:latin typeface="Cambria Math"/>
                                  <a:ea typeface="Meiryo"/>
                                </a:rPr>
                                <m:t>60</m:t>
                              </m:r>
                            </m:e>
                            <m:sup>
                              <m:argPr>
                                <m:argSz m:val="0"/>
                              </m:argPr>
                              <m:r>
                                <a:rPr sz="2700" b="0" lang="en-US">
                                  <a:solidFill>
                                    <a:srgbClr val="153D50"/>
                                  </a:solidFill>
                                  <a:latin typeface="Cambria Math"/>
                                  <a:ea typeface="Meiryo"/>
                                </a:rPr>
                                <m:t>∘</m:t>
                              </m:r>
                            </m:sup>
                          </m:sSup>
                        </m:e>
                        <m:e>
                          <m:r>
                            <a:rPr sz="2700" b="0" lang="en-US">
                              <a:solidFill>
                                <a:srgbClr val="153D50"/>
                              </a:solidFill>
                              <a:latin typeface="Cambria Math"/>
                              <a:ea typeface="Meiryo"/>
                            </a:rPr>
                            <m:t>T</m:t>
                          </m:r>
                          <m:r>
                            <a:rPr sz="2700" b="0" lang="en-US">
                              <a:solidFill>
                                <a:srgbClr val="153D50"/>
                              </a:solidFill>
                              <a:latin typeface="Cambria Math"/>
                              <a:ea typeface="Meiryo"/>
                            </a:rPr>
                            <m:t>&amp;</m:t>
                          </m:r>
                          <m:r>
                            <a:rPr sz="2700" b="0" lang="en-US">
                              <a:solidFill>
                                <a:srgbClr val="153D50"/>
                              </a:solidFill>
                              <a:latin typeface="Cambria Math"/>
                              <a:ea typeface="Meiryo"/>
                            </a:rPr>
                            <m:t>=t+</m:t>
                          </m:r>
                          <m:sSup>
                            <m:e>
                              <m:argPr>
                                <m:argSz m:val="0"/>
                              </m:argPr>
                              <m:r>
                                <a:rPr sz="2700" b="0" lang="en-US">
                                  <a:solidFill>
                                    <a:srgbClr val="153D50"/>
                                  </a:solidFill>
                                  <a:latin typeface="Cambria Math"/>
                                  <a:ea typeface="Meiryo"/>
                                </a:rPr>
                                <m:t>180</m:t>
                              </m:r>
                            </m:e>
                            <m:sup>
                              <m:argPr>
                                <m:argSz m:val="0"/>
                              </m:argPr>
                              <m:r>
                                <a:rPr sz="2700" b="0" lang="en-US">
                                  <a:solidFill>
                                    <a:srgbClr val="153D50"/>
                                  </a:solidFill>
                                  <a:latin typeface="Cambria Math"/>
                                  <a:ea typeface="Meiryo"/>
                                </a:rPr>
                                <m:t>∘</m:t>
                              </m:r>
                            </m:sup>
                          </m:sSup>
                          <m:r>
                            <a:rPr sz="2700" b="0" lang="en-US">
                              <a:solidFill>
                                <a:srgbClr val="153D50"/>
                              </a:solidFill>
                              <a:latin typeface="Cambria Math"/>
                              <a:ea typeface="Meiryo"/>
                            </a:rPr>
                            <m:t>≈</m:t>
                          </m:r>
                          <m:sSup>
                            <m:e>
                              <m:argPr>
                                <m:argSz m:val="0"/>
                              </m:argPr>
                              <m:r>
                                <a:rPr sz="2700" b="0" lang="en-US">
                                  <a:solidFill>
                                    <a:srgbClr val="153D50"/>
                                  </a:solidFill>
                                  <a:latin typeface="Cambria Math"/>
                                  <a:ea typeface="Meiryo"/>
                                </a:rPr>
                                <m:t>120</m:t>
                              </m:r>
                            </m:e>
                            <m:sup>
                              <m:argPr>
                                <m:argSz m:val="0"/>
                              </m:argPr>
                              <m:r>
                                <a:rPr sz="2700" b="0" lang="en-US">
                                  <a:solidFill>
                                    <a:srgbClr val="153D50"/>
                                  </a:solidFill>
                                  <a:latin typeface="Cambria Math"/>
                                  <a:ea typeface="Meiryo"/>
                                </a:rPr>
                                <m:t>∘</m:t>
                              </m:r>
                            </m:sup>
                          </m:sSup>
                        </m:e>
                      </m:eqArr>
                    </m:oMath>
                  </m:oMathPara>
                </a14:m>
              </a:p>
            </p:txBody>
          </p:sp>
        </mc:Choice>
        <mc:Fallback>
          <p:sp>
            <p:nvSpPr>
              <p:cNvPr id="7" name="EQM00160">
                <a:extLst xmlns:a="http://schemas.openxmlformats.org/drawingml/2006/main">
                  <a:ext uri="{FF2B5EF4-FFF2-40B4-BE49-F238E27FC236}">
                    <a16:creationId xmlns:a16="http://schemas.microsoft.com/office/drawing/2014/main" id="{B2F1B29D-AE14-4973-9371-B13ACF505A80}"/>
                  </a:ext>
                </a:extLst>
              </p:cNvPr>
              <p:cNvSpPr>
                <a:spLocks xmlns:a="http://schemas.openxmlformats.org/drawingml/2006/main" noGrp="1"/>
              </p:cNvSpPr>
              <p:nvPr/>
            </p:nvSpPr>
            <p:spPr>
              <a:xfrm xmlns:a="http://schemas.openxmlformats.org/drawingml/2006/main">
                <a:off x="647700" y="3467100"/>
                <a:ext cx="108966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\begin{aligned}
t&amp;=\arctan\frac{129.904}{-75.000}\approx-60^\circ\\
T&amp;=t+180^\circ\approx120^\circ
\end{aligned}</a:t>
                </a:r>
              </a:p>
            </p:txBody>
          </p:sp>
        </mc:Fallback>
      </mc:AlternateContent>
    </p:spTree>
    <p:extLst>
      <p:ext uri="{BB962C8B-B14F-4D97-AF65-F5344CB8AC3E}">
        <p14:creationId xmlns:p14="http://schemas.microsoft.com/office/powerpoint/2010/main" val="63120949"/>
      </p:ext>
    </p:extLst>
  </p:cSld>
</p:sld>
</file>

<file path=ppt/slides/slide67.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B1FFA7E9-4DC5-444E-B059-86AB2DFC4600}"/>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3-5</a:t>
            </a:r>
          </a:p>
        </p:txBody>
      </p:sp>
      <p:sp>
        <p:nvSpPr>
          <p:cNvPr id="2" name="本文1">
            <a:extLst xmlns:a="http://schemas.openxmlformats.org/drawingml/2006/main">
              <a:ext uri="{FF2B5EF4-FFF2-40B4-BE49-F238E27FC236}">
                <a16:creationId xmlns:a16="http://schemas.microsoft.com/office/drawing/2014/main" id="{CC998134-0B46-4263-BCEE-7EA4C3250DA9}"/>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関数表で解く：方向角60°</a:t>
            </a:r>
          </a:p>
        </p:txBody>
      </p:sp>
      <p:sp>
        <p:nvSpPr>
          <p:cNvPr id="3" name="本文2">
            <a:extLst xmlns:a="http://schemas.openxmlformats.org/drawingml/2006/main">
              <a:ext uri="{FF2B5EF4-FFF2-40B4-BE49-F238E27FC236}">
                <a16:creationId xmlns:a16="http://schemas.microsoft.com/office/drawing/2014/main" id="{5F4435FA-8AB7-4C98-AD62-3C526D01DD1B}"/>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67</a:t>
            </a:r>
          </a:p>
        </p:txBody>
      </p:sp>
      <p:sp>
        <p:nvSpPr>
          <p:cNvPr id="4" name="本文3">
            <a:extLst xmlns:a="http://schemas.openxmlformats.org/drawingml/2006/main">
              <a:ext uri="{FF2B5EF4-FFF2-40B4-BE49-F238E27FC236}">
                <a16:creationId xmlns:a16="http://schemas.microsoft.com/office/drawing/2014/main" id="{E3741E4C-7F2E-4537-B78D-1BA392730472}"/>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Xにcos、Yにsin。60°は北東なので、どちらも加える。</a:t>
            </a:r>
          </a:p>
        </p:txBody>
      </p:sp>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634B6C2F-44A1-45DE-9DC5-C40007E43E53}"/>
                  </a:ext>
                </a:extLst>
              </p:cNvPr>
              <p:cNvSpPr>
                <a:spLocks xmlns:a="http://schemas.openxmlformats.org/drawingml/2006/main" noGrp="1"/>
              </p:cNvSpPr>
              <p:nvPr/>
            </p:nvSpPr>
            <p:spPr>
              <a:xfrm xmlns:a="http://schemas.openxmlformats.org/drawingml/2006/main">
                <a:off x="647700" y="171196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A</a:t>
                </a:r>
                <a14:m xmlns:m="http://schemas.openxmlformats.org/officeDocument/2006/math">
                  <m:oMath xmlns:mml="http://www.w3.org/1998/Math/MathML">
                    <m:r>
                      <a:rPr sz="2100" b="0" lang="en-US">
                        <a:solidFill>
                          <a:srgbClr val="213C4B"/>
                        </a:solidFill>
                        <a:latin typeface="Cambria Math"/>
                        <a:ea typeface="Meiryo"/>
                      </a:rPr>
                      <m:t>(150.00,</m:t>
                    </m:r>
                    <m:r>
                      <m:rPr>
                        <m:nor/>
                      </m:rPr>
                      <a:rPr sz="2100" b="0" lang="en-US">
                        <a:solidFill>
                          <a:srgbClr val="213C4B"/>
                        </a:solidFill>
                        <a:latin typeface="Cambria Math"/>
                        <a:ea typeface="Meiryo"/>
                      </a:rPr>
                      <m:t> </m:t>
                    </m:r>
                    <m:r>
                      <a:rPr sz="2100" b="0" lang="en-US">
                        <a:solidFill>
                          <a:srgbClr val="213C4B"/>
                        </a:solidFill>
                        <a:latin typeface="Cambria Math"/>
                        <a:ea typeface="Meiryo"/>
                      </a:rPr>
                      <m:t>250.00)</m:t>
                    </m:r>
                  </m:oMath>
                </a14:m>
                <a:r>
                  <a:rPr sz="2100" b="0">
                    <a:solidFill>
                      <a:srgbClr val="213C4B"/>
                    </a:solidFill>
                    <a:latin typeface="Meiryo"/>
                    <a:ea typeface="Meiryo"/>
                    <a:cs typeface="Meiryo"/>
                  </a:rPr>
                  <a:t>、</a:t>
                </a:r>
                <a14:m xmlns:m="http://schemas.openxmlformats.org/officeDocument/2006/math">
                  <m:oMath xmlns:mml="http://www.w3.org/1998/Math/MathML">
                    <m:r>
                      <a:rPr sz="2100" b="0" lang="en-US">
                        <a:solidFill>
                          <a:srgbClr val="213C4B"/>
                        </a:solidFill>
                        <a:latin typeface="Cambria Math"/>
                        <a:ea typeface="Meiryo"/>
                      </a:rPr>
                      <m:t>T=</m:t>
                    </m:r>
                    <m:sSup>
                      <m:e>
                        <m:r>
                          <a:rPr sz="2100" b="0" lang="en-US">
                            <a:solidFill>
                              <a:srgbClr val="213C4B"/>
                            </a:solidFill>
                            <a:latin typeface="Cambria Math"/>
                            <a:ea typeface="Meiryo"/>
                          </a:rPr>
                          <m:t>60</m:t>
                        </m:r>
                      </m:e>
                      <m:sup>
                        <m:r>
                          <a:rPr sz="2100" b="0" lang="en-US">
                            <a:solidFill>
                              <a:srgbClr val="213C4B"/>
                            </a:solidFill>
                            <a:latin typeface="Cambria Math"/>
                            <a:ea typeface="Meiryo"/>
                          </a:rPr>
                          <m:t>∘</m:t>
                        </m:r>
                      </m:sup>
                    </m:sSup>
                  </m:oMath>
                </a14:m>
                <a:r>
                  <a:rPr sz="2100" b="0">
                    <a:solidFill>
                      <a:srgbClr val="213C4B"/>
                    </a:solidFill>
                    <a:latin typeface="Meiryo"/>
                    <a:ea typeface="Meiryo"/>
                    <a:cs typeface="Meiryo"/>
                  </a:rPr>
                  <a:t>、</a:t>
                </a:r>
                <a14:m xmlns:m="http://schemas.openxmlformats.org/officeDocument/2006/math">
                  <m:oMath xmlns:mml="http://www.w3.org/1998/Math/MathML">
                    <m:r>
                      <a:rPr sz="2100" b="0" lang="en-US">
                        <a:solidFill>
                          <a:srgbClr val="213C4B"/>
                        </a:solidFill>
                        <a:latin typeface="Cambria Math"/>
                        <a:ea typeface="Meiryo"/>
                      </a:rPr>
                      <m:t>S=200.00</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r>
                  <a:rPr sz="2100" b="0">
                    <a:solidFill>
                      <a:srgbClr val="213C4B"/>
                    </a:solidFill>
                    <a:latin typeface="Meiryo"/>
                    <a:ea typeface="Meiryo"/>
                    <a:cs typeface="Meiryo"/>
                  </a:rPr>
                  <a:t>。</a:t>
                </a:r>
              </a:p>
            </p:txBody>
          </p:sp>
        </mc:Choice>
        <mc:Fallback>
          <p:sp>
            <p:nvSpPr>
              <p:cNvPr id="5" name="本文4">
                <a:extLst xmlns:a="http://schemas.openxmlformats.org/drawingml/2006/main">
                  <a:ext uri="{FF2B5EF4-FFF2-40B4-BE49-F238E27FC236}">
                    <a16:creationId xmlns:a16="http://schemas.microsoft.com/office/drawing/2014/main" id="{634B6C2F-44A1-45DE-9DC5-C40007E43E53}"/>
                  </a:ext>
                </a:extLst>
              </p:cNvPr>
              <p:cNvSpPr>
                <a:spLocks xmlns:a="http://schemas.openxmlformats.org/drawingml/2006/main" noGrp="1"/>
              </p:cNvSpPr>
              <p:nvPr/>
            </p:nvSpPr>
            <p:spPr>
              <a:xfrm xmlns:a="http://schemas.openxmlformats.org/drawingml/2006/main">
                <a:off x="647700" y="171196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A</a:t>
                </a:r>
                <a:r>
                  <a:rPr sz="2100" b="0">
                    <a:solidFill>
                      <a:srgbClr val="213C4B"/>
                    </a:solidFill>
                    <a:latin typeface="Cambria Math"/>
                    <a:ea typeface="Cambria Math"/>
                    <a:cs typeface="Cambria Math"/>
                  </a:rPr>
                  <a:t>(150.00,\ 250.00)</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T=60^\circ</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S=200.00\ \mathrm{m}</a:t>
                </a:r>
                <a:r>
                  <a:rPr sz="2100" b="0">
                    <a:solidFill>
                      <a:srgbClr val="213C4B"/>
                    </a:solidFill>
                    <a:latin typeface="Meiryo"/>
                    <a:ea typeface="Meiryo"/>
                    <a:cs typeface="Meiryo"/>
                  </a:rPr>
                  <a:t>。</a:t>
                </a:r>
              </a:p>
            </p:txBody>
          </p:sp>
        </mc:Fallback>
      </mc:AlternateContent>
      <mc:AlternateContent xmlns:mc="http://schemas.openxmlformats.org/markup-compatibility/2006" xmlns:a14="http://schemas.microsoft.com/office/drawing/2010/main">
        <mc:Choice Requires="a14">
          <p:graphicFrame>
            <p:nvGraphicFramePr>
              <p:cNvPr id="6" name="">
                <a:extLst xmlns:a="http://schemas.openxmlformats.org/drawingml/2006/main">
                  <a:ext uri="{FF2B5EF4-FFF2-40B4-BE49-F238E27FC236}">
                    <a16:creationId xmlns:a16="http://schemas.microsoft.com/office/drawing/2014/main" id="{193E84D2-7C8F-4FA4-AB13-69C34AA26798}"/>
                  </a:ext>
                </a:extLst>
              </p:cNvPr>
              <p:cNvGraphicFramePr/>
              <p:nvPr/>
            </p:nvGraphicFramePr>
            <p:xfrm>
              <a:off xmlns:a="http://schemas.openxmlformats.org/drawingml/2006/main" x="647700" y="2359660"/>
              <a:ext xmlns:a="http://schemas.openxmlformats.org/drawingml/2006/main" cx="10896600" cy="1788795"/>
            </p:xfrm>
            <a:graphic xmlns:a="http://schemas.openxmlformats.org/drawingml/2006/main">
              <a:graphicData uri="http://schemas.openxmlformats.org/drawingml/2006/table">
                <a:tbl>
                  <a:tblPr/>
                  <a:tblGrid>
                    <a:gridCol w="2615184"/>
                    <a:gridCol w="4140708"/>
                    <a:gridCol w="4140708"/>
                  </a:tblGrid>
                  <a:tr h="596265">
                    <a:tc>
                      <a:txBody>
                        <a:bodyPr lIns="114300" tIns="114300" rIns="114300" bIns="114300">
                          <a:noAutofit/>
                        </a:bodyPr>
                        <a:lstStyle/>
                        <a:p>
                          <a:pPr algn="l"/>
                          <a:r>
                            <a:rPr sz="2100" b="1">
                              <a:solidFill>
                                <a:srgbClr val="FFFFFF"/>
                              </a:solidFill>
                              <a:latin typeface="Meiryo"/>
                              <a:ea typeface="Meiryo"/>
                              <a:cs typeface="Meiryo"/>
                            </a:rPr>
                            <a:t>角</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14:m xmlns:m="http://schemas.openxmlformats.org/officeDocument/2006/math">
                            <m:oMath xmlns:mml="http://www.w3.org/1998/Math/MathML">
                              <m:r>
                                <m:rPr>
                                  <m:sty m:val="p"/>
                                </m:rPr>
                                <a:rPr sz="2100" b="0" lang="en-US">
                                  <a:solidFill>
                                    <a:srgbClr val="FFFFFF"/>
                                  </a:solidFill>
                                  <a:latin typeface="Cambria Math"/>
                                  <a:ea typeface="Meiryo"/>
                                </a:rPr>
                                <m:t>sin</m:t>
                              </m:r>
                              <m:r>
                                <a:rPr sz="2100" b="0" lang="en-US">
                                  <a:solidFill>
                                    <a:srgbClr val="FFFFFF"/>
                                  </a:solidFill>
                                  <a:latin typeface="Cambria Math"/>
                                  <a:ea typeface="Meiryo"/>
                                </a:rPr>
                                <m:t>⁡</m:t>
                              </m:r>
                            </m:oMath>
                          </a14:m>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14:m xmlns:m="http://schemas.openxmlformats.org/officeDocument/2006/math">
                            <m:oMath xmlns:mml="http://www.w3.org/1998/Math/MathML">
                              <m:r>
                                <m:rPr>
                                  <m:sty m:val="p"/>
                                </m:rPr>
                                <a:rPr sz="2100" b="0" lang="en-US">
                                  <a:solidFill>
                                    <a:srgbClr val="FFFFFF"/>
                                  </a:solidFill>
                                  <a:latin typeface="Cambria Math"/>
                                  <a:ea typeface="Meiryo"/>
                                </a:rPr>
                                <m:t>cos</m:t>
                              </m:r>
                              <m:r>
                                <a:rPr sz="2100" b="0" lang="en-US">
                                  <a:solidFill>
                                    <a:srgbClr val="FFFFFF"/>
                                  </a:solidFill>
                                  <a:latin typeface="Cambria Math"/>
                                  <a:ea typeface="Meiryo"/>
                                </a:rPr>
                                <m:t>⁡</m:t>
                              </m:r>
                            </m:oMath>
                          </a14:m>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30°</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0.50000</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0.86603</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60°</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0.86603</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0.50000</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Choice>
        <mc:Fallback>
          <p:graphicFrame>
            <p:nvGraphicFramePr>
              <p:cNvPr id="6" name="">
                <a:extLst xmlns:a="http://schemas.openxmlformats.org/drawingml/2006/main">
                  <a:ext uri="{FF2B5EF4-FFF2-40B4-BE49-F238E27FC236}">
                    <a16:creationId xmlns:a16="http://schemas.microsoft.com/office/drawing/2014/main" id="{193E84D2-7C8F-4FA4-AB13-69C34AA26798}"/>
                  </a:ext>
                </a:extLst>
              </p:cNvPr>
              <p:cNvGraphicFramePr/>
              <p:nvPr/>
            </p:nvGraphicFramePr>
            <p:xfrm>
              <a:off xmlns:a="http://schemas.openxmlformats.org/drawingml/2006/main" x="647700" y="2359660"/>
              <a:ext xmlns:a="http://schemas.openxmlformats.org/drawingml/2006/main" cx="10896600" cy="1788795"/>
            </p:xfrm>
            <a:graphic xmlns:a="http://schemas.openxmlformats.org/drawingml/2006/main">
              <a:graphicData uri="http://schemas.openxmlformats.org/drawingml/2006/table">
                <a:tbl>
                  <a:tblPr/>
                  <a:tblGrid>
                    <a:gridCol w="2615184"/>
                    <a:gridCol w="4140708"/>
                    <a:gridCol w="4140708"/>
                  </a:tblGrid>
                  <a:tr h="596265">
                    <a:tc>
                      <a:txBody>
                        <a:bodyPr lIns="114300" tIns="114300" rIns="114300" bIns="114300">
                          <a:noAutofit/>
                        </a:bodyPr>
                        <a:lstStyle/>
                        <a:p>
                          <a:pPr algn="l"/>
                          <a:r>
                            <a:rPr sz="2100" b="1">
                              <a:solidFill>
                                <a:srgbClr val="FFFFFF"/>
                              </a:solidFill>
                              <a:latin typeface="Meiryo"/>
                              <a:ea typeface="Meiryo"/>
                              <a:cs typeface="Meiryo"/>
                            </a:rPr>
                            <a:t>角</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Cambria Math"/>
                              <a:ea typeface="Cambria Math"/>
                              <a:cs typeface="Cambria Math"/>
                            </a:rPr>
                            <a:t>\sin</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Cambria Math"/>
                              <a:ea typeface="Cambria Math"/>
                              <a:cs typeface="Cambria Math"/>
                            </a:rPr>
                            <a:t>\cos</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30°</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0.50000</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0.86603</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60°</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0.86603</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0.50000</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Fallback>
      </mc:AlternateContent>
      <mc:AlternateContent xmlns:mc="http://schemas.openxmlformats.org/markup-compatibility/2006" xmlns:a14="http://schemas.microsoft.com/office/drawing/2010/main">
        <mc:Choice Requires="a14">
          <p:sp>
            <p:nvSpPr>
              <p:cNvPr id="7" name="EQM00166">
                <a:extLst xmlns:a="http://schemas.openxmlformats.org/drawingml/2006/main">
                  <a:ext uri="{FF2B5EF4-FFF2-40B4-BE49-F238E27FC236}">
                    <a16:creationId xmlns:a16="http://schemas.microsoft.com/office/drawing/2014/main" id="{D1399C58-A368-44EE-8BA3-750D45358E4C}"/>
                  </a:ext>
                </a:extLst>
              </p:cNvPr>
              <p:cNvSpPr>
                <a:spLocks xmlns:a="http://schemas.openxmlformats.org/drawingml/2006/main" noGrp="1"/>
              </p:cNvSpPr>
              <p:nvPr/>
            </p:nvSpPr>
            <p:spPr>
              <a:xfrm xmlns:a="http://schemas.openxmlformats.org/drawingml/2006/main">
                <a:off x="647700" y="4319905"/>
                <a:ext cx="108966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eqArr>
                        <m:e>
                          <m:sSub>
                            <m:e>
                              <m:argPr>
                                <m:argSz m:val="0"/>
                              </m:argPr>
                              <m:r>
                                <a:rPr sz="2700" b="0" lang="en-US">
                                  <a:solidFill>
                                    <a:srgbClr val="153D50"/>
                                  </a:solidFill>
                                  <a:latin typeface="Cambria Math"/>
                                  <a:ea typeface="Meiryo"/>
                                </a:rPr>
                                <m:t>X</m:t>
                              </m:r>
                            </m:e>
                            <m:sub>
                              <m:argPr>
                                <m:argSz m:val="0"/>
                              </m:argPr>
                              <m:r>
                                <a:rPr sz="2700" b="0" lang="en-US">
                                  <a:solidFill>
                                    <a:srgbClr val="153D50"/>
                                  </a:solidFill>
                                  <a:latin typeface="Cambria Math"/>
                                  <a:ea typeface="Meiryo"/>
                                </a:rPr>
                                <m:t>B</m:t>
                              </m:r>
                            </m:sub>
                          </m:sSub>
                          <m:r>
                            <a:rPr sz="2700" b="0" lang="en-US">
                              <a:solidFill>
                                <a:srgbClr val="153D50"/>
                              </a:solidFill>
                              <a:latin typeface="Cambria Math"/>
                              <a:ea typeface="Meiryo"/>
                            </a:rPr>
                            <m:t>&amp;</m:t>
                          </m:r>
                          <m:r>
                            <a:rPr sz="2700" b="0" lang="en-US">
                              <a:solidFill>
                                <a:srgbClr val="153D50"/>
                              </a:solidFill>
                              <a:latin typeface="Cambria Math"/>
                              <a:ea typeface="Meiryo"/>
                            </a:rPr>
                            <m:t>=150.00+200.00×0.50000=250.00</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e>
                        <m:e>
                          <m:sSub>
                            <m:e>
                              <m:argPr>
                                <m:argSz m:val="0"/>
                              </m:argPr>
                              <m:r>
                                <a:rPr sz="2700" b="0" lang="en-US">
                                  <a:solidFill>
                                    <a:srgbClr val="153D50"/>
                                  </a:solidFill>
                                  <a:latin typeface="Cambria Math"/>
                                  <a:ea typeface="Meiryo"/>
                                </a:rPr>
                                <m:t>Y</m:t>
                              </m:r>
                            </m:e>
                            <m:sub>
                              <m:argPr>
                                <m:argSz m:val="0"/>
                              </m:argPr>
                              <m:r>
                                <a:rPr sz="2700" b="0" lang="en-US">
                                  <a:solidFill>
                                    <a:srgbClr val="153D50"/>
                                  </a:solidFill>
                                  <a:latin typeface="Cambria Math"/>
                                  <a:ea typeface="Meiryo"/>
                                </a:rPr>
                                <m:t>B</m:t>
                              </m:r>
                            </m:sub>
                          </m:sSub>
                          <m:r>
                            <a:rPr sz="2700" b="0" lang="en-US">
                              <a:solidFill>
                                <a:srgbClr val="153D50"/>
                              </a:solidFill>
                              <a:latin typeface="Cambria Math"/>
                              <a:ea typeface="Meiryo"/>
                            </a:rPr>
                            <m:t>&amp;</m:t>
                          </m:r>
                          <m:r>
                            <a:rPr sz="2700" b="0" lang="en-US">
                              <a:solidFill>
                                <a:srgbClr val="153D50"/>
                              </a:solidFill>
                              <a:latin typeface="Cambria Math"/>
                              <a:ea typeface="Meiryo"/>
                            </a:rPr>
                            <m:t>=250.00+200.00×0.86603=423.21</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e>
                      </m:eqArr>
                    </m:oMath>
                  </m:oMathPara>
                </a14:m>
              </a:p>
            </p:txBody>
          </p:sp>
        </mc:Choice>
        <mc:Fallback>
          <p:sp>
            <p:nvSpPr>
              <p:cNvPr id="7" name="EQM00166">
                <a:extLst xmlns:a="http://schemas.openxmlformats.org/drawingml/2006/main">
                  <a:ext uri="{FF2B5EF4-FFF2-40B4-BE49-F238E27FC236}">
                    <a16:creationId xmlns:a16="http://schemas.microsoft.com/office/drawing/2014/main" id="{D1399C58-A368-44EE-8BA3-750D45358E4C}"/>
                  </a:ext>
                </a:extLst>
              </p:cNvPr>
              <p:cNvSpPr>
                <a:spLocks xmlns:a="http://schemas.openxmlformats.org/drawingml/2006/main" noGrp="1"/>
              </p:cNvSpPr>
              <p:nvPr/>
            </p:nvSpPr>
            <p:spPr>
              <a:xfrm xmlns:a="http://schemas.openxmlformats.org/drawingml/2006/main">
                <a:off x="647700" y="4319905"/>
                <a:ext cx="108966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\begin{aligned}
X_B&amp;=150.00+200.00\times0.50000=250.00\ \mathrm{m}\\
Y_B&amp;=250.00+200.00\times0.86603=423.21\ \mathrm{m}
\end{aligned}</a:t>
                </a:r>
              </a:p>
            </p:txBody>
          </p:sp>
        </mc:Fallback>
      </mc:AlternateContent>
    </p:spTree>
    <p:extLst>
      <p:ext uri="{BB962C8B-B14F-4D97-AF65-F5344CB8AC3E}">
        <p14:creationId xmlns:p14="http://schemas.microsoft.com/office/powerpoint/2010/main" val="738629991"/>
      </p:ext>
    </p:extLst>
  </p:cSld>
</p:sld>
</file>

<file path=ppt/slides/slide68.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9" name="本文0">
            <a:extLst xmlns:a="http://schemas.openxmlformats.org/drawingml/2006/main">
              <a:ext uri="{FF2B5EF4-FFF2-40B4-BE49-F238E27FC236}">
                <a16:creationId xmlns:a16="http://schemas.microsoft.com/office/drawing/2014/main" id="{0FF9754C-3201-49E6-8ADE-5531854C31BA}"/>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3-5</a:t>
            </a:r>
          </a:p>
        </p:txBody>
      </p:sp>
      <p:sp>
        <p:nvSpPr>
          <p:cNvPr id="2" name="本文1">
            <a:extLst xmlns:a="http://schemas.openxmlformats.org/drawingml/2006/main">
              <a:ext uri="{FF2B5EF4-FFF2-40B4-BE49-F238E27FC236}">
                <a16:creationId xmlns:a16="http://schemas.microsoft.com/office/drawing/2014/main" id="{1E008F38-18BE-45B4-8191-6312B6EBBBE8}"/>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関数表で解く：方向角198°</a:t>
            </a:r>
          </a:p>
        </p:txBody>
      </p:sp>
      <p:sp>
        <p:nvSpPr>
          <p:cNvPr id="3" name="本文2">
            <a:extLst xmlns:a="http://schemas.openxmlformats.org/drawingml/2006/main">
              <a:ext uri="{FF2B5EF4-FFF2-40B4-BE49-F238E27FC236}">
                <a16:creationId xmlns:a16="http://schemas.microsoft.com/office/drawing/2014/main" id="{AB0B5729-4C8F-4258-A24C-C7E97866AD51}"/>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68</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3A0FE7ED-323E-406A-9654-CDAF5F4A5D9A}"/>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「座標値」ではなく、移動量 </a:t>
                </a:r>
                <a14:m xmlns:m="http://schemas.openxmlformats.org/officeDocument/2006/math">
                  <m:oMath xmlns:mml="http://www.w3.org/1998/Math/MathML">
                    <m:r>
                      <m:rPr>
                        <m:sty m:val="p"/>
                      </m:rPr>
                      <a:rPr sz="1725" b="0" lang="en-US">
                        <a:solidFill>
                          <a:srgbClr val="137D78"/>
                        </a:solidFill>
                        <a:latin typeface="Cambria Math"/>
                        <a:ea typeface="Meiryo"/>
                      </a:rPr>
                      <m:t>Δ</m:t>
                    </m:r>
                    <m:r>
                      <a:rPr sz="1725" b="0" lang="en-US">
                        <a:solidFill>
                          <a:srgbClr val="137D78"/>
                        </a:solidFill>
                        <a:latin typeface="Cambria Math"/>
                        <a:ea typeface="Meiryo"/>
                      </a:rPr>
                      <m:t>X,</m:t>
                    </m:r>
                    <m:r>
                      <m:rPr>
                        <m:sty m:val="p"/>
                      </m:rPr>
                      <a:rPr sz="1725" b="0" lang="en-US">
                        <a:solidFill>
                          <a:srgbClr val="137D78"/>
                        </a:solidFill>
                        <a:latin typeface="Cambria Math"/>
                        <a:ea typeface="Meiryo"/>
                      </a:rPr>
                      <m:t>Δ</m:t>
                    </m:r>
                    <m:r>
                      <a:rPr sz="1725" b="0" lang="en-US">
                        <a:solidFill>
                          <a:srgbClr val="137D78"/>
                        </a:solidFill>
                        <a:latin typeface="Cambria Math"/>
                        <a:ea typeface="Meiryo"/>
                      </a:rPr>
                      <m:t>Y</m:t>
                    </m:r>
                  </m:oMath>
                </a14:m>
                <a:r>
                  <a:rPr sz="1725" b="1">
                    <a:solidFill>
                      <a:srgbClr val="137D78"/>
                    </a:solidFill>
                    <a:latin typeface="Meiryo"/>
                    <a:ea typeface="Meiryo"/>
                    <a:cs typeface="Meiryo"/>
                  </a:rPr>
                  <a:t> が両方負になる。</a:t>
                </a:r>
              </a:p>
            </p:txBody>
          </p:sp>
        </mc:Choice>
        <mc:Fallback>
          <p:sp>
            <p:nvSpPr>
              <p:cNvPr id="4" name="本文3">
                <a:extLst xmlns:a="http://schemas.openxmlformats.org/drawingml/2006/main">
                  <a:ext uri="{FF2B5EF4-FFF2-40B4-BE49-F238E27FC236}">
                    <a16:creationId xmlns:a16="http://schemas.microsoft.com/office/drawing/2014/main" id="{3A0FE7ED-323E-406A-9654-CDAF5F4A5D9A}"/>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「座標値」ではなく、移動量 </a:t>
                </a:r>
                <a:r>
                  <a:rPr sz="1725" b="1">
                    <a:solidFill>
                      <a:srgbClr val="137D78"/>
                    </a:solidFill>
                    <a:latin typeface="Cambria Math"/>
                    <a:ea typeface="Cambria Math"/>
                    <a:cs typeface="Cambria Math"/>
                  </a:rPr>
                  <a:t>\Delta X,\Delta Y</a:t>
                </a:r>
                <a:r>
                  <a:rPr sz="1725" b="1">
                    <a:solidFill>
                      <a:srgbClr val="137D78"/>
                    </a:solidFill>
                    <a:latin typeface="Meiryo"/>
                    <a:ea typeface="Meiryo"/>
                    <a:cs typeface="Meiryo"/>
                  </a:rPr>
                  <a:t> が両方負になる。</a:t>
                </a:r>
              </a:p>
            </p:txBody>
          </p:sp>
        </mc:Fallback>
      </mc:AlternateContent>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77F3F6C1-6548-47BC-8C4F-AFE3CA2821D4}"/>
                  </a:ext>
                </a:extLst>
              </p:cNvPr>
              <p:cNvSpPr>
                <a:spLocks xmlns:a="http://schemas.openxmlformats.org/drawingml/2006/main" noGrp="1"/>
              </p:cNvSpPr>
              <p:nvPr/>
            </p:nvSpPr>
            <p:spPr>
              <a:xfrm xmlns:a="http://schemas.openxmlformats.org/drawingml/2006/main">
                <a:off x="647700" y="14668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A</a:t>
                </a:r>
                <a14:m xmlns:m="http://schemas.openxmlformats.org/officeDocument/2006/math">
                  <m:oMath xmlns:mml="http://www.w3.org/1998/Math/MathML">
                    <m:r>
                      <a:rPr sz="2100" b="0" lang="en-US">
                        <a:solidFill>
                          <a:srgbClr val="213C4B"/>
                        </a:solidFill>
                        <a:latin typeface="Cambria Math"/>
                        <a:ea typeface="Meiryo"/>
                      </a:rPr>
                      <m:t>(−1000.00,</m:t>
                    </m:r>
                    <m:r>
                      <m:rPr>
                        <m:nor/>
                      </m:rPr>
                      <a:rPr sz="2100" b="0" lang="en-US">
                        <a:solidFill>
                          <a:srgbClr val="213C4B"/>
                        </a:solidFill>
                        <a:latin typeface="Cambria Math"/>
                        <a:ea typeface="Meiryo"/>
                      </a:rPr>
                      <m:t> </m:t>
                    </m:r>
                    <m:r>
                      <a:rPr sz="2100" b="0" lang="en-US">
                        <a:solidFill>
                          <a:srgbClr val="213C4B"/>
                        </a:solidFill>
                        <a:latin typeface="Cambria Math"/>
                        <a:ea typeface="Meiryo"/>
                      </a:rPr>
                      <m:t>500.00)</m:t>
                    </m:r>
                  </m:oMath>
                </a14:m>
                <a:r>
                  <a:rPr sz="2100" b="0">
                    <a:solidFill>
                      <a:srgbClr val="213C4B"/>
                    </a:solidFill>
                    <a:latin typeface="Meiryo"/>
                    <a:ea typeface="Meiryo"/>
                    <a:cs typeface="Meiryo"/>
                  </a:rPr>
                  <a:t>、</a:t>
                </a:r>
                <a14:m xmlns:m="http://schemas.openxmlformats.org/officeDocument/2006/math">
                  <m:oMath xmlns:mml="http://www.w3.org/1998/Math/MathML">
                    <m:r>
                      <a:rPr sz="2100" b="0" lang="en-US">
                        <a:solidFill>
                          <a:srgbClr val="213C4B"/>
                        </a:solidFill>
                        <a:latin typeface="Cambria Math"/>
                        <a:ea typeface="Meiryo"/>
                      </a:rPr>
                      <m:t>T=</m:t>
                    </m:r>
                    <m:sSup>
                      <m:e>
                        <m:r>
                          <a:rPr sz="2100" b="0" lang="en-US">
                            <a:solidFill>
                              <a:srgbClr val="213C4B"/>
                            </a:solidFill>
                            <a:latin typeface="Cambria Math"/>
                            <a:ea typeface="Meiryo"/>
                          </a:rPr>
                          <m:t>198</m:t>
                        </m:r>
                      </m:e>
                      <m:sup>
                        <m:r>
                          <a:rPr sz="2100" b="0" lang="en-US">
                            <a:solidFill>
                              <a:srgbClr val="213C4B"/>
                            </a:solidFill>
                            <a:latin typeface="Cambria Math"/>
                            <a:ea typeface="Meiryo"/>
                          </a:rPr>
                          <m:t>∘</m:t>
                        </m:r>
                      </m:sup>
                    </m:sSup>
                  </m:oMath>
                </a14:m>
                <a:r>
                  <a:rPr sz="2100" b="0">
                    <a:solidFill>
                      <a:srgbClr val="213C4B"/>
                    </a:solidFill>
                    <a:latin typeface="Meiryo"/>
                    <a:ea typeface="Meiryo"/>
                    <a:cs typeface="Meiryo"/>
                  </a:rPr>
                  <a:t>、</a:t>
                </a:r>
                <a14:m xmlns:m="http://schemas.openxmlformats.org/officeDocument/2006/math">
                  <m:oMath xmlns:mml="http://www.w3.org/1998/Math/MathML">
                    <m:r>
                      <a:rPr sz="2100" b="0" lang="en-US">
                        <a:solidFill>
                          <a:srgbClr val="213C4B"/>
                        </a:solidFill>
                        <a:latin typeface="Cambria Math"/>
                        <a:ea typeface="Meiryo"/>
                      </a:rPr>
                      <m:t>S=1200.00</m:t>
                    </m:r>
                    <m:r>
                      <m:rPr>
                        <m:nor/>
                      </m:rPr>
                      <a:rPr sz="2100" b="0" lang="en-US">
                        <a:solidFill>
                          <a:srgbClr val="213C4B"/>
                        </a:solidFill>
                        <a:latin typeface="Cambria Math"/>
                        <a:ea typeface="Meiryo"/>
                      </a:rPr>
                      <m:t> </m:t>
                    </m:r>
                    <m:r>
                      <m:rPr>
                        <m:sty m:val="p"/>
                      </m:rPr>
                      <a:rPr sz="2100" b="0" lang="en-US">
                        <a:solidFill>
                          <a:srgbClr val="213C4B"/>
                        </a:solidFill>
                        <a:latin typeface="Cambria Math"/>
                        <a:ea typeface="Meiryo"/>
                      </a:rPr>
                      <m:t>m</m:t>
                    </m:r>
                  </m:oMath>
                </a14:m>
                <a:r>
                  <a:rPr sz="2100" b="0">
                    <a:solidFill>
                      <a:srgbClr val="213C4B"/>
                    </a:solidFill>
                    <a:latin typeface="Meiryo"/>
                    <a:ea typeface="Meiryo"/>
                    <a:cs typeface="Meiryo"/>
                  </a:rPr>
                  <a:t>。</a:t>
                </a:r>
              </a:p>
            </p:txBody>
          </p:sp>
        </mc:Choice>
        <mc:Fallback>
          <p:sp>
            <p:nvSpPr>
              <p:cNvPr id="5" name="本文4">
                <a:extLst xmlns:a="http://schemas.openxmlformats.org/drawingml/2006/main">
                  <a:ext uri="{FF2B5EF4-FFF2-40B4-BE49-F238E27FC236}">
                    <a16:creationId xmlns:a16="http://schemas.microsoft.com/office/drawing/2014/main" id="{77F3F6C1-6548-47BC-8C4F-AFE3CA2821D4}"/>
                  </a:ext>
                </a:extLst>
              </p:cNvPr>
              <p:cNvSpPr>
                <a:spLocks xmlns:a="http://schemas.openxmlformats.org/drawingml/2006/main" noGrp="1"/>
              </p:cNvSpPr>
              <p:nvPr/>
            </p:nvSpPr>
            <p:spPr>
              <a:xfrm xmlns:a="http://schemas.openxmlformats.org/drawingml/2006/main">
                <a:off x="647700" y="14668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A</a:t>
                </a:r>
                <a:r>
                  <a:rPr sz="2100" b="0">
                    <a:solidFill>
                      <a:srgbClr val="213C4B"/>
                    </a:solidFill>
                    <a:latin typeface="Cambria Math"/>
                    <a:ea typeface="Cambria Math"/>
                    <a:cs typeface="Cambria Math"/>
                  </a:rPr>
                  <a:t>(-1000.00,\ 500.00)</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T=198^\circ</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S=1200.00\ \mathrm{m}</a:t>
                </a:r>
                <a:r>
                  <a:rPr sz="2100" b="0">
                    <a:solidFill>
                      <a:srgbClr val="213C4B"/>
                    </a:solidFill>
                    <a:latin typeface="Meiryo"/>
                    <a:ea typeface="Meiryo"/>
                    <a:cs typeface="Meiryo"/>
                  </a:rPr>
                  <a:t>。</a:t>
                </a:r>
              </a:p>
            </p:txBody>
          </p:sp>
        </mc:Fallback>
      </mc:AlternateContent>
      <mc:AlternateContent xmlns:mc="http://schemas.openxmlformats.org/markup-compatibility/2006" xmlns:a14="http://schemas.microsoft.com/office/drawing/2010/main">
        <mc:Choice Requires="a14">
          <p:sp>
            <p:nvSpPr>
              <p:cNvPr id="6" name="本文5">
                <a:extLst xmlns:a="http://schemas.openxmlformats.org/drawingml/2006/main">
                  <a:ext uri="{FF2B5EF4-FFF2-40B4-BE49-F238E27FC236}">
                    <a16:creationId xmlns:a16="http://schemas.microsoft.com/office/drawing/2014/main" id="{6B8FB2CD-FEFE-482D-9C5E-609237AB8378}"/>
                  </a:ext>
                </a:extLst>
              </p:cNvPr>
              <p:cNvSpPr>
                <a:spLocks xmlns:a="http://schemas.openxmlformats.org/drawingml/2006/main" noGrp="1"/>
              </p:cNvSpPr>
              <p:nvPr/>
            </p:nvSpPr>
            <p:spPr>
              <a:xfrm xmlns:a="http://schemas.openxmlformats.org/drawingml/2006/main">
                <a:off x="647700" y="21145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14:m xmlns:m="http://schemas.openxmlformats.org/officeDocument/2006/math">
                  <m:oMath xmlns:mml="http://www.w3.org/1998/Math/MathML">
                    <m:sSup>
                      <m:e>
                        <m:r>
                          <a:rPr sz="2100" b="0" lang="en-US">
                            <a:solidFill>
                              <a:srgbClr val="213C4B"/>
                            </a:solidFill>
                            <a:latin typeface="Cambria Math"/>
                            <a:ea typeface="Meiryo"/>
                          </a:rPr>
                          <m:t>198</m:t>
                        </m:r>
                      </m:e>
                      <m:sup>
                        <m:r>
                          <a:rPr sz="2100" b="0" lang="en-US">
                            <a:solidFill>
                              <a:srgbClr val="213C4B"/>
                            </a:solidFill>
                            <a:latin typeface="Cambria Math"/>
                            <a:ea typeface="Meiryo"/>
                          </a:rPr>
                          <m:t>∘</m:t>
                        </m:r>
                      </m:sup>
                    </m:sSup>
                    <m:r>
                      <a:rPr sz="2100" b="0" lang="en-US">
                        <a:solidFill>
                          <a:srgbClr val="213C4B"/>
                        </a:solidFill>
                        <a:latin typeface="Cambria Math"/>
                        <a:ea typeface="Meiryo"/>
                      </a:rPr>
                      <m:t>=</m:t>
                    </m:r>
                    <m:sSup>
                      <m:e>
                        <m:r>
                          <a:rPr sz="2100" b="0" lang="en-US">
                            <a:solidFill>
                              <a:srgbClr val="213C4B"/>
                            </a:solidFill>
                            <a:latin typeface="Cambria Math"/>
                            <a:ea typeface="Meiryo"/>
                          </a:rPr>
                          <m:t>180</m:t>
                        </m:r>
                      </m:e>
                      <m:sup>
                        <m:r>
                          <a:rPr sz="2100" b="0" lang="en-US">
                            <a:solidFill>
                              <a:srgbClr val="213C4B"/>
                            </a:solidFill>
                            <a:latin typeface="Cambria Math"/>
                            <a:ea typeface="Meiryo"/>
                          </a:rPr>
                          <m:t>∘</m:t>
                        </m:r>
                      </m:sup>
                    </m:sSup>
                    <m:r>
                      <a:rPr sz="2100" b="0" lang="en-US">
                        <a:solidFill>
                          <a:srgbClr val="213C4B"/>
                        </a:solidFill>
                        <a:latin typeface="Cambria Math"/>
                        <a:ea typeface="Meiryo"/>
                      </a:rPr>
                      <m:t>+</m:t>
                    </m:r>
                    <m:sSup>
                      <m:e>
                        <m:r>
                          <a:rPr sz="2100" b="0" lang="en-US">
                            <a:solidFill>
                              <a:srgbClr val="213C4B"/>
                            </a:solidFill>
                            <a:latin typeface="Cambria Math"/>
                            <a:ea typeface="Meiryo"/>
                          </a:rPr>
                          <m:t>18</m:t>
                        </m:r>
                      </m:e>
                      <m:sup>
                        <m:r>
                          <a:rPr sz="2100" b="0" lang="en-US">
                            <a:solidFill>
                              <a:srgbClr val="213C4B"/>
                            </a:solidFill>
                            <a:latin typeface="Cambria Math"/>
                            <a:ea typeface="Meiryo"/>
                          </a:rPr>
                          <m:t>∘</m:t>
                        </m:r>
                      </m:sup>
                    </m:sSup>
                  </m:oMath>
                </a14:m>
                <a:r>
                  <a:rPr sz="2100" b="0">
                    <a:solidFill>
                      <a:srgbClr val="213C4B"/>
                    </a:solidFill>
                    <a:latin typeface="Meiryo"/>
                    <a:ea typeface="Meiryo"/>
                    <a:cs typeface="Meiryo"/>
                  </a:rPr>
                  <a:t> は </a:t>
                </a:r>
                <a:r>
                  <a:rPr sz="2100" b="1">
                    <a:solidFill>
                      <a:srgbClr val="137D78"/>
                    </a:solidFill>
                    <a:latin typeface="Meiryo"/>
                    <a:ea typeface="Meiryo"/>
                    <a:cs typeface="Meiryo"/>
                  </a:rPr>
                  <a:t>第3象限（南西）</a:t>
                </a:r>
                <a:r>
                  <a:rPr sz="2100" b="0">
                    <a:solidFill>
                      <a:srgbClr val="213C4B"/>
                    </a:solidFill>
                    <a:latin typeface="Meiryo"/>
                    <a:ea typeface="Meiryo"/>
                    <a:cs typeface="Meiryo"/>
                  </a:rPr>
                  <a:t>。</a:t>
                </a:r>
              </a:p>
            </p:txBody>
          </p:sp>
        </mc:Choice>
        <mc:Fallback>
          <p:sp>
            <p:nvSpPr>
              <p:cNvPr id="6" name="本文5">
                <a:extLst xmlns:a="http://schemas.openxmlformats.org/drawingml/2006/main">
                  <a:ext uri="{FF2B5EF4-FFF2-40B4-BE49-F238E27FC236}">
                    <a16:creationId xmlns:a16="http://schemas.microsoft.com/office/drawing/2014/main" id="{6B8FB2CD-FEFE-482D-9C5E-609237AB8378}"/>
                  </a:ext>
                </a:extLst>
              </p:cNvPr>
              <p:cNvSpPr>
                <a:spLocks xmlns:a="http://schemas.openxmlformats.org/drawingml/2006/main" noGrp="1"/>
              </p:cNvSpPr>
              <p:nvPr/>
            </p:nvSpPr>
            <p:spPr>
              <a:xfrm xmlns:a="http://schemas.openxmlformats.org/drawingml/2006/main">
                <a:off x="647700" y="21145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Cambria Math"/>
                    <a:ea typeface="Cambria Math"/>
                    <a:cs typeface="Cambria Math"/>
                  </a:rPr>
                  <a:t>198^\circ=180^\circ+18^\circ</a:t>
                </a:r>
                <a:r>
                  <a:rPr sz="2100" b="0">
                    <a:solidFill>
                      <a:srgbClr val="213C4B"/>
                    </a:solidFill>
                    <a:latin typeface="Meiryo"/>
                    <a:ea typeface="Meiryo"/>
                    <a:cs typeface="Meiryo"/>
                  </a:rPr>
                  <a:t> は </a:t>
                </a:r>
                <a:r>
                  <a:rPr sz="2100" b="1">
                    <a:solidFill>
                      <a:srgbClr val="137D78"/>
                    </a:solidFill>
                    <a:latin typeface="Meiryo"/>
                    <a:ea typeface="Meiryo"/>
                    <a:cs typeface="Meiryo"/>
                  </a:rPr>
                  <a:t>第3象限（南西）</a:t>
                </a:r>
                <a:r>
                  <a:rPr sz="2100" b="0">
                    <a:solidFill>
                      <a:srgbClr val="213C4B"/>
                    </a:solidFill>
                    <a:latin typeface="Meiryo"/>
                    <a:ea typeface="Meiryo"/>
                    <a:cs typeface="Meiryo"/>
                  </a:rPr>
                  <a:t>。</a:t>
                </a:r>
              </a:p>
            </p:txBody>
          </p:sp>
        </mc:Fallback>
      </mc:AlternateContent>
      <mc:AlternateContent xmlns:mc="http://schemas.openxmlformats.org/markup-compatibility/2006" xmlns:a14="http://schemas.microsoft.com/office/drawing/2010/main">
        <mc:Choice Requires="a14">
          <p:sp>
            <p:nvSpPr>
              <p:cNvPr id="7" name="本文6">
                <a:extLst xmlns:a="http://schemas.openxmlformats.org/drawingml/2006/main">
                  <a:ext uri="{FF2B5EF4-FFF2-40B4-BE49-F238E27FC236}">
                    <a16:creationId xmlns:a16="http://schemas.microsoft.com/office/drawing/2014/main" id="{C34879EE-7F7E-42B8-A3FE-79A511DBDAE4}"/>
                  </a:ext>
                </a:extLst>
              </p:cNvPr>
              <p:cNvSpPr>
                <a:spLocks xmlns:a="http://schemas.openxmlformats.org/drawingml/2006/main" noGrp="1"/>
              </p:cNvSpPr>
              <p:nvPr/>
            </p:nvSpPr>
            <p:spPr>
              <a:xfrm xmlns:a="http://schemas.openxmlformats.org/drawingml/2006/main">
                <a:off x="647700" y="27622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表の </a:t>
                </a:r>
                <a14:m xmlns:m="http://schemas.openxmlformats.org/officeDocument/2006/math">
                  <m:oMath xmlns:mml="http://www.w3.org/1998/Math/MathML">
                    <m:r>
                      <m:rPr>
                        <m:sty m:val="p"/>
                      </m:rPr>
                      <a:rPr sz="2100" b="0" lang="en-US">
                        <a:solidFill>
                          <a:srgbClr val="213C4B"/>
                        </a:solidFill>
                        <a:latin typeface="Cambria Math"/>
                        <a:ea typeface="Meiryo"/>
                      </a:rPr>
                      <m:t>cos</m:t>
                    </m:r>
                    <m:r>
                      <a:rPr sz="2100" b="0" lang="en-US">
                        <a:solidFill>
                          <a:srgbClr val="213C4B"/>
                        </a:solidFill>
                        <a:latin typeface="Cambria Math"/>
                        <a:ea typeface="Meiryo"/>
                      </a:rPr>
                      <m:t>⁡</m:t>
                    </m:r>
                    <m:sSup>
                      <m:e>
                        <m:r>
                          <a:rPr sz="2100" b="0" lang="en-US">
                            <a:solidFill>
                              <a:srgbClr val="213C4B"/>
                            </a:solidFill>
                            <a:latin typeface="Cambria Math"/>
                            <a:ea typeface="Meiryo"/>
                          </a:rPr>
                          <m:t>18</m:t>
                        </m:r>
                      </m:e>
                      <m:sup>
                        <m:r>
                          <a:rPr sz="2100" b="0" lang="en-US">
                            <a:solidFill>
                              <a:srgbClr val="213C4B"/>
                            </a:solidFill>
                            <a:latin typeface="Cambria Math"/>
                            <a:ea typeface="Meiryo"/>
                          </a:rPr>
                          <m:t>∘</m:t>
                        </m:r>
                      </m:sup>
                    </m:sSup>
                    <m:r>
                      <a:rPr sz="2100" b="0" lang="en-US">
                        <a:solidFill>
                          <a:srgbClr val="213C4B"/>
                        </a:solidFill>
                        <a:latin typeface="Cambria Math"/>
                        <a:ea typeface="Meiryo"/>
                      </a:rPr>
                      <m:t>=0.95106</m:t>
                    </m:r>
                  </m:oMath>
                </a14:m>
                <a:r>
                  <a:rPr sz="2100" b="0">
                    <a:solidFill>
                      <a:srgbClr val="213C4B"/>
                    </a:solidFill>
                    <a:latin typeface="Meiryo"/>
                    <a:ea typeface="Meiryo"/>
                    <a:cs typeface="Meiryo"/>
                  </a:rPr>
                  <a:t>、</a:t>
                </a:r>
                <a14:m xmlns:m="http://schemas.openxmlformats.org/officeDocument/2006/math">
                  <m:oMath xmlns:mml="http://www.w3.org/1998/Math/MathML">
                    <m:r>
                      <m:rPr>
                        <m:sty m:val="p"/>
                      </m:rPr>
                      <a:rPr sz="2100" b="0" lang="en-US">
                        <a:solidFill>
                          <a:srgbClr val="213C4B"/>
                        </a:solidFill>
                        <a:latin typeface="Cambria Math"/>
                        <a:ea typeface="Meiryo"/>
                      </a:rPr>
                      <m:t>sin</m:t>
                    </m:r>
                    <m:r>
                      <a:rPr sz="2100" b="0" lang="en-US">
                        <a:solidFill>
                          <a:srgbClr val="213C4B"/>
                        </a:solidFill>
                        <a:latin typeface="Cambria Math"/>
                        <a:ea typeface="Meiryo"/>
                      </a:rPr>
                      <m:t>⁡</m:t>
                    </m:r>
                    <m:sSup>
                      <m:e>
                        <m:r>
                          <a:rPr sz="2100" b="0" lang="en-US">
                            <a:solidFill>
                              <a:srgbClr val="213C4B"/>
                            </a:solidFill>
                            <a:latin typeface="Cambria Math"/>
                            <a:ea typeface="Meiryo"/>
                          </a:rPr>
                          <m:t>18</m:t>
                        </m:r>
                      </m:e>
                      <m:sup>
                        <m:r>
                          <a:rPr sz="2100" b="0" lang="en-US">
                            <a:solidFill>
                              <a:srgbClr val="213C4B"/>
                            </a:solidFill>
                            <a:latin typeface="Cambria Math"/>
                            <a:ea typeface="Meiryo"/>
                          </a:rPr>
                          <m:t>∘</m:t>
                        </m:r>
                      </m:sup>
                    </m:sSup>
                    <m:r>
                      <a:rPr sz="2100" b="0" lang="en-US">
                        <a:solidFill>
                          <a:srgbClr val="213C4B"/>
                        </a:solidFill>
                        <a:latin typeface="Cambria Math"/>
                        <a:ea typeface="Meiryo"/>
                      </a:rPr>
                      <m:t>=0.30902</m:t>
                    </m:r>
                  </m:oMath>
                </a14:m>
                <a:r>
                  <a:rPr sz="2100" b="0">
                    <a:solidFill>
                      <a:srgbClr val="213C4B"/>
                    </a:solidFill>
                    <a:latin typeface="Meiryo"/>
                    <a:ea typeface="Meiryo"/>
                    <a:cs typeface="Meiryo"/>
                  </a:rPr>
                  <a:t> を両方負にする。</a:t>
                </a:r>
              </a:p>
            </p:txBody>
          </p:sp>
        </mc:Choice>
        <mc:Fallback>
          <p:sp>
            <p:nvSpPr>
              <p:cNvPr id="7" name="本文6">
                <a:extLst xmlns:a="http://schemas.openxmlformats.org/drawingml/2006/main">
                  <a:ext uri="{FF2B5EF4-FFF2-40B4-BE49-F238E27FC236}">
                    <a16:creationId xmlns:a16="http://schemas.microsoft.com/office/drawing/2014/main" id="{C34879EE-7F7E-42B8-A3FE-79A511DBDAE4}"/>
                  </a:ext>
                </a:extLst>
              </p:cNvPr>
              <p:cNvSpPr>
                <a:spLocks xmlns:a="http://schemas.openxmlformats.org/drawingml/2006/main" noGrp="1"/>
              </p:cNvSpPr>
              <p:nvPr/>
            </p:nvSpPr>
            <p:spPr>
              <a:xfrm xmlns:a="http://schemas.openxmlformats.org/drawingml/2006/main">
                <a:off x="647700" y="27622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表の </a:t>
                </a:r>
                <a:r>
                  <a:rPr sz="2100" b="0">
                    <a:solidFill>
                      <a:srgbClr val="213C4B"/>
                    </a:solidFill>
                    <a:latin typeface="Cambria Math"/>
                    <a:ea typeface="Cambria Math"/>
                    <a:cs typeface="Cambria Math"/>
                  </a:rPr>
                  <a:t>\cos18^\circ=0.95106</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\sin18^\circ=0.30902</a:t>
                </a:r>
                <a:r>
                  <a:rPr sz="2100" b="0">
                    <a:solidFill>
                      <a:srgbClr val="213C4B"/>
                    </a:solidFill>
                    <a:latin typeface="Meiryo"/>
                    <a:ea typeface="Meiryo"/>
                    <a:cs typeface="Meiryo"/>
                  </a:rPr>
                  <a:t> を両方負にする。</a:t>
                </a:r>
              </a:p>
            </p:txBody>
          </p:sp>
        </mc:Fallback>
      </mc:AlternateContent>
      <mc:AlternateContent xmlns:mc="http://schemas.openxmlformats.org/markup-compatibility/2006" xmlns:a14="http://schemas.microsoft.com/office/drawing/2010/main">
        <mc:Choice Requires="a14">
          <p:sp>
            <p:nvSpPr>
              <p:cNvPr id="8" name="EQM00174">
                <a:extLst xmlns:a="http://schemas.openxmlformats.org/drawingml/2006/main">
                  <a:ext uri="{FF2B5EF4-FFF2-40B4-BE49-F238E27FC236}">
                    <a16:creationId xmlns:a16="http://schemas.microsoft.com/office/drawing/2014/main" id="{BCDB5877-6AEE-4D60-9BC9-5F3115D0E201}"/>
                  </a:ext>
                </a:extLst>
              </p:cNvPr>
              <p:cNvSpPr>
                <a:spLocks xmlns:a="http://schemas.openxmlformats.org/drawingml/2006/main" noGrp="1"/>
              </p:cNvSpPr>
              <p:nvPr/>
            </p:nvSpPr>
            <p:spPr>
              <a:xfrm xmlns:a="http://schemas.openxmlformats.org/drawingml/2006/main">
                <a:off x="647700" y="3409950"/>
                <a:ext cx="10896600"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14:m xmlns:m="http://schemas.openxmlformats.org/officeDocument/2006/math">
                  <m:oMathPara>
                    <m:oMathParaPr>
                      <m:jc m:val="centerGroup"/>
                    </m:oMathParaPr>
                    <m:oMath xmlns:mml="http://www.w3.org/1998/Math/MathML">
                      <m:eqArr>
                        <m:e>
                          <m:sSub>
                            <m:e>
                              <m:argPr>
                                <m:argSz m:val="0"/>
                              </m:argPr>
                              <m:r>
                                <a:rPr sz="2700" b="0" lang="en-US">
                                  <a:solidFill>
                                    <a:srgbClr val="153D50"/>
                                  </a:solidFill>
                                  <a:latin typeface="Cambria Math"/>
                                  <a:ea typeface="Meiryo"/>
                                </a:rPr>
                                <m:t>X</m:t>
                              </m:r>
                            </m:e>
                            <m:sub>
                              <m:argPr>
                                <m:argSz m:val="0"/>
                              </m:argPr>
                              <m:r>
                                <a:rPr sz="2700" b="0" lang="en-US">
                                  <a:solidFill>
                                    <a:srgbClr val="153D50"/>
                                  </a:solidFill>
                                  <a:latin typeface="Cambria Math"/>
                                  <a:ea typeface="Meiryo"/>
                                </a:rPr>
                                <m:t>B</m:t>
                              </m:r>
                            </m:sub>
                          </m:sSub>
                          <m:r>
                            <a:rPr sz="2700" b="0" lang="en-US">
                              <a:solidFill>
                                <a:srgbClr val="153D50"/>
                              </a:solidFill>
                              <a:latin typeface="Cambria Math"/>
                              <a:ea typeface="Meiryo"/>
                            </a:rPr>
                            <m:t>&amp;</m:t>
                          </m:r>
                          <m:r>
                            <a:rPr sz="2700" b="0" lang="en-US">
                              <a:solidFill>
                                <a:srgbClr val="153D50"/>
                              </a:solidFill>
                              <a:latin typeface="Cambria Math"/>
                              <a:ea typeface="Meiryo"/>
                            </a:rPr>
                            <m:t>=−1000.00−1200.00×0.95106</m:t>
                          </m:r>
                        </m:e>
                        <m:e>
                          <m:r>
                            <a:rPr sz="2700" b="0" lang="en-US">
                              <a:solidFill>
                                <a:srgbClr val="153D50"/>
                              </a:solidFill>
                              <a:latin typeface="Cambria Math"/>
                              <a:ea typeface="Meiryo"/>
                            </a:rPr>
                            <m:t>&amp;</m:t>
                          </m:r>
                          <m:r>
                            <a:rPr sz="2700" b="0" lang="en-US">
                              <a:solidFill>
                                <a:srgbClr val="153D50"/>
                              </a:solidFill>
                              <a:latin typeface="Cambria Math"/>
                              <a:ea typeface="Meiryo"/>
                            </a:rPr>
                            <m:t>=−2141.27</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e>
                        <m:e>
                          <m:sSub>
                            <m:e>
                              <m:argPr>
                                <m:argSz m:val="0"/>
                              </m:argPr>
                              <m:r>
                                <a:rPr sz="2700" b="0" lang="en-US">
                                  <a:solidFill>
                                    <a:srgbClr val="153D50"/>
                                  </a:solidFill>
                                  <a:latin typeface="Cambria Math"/>
                                  <a:ea typeface="Meiryo"/>
                                </a:rPr>
                                <m:t>Y</m:t>
                              </m:r>
                            </m:e>
                            <m:sub>
                              <m:argPr>
                                <m:argSz m:val="0"/>
                              </m:argPr>
                              <m:r>
                                <a:rPr sz="2700" b="0" lang="en-US">
                                  <a:solidFill>
                                    <a:srgbClr val="153D50"/>
                                  </a:solidFill>
                                  <a:latin typeface="Cambria Math"/>
                                  <a:ea typeface="Meiryo"/>
                                </a:rPr>
                                <m:t>B</m:t>
                              </m:r>
                            </m:sub>
                          </m:sSub>
                          <m:r>
                            <a:rPr sz="2700" b="0" lang="en-US">
                              <a:solidFill>
                                <a:srgbClr val="153D50"/>
                              </a:solidFill>
                              <a:latin typeface="Cambria Math"/>
                              <a:ea typeface="Meiryo"/>
                            </a:rPr>
                            <m:t>&amp;</m:t>
                          </m:r>
                          <m:r>
                            <a:rPr sz="2700" b="0" lang="en-US">
                              <a:solidFill>
                                <a:srgbClr val="153D50"/>
                              </a:solidFill>
                              <a:latin typeface="Cambria Math"/>
                              <a:ea typeface="Meiryo"/>
                            </a:rPr>
                            <m:t>=500.00−1200.00×0.30902</m:t>
                          </m:r>
                        </m:e>
                        <m:e>
                          <m:r>
                            <a:rPr sz="2700" b="0" lang="en-US">
                              <a:solidFill>
                                <a:srgbClr val="153D50"/>
                              </a:solidFill>
                              <a:latin typeface="Cambria Math"/>
                              <a:ea typeface="Meiryo"/>
                            </a:rPr>
                            <m:t>&amp;</m:t>
                          </m:r>
                          <m:r>
                            <a:rPr sz="2700" b="0" lang="en-US">
                              <a:solidFill>
                                <a:srgbClr val="153D50"/>
                              </a:solidFill>
                              <a:latin typeface="Cambria Math"/>
                              <a:ea typeface="Meiryo"/>
                            </a:rPr>
                            <m:t>=129.18</m:t>
                          </m:r>
                          <m:r>
                            <m:rPr>
                              <m:nor/>
                            </m:rPr>
                            <a:rPr sz="2700" b="0" lang="en-US">
                              <a:solidFill>
                                <a:srgbClr val="153D50"/>
                              </a:solidFill>
                              <a:latin typeface="Cambria Math"/>
                              <a:ea typeface="Meiryo"/>
                            </a:rPr>
                            <m:t> </m:t>
                          </m:r>
                          <m:r>
                            <m:rPr>
                              <m:sty m:val="p"/>
                            </m:rPr>
                            <a:rPr sz="2700" b="0" lang="en-US">
                              <a:solidFill>
                                <a:srgbClr val="153D50"/>
                              </a:solidFill>
                              <a:latin typeface="Cambria Math"/>
                              <a:ea typeface="Meiryo"/>
                            </a:rPr>
                            <m:t>m</m:t>
                          </m:r>
                        </m:e>
                      </m:eqArr>
                    </m:oMath>
                  </m:oMathPara>
                </a14:m>
              </a:p>
            </p:txBody>
          </p:sp>
        </mc:Choice>
        <mc:Fallback>
          <p:sp>
            <p:nvSpPr>
              <p:cNvPr id="8" name="EQM00174">
                <a:extLst xmlns:a="http://schemas.openxmlformats.org/drawingml/2006/main">
                  <a:ext uri="{FF2B5EF4-FFF2-40B4-BE49-F238E27FC236}">
                    <a16:creationId xmlns:a16="http://schemas.microsoft.com/office/drawing/2014/main" id="{BCDB5877-6AEE-4D60-9BC9-5F3115D0E201}"/>
                  </a:ext>
                </a:extLst>
              </p:cNvPr>
              <p:cNvSpPr>
                <a:spLocks xmlns:a="http://schemas.openxmlformats.org/drawingml/2006/main" noGrp="1"/>
              </p:cNvSpPr>
              <p:nvPr/>
            </p:nvSpPr>
            <p:spPr>
              <a:xfrm xmlns:a="http://schemas.openxmlformats.org/drawingml/2006/main">
                <a:off x="647700" y="3409950"/>
                <a:ext cx="10896600"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700" b="0">
                    <a:solidFill>
                      <a:srgbClr val="153D50"/>
                    </a:solidFill>
                    <a:latin typeface="Meiryo"/>
                    <a:ea typeface="Meiryo"/>
                    <a:cs typeface="Meiryo"/>
                  </a:defRPr>
                </a:defPPr>
              </a:lstStyle>
              <a:p xmlns:a="http://schemas.openxmlformats.org/drawingml/2006/main">
                <a:pPr algn="ctr">
                  <a:defRPr sz="2700" b="0">
                    <a:solidFill>
                      <a:srgbClr val="153D50"/>
                    </a:solidFill>
                    <a:latin typeface="Meiryo"/>
                    <a:ea typeface="Meiryo"/>
                    <a:cs typeface="Meiryo"/>
                  </a:defRPr>
                </a:pPr>
                <a:r>
                  <a:rPr sz="2700" b="0">
                    <a:solidFill>
                      <a:srgbClr val="153D50"/>
                    </a:solidFill>
                    <a:latin typeface="Meiryo"/>
                    <a:ea typeface="Meiryo"/>
                    <a:cs typeface="Meiryo"/>
                  </a:rPr>
                  <a:t>\begin{aligned}
X_B&amp;=-1000.00-1200.00\times0.95106\\
   &amp;=-2141.27\ \mathrm{m}\\
Y_B&amp;=500.00-1200.00\times0.30902\\
   &amp;=129.18\ \mathrm{m}
\end{aligned}</a:t>
                </a:r>
              </a:p>
            </p:txBody>
          </p:sp>
        </mc:Fallback>
      </mc:AlternateContent>
    </p:spTree>
    <p:extLst>
      <p:ext uri="{BB962C8B-B14F-4D97-AF65-F5344CB8AC3E}">
        <p14:creationId xmlns:p14="http://schemas.microsoft.com/office/powerpoint/2010/main" val="1458044145"/>
      </p:ext>
    </p:extLst>
  </p:cSld>
</p:sld>
</file>

<file path=ppt/slides/slide69.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287DC259-F57C-4CCA-B02C-0E6A4EA69F26}"/>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3-5</a:t>
            </a:r>
          </a:p>
        </p:txBody>
      </p:sp>
      <p:sp>
        <p:nvSpPr>
          <p:cNvPr id="2" name="本文1">
            <a:extLst xmlns:a="http://schemas.openxmlformats.org/drawingml/2006/main">
              <a:ext uri="{FF2B5EF4-FFF2-40B4-BE49-F238E27FC236}">
                <a16:creationId xmlns:a16="http://schemas.microsoft.com/office/drawing/2014/main" id="{30AFD0A1-AFC5-42DD-B286-082EB9E63131}"/>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成果表の数字を位置関係で点検する</a:t>
            </a:r>
          </a:p>
        </p:txBody>
      </p:sp>
      <p:sp>
        <p:nvSpPr>
          <p:cNvPr id="3" name="本文2">
            <a:extLst xmlns:a="http://schemas.openxmlformats.org/drawingml/2006/main">
              <a:ext uri="{FF2B5EF4-FFF2-40B4-BE49-F238E27FC236}">
                <a16:creationId xmlns:a16="http://schemas.microsoft.com/office/drawing/2014/main" id="{8F10FF49-0126-4F23-BBA4-30E33597447E}"/>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69</a:t>
            </a:r>
          </a:p>
        </p:txBody>
      </p:sp>
      <p:sp>
        <p:nvSpPr>
          <p:cNvPr id="4" name="本文3">
            <a:extLst xmlns:a="http://schemas.openxmlformats.org/drawingml/2006/main">
              <a:ext uri="{FF2B5EF4-FFF2-40B4-BE49-F238E27FC236}">
                <a16:creationId xmlns:a16="http://schemas.microsoft.com/office/drawing/2014/main" id="{2936B203-E81C-4260-A847-877A7D703A35}"/>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緯度経度から方角を予想し、座標の符号と照合する。</a:t>
            </a:r>
          </a:p>
        </p:txBody>
      </p:sp>
      <p:sp>
        <p:nvSpPr>
          <p:cNvPr id="5" name="本文4">
            <a:extLst xmlns:a="http://schemas.openxmlformats.org/drawingml/2006/main">
              <a:ext uri="{FF2B5EF4-FFF2-40B4-BE49-F238E27FC236}">
                <a16:creationId xmlns:a16="http://schemas.microsoft.com/office/drawing/2014/main" id="{1FE54402-AF97-4E6F-A417-8E6B8CD51BC5}"/>
              </a:ext>
            </a:extLst>
          </p:cNvPr>
          <p:cNvSpPr>
            <a:spLocks xmlns:a="http://schemas.openxmlformats.org/drawingml/2006/main" noGrp="1"/>
          </p:cNvSpPr>
          <p:nvPr/>
        </p:nvSpPr>
        <p:spPr>
          <a:xfrm xmlns:a="http://schemas.openxmlformats.org/drawingml/2006/main">
            <a:off x="647700" y="171005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第XI系の原点：北緯44°、東経140°15′。</a:t>
            </a:r>
          </a:p>
        </p:txBody>
      </p:sp>
      <p:sp>
        <p:nvSpPr>
          <p:cNvPr id="6" name="本文5">
            <a:extLst xmlns:a="http://schemas.openxmlformats.org/drawingml/2006/main">
              <a:ext uri="{FF2B5EF4-FFF2-40B4-BE49-F238E27FC236}">
                <a16:creationId xmlns:a16="http://schemas.microsoft.com/office/drawing/2014/main" id="{B595FDD9-2B27-400E-924C-C58A0E4D4620}"/>
              </a:ext>
            </a:extLst>
          </p:cNvPr>
          <p:cNvSpPr>
            <a:spLocks xmlns:a="http://schemas.openxmlformats.org/drawingml/2006/main" noGrp="1"/>
          </p:cNvSpPr>
          <p:nvPr/>
        </p:nvSpPr>
        <p:spPr>
          <a:xfrm xmlns:a="http://schemas.openxmlformats.org/drawingml/2006/main">
            <a:off x="647700" y="235775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点P：北緯43°30′、東経141°00′、標高50 m。</a:t>
            </a:r>
          </a:p>
        </p:txBody>
      </p:sp>
      <mc:AlternateContent xmlns:mc="http://schemas.openxmlformats.org/markup-compatibility/2006" xmlns:a14="http://schemas.microsoft.com/office/drawing/2010/main">
        <mc:Choice Requires="a14">
          <p:graphicFrame>
            <p:nvGraphicFramePr>
              <p:cNvPr id="7" name="">
                <a:extLst xmlns:a="http://schemas.openxmlformats.org/drawingml/2006/main">
                  <a:ext uri="{FF2B5EF4-FFF2-40B4-BE49-F238E27FC236}">
                    <a16:creationId xmlns:a16="http://schemas.microsoft.com/office/drawing/2014/main" id="{F0B34ED2-7AE4-4FAB-8C6F-DDF00CD7F9B5}"/>
                  </a:ext>
                </a:extLst>
              </p:cNvPr>
              <p:cNvGraphicFramePr/>
              <p:nvPr/>
            </p:nvGraphicFramePr>
            <p:xfrm>
              <a:off xmlns:a="http://schemas.openxmlformats.org/drawingml/2006/main" x="647700" y="3005455"/>
              <a:ext xmlns:a="http://schemas.openxmlformats.org/drawingml/2006/main" cx="10896600" cy="238506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位置関係</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判断</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原点より南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X&lt;0</m:t>
                              </m:r>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原点より東</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Y&gt;0</m:t>
                              </m:r>
                            </m:oMath>
                          </a14:m>
                          <a:r>
                            <a:rPr sz="2100" b="0">
                              <a:solidFill>
                                <a:srgbClr val="213C4B"/>
                              </a:solidFill>
                              <a:latin typeface="Meiryo"/>
                              <a:ea typeface="Meiryo"/>
                              <a:cs typeface="Meiryo"/>
                            </a:rPr>
                            <a:t>、真北方向角 </a:t>
                          </a:r>
                          <a14:m xmlns:m="http://schemas.openxmlformats.org/officeDocument/2006/math">
                            <m:oMath xmlns:mml="http://www.w3.org/1998/Math/MathML">
                              <m:r>
                                <a:rPr sz="2100" b="0" lang="en-US">
                                  <a:solidFill>
                                    <a:srgbClr val="213C4B"/>
                                  </a:solidFill>
                                  <a:latin typeface="Cambria Math"/>
                                  <a:ea typeface="Meiryo"/>
                                </a:rPr>
                                <m:t>γ&lt;0</m:t>
                              </m:r>
                            </m:oMath>
                          </a14:m>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中央子午線から約60 km</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0.9999&lt;m&lt;1.0000</m:t>
                              </m:r>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Choice>
        <mc:Fallback>
          <p:graphicFrame>
            <p:nvGraphicFramePr>
              <p:cNvPr id="7" name="">
                <a:extLst xmlns:a="http://schemas.openxmlformats.org/drawingml/2006/main">
                  <a:ext uri="{FF2B5EF4-FFF2-40B4-BE49-F238E27FC236}">
                    <a16:creationId xmlns:a16="http://schemas.microsoft.com/office/drawing/2014/main" id="{F0B34ED2-7AE4-4FAB-8C6F-DDF00CD7F9B5}"/>
                  </a:ext>
                </a:extLst>
              </p:cNvPr>
              <p:cNvGraphicFramePr/>
              <p:nvPr/>
            </p:nvGraphicFramePr>
            <p:xfrm>
              <a:off xmlns:a="http://schemas.openxmlformats.org/drawingml/2006/main" x="647700" y="3005455"/>
              <a:ext xmlns:a="http://schemas.openxmlformats.org/drawingml/2006/main" cx="10896600" cy="238506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位置関係</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判断</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原点より南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Cambria Math"/>
                              <a:ea typeface="Cambria Math"/>
                              <a:cs typeface="Cambria Math"/>
                            </a:rPr>
                            <a:t>X&lt;0</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原点より東</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Cambria Math"/>
                              <a:ea typeface="Cambria Math"/>
                              <a:cs typeface="Cambria Math"/>
                            </a:rPr>
                            <a:t>Y&gt;0</a:t>
                          </a:r>
                          <a:r>
                            <a:rPr sz="2100" b="0">
                              <a:solidFill>
                                <a:srgbClr val="213C4B"/>
                              </a:solidFill>
                              <a:latin typeface="Meiryo"/>
                              <a:ea typeface="Meiryo"/>
                              <a:cs typeface="Meiryo"/>
                            </a:rPr>
                            <a:t>、真北方向角 </a:t>
                          </a:r>
                          <a:r>
                            <a:rPr sz="2100" b="0">
                              <a:solidFill>
                                <a:srgbClr val="213C4B"/>
                              </a:solidFill>
                              <a:latin typeface="Cambria Math"/>
                              <a:ea typeface="Cambria Math"/>
                              <a:cs typeface="Cambria Math"/>
                            </a:rPr>
                            <a:t>\gamma&lt;0</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中央子午線から約60 km</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Cambria Math"/>
                              <a:ea typeface="Cambria Math"/>
                              <a:cs typeface="Cambria Math"/>
                            </a:rPr>
                            <a:t>0.9999&lt;m&lt;1.0000</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Fallback>
      </mc:AlternateContent>
    </p:spTree>
    <p:extLst>
      <p:ext uri="{BB962C8B-B14F-4D97-AF65-F5344CB8AC3E}">
        <p14:creationId xmlns:p14="http://schemas.microsoft.com/office/powerpoint/2010/main" val="723256739"/>
      </p:ext>
    </p:extLst>
  </p:cSld>
</p:sld>
</file>

<file path=ppt/slides/slide70.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C133BEDB-67F1-4AE2-BB7D-F8845528D3DA}"/>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3-5</a:t>
            </a:r>
          </a:p>
        </p:txBody>
      </p:sp>
      <p:sp>
        <p:nvSpPr>
          <p:cNvPr id="2" name="本文1">
            <a:extLst xmlns:a="http://schemas.openxmlformats.org/drawingml/2006/main">
              <a:ext uri="{FF2B5EF4-FFF2-40B4-BE49-F238E27FC236}">
                <a16:creationId xmlns:a16="http://schemas.microsoft.com/office/drawing/2014/main" id="{45E5C2E9-8511-4053-BECF-A66C18ABE1B0}"/>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ここまでの確認③</a:t>
            </a:r>
          </a:p>
        </p:txBody>
      </p:sp>
      <p:sp>
        <p:nvSpPr>
          <p:cNvPr id="3" name="本文2">
            <a:extLst xmlns:a="http://schemas.openxmlformats.org/drawingml/2006/main">
              <a:ext uri="{FF2B5EF4-FFF2-40B4-BE49-F238E27FC236}">
                <a16:creationId xmlns:a16="http://schemas.microsoft.com/office/drawing/2014/main" id="{BE161F46-BB9A-4469-B6F5-BA78A7A27293}"/>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70</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3061C85F-8F1F-4AE3-9BD9-C98C2D659DF7}"/>
                  </a:ext>
                </a:extLst>
              </p:cNvPr>
              <p:cNvSpPr>
                <a:spLocks xmlns:a="http://schemas.openxmlformats.org/drawingml/2006/main" noGrp="1"/>
              </p:cNvSpPr>
              <p:nvPr/>
            </p:nvSpPr>
            <p:spPr>
              <a:xfrm xmlns:a="http://schemas.openxmlformats.org/drawingml/2006/main">
                <a:off x="647700" y="19621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a:t>
                </a:r>
                <a14:m xmlns:m="http://schemas.openxmlformats.org/officeDocument/2006/math">
                  <m:oMath xmlns:mml="http://www.w3.org/1998/Math/MathML">
                    <m:r>
                      <m:rPr>
                        <m:sty m:val="p"/>
                      </m:rPr>
                      <a:rPr sz="2100" b="0" lang="en-US">
                        <a:solidFill>
                          <a:srgbClr val="213C4B"/>
                        </a:solidFill>
                        <a:latin typeface="Cambria Math"/>
                        <a:ea typeface="Meiryo"/>
                      </a:rPr>
                      <m:t>Δ</m:t>
                    </m:r>
                    <m:r>
                      <a:rPr sz="2100" b="0" lang="en-US">
                        <a:solidFill>
                          <a:srgbClr val="213C4B"/>
                        </a:solidFill>
                        <a:latin typeface="Cambria Math"/>
                        <a:ea typeface="Meiryo"/>
                      </a:rPr>
                      <m:t>X=−100</m:t>
                    </m:r>
                  </m:oMath>
                </a14:m>
                <a:r>
                  <a:rPr sz="2100" b="0">
                    <a:solidFill>
                      <a:srgbClr val="213C4B"/>
                    </a:solidFill>
                    <a:latin typeface="Meiryo"/>
                    <a:ea typeface="Meiryo"/>
                    <a:cs typeface="Meiryo"/>
                  </a:rPr>
                  <a:t> m、</a:t>
                </a:r>
                <a14:m xmlns:m="http://schemas.openxmlformats.org/officeDocument/2006/math">
                  <m:oMath xmlns:mml="http://www.w3.org/1998/Math/MathML">
                    <m:r>
                      <m:rPr>
                        <m:sty m:val="p"/>
                      </m:rPr>
                      <a:rPr sz="2100" b="0" lang="en-US">
                        <a:solidFill>
                          <a:srgbClr val="213C4B"/>
                        </a:solidFill>
                        <a:latin typeface="Cambria Math"/>
                        <a:ea typeface="Meiryo"/>
                      </a:rPr>
                      <m:t>Δ</m:t>
                    </m:r>
                    <m:r>
                      <a:rPr sz="2100" b="0" lang="en-US">
                        <a:solidFill>
                          <a:srgbClr val="213C4B"/>
                        </a:solidFill>
                        <a:latin typeface="Cambria Math"/>
                        <a:ea typeface="Meiryo"/>
                      </a:rPr>
                      <m:t>Y=−100</m:t>
                    </m:r>
                  </m:oMath>
                </a14:m>
                <a:r>
                  <a:rPr sz="2100" b="0">
                    <a:solidFill>
                      <a:srgbClr val="213C4B"/>
                    </a:solidFill>
                    <a:latin typeface="Meiryo"/>
                    <a:ea typeface="Meiryo"/>
                    <a:cs typeface="Meiryo"/>
                  </a:rPr>
                  <a:t> m のとき、方向角は？</a:t>
                </a:r>
              </a:p>
            </p:txBody>
          </p:sp>
        </mc:Choice>
        <mc:Fallback>
          <p:sp>
            <p:nvSpPr>
              <p:cNvPr id="4" name="本文3">
                <a:extLst xmlns:a="http://schemas.openxmlformats.org/drawingml/2006/main">
                  <a:ext uri="{FF2B5EF4-FFF2-40B4-BE49-F238E27FC236}">
                    <a16:creationId xmlns:a16="http://schemas.microsoft.com/office/drawing/2014/main" id="{3061C85F-8F1F-4AE3-9BD9-C98C2D659DF7}"/>
                  </a:ext>
                </a:extLst>
              </p:cNvPr>
              <p:cNvSpPr>
                <a:spLocks xmlns:a="http://schemas.openxmlformats.org/drawingml/2006/main" noGrp="1"/>
              </p:cNvSpPr>
              <p:nvPr/>
            </p:nvSpPr>
            <p:spPr>
              <a:xfrm xmlns:a="http://schemas.openxmlformats.org/drawingml/2006/main">
                <a:off x="647700" y="19621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a:t>
                </a:r>
                <a:r>
                  <a:rPr sz="2100" b="0">
                    <a:solidFill>
                      <a:srgbClr val="213C4B"/>
                    </a:solidFill>
                    <a:latin typeface="Cambria Math"/>
                    <a:ea typeface="Cambria Math"/>
                    <a:cs typeface="Cambria Math"/>
                  </a:rPr>
                  <a:t>\Delta X=-100</a:t>
                </a:r>
                <a:r>
                  <a:rPr sz="2100" b="0">
                    <a:solidFill>
                      <a:srgbClr val="213C4B"/>
                    </a:solidFill>
                    <a:latin typeface="Meiryo"/>
                    <a:ea typeface="Meiryo"/>
                    <a:cs typeface="Meiryo"/>
                  </a:rPr>
                  <a:t> m、</a:t>
                </a:r>
                <a:r>
                  <a:rPr sz="2100" b="0">
                    <a:solidFill>
                      <a:srgbClr val="213C4B"/>
                    </a:solidFill>
                    <a:latin typeface="Cambria Math"/>
                    <a:ea typeface="Cambria Math"/>
                    <a:cs typeface="Cambria Math"/>
                  </a:rPr>
                  <a:t>\Delta Y=-100</a:t>
                </a:r>
                <a:r>
                  <a:rPr sz="2100" b="0">
                    <a:solidFill>
                      <a:srgbClr val="213C4B"/>
                    </a:solidFill>
                    <a:latin typeface="Meiryo"/>
                    <a:ea typeface="Meiryo"/>
                    <a:cs typeface="Meiryo"/>
                  </a:rPr>
                  <a:t> m のとき、方向角は？</a:t>
                </a:r>
              </a:p>
            </p:txBody>
          </p:sp>
        </mc:Fallback>
      </mc:AlternateContent>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986C1BD1-C867-4485-8A4B-0885E664224C}"/>
                  </a:ext>
                </a:extLst>
              </p:cNvPr>
              <p:cNvSpPr>
                <a:spLocks xmlns:a="http://schemas.openxmlformats.org/drawingml/2006/main" noGrp="1"/>
              </p:cNvSpPr>
              <p:nvPr/>
            </p:nvSpPr>
            <p:spPr>
              <a:xfrm xmlns:a="http://schemas.openxmlformats.org/drawingml/2006/main">
                <a:off x="647700" y="26098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方向角 </a:t>
                </a:r>
                <a14:m xmlns:m="http://schemas.openxmlformats.org/officeDocument/2006/math">
                  <m:oMath xmlns:mml="http://www.w3.org/1998/Math/MathML">
                    <m:sSup>
                      <m:e>
                        <m:r>
                          <a:rPr sz="2100" b="0" lang="en-US">
                            <a:solidFill>
                              <a:srgbClr val="213C4B"/>
                            </a:solidFill>
                            <a:latin typeface="Cambria Math"/>
                            <a:ea typeface="Meiryo"/>
                          </a:rPr>
                          <m:t>150</m:t>
                        </m:r>
                      </m:e>
                      <m:sup>
                        <m:r>
                          <a:rPr sz="2100" b="0" lang="en-US">
                            <a:solidFill>
                              <a:srgbClr val="213C4B"/>
                            </a:solidFill>
                            <a:latin typeface="Cambria Math"/>
                            <a:ea typeface="Meiryo"/>
                          </a:rPr>
                          <m:t>∘</m:t>
                        </m:r>
                      </m:sup>
                    </m:sSup>
                  </m:oMath>
                </a14:m>
                <a:r>
                  <a:rPr sz="2100" b="0">
                    <a:solidFill>
                      <a:srgbClr val="213C4B"/>
                    </a:solidFill>
                    <a:latin typeface="Meiryo"/>
                    <a:ea typeface="Meiryo"/>
                    <a:cs typeface="Meiryo"/>
                  </a:rPr>
                  <a:t> を方位で書くと？</a:t>
                </a:r>
              </a:p>
            </p:txBody>
          </p:sp>
        </mc:Choice>
        <mc:Fallback>
          <p:sp>
            <p:nvSpPr>
              <p:cNvPr id="5" name="本文4">
                <a:extLst xmlns:a="http://schemas.openxmlformats.org/drawingml/2006/main">
                  <a:ext uri="{FF2B5EF4-FFF2-40B4-BE49-F238E27FC236}">
                    <a16:creationId xmlns:a16="http://schemas.microsoft.com/office/drawing/2014/main" id="{986C1BD1-C867-4485-8A4B-0885E664224C}"/>
                  </a:ext>
                </a:extLst>
              </p:cNvPr>
              <p:cNvSpPr>
                <a:spLocks xmlns:a="http://schemas.openxmlformats.org/drawingml/2006/main" noGrp="1"/>
              </p:cNvSpPr>
              <p:nvPr/>
            </p:nvSpPr>
            <p:spPr>
              <a:xfrm xmlns:a="http://schemas.openxmlformats.org/drawingml/2006/main">
                <a:off x="647700" y="26098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方向角 </a:t>
                </a:r>
                <a:r>
                  <a:rPr sz="2100" b="0">
                    <a:solidFill>
                      <a:srgbClr val="213C4B"/>
                    </a:solidFill>
                    <a:latin typeface="Cambria Math"/>
                    <a:ea typeface="Cambria Math"/>
                    <a:cs typeface="Cambria Math"/>
                  </a:rPr>
                  <a:t>150^\circ</a:t>
                </a:r>
                <a:r>
                  <a:rPr sz="2100" b="0">
                    <a:solidFill>
                      <a:srgbClr val="213C4B"/>
                    </a:solidFill>
                    <a:latin typeface="Meiryo"/>
                    <a:ea typeface="Meiryo"/>
                    <a:cs typeface="Meiryo"/>
                  </a:rPr>
                  <a:t> を方位で書くと？</a:t>
                </a:r>
              </a:p>
            </p:txBody>
          </p:sp>
        </mc:Fallback>
      </mc:AlternateContent>
      <p:sp>
        <p:nvSpPr>
          <p:cNvPr id="6" name="本文5">
            <a:extLst xmlns:a="http://schemas.openxmlformats.org/drawingml/2006/main">
              <a:ext uri="{FF2B5EF4-FFF2-40B4-BE49-F238E27FC236}">
                <a16:creationId xmlns:a16="http://schemas.microsoft.com/office/drawing/2014/main" id="{13336EEA-0B3E-431A-A2C5-EC550EA19F67}"/>
              </a:ext>
            </a:extLst>
          </p:cNvPr>
          <p:cNvSpPr>
            <a:spLocks xmlns:a="http://schemas.openxmlformats.org/drawingml/2006/main" noGrp="1"/>
          </p:cNvSpPr>
          <p:nvPr/>
        </p:nvSpPr>
        <p:spPr>
          <a:xfrm xmlns:a="http://schemas.openxmlformats.org/drawingml/2006/main">
            <a:off x="647700" y="32575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方向角と方位角の違いは何を基準にした角か？</a:t>
            </a:r>
          </a:p>
        </p:txBody>
      </p:sp>
    </p:spTree>
    <p:extLst>
      <p:ext uri="{BB962C8B-B14F-4D97-AF65-F5344CB8AC3E}">
        <p14:creationId xmlns:p14="http://schemas.microsoft.com/office/powerpoint/2010/main" val="713435054"/>
      </p:ext>
    </p:extLst>
  </p:cSld>
</p:sld>
</file>

<file path=ppt/slides/slide71.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6" name="本文0">
            <a:extLst xmlns:a="http://schemas.openxmlformats.org/drawingml/2006/main">
              <a:ext uri="{FF2B5EF4-FFF2-40B4-BE49-F238E27FC236}">
                <a16:creationId xmlns:a16="http://schemas.microsoft.com/office/drawing/2014/main" id="{8F4E52E3-2399-4379-97F4-E3CDBBF17328}"/>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3-5</a:t>
            </a:r>
          </a:p>
        </p:txBody>
      </p:sp>
      <p:sp>
        <p:nvSpPr>
          <p:cNvPr id="2" name="本文1">
            <a:extLst xmlns:a="http://schemas.openxmlformats.org/drawingml/2006/main">
              <a:ext uri="{FF2B5EF4-FFF2-40B4-BE49-F238E27FC236}">
                <a16:creationId xmlns:a16="http://schemas.microsoft.com/office/drawing/2014/main" id="{490EB138-D7F2-4669-97BD-B8D6A776A676}"/>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試験の要点：式と符号の組合せ</a:t>
            </a:r>
          </a:p>
        </p:txBody>
      </p:sp>
      <p:sp>
        <p:nvSpPr>
          <p:cNvPr id="3" name="本文2">
            <a:extLst xmlns:a="http://schemas.openxmlformats.org/drawingml/2006/main">
              <a:ext uri="{FF2B5EF4-FFF2-40B4-BE49-F238E27FC236}">
                <a16:creationId xmlns:a16="http://schemas.microsoft.com/office/drawing/2014/main" id="{C35C1CCE-5F48-4C5A-9AFA-EC62881E12DC}"/>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71</a:t>
            </a:r>
          </a:p>
        </p:txBody>
      </p:sp>
      <p:sp>
        <p:nvSpPr>
          <p:cNvPr id="4" name="本文3">
            <a:extLst xmlns:a="http://schemas.openxmlformats.org/drawingml/2006/main">
              <a:ext uri="{FF2B5EF4-FFF2-40B4-BE49-F238E27FC236}">
                <a16:creationId xmlns:a16="http://schemas.microsoft.com/office/drawing/2014/main" id="{0286BB36-E658-4E46-ACA6-2505B95C67A4}"/>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今日の順計算・逆計算が、第5回のトラバース計算の部品になる。</a:t>
            </a:r>
          </a:p>
        </p:txBody>
      </p:sp>
      <mc:AlternateContent xmlns:mc="http://schemas.openxmlformats.org/markup-compatibility/2006" xmlns:a14="http://schemas.microsoft.com/office/drawing/2010/main">
        <mc:Choice Requires="a14">
          <p:graphicFrame>
            <p:nvGraphicFramePr>
              <p:cNvPr id="5" name="">
                <a:extLst xmlns:a="http://schemas.openxmlformats.org/drawingml/2006/main">
                  <a:ext uri="{FF2B5EF4-FFF2-40B4-BE49-F238E27FC236}">
                    <a16:creationId xmlns:a16="http://schemas.microsoft.com/office/drawing/2014/main" id="{D395DB41-7A60-4CB6-B7E6-68DB3CC5EAE0}"/>
                  </a:ext>
                </a:extLst>
              </p:cNvPr>
              <p:cNvGraphicFramePr/>
              <p:nvPr/>
            </p:nvGraphicFramePr>
            <p:xfrm>
              <a:off xmlns:a="http://schemas.openxmlformats.org/drawingml/2006/main" x="647700" y="1744345"/>
              <a:ext xmlns:a="http://schemas.openxmlformats.org/drawingml/2006/main" cx="10896600" cy="357759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問われるもの</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確認すること</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順計算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r>
                                <m:rPr>
                                  <m:sty m:val="p"/>
                                </m:rPr>
                                <a:rPr sz="2100" b="0" lang="en-US">
                                  <a:solidFill>
                                    <a:srgbClr val="213C4B"/>
                                  </a:solidFill>
                                  <a:latin typeface="Cambria Math"/>
                                  <a:ea typeface="Meiryo"/>
                                </a:rPr>
                                <m:t>Δ</m:t>
                              </m:r>
                              <m:r>
                                <a:rPr sz="2100" b="0" lang="en-US">
                                  <a:solidFill>
                                    <a:srgbClr val="213C4B"/>
                                  </a:solidFill>
                                  <a:latin typeface="Cambria Math"/>
                                  <a:ea typeface="Meiryo"/>
                                </a:rPr>
                                <m:t>X=S</m:t>
                              </m:r>
                              <m:r>
                                <m:rPr>
                                  <m:sty m:val="p"/>
                                </m:rPr>
                                <a:rPr sz="2100" b="0" lang="en-US">
                                  <a:solidFill>
                                    <a:srgbClr val="213C4B"/>
                                  </a:solidFill>
                                  <a:latin typeface="Cambria Math"/>
                                  <a:ea typeface="Meiryo"/>
                                </a:rPr>
                                <m:t>cos</m:t>
                              </m:r>
                              <m:r>
                                <a:rPr sz="2100" b="0" lang="en-US">
                                  <a:solidFill>
                                    <a:srgbClr val="213C4B"/>
                                  </a:solidFill>
                                  <a:latin typeface="Cambria Math"/>
                                  <a:ea typeface="Meiryo"/>
                                </a:rPr>
                                <m:t>⁡T</m:t>
                              </m:r>
                            </m:oMath>
                          </a14:m>
                          <a:r>
                            <a:rPr sz="2100" b="0">
                              <a:solidFill>
                                <a:srgbClr val="213C4B"/>
                              </a:solidFill>
                              <a:latin typeface="Meiryo"/>
                              <a:ea typeface="Meiryo"/>
                              <a:cs typeface="Meiryo"/>
                            </a:rPr>
                            <a:t>、</a:t>
                          </a:r>
                          <a14:m xmlns:m="http://schemas.openxmlformats.org/officeDocument/2006/math">
                            <m:oMath xmlns:mml="http://www.w3.org/1998/Math/MathML">
                              <m:r>
                                <m:rPr>
                                  <m:sty m:val="p"/>
                                </m:rPr>
                                <a:rPr sz="2100" b="0" lang="en-US">
                                  <a:solidFill>
                                    <a:srgbClr val="213C4B"/>
                                  </a:solidFill>
                                  <a:latin typeface="Cambria Math"/>
                                  <a:ea typeface="Meiryo"/>
                                </a:rPr>
                                <m:t>Δ</m:t>
                              </m:r>
                              <m:r>
                                <a:rPr sz="2100" b="0" lang="en-US">
                                  <a:solidFill>
                                    <a:srgbClr val="213C4B"/>
                                  </a:solidFill>
                                  <a:latin typeface="Cambria Math"/>
                                  <a:ea typeface="Meiryo"/>
                                </a:rPr>
                                <m:t>Y=S</m:t>
                              </m:r>
                              <m:r>
                                <m:rPr>
                                  <m:sty m:val="p"/>
                                </m:rPr>
                                <a:rPr sz="2100" b="0" lang="en-US">
                                  <a:solidFill>
                                    <a:srgbClr val="213C4B"/>
                                  </a:solidFill>
                                  <a:latin typeface="Cambria Math"/>
                                  <a:ea typeface="Meiryo"/>
                                </a:rPr>
                                <m:t>sin</m:t>
                              </m:r>
                              <m:r>
                                <a:rPr sz="2100" b="0" lang="en-US">
                                  <a:solidFill>
                                    <a:srgbClr val="213C4B"/>
                                  </a:solidFill>
                                  <a:latin typeface="Cambria Math"/>
                                  <a:ea typeface="Meiryo"/>
                                </a:rPr>
                                <m:t>⁡T</m:t>
                              </m:r>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関数表</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180°・360°との差で表を引き、象限で符号を決める</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逆計算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座標差の符号を先に見て、</a:t>
                          </a:r>
                          <a14:m xmlns:m="http://schemas.openxmlformats.org/officeDocument/2006/math">
                            <m:oMath xmlns:mml="http://www.w3.org/1998/Math/MathML">
                              <m:r>
                                <m:rPr>
                                  <m:sty m:val="p"/>
                                </m:rPr>
                                <a:rPr sz="2100" b="0" lang="en-US">
                                  <a:solidFill>
                                    <a:srgbClr val="213C4B"/>
                                  </a:solidFill>
                                  <a:latin typeface="Cambria Math"/>
                                  <a:ea typeface="Meiryo"/>
                                </a:rPr>
                                <m:t>arctan</m:t>
                              </m:r>
                              <m:r>
                                <a:rPr sz="2100" b="0" lang="en-US">
                                  <a:solidFill>
                                    <a:srgbClr val="213C4B"/>
                                  </a:solidFill>
                                  <a:latin typeface="Cambria Math"/>
                                  <a:ea typeface="Meiryo"/>
                                </a:rPr>
                                <m:t>⁡</m:t>
                              </m:r>
                            </m:oMath>
                          </a14:m>
                          <a:r>
                            <a:rPr sz="2100" b="0">
                              <a:solidFill>
                                <a:srgbClr val="213C4B"/>
                              </a:solidFill>
                              <a:latin typeface="Meiryo"/>
                              <a:ea typeface="Meiryo"/>
                              <a:cs typeface="Meiryo"/>
                            </a:rPr>
                            <a:t> を補正</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方位角</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α=T−γ</m:t>
                              </m:r>
                            </m:oMath>
                          </a14:m>
                          <a:r>
                            <a:rPr sz="2100" b="0">
                              <a:solidFill>
                                <a:srgbClr val="213C4B"/>
                              </a:solidFill>
                              <a:latin typeface="Meiryo"/>
                              <a:ea typeface="Meiryo"/>
                              <a:cs typeface="Meiryo"/>
                            </a:rPr>
                            <a:t>。角の基準を区別</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成果表</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原点との位置関係から、符号と縮尺係数を点検</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Choice>
        <mc:Fallback>
          <p:graphicFrame>
            <p:nvGraphicFramePr>
              <p:cNvPr id="5" name="">
                <a:extLst xmlns:a="http://schemas.openxmlformats.org/drawingml/2006/main">
                  <a:ext uri="{FF2B5EF4-FFF2-40B4-BE49-F238E27FC236}">
                    <a16:creationId xmlns:a16="http://schemas.microsoft.com/office/drawing/2014/main" id="{D395DB41-7A60-4CB6-B7E6-68DB3CC5EAE0}"/>
                  </a:ext>
                </a:extLst>
              </p:cNvPr>
              <p:cNvGraphicFramePr/>
              <p:nvPr/>
            </p:nvGraphicFramePr>
            <p:xfrm>
              <a:off xmlns:a="http://schemas.openxmlformats.org/drawingml/2006/main" x="647700" y="1744345"/>
              <a:ext xmlns:a="http://schemas.openxmlformats.org/drawingml/2006/main" cx="10896600" cy="357759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問われるもの</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確認すること</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順計算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Cambria Math"/>
                              <a:ea typeface="Cambria Math"/>
                              <a:cs typeface="Cambria Math"/>
                            </a:rPr>
                            <a:t>\Delta X=S\cos T</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\Delta Y=S\sin T</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関数表</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180°・360°との差で表を引き、象限で符号を決める</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逆計算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座標差の符号を先に見て、</a:t>
                          </a:r>
                          <a:r>
                            <a:rPr sz="2100" b="0">
                              <a:solidFill>
                                <a:srgbClr val="213C4B"/>
                              </a:solidFill>
                              <a:latin typeface="Cambria Math"/>
                              <a:ea typeface="Cambria Math"/>
                              <a:cs typeface="Cambria Math"/>
                            </a:rPr>
                            <a:t>\arctan</a:t>
                          </a:r>
                          <a:r>
                            <a:rPr sz="2100" b="0">
                              <a:solidFill>
                                <a:srgbClr val="213C4B"/>
                              </a:solidFill>
                              <a:latin typeface="Meiryo"/>
                              <a:ea typeface="Meiryo"/>
                              <a:cs typeface="Meiryo"/>
                            </a:rPr>
                            <a:t> を補正</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方位角</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Cambria Math"/>
                              <a:ea typeface="Cambria Math"/>
                              <a:cs typeface="Cambria Math"/>
                            </a:rPr>
                            <a:t>\alpha=T-\gamma</a:t>
                          </a:r>
                          <a:r>
                            <a:rPr sz="2100" b="0">
                              <a:solidFill>
                                <a:srgbClr val="213C4B"/>
                              </a:solidFill>
                              <a:latin typeface="Meiryo"/>
                              <a:ea typeface="Meiryo"/>
                              <a:cs typeface="Meiryo"/>
                            </a:rPr>
                            <a:t>。角の基準を区別</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成果表</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原点との位置関係から、符号と縮尺係数を点検</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Fallback>
      </mc:AlternateContent>
    </p:spTree>
    <p:extLst>
      <p:ext uri="{BB962C8B-B14F-4D97-AF65-F5344CB8AC3E}">
        <p14:creationId xmlns:p14="http://schemas.microsoft.com/office/powerpoint/2010/main" val="1651984839"/>
      </p:ext>
    </p:extLst>
  </p:cSld>
</p:sld>
</file>

<file path=ppt/slides/slide72.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9" name="本文0">
            <a:extLst xmlns:a="http://schemas.openxmlformats.org/drawingml/2006/main">
              <a:ext uri="{FF2B5EF4-FFF2-40B4-BE49-F238E27FC236}">
                <a16:creationId xmlns:a16="http://schemas.microsoft.com/office/drawing/2014/main" id="{3BEAE7E2-54FC-49D5-9C67-34BC7225C8EF}"/>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3-6</a:t>
            </a:r>
          </a:p>
        </p:txBody>
      </p:sp>
      <p:sp>
        <p:nvSpPr>
          <p:cNvPr id="2" name="本文1">
            <a:extLst xmlns:a="http://schemas.openxmlformats.org/drawingml/2006/main">
              <a:ext uri="{FF2B5EF4-FFF2-40B4-BE49-F238E27FC236}">
                <a16:creationId xmlns:a16="http://schemas.microsoft.com/office/drawing/2014/main" id="{F317CA78-0EFA-491E-8F3A-83C64467C762}"/>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GNSS：衛星から現地の座標へ</a:t>
            </a:r>
          </a:p>
        </p:txBody>
      </p:sp>
      <p:sp>
        <p:nvSpPr>
          <p:cNvPr id="3" name="本文2">
            <a:extLst xmlns:a="http://schemas.openxmlformats.org/drawingml/2006/main">
              <a:ext uri="{FF2B5EF4-FFF2-40B4-BE49-F238E27FC236}">
                <a16:creationId xmlns:a16="http://schemas.microsoft.com/office/drawing/2014/main" id="{A037387A-BD61-4701-A72C-643590A70692}"/>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72</a:t>
            </a:r>
          </a:p>
        </p:txBody>
      </p:sp>
      <p:sp>
        <p:nvSpPr>
          <p:cNvPr id="4" name="本文3">
            <a:extLst xmlns:a="http://schemas.openxmlformats.org/drawingml/2006/main">
              <a:ext uri="{FF2B5EF4-FFF2-40B4-BE49-F238E27FC236}">
                <a16:creationId xmlns:a16="http://schemas.microsoft.com/office/drawing/2014/main" id="{4B3A407B-EC33-4392-8DBE-40622A5C9819}"/>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設定で確認するのは、測地系・系番号・ジオイドモデル。</a:t>
            </a:r>
          </a:p>
        </p:txBody>
      </p:sp>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FC5FD933-5128-4F55-9FF1-CBD160308201}"/>
                  </a:ext>
                </a:extLst>
              </p:cNvPr>
              <p:cNvSpPr>
                <a:spLocks xmlns:a="http://schemas.openxmlformats.org/drawingml/2006/main" noGrp="1"/>
              </p:cNvSpPr>
              <p:nvPr/>
            </p:nvSpPr>
            <p:spPr>
              <a:xfrm xmlns:a="http://schemas.openxmlformats.org/drawingml/2006/main">
                <a:off x="628650" y="2176463"/>
                <a:ext cx="43624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13C4B"/>
                    </a:solidFill>
                    <a:latin typeface="Meiryo"/>
                    <a:ea typeface="Meiryo"/>
                    <a:cs typeface="Meiryo"/>
                  </a:defRPr>
                </a:defPPr>
              </a:lstStyle>
              <a:p xmlns:a="http://schemas.openxmlformats.org/drawingml/2006/main">
                <a:pPr algn="l">
                  <a:defRPr sz="2175" b="0">
                    <a:solidFill>
                      <a:srgbClr val="213C4B"/>
                    </a:solidFill>
                    <a:latin typeface="Meiryo"/>
                    <a:ea typeface="Meiryo"/>
                    <a:cs typeface="Meiryo"/>
                  </a:defRPr>
                </a:pPr>
                <a:r>
                  <a:rPr sz="2175" b="0">
                    <a:solidFill>
                      <a:srgbClr val="213C4B"/>
                    </a:solidFill>
                    <a:latin typeface="Meiryo"/>
                    <a:ea typeface="Meiryo"/>
                    <a:cs typeface="Meiryo"/>
                  </a:rPr>
                  <a:t>•  衛星の観測から、地心直交座標 </a:t>
                </a:r>
                <a14:m xmlns:m="http://schemas.openxmlformats.org/officeDocument/2006/math">
                  <m:oMath xmlns:mml="http://www.w3.org/1998/Math/MathML">
                    <m:r>
                      <a:rPr sz="2175" b="0" lang="en-US">
                        <a:solidFill>
                          <a:srgbClr val="213C4B"/>
                        </a:solidFill>
                        <a:latin typeface="Cambria Math"/>
                        <a:ea typeface="Meiryo"/>
                      </a:rPr>
                      <m:t>(X,Y,Z)</m:t>
                    </m:r>
                  </m:oMath>
                </a14:m>
                <a:r>
                  <a:rPr sz="2175" b="0">
                    <a:solidFill>
                      <a:srgbClr val="213C4B"/>
                    </a:solidFill>
                    <a:latin typeface="Meiryo"/>
                    <a:ea typeface="Meiryo"/>
                    <a:cs typeface="Meiryo"/>
                  </a:rPr>
                  <a:t> を求める。</a:t>
                </a:r>
              </a:p>
            </p:txBody>
          </p:sp>
        </mc:Choice>
        <mc:Fallback>
          <p:sp>
            <p:nvSpPr>
              <p:cNvPr id="5" name="本文4">
                <a:extLst xmlns:a="http://schemas.openxmlformats.org/drawingml/2006/main">
                  <a:ext uri="{FF2B5EF4-FFF2-40B4-BE49-F238E27FC236}">
                    <a16:creationId xmlns:a16="http://schemas.microsoft.com/office/drawing/2014/main" id="{FC5FD933-5128-4F55-9FF1-CBD160308201}"/>
                  </a:ext>
                </a:extLst>
              </p:cNvPr>
              <p:cNvSpPr>
                <a:spLocks xmlns:a="http://schemas.openxmlformats.org/drawingml/2006/main" noGrp="1"/>
              </p:cNvSpPr>
              <p:nvPr/>
            </p:nvSpPr>
            <p:spPr>
              <a:xfrm xmlns:a="http://schemas.openxmlformats.org/drawingml/2006/main">
                <a:off x="628650" y="2176463"/>
                <a:ext cx="43624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13C4B"/>
                    </a:solidFill>
                    <a:latin typeface="Meiryo"/>
                    <a:ea typeface="Meiryo"/>
                    <a:cs typeface="Meiryo"/>
                  </a:defRPr>
                </a:defPPr>
              </a:lstStyle>
              <a:p xmlns:a="http://schemas.openxmlformats.org/drawingml/2006/main">
                <a:pPr algn="l">
                  <a:defRPr sz="2175" b="0">
                    <a:solidFill>
                      <a:srgbClr val="213C4B"/>
                    </a:solidFill>
                    <a:latin typeface="Meiryo"/>
                    <a:ea typeface="Meiryo"/>
                    <a:cs typeface="Meiryo"/>
                  </a:defRPr>
                </a:pPr>
                <a:r>
                  <a:rPr sz="2175" b="0">
                    <a:solidFill>
                      <a:srgbClr val="213C4B"/>
                    </a:solidFill>
                    <a:latin typeface="Meiryo"/>
                    <a:ea typeface="Meiryo"/>
                    <a:cs typeface="Meiryo"/>
                  </a:rPr>
                  <a:t>•  衛星の観測から、地心直交座標 </a:t>
                </a:r>
                <a:r>
                  <a:rPr sz="2175" b="0">
                    <a:solidFill>
                      <a:srgbClr val="213C4B"/>
                    </a:solidFill>
                    <a:latin typeface="Cambria Math"/>
                    <a:ea typeface="Cambria Math"/>
                    <a:cs typeface="Cambria Math"/>
                  </a:rPr>
                  <a:t>(X,Y,Z)</a:t>
                </a:r>
                <a:r>
                  <a:rPr sz="2175" b="0">
                    <a:solidFill>
                      <a:srgbClr val="213C4B"/>
                    </a:solidFill>
                    <a:latin typeface="Meiryo"/>
                    <a:ea typeface="Meiryo"/>
                    <a:cs typeface="Meiryo"/>
                  </a:rPr>
                  <a:t> を求める。</a:t>
                </a:r>
              </a:p>
            </p:txBody>
          </p:sp>
        </mc:Fallback>
      </mc:AlternateContent>
      <mc:AlternateContent xmlns:mc="http://schemas.openxmlformats.org/markup-compatibility/2006" xmlns:a14="http://schemas.microsoft.com/office/drawing/2010/main">
        <mc:Choice Requires="a14">
          <p:sp>
            <p:nvSpPr>
              <p:cNvPr id="6" name="本文5">
                <a:extLst xmlns:a="http://schemas.openxmlformats.org/drawingml/2006/main">
                  <a:ext uri="{FF2B5EF4-FFF2-40B4-BE49-F238E27FC236}">
                    <a16:creationId xmlns:a16="http://schemas.microsoft.com/office/drawing/2014/main" id="{6183DFB9-5565-44B5-9160-1ECA550FADE4}"/>
                  </a:ext>
                </a:extLst>
              </p:cNvPr>
              <p:cNvSpPr>
                <a:spLocks xmlns:a="http://schemas.openxmlformats.org/drawingml/2006/main" noGrp="1"/>
              </p:cNvSpPr>
              <p:nvPr/>
            </p:nvSpPr>
            <p:spPr>
              <a:xfrm xmlns:a="http://schemas.openxmlformats.org/drawingml/2006/main">
                <a:off x="628650" y="3243263"/>
                <a:ext cx="43624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13C4B"/>
                    </a:solidFill>
                    <a:latin typeface="Meiryo"/>
                    <a:ea typeface="Meiryo"/>
                    <a:cs typeface="Meiryo"/>
                  </a:defRPr>
                </a:defPPr>
              </a:lstStyle>
              <a:p xmlns:a="http://schemas.openxmlformats.org/drawingml/2006/main">
                <a:pPr algn="l">
                  <a:defRPr sz="2175" b="0">
                    <a:solidFill>
                      <a:srgbClr val="213C4B"/>
                    </a:solidFill>
                    <a:latin typeface="Meiryo"/>
                    <a:ea typeface="Meiryo"/>
                    <a:cs typeface="Meiryo"/>
                  </a:defRPr>
                </a:pPr>
                <a:r>
                  <a:rPr sz="2175" b="0">
                    <a:solidFill>
                      <a:srgbClr val="213C4B"/>
                    </a:solidFill>
                    <a:latin typeface="Meiryo"/>
                    <a:ea typeface="Meiryo"/>
                    <a:cs typeface="Meiryo"/>
                  </a:rPr>
                  <a:t>•  緯度・経度・楕円体高 </a:t>
                </a:r>
                <a14:m xmlns:m="http://schemas.openxmlformats.org/officeDocument/2006/math">
                  <m:oMath xmlns:mml="http://www.w3.org/1998/Math/MathML">
                    <m:r>
                      <a:rPr sz="2175" b="0" lang="en-US">
                        <a:solidFill>
                          <a:srgbClr val="213C4B"/>
                        </a:solidFill>
                        <a:latin typeface="Cambria Math"/>
                        <a:ea typeface="Meiryo"/>
                      </a:rPr>
                      <m:t>(φ,λ,h)</m:t>
                    </m:r>
                  </m:oMath>
                </a14:m>
                <a:r>
                  <a:rPr sz="2175" b="0">
                    <a:solidFill>
                      <a:srgbClr val="213C4B"/>
                    </a:solidFill>
                    <a:latin typeface="Meiryo"/>
                    <a:ea typeface="Meiryo"/>
                    <a:cs typeface="Meiryo"/>
                  </a:rPr>
                  <a:t> に変換する。</a:t>
                </a:r>
              </a:p>
            </p:txBody>
          </p:sp>
        </mc:Choice>
        <mc:Fallback>
          <p:sp>
            <p:nvSpPr>
              <p:cNvPr id="6" name="本文5">
                <a:extLst xmlns:a="http://schemas.openxmlformats.org/drawingml/2006/main">
                  <a:ext uri="{FF2B5EF4-FFF2-40B4-BE49-F238E27FC236}">
                    <a16:creationId xmlns:a16="http://schemas.microsoft.com/office/drawing/2014/main" id="{6183DFB9-5565-44B5-9160-1ECA550FADE4}"/>
                  </a:ext>
                </a:extLst>
              </p:cNvPr>
              <p:cNvSpPr>
                <a:spLocks xmlns:a="http://schemas.openxmlformats.org/drawingml/2006/main" noGrp="1"/>
              </p:cNvSpPr>
              <p:nvPr/>
            </p:nvSpPr>
            <p:spPr>
              <a:xfrm xmlns:a="http://schemas.openxmlformats.org/drawingml/2006/main">
                <a:off x="628650" y="3243263"/>
                <a:ext cx="43624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13C4B"/>
                    </a:solidFill>
                    <a:latin typeface="Meiryo"/>
                    <a:ea typeface="Meiryo"/>
                    <a:cs typeface="Meiryo"/>
                  </a:defRPr>
                </a:defPPr>
              </a:lstStyle>
              <a:p xmlns:a="http://schemas.openxmlformats.org/drawingml/2006/main">
                <a:pPr algn="l">
                  <a:defRPr sz="2175" b="0">
                    <a:solidFill>
                      <a:srgbClr val="213C4B"/>
                    </a:solidFill>
                    <a:latin typeface="Meiryo"/>
                    <a:ea typeface="Meiryo"/>
                    <a:cs typeface="Meiryo"/>
                  </a:defRPr>
                </a:pPr>
                <a:r>
                  <a:rPr sz="2175" b="0">
                    <a:solidFill>
                      <a:srgbClr val="213C4B"/>
                    </a:solidFill>
                    <a:latin typeface="Meiryo"/>
                    <a:ea typeface="Meiryo"/>
                    <a:cs typeface="Meiryo"/>
                  </a:rPr>
                  <a:t>•  緯度・経度・楕円体高 </a:t>
                </a:r>
                <a:r>
                  <a:rPr sz="2175" b="0">
                    <a:solidFill>
                      <a:srgbClr val="213C4B"/>
                    </a:solidFill>
                    <a:latin typeface="Cambria Math"/>
                    <a:ea typeface="Cambria Math"/>
                    <a:cs typeface="Cambria Math"/>
                  </a:rPr>
                  <a:t>(\varphi,\lambda,h)</a:t>
                </a:r>
                <a:r>
                  <a:rPr sz="2175" b="0">
                    <a:solidFill>
                      <a:srgbClr val="213C4B"/>
                    </a:solidFill>
                    <a:latin typeface="Meiryo"/>
                    <a:ea typeface="Meiryo"/>
                    <a:cs typeface="Meiryo"/>
                  </a:rPr>
                  <a:t> に変換する。</a:t>
                </a:r>
              </a:p>
            </p:txBody>
          </p:sp>
        </mc:Fallback>
      </mc:AlternateContent>
      <mc:AlternateContent xmlns:mc="http://schemas.openxmlformats.org/markup-compatibility/2006" xmlns:a14="http://schemas.microsoft.com/office/drawing/2010/main">
        <mc:Choice Requires="a14">
          <p:sp>
            <p:nvSpPr>
              <p:cNvPr id="7" name="本文6">
                <a:extLst xmlns:a="http://schemas.openxmlformats.org/drawingml/2006/main">
                  <a:ext uri="{FF2B5EF4-FFF2-40B4-BE49-F238E27FC236}">
                    <a16:creationId xmlns:a16="http://schemas.microsoft.com/office/drawing/2014/main" id="{1DC37144-E166-4D71-B642-8FE72DB1F71E}"/>
                  </a:ext>
                </a:extLst>
              </p:cNvPr>
              <p:cNvSpPr>
                <a:spLocks xmlns:a="http://schemas.openxmlformats.org/drawingml/2006/main" noGrp="1"/>
              </p:cNvSpPr>
              <p:nvPr/>
            </p:nvSpPr>
            <p:spPr>
              <a:xfrm xmlns:a="http://schemas.openxmlformats.org/drawingml/2006/main">
                <a:off x="628650" y="4310063"/>
                <a:ext cx="43624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13C4B"/>
                    </a:solidFill>
                    <a:latin typeface="Meiryo"/>
                    <a:ea typeface="Meiryo"/>
                    <a:cs typeface="Meiryo"/>
                  </a:defRPr>
                </a:defPPr>
              </a:lstStyle>
              <a:p xmlns:a="http://schemas.openxmlformats.org/drawingml/2006/main">
                <a:pPr algn="l">
                  <a:defRPr sz="2175" b="0">
                    <a:solidFill>
                      <a:srgbClr val="213C4B"/>
                    </a:solidFill>
                    <a:latin typeface="Meiryo"/>
                    <a:ea typeface="Meiryo"/>
                    <a:cs typeface="Meiryo"/>
                  </a:defRPr>
                </a:pPr>
                <a:r>
                  <a:rPr sz="2175" b="0">
                    <a:solidFill>
                      <a:srgbClr val="213C4B"/>
                    </a:solidFill>
                    <a:latin typeface="Meiryo"/>
                    <a:ea typeface="Meiryo"/>
                    <a:cs typeface="Meiryo"/>
                  </a:rPr>
                  <a:t>•  指定した系へ投影し、</a:t>
                </a:r>
                <a14:m xmlns:m="http://schemas.openxmlformats.org/officeDocument/2006/math">
                  <m:oMath xmlns:mml="http://www.w3.org/1998/Math/MathML">
                    <m:r>
                      <a:rPr sz="2175" b="0" lang="en-US">
                        <a:solidFill>
                          <a:srgbClr val="213C4B"/>
                        </a:solidFill>
                        <a:latin typeface="Cambria Math"/>
                        <a:ea typeface="Meiryo"/>
                      </a:rPr>
                      <m:t>H=h−N</m:t>
                    </m:r>
                  </m:oMath>
                </a14:m>
                <a:r>
                  <a:rPr sz="2175" b="0">
                    <a:solidFill>
                      <a:srgbClr val="213C4B"/>
                    </a:solidFill>
                    <a:latin typeface="Meiryo"/>
                    <a:ea typeface="Meiryo"/>
                    <a:cs typeface="Meiryo"/>
                  </a:rPr>
                  <a:t> で標高を求める。</a:t>
                </a:r>
              </a:p>
            </p:txBody>
          </p:sp>
        </mc:Choice>
        <mc:Fallback>
          <p:sp>
            <p:nvSpPr>
              <p:cNvPr id="7" name="本文6">
                <a:extLst xmlns:a="http://schemas.openxmlformats.org/drawingml/2006/main">
                  <a:ext uri="{FF2B5EF4-FFF2-40B4-BE49-F238E27FC236}">
                    <a16:creationId xmlns:a16="http://schemas.microsoft.com/office/drawing/2014/main" id="{1DC37144-E166-4D71-B642-8FE72DB1F71E}"/>
                  </a:ext>
                </a:extLst>
              </p:cNvPr>
              <p:cNvSpPr>
                <a:spLocks xmlns:a="http://schemas.openxmlformats.org/drawingml/2006/main" noGrp="1"/>
              </p:cNvSpPr>
              <p:nvPr/>
            </p:nvSpPr>
            <p:spPr>
              <a:xfrm xmlns:a="http://schemas.openxmlformats.org/drawingml/2006/main">
                <a:off x="628650" y="4310063"/>
                <a:ext cx="43624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13C4B"/>
                    </a:solidFill>
                    <a:latin typeface="Meiryo"/>
                    <a:ea typeface="Meiryo"/>
                    <a:cs typeface="Meiryo"/>
                  </a:defRPr>
                </a:defPPr>
              </a:lstStyle>
              <a:p xmlns:a="http://schemas.openxmlformats.org/drawingml/2006/main">
                <a:pPr algn="l">
                  <a:defRPr sz="2175" b="0">
                    <a:solidFill>
                      <a:srgbClr val="213C4B"/>
                    </a:solidFill>
                    <a:latin typeface="Meiryo"/>
                    <a:ea typeface="Meiryo"/>
                    <a:cs typeface="Meiryo"/>
                  </a:defRPr>
                </a:pPr>
                <a:r>
                  <a:rPr sz="2175" b="0">
                    <a:solidFill>
                      <a:srgbClr val="213C4B"/>
                    </a:solidFill>
                    <a:latin typeface="Meiryo"/>
                    <a:ea typeface="Meiryo"/>
                    <a:cs typeface="Meiryo"/>
                  </a:rPr>
                  <a:t>•  指定した系へ投影し、</a:t>
                </a:r>
                <a:r>
                  <a:rPr sz="2175" b="0">
                    <a:solidFill>
                      <a:srgbClr val="213C4B"/>
                    </a:solidFill>
                    <a:latin typeface="Cambria Math"/>
                    <a:ea typeface="Cambria Math"/>
                    <a:cs typeface="Cambria Math"/>
                  </a:rPr>
                  <a:t>H=h-N</a:t>
                </a:r>
                <a:r>
                  <a:rPr sz="2175" b="0">
                    <a:solidFill>
                      <a:srgbClr val="213C4B"/>
                    </a:solidFill>
                    <a:latin typeface="Meiryo"/>
                    <a:ea typeface="Meiryo"/>
                    <a:cs typeface="Meiryo"/>
                  </a:rPr>
                  <a:t> で標高を求める。</a:t>
                </a:r>
              </a:p>
            </p:txBody>
          </p:sp>
        </mc:Fallback>
      </mc:AlternateContent>
      <p:pic>
        <p:nvPicPr>
          <p:cNvPr id="8" name="">
            <a:extLst xmlns:a="http://schemas.openxmlformats.org/drawingml/2006/main">
              <a:ext uri="{FF2B5EF4-FFF2-40B4-BE49-F238E27FC236}">
                <a16:creationId xmlns:a16="http://schemas.microsoft.com/office/drawing/2014/main" id="{AAE4FFD1-D7A8-4737-BB38-DB9DF0D5B26D}"/>
              </a:ext>
            </a:extLst>
          </p:cNvPr>
          <p:cNvPicPr>
            <a:picLocks xmlns:a="http://schemas.openxmlformats.org/drawingml/2006/main" noChangeAspect="1"/>
          </p:cNvPicPr>
          <p:nvPr/>
        </p:nvPicPr>
        <p:blipFill>
          <a:blip xmlns:r="http://schemas.openxmlformats.org/officeDocument/2006/relationships" xmlns:a="http://schemas.openxmlformats.org/drawingml/2006/main" r:embed="R9dade3f7f29a4ab1"/>
          <a:stretch xmlns:a="http://schemas.openxmlformats.org/drawingml/2006/main"/>
        </p:blipFill>
        <p:spPr>
          <a:xfrm xmlns:a="http://schemas.openxmlformats.org/drawingml/2006/main">
            <a:off x="5238750" y="1543050"/>
            <a:ext cx="6429375" cy="4286250"/>
          </a:xfrm>
          <a:prstGeom xmlns:a="http://schemas.openxmlformats.org/drawingml/2006/main" prst="rect">
            <a:avLst/>
          </a:prstGeom>
        </p:spPr>
      </p:pic>
    </p:spTree>
    <p:extLst>
      <p:ext uri="{BB962C8B-B14F-4D97-AF65-F5344CB8AC3E}">
        <p14:creationId xmlns:p14="http://schemas.microsoft.com/office/powerpoint/2010/main" val="1908222577"/>
      </p:ext>
    </p:extLst>
  </p:cSld>
</p:sld>
</file>

<file path=ppt/slides/slide73.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9" name="本文0">
            <a:extLst xmlns:a="http://schemas.openxmlformats.org/drawingml/2006/main">
              <a:ext uri="{FF2B5EF4-FFF2-40B4-BE49-F238E27FC236}">
                <a16:creationId xmlns:a16="http://schemas.microsoft.com/office/drawing/2014/main" id="{CD4E405A-0DD6-414A-95B7-75D55866201C}"/>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3-6</a:t>
            </a:r>
          </a:p>
        </p:txBody>
      </p:sp>
      <p:sp>
        <p:nvSpPr>
          <p:cNvPr id="2" name="本文1">
            <a:extLst xmlns:a="http://schemas.openxmlformats.org/drawingml/2006/main">
              <a:ext uri="{FF2B5EF4-FFF2-40B4-BE49-F238E27FC236}">
                <a16:creationId xmlns:a16="http://schemas.microsoft.com/office/drawing/2014/main" id="{AFB0C58C-B667-4CE2-9798-E15099533808}"/>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TS：角と距離から座標を求める</a:t>
            </a:r>
          </a:p>
        </p:txBody>
      </p:sp>
      <p:sp>
        <p:nvSpPr>
          <p:cNvPr id="3" name="本文2">
            <a:extLst xmlns:a="http://schemas.openxmlformats.org/drawingml/2006/main">
              <a:ext uri="{FF2B5EF4-FFF2-40B4-BE49-F238E27FC236}">
                <a16:creationId xmlns:a16="http://schemas.microsoft.com/office/drawing/2014/main" id="{0F5310C4-3012-4C34-8B2E-BEB2EC575B37}"/>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73</a:t>
            </a:r>
          </a:p>
        </p:txBody>
      </p:sp>
      <p:sp>
        <p:nvSpPr>
          <p:cNvPr id="4" name="本文3">
            <a:extLst xmlns:a="http://schemas.openxmlformats.org/drawingml/2006/main">
              <a:ext uri="{FF2B5EF4-FFF2-40B4-BE49-F238E27FC236}">
                <a16:creationId xmlns:a16="http://schemas.microsoft.com/office/drawing/2014/main" id="{0F2CC1F5-5AC7-4821-B61D-4719611A86C1}"/>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器械高・目標高、標高補正・縮尺係数の設定も確認する。</a:t>
            </a:r>
          </a:p>
        </p:txBody>
      </p:sp>
      <p:sp>
        <p:nvSpPr>
          <p:cNvPr id="5" name="本文4">
            <a:extLst xmlns:a="http://schemas.openxmlformats.org/drawingml/2006/main">
              <a:ext uri="{FF2B5EF4-FFF2-40B4-BE49-F238E27FC236}">
                <a16:creationId xmlns:a16="http://schemas.microsoft.com/office/drawing/2014/main" id="{54A77D4D-B246-4243-BA76-A93BD645EA81}"/>
              </a:ext>
            </a:extLst>
          </p:cNvPr>
          <p:cNvSpPr>
            <a:spLocks xmlns:a="http://schemas.openxmlformats.org/drawingml/2006/main" noGrp="1"/>
          </p:cNvSpPr>
          <p:nvPr/>
        </p:nvSpPr>
        <p:spPr>
          <a:xfrm xmlns:a="http://schemas.openxmlformats.org/drawingml/2006/main">
            <a:off x="628650" y="2176463"/>
            <a:ext cx="43624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13C4B"/>
                </a:solidFill>
                <a:latin typeface="Meiryo"/>
                <a:ea typeface="Meiryo"/>
                <a:cs typeface="Meiryo"/>
              </a:defRPr>
            </a:defPPr>
          </a:lstStyle>
          <a:p xmlns:a="http://schemas.openxmlformats.org/drawingml/2006/main">
            <a:pPr algn="l">
              <a:defRPr sz="2175" b="0">
                <a:solidFill>
                  <a:srgbClr val="213C4B"/>
                </a:solidFill>
                <a:latin typeface="Meiryo"/>
                <a:ea typeface="Meiryo"/>
                <a:cs typeface="Meiryo"/>
              </a:defRPr>
            </a:pPr>
            <a:r>
              <a:rPr sz="2175" b="0">
                <a:solidFill>
                  <a:srgbClr val="213C4B"/>
                </a:solidFill>
                <a:latin typeface="Meiryo"/>
                <a:ea typeface="Meiryo"/>
                <a:cs typeface="Meiryo"/>
              </a:rPr>
              <a:t>•  器械点の座標と、後視方向の方向角を入力する。</a:t>
            </a:r>
          </a:p>
        </p:txBody>
      </p:sp>
      <p:sp>
        <p:nvSpPr>
          <p:cNvPr id="6" name="本文5">
            <a:extLst xmlns:a="http://schemas.openxmlformats.org/drawingml/2006/main">
              <a:ext uri="{FF2B5EF4-FFF2-40B4-BE49-F238E27FC236}">
                <a16:creationId xmlns:a16="http://schemas.microsoft.com/office/drawing/2014/main" id="{D3CF9645-CA04-45FC-91E7-528FF8CFDCFF}"/>
              </a:ext>
            </a:extLst>
          </p:cNvPr>
          <p:cNvSpPr>
            <a:spLocks xmlns:a="http://schemas.openxmlformats.org/drawingml/2006/main" noGrp="1"/>
          </p:cNvSpPr>
          <p:nvPr/>
        </p:nvSpPr>
        <p:spPr>
          <a:xfrm xmlns:a="http://schemas.openxmlformats.org/drawingml/2006/main">
            <a:off x="628650" y="3243263"/>
            <a:ext cx="43624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13C4B"/>
                </a:solidFill>
                <a:latin typeface="Meiryo"/>
                <a:ea typeface="Meiryo"/>
                <a:cs typeface="Meiryo"/>
              </a:defRPr>
            </a:defPPr>
          </a:lstStyle>
          <a:p xmlns:a="http://schemas.openxmlformats.org/drawingml/2006/main">
            <a:pPr algn="l">
              <a:defRPr sz="2175" b="0">
                <a:solidFill>
                  <a:srgbClr val="213C4B"/>
                </a:solidFill>
                <a:latin typeface="Meiryo"/>
                <a:ea typeface="Meiryo"/>
                <a:cs typeface="Meiryo"/>
              </a:defRPr>
            </a:pPr>
            <a:r>
              <a:rPr sz="2175" b="0">
                <a:solidFill>
                  <a:srgbClr val="213C4B"/>
                </a:solidFill>
                <a:latin typeface="Meiryo"/>
                <a:ea typeface="Meiryo"/>
                <a:cs typeface="Meiryo"/>
              </a:rPr>
              <a:t>•  角と斜距離を測り、水平距離・平面距離へ換算する。</a:t>
            </a:r>
          </a:p>
        </p:txBody>
      </p:sp>
      <mc:AlternateContent xmlns:mc="http://schemas.openxmlformats.org/markup-compatibility/2006" xmlns:a14="http://schemas.microsoft.com/office/drawing/2010/main">
        <mc:Choice Requires="a14">
          <p:sp>
            <p:nvSpPr>
              <p:cNvPr id="7" name="本文6">
                <a:extLst xmlns:a="http://schemas.openxmlformats.org/drawingml/2006/main">
                  <a:ext uri="{FF2B5EF4-FFF2-40B4-BE49-F238E27FC236}">
                    <a16:creationId xmlns:a16="http://schemas.microsoft.com/office/drawing/2014/main" id="{0593E9A3-F9A9-4D4C-ACED-9B9AD77A7D2A}"/>
                  </a:ext>
                </a:extLst>
              </p:cNvPr>
              <p:cNvSpPr>
                <a:spLocks xmlns:a="http://schemas.openxmlformats.org/drawingml/2006/main" noGrp="1"/>
              </p:cNvSpPr>
              <p:nvPr/>
            </p:nvSpPr>
            <p:spPr>
              <a:xfrm xmlns:a="http://schemas.openxmlformats.org/drawingml/2006/main">
                <a:off x="628650" y="4310063"/>
                <a:ext cx="43624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13C4B"/>
                    </a:solidFill>
                    <a:latin typeface="Meiryo"/>
                    <a:ea typeface="Meiryo"/>
                    <a:cs typeface="Meiryo"/>
                  </a:defRPr>
                </a:defPPr>
              </a:lstStyle>
              <a:p xmlns:a="http://schemas.openxmlformats.org/drawingml/2006/main">
                <a:pPr algn="l">
                  <a:defRPr sz="2175" b="0">
                    <a:solidFill>
                      <a:srgbClr val="213C4B"/>
                    </a:solidFill>
                    <a:latin typeface="Meiryo"/>
                    <a:ea typeface="Meiryo"/>
                    <a:cs typeface="Meiryo"/>
                  </a:defRPr>
                </a:pPr>
                <a:r>
                  <a:rPr sz="2175" b="0">
                    <a:solidFill>
                      <a:srgbClr val="213C4B"/>
                    </a:solidFill>
                    <a:latin typeface="Meiryo"/>
                    <a:ea typeface="Meiryo"/>
                    <a:cs typeface="Meiryo"/>
                  </a:rPr>
                  <a:t>•  方向角 </a:t>
                </a:r>
                <a14:m xmlns:m="http://schemas.openxmlformats.org/officeDocument/2006/math">
                  <m:oMath xmlns:mml="http://www.w3.org/1998/Math/MathML">
                    <m:r>
                      <a:rPr sz="2175" b="0" lang="en-US">
                        <a:solidFill>
                          <a:srgbClr val="213C4B"/>
                        </a:solidFill>
                        <a:latin typeface="Cambria Math"/>
                        <a:ea typeface="Meiryo"/>
                      </a:rPr>
                      <m:t>T</m:t>
                    </m:r>
                  </m:oMath>
                </a14:m>
                <a:r>
                  <a:rPr sz="2175" b="0">
                    <a:solidFill>
                      <a:srgbClr val="213C4B"/>
                    </a:solidFill>
                    <a:latin typeface="Meiryo"/>
                    <a:ea typeface="Meiryo"/>
                    <a:cs typeface="Meiryo"/>
                  </a:rPr>
                  <a:t> と平面距離で、今日の </a:t>
                </a:r>
                <a:r>
                  <a:rPr sz="2175" b="1">
                    <a:solidFill>
                      <a:srgbClr val="137D78"/>
                    </a:solidFill>
                    <a:latin typeface="Meiryo"/>
                    <a:ea typeface="Meiryo"/>
                    <a:cs typeface="Meiryo"/>
                  </a:rPr>
                  <a:t>順計算</a:t>
                </a:r>
                <a:r>
                  <a:rPr sz="2175" b="0">
                    <a:solidFill>
                      <a:srgbClr val="213C4B"/>
                    </a:solidFill>
                    <a:latin typeface="Meiryo"/>
                    <a:ea typeface="Meiryo"/>
                    <a:cs typeface="Meiryo"/>
                  </a:rPr>
                  <a:t>を行う。</a:t>
                </a:r>
              </a:p>
            </p:txBody>
          </p:sp>
        </mc:Choice>
        <mc:Fallback>
          <p:sp>
            <p:nvSpPr>
              <p:cNvPr id="7" name="本文6">
                <a:extLst xmlns:a="http://schemas.openxmlformats.org/drawingml/2006/main">
                  <a:ext uri="{FF2B5EF4-FFF2-40B4-BE49-F238E27FC236}">
                    <a16:creationId xmlns:a16="http://schemas.microsoft.com/office/drawing/2014/main" id="{0593E9A3-F9A9-4D4C-ACED-9B9AD77A7D2A}"/>
                  </a:ext>
                </a:extLst>
              </p:cNvPr>
              <p:cNvSpPr>
                <a:spLocks xmlns:a="http://schemas.openxmlformats.org/drawingml/2006/main" noGrp="1"/>
              </p:cNvSpPr>
              <p:nvPr/>
            </p:nvSpPr>
            <p:spPr>
              <a:xfrm xmlns:a="http://schemas.openxmlformats.org/drawingml/2006/main">
                <a:off x="628650" y="4310063"/>
                <a:ext cx="43624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0">
                    <a:solidFill>
                      <a:srgbClr val="213C4B"/>
                    </a:solidFill>
                    <a:latin typeface="Meiryo"/>
                    <a:ea typeface="Meiryo"/>
                    <a:cs typeface="Meiryo"/>
                  </a:defRPr>
                </a:defPPr>
              </a:lstStyle>
              <a:p xmlns:a="http://schemas.openxmlformats.org/drawingml/2006/main">
                <a:pPr algn="l">
                  <a:defRPr sz="2175" b="0">
                    <a:solidFill>
                      <a:srgbClr val="213C4B"/>
                    </a:solidFill>
                    <a:latin typeface="Meiryo"/>
                    <a:ea typeface="Meiryo"/>
                    <a:cs typeface="Meiryo"/>
                  </a:defRPr>
                </a:pPr>
                <a:r>
                  <a:rPr sz="2175" b="0">
                    <a:solidFill>
                      <a:srgbClr val="213C4B"/>
                    </a:solidFill>
                    <a:latin typeface="Meiryo"/>
                    <a:ea typeface="Meiryo"/>
                    <a:cs typeface="Meiryo"/>
                  </a:rPr>
                  <a:t>•  方向角 </a:t>
                </a:r>
                <a:r>
                  <a:rPr sz="2175" b="0">
                    <a:solidFill>
                      <a:srgbClr val="213C4B"/>
                    </a:solidFill>
                    <a:latin typeface="Cambria Math"/>
                    <a:ea typeface="Cambria Math"/>
                    <a:cs typeface="Cambria Math"/>
                  </a:rPr>
                  <a:t>T</a:t>
                </a:r>
                <a:r>
                  <a:rPr sz="2175" b="0">
                    <a:solidFill>
                      <a:srgbClr val="213C4B"/>
                    </a:solidFill>
                    <a:latin typeface="Meiryo"/>
                    <a:ea typeface="Meiryo"/>
                    <a:cs typeface="Meiryo"/>
                  </a:rPr>
                  <a:t> と平面距離で、今日の </a:t>
                </a:r>
                <a:r>
                  <a:rPr sz="2175" b="1">
                    <a:solidFill>
                      <a:srgbClr val="137D78"/>
                    </a:solidFill>
                    <a:latin typeface="Meiryo"/>
                    <a:ea typeface="Meiryo"/>
                    <a:cs typeface="Meiryo"/>
                  </a:rPr>
                  <a:t>順計算</a:t>
                </a:r>
                <a:r>
                  <a:rPr sz="2175" b="0">
                    <a:solidFill>
                      <a:srgbClr val="213C4B"/>
                    </a:solidFill>
                    <a:latin typeface="Meiryo"/>
                    <a:ea typeface="Meiryo"/>
                    <a:cs typeface="Meiryo"/>
                  </a:rPr>
                  <a:t>を行う。</a:t>
                </a:r>
              </a:p>
            </p:txBody>
          </p:sp>
        </mc:Fallback>
      </mc:AlternateContent>
      <p:pic>
        <p:nvPicPr>
          <p:cNvPr id="8" name="">
            <a:extLst xmlns:a="http://schemas.openxmlformats.org/drawingml/2006/main">
              <a:ext uri="{FF2B5EF4-FFF2-40B4-BE49-F238E27FC236}">
                <a16:creationId xmlns:a16="http://schemas.microsoft.com/office/drawing/2014/main" id="{03C68F3F-AAAA-4EAD-B87B-9A092F222F07}"/>
              </a:ext>
            </a:extLst>
          </p:cNvPr>
          <p:cNvPicPr>
            <a:picLocks xmlns:a="http://schemas.openxmlformats.org/drawingml/2006/main" noChangeAspect="1"/>
          </p:cNvPicPr>
          <p:nvPr/>
        </p:nvPicPr>
        <p:blipFill>
          <a:blip xmlns:r="http://schemas.openxmlformats.org/officeDocument/2006/relationships" xmlns:a="http://schemas.openxmlformats.org/drawingml/2006/main" r:embed="Rab04c4fbca404f71"/>
          <a:stretch xmlns:a="http://schemas.openxmlformats.org/drawingml/2006/main"/>
        </p:blipFill>
        <p:spPr>
          <a:xfrm xmlns:a="http://schemas.openxmlformats.org/drawingml/2006/main">
            <a:off x="5238750" y="1543050"/>
            <a:ext cx="6429375" cy="4286250"/>
          </a:xfrm>
          <a:prstGeom xmlns:a="http://schemas.openxmlformats.org/drawingml/2006/main" prst="rect">
            <a:avLst/>
          </a:prstGeom>
        </p:spPr>
      </p:pic>
    </p:spTree>
    <p:extLst>
      <p:ext uri="{BB962C8B-B14F-4D97-AF65-F5344CB8AC3E}">
        <p14:creationId xmlns:p14="http://schemas.microsoft.com/office/powerpoint/2010/main" val="714454898"/>
      </p:ext>
    </p:extLst>
  </p:cSld>
</p:sld>
</file>

<file path=ppt/slides/slide74.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93327537-F584-4511-A46A-D67B97C0AD20}"/>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3-7</a:t>
            </a:r>
          </a:p>
        </p:txBody>
      </p:sp>
      <p:sp>
        <p:nvSpPr>
          <p:cNvPr id="2" name="本文1">
            <a:extLst xmlns:a="http://schemas.openxmlformats.org/drawingml/2006/main">
              <a:ext uri="{FF2B5EF4-FFF2-40B4-BE49-F238E27FC236}">
                <a16:creationId xmlns:a16="http://schemas.microsoft.com/office/drawing/2014/main" id="{BB136172-58CB-4DAB-A6D2-574044563182}"/>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手計算テスト：問1 座標の逆計算と順計算（5点）</a:t>
            </a:r>
          </a:p>
        </p:txBody>
      </p:sp>
      <p:sp>
        <p:nvSpPr>
          <p:cNvPr id="3" name="本文2">
            <a:extLst xmlns:a="http://schemas.openxmlformats.org/drawingml/2006/main">
              <a:ext uri="{FF2B5EF4-FFF2-40B4-BE49-F238E27FC236}">
                <a16:creationId xmlns:a16="http://schemas.microsoft.com/office/drawing/2014/main" id="{CC7EC168-5F6E-487B-8AD9-7D9FC582731B}"/>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74</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24768E50-97DE-48C7-AFA9-18180263F8CF}"/>
                  </a:ext>
                </a:extLst>
              </p:cNvPr>
              <p:cNvSpPr>
                <a:spLocks xmlns:a="http://schemas.openxmlformats.org/drawingml/2006/main" noGrp="1"/>
              </p:cNvSpPr>
              <p:nvPr/>
            </p:nvSpPr>
            <p:spPr>
              <a:xfrm xmlns:a="http://schemas.openxmlformats.org/drawingml/2006/main">
                <a:off x="647700" y="180721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18分・10点満点。関数電卓使用可。</a:t>
                </a:r>
                <a14:m xmlns:m="http://schemas.openxmlformats.org/officeDocument/2006/math">
                  <m:oMath xmlns:mml="http://www.w3.org/1998/Math/MathML">
                    <m:r>
                      <a:rPr sz="2100" b="0" lang="en-US">
                        <a:solidFill>
                          <a:srgbClr val="213C4B"/>
                        </a:solidFill>
                        <a:latin typeface="Cambria Math"/>
                        <a:ea typeface="Meiryo"/>
                      </a:rPr>
                      <m:t>R=6370</m:t>
                    </m:r>
                  </m:oMath>
                </a14:m>
                <a:r>
                  <a:rPr sz="2100" b="0">
                    <a:solidFill>
                      <a:srgbClr val="213C4B"/>
                    </a:solidFill>
                    <a:latin typeface="Meiryo"/>
                    <a:ea typeface="Meiryo"/>
                    <a:cs typeface="Meiryo"/>
                  </a:rPr>
                  <a:t> km。</a:t>
                </a:r>
              </a:p>
            </p:txBody>
          </p:sp>
        </mc:Choice>
        <mc:Fallback>
          <p:sp>
            <p:nvSpPr>
              <p:cNvPr id="4" name="本文3">
                <a:extLst xmlns:a="http://schemas.openxmlformats.org/drawingml/2006/main">
                  <a:ext uri="{FF2B5EF4-FFF2-40B4-BE49-F238E27FC236}">
                    <a16:creationId xmlns:a16="http://schemas.microsoft.com/office/drawing/2014/main" id="{24768E50-97DE-48C7-AFA9-18180263F8CF}"/>
                  </a:ext>
                </a:extLst>
              </p:cNvPr>
              <p:cNvSpPr>
                <a:spLocks xmlns:a="http://schemas.openxmlformats.org/drawingml/2006/main" noGrp="1"/>
              </p:cNvSpPr>
              <p:nvPr/>
            </p:nvSpPr>
            <p:spPr>
              <a:xfrm xmlns:a="http://schemas.openxmlformats.org/drawingml/2006/main">
                <a:off x="647700" y="180721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18分・10点満点。関数電卓使用可。</a:t>
                </a:r>
                <a:r>
                  <a:rPr sz="2100" b="0">
                    <a:solidFill>
                      <a:srgbClr val="213C4B"/>
                    </a:solidFill>
                    <a:latin typeface="Cambria Math"/>
                    <a:ea typeface="Cambria Math"/>
                    <a:cs typeface="Cambria Math"/>
                  </a:rPr>
                  <a:t>R=6370</a:t>
                </a:r>
                <a:r>
                  <a:rPr sz="2100" b="0">
                    <a:solidFill>
                      <a:srgbClr val="213C4B"/>
                    </a:solidFill>
                    <a:latin typeface="Meiryo"/>
                    <a:ea typeface="Meiryo"/>
                    <a:cs typeface="Meiryo"/>
                  </a:rPr>
                  <a:t> km。</a:t>
                </a:r>
              </a:p>
            </p:txBody>
          </p:sp>
        </mc:Fallback>
      </mc:AlternateContent>
      <mc:AlternateContent xmlns:mc="http://schemas.openxmlformats.org/markup-compatibility/2006" xmlns:a14="http://schemas.microsoft.com/office/drawing/2010/main">
        <mc:Choice Requires="a14">
          <p:graphicFrame>
            <p:nvGraphicFramePr>
              <p:cNvPr id="5" name="">
                <a:extLst xmlns:a="http://schemas.openxmlformats.org/drawingml/2006/main">
                  <a:ext uri="{FF2B5EF4-FFF2-40B4-BE49-F238E27FC236}">
                    <a16:creationId xmlns:a16="http://schemas.microsoft.com/office/drawing/2014/main" id="{FA53FB63-6128-4A71-B2C7-2FBF6B65D5AE}"/>
                  </a:ext>
                </a:extLst>
              </p:cNvPr>
              <p:cNvGraphicFramePr/>
              <p:nvPr/>
            </p:nvGraphicFramePr>
            <p:xfrm>
              <a:off xmlns:a="http://schemas.openxmlformats.org/drawingml/2006/main" x="647700" y="2454910"/>
              <a:ext xmlns:a="http://schemas.openxmlformats.org/drawingml/2006/main" cx="10896600" cy="1788795"/>
            </p:xfrm>
            <a:graphic xmlns:a="http://schemas.openxmlformats.org/drawingml/2006/main">
              <a:graphicData uri="http://schemas.openxmlformats.org/drawingml/2006/table">
                <a:tbl>
                  <a:tblPr/>
                  <a:tblGrid>
                    <a:gridCol w="2615184"/>
                    <a:gridCol w="4140708"/>
                    <a:gridCol w="4140708"/>
                  </a:tblGrid>
                  <a:tr h="596265">
                    <a:tc>
                      <a:txBody>
                        <a:bodyPr lIns="114300" tIns="114300" rIns="114300" bIns="114300">
                          <a:noAutofit/>
                        </a:bodyPr>
                        <a:lstStyle/>
                        <a:p>
                          <a:pPr algn="l"/>
                          <a:r>
                            <a:rPr sz="2100" b="1">
                              <a:solidFill>
                                <a:srgbClr val="FFFFFF"/>
                              </a:solidFill>
                              <a:latin typeface="Meiryo"/>
                              <a:ea typeface="Meiryo"/>
                              <a:cs typeface="Meiryo"/>
                            </a:rPr>
                            <a:t>点</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FFFFFF"/>
                                  </a:solidFill>
                                  <a:latin typeface="Cambria Math"/>
                                  <a:ea typeface="Meiryo"/>
                                </a:rPr>
                                <m:t>X</m:t>
                              </m:r>
                            </m:oMath>
                          </a14:m>
                          <a:r>
                            <a:rPr sz="2100" b="1">
                              <a:solidFill>
                                <a:srgbClr val="FFFFFF"/>
                              </a:solidFill>
                              <a:latin typeface="Meiryo"/>
                              <a:ea typeface="Meiryo"/>
                              <a:cs typeface="Meiryo"/>
                            </a:rPr>
                            <a:t>（m）</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FFFFFF"/>
                                  </a:solidFill>
                                  <a:latin typeface="Cambria Math"/>
                                  <a:ea typeface="Meiryo"/>
                                </a:rPr>
                                <m:t>Y</m:t>
                              </m:r>
                            </m:oMath>
                          </a14:m>
                          <a:r>
                            <a:rPr sz="2100" b="1">
                              <a:solidFill>
                                <a:srgbClr val="FFFFFF"/>
                              </a:solidFill>
                              <a:latin typeface="Meiryo"/>
                              <a:ea typeface="Meiryo"/>
                              <a:cs typeface="Meiryo"/>
                            </a:rPr>
                            <a:t>（m）</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A</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+1200.000</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+800.000</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B</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+1050.000</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+600.000</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Choice>
        <mc:Fallback>
          <p:graphicFrame>
            <p:nvGraphicFramePr>
              <p:cNvPr id="5" name="">
                <a:extLst xmlns:a="http://schemas.openxmlformats.org/drawingml/2006/main">
                  <a:ext uri="{FF2B5EF4-FFF2-40B4-BE49-F238E27FC236}">
                    <a16:creationId xmlns:a16="http://schemas.microsoft.com/office/drawing/2014/main" id="{FA53FB63-6128-4A71-B2C7-2FBF6B65D5AE}"/>
                  </a:ext>
                </a:extLst>
              </p:cNvPr>
              <p:cNvGraphicFramePr/>
              <p:nvPr/>
            </p:nvGraphicFramePr>
            <p:xfrm>
              <a:off xmlns:a="http://schemas.openxmlformats.org/drawingml/2006/main" x="647700" y="2454910"/>
              <a:ext xmlns:a="http://schemas.openxmlformats.org/drawingml/2006/main" cx="10896600" cy="1788795"/>
            </p:xfrm>
            <a:graphic xmlns:a="http://schemas.openxmlformats.org/drawingml/2006/main">
              <a:graphicData uri="http://schemas.openxmlformats.org/drawingml/2006/table">
                <a:tbl>
                  <a:tblPr/>
                  <a:tblGrid>
                    <a:gridCol w="2615184"/>
                    <a:gridCol w="4140708"/>
                    <a:gridCol w="4140708"/>
                  </a:tblGrid>
                  <a:tr h="596265">
                    <a:tc>
                      <a:txBody>
                        <a:bodyPr lIns="114300" tIns="114300" rIns="114300" bIns="114300">
                          <a:noAutofit/>
                        </a:bodyPr>
                        <a:lstStyle/>
                        <a:p>
                          <a:pPr algn="l"/>
                          <a:r>
                            <a:rPr sz="2100" b="1">
                              <a:solidFill>
                                <a:srgbClr val="FFFFFF"/>
                              </a:solidFill>
                              <a:latin typeface="Meiryo"/>
                              <a:ea typeface="Meiryo"/>
                              <a:cs typeface="Meiryo"/>
                            </a:rPr>
                            <a:t>点</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Cambria Math"/>
                              <a:ea typeface="Cambria Math"/>
                              <a:cs typeface="Cambria Math"/>
                            </a:rPr>
                            <a:t>X</a:t>
                          </a:r>
                          <a:r>
                            <a:rPr sz="2100" b="1">
                              <a:solidFill>
                                <a:srgbClr val="FFFFFF"/>
                              </a:solidFill>
                              <a:latin typeface="Meiryo"/>
                              <a:ea typeface="Meiryo"/>
                              <a:cs typeface="Meiryo"/>
                            </a:rPr>
                            <a:t>（m）</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Cambria Math"/>
                              <a:ea typeface="Cambria Math"/>
                              <a:cs typeface="Cambria Math"/>
                            </a:rPr>
                            <a:t>Y</a:t>
                          </a:r>
                          <a:r>
                            <a:rPr sz="2100" b="1">
                              <a:solidFill>
                                <a:srgbClr val="FFFFFF"/>
                              </a:solidFill>
                              <a:latin typeface="Meiryo"/>
                              <a:ea typeface="Meiryo"/>
                              <a:cs typeface="Meiryo"/>
                            </a:rPr>
                            <a:t>（m）</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A</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+1200.000</a:t>
                          </a:r>
                        </a:p>
                      </a:txBody>
                      <a:tcPr marL="91440" marR="91440" marT="45720" marB="45720" anchor="ctr">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+800.000</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B</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+1050.000</a:t>
                          </a:r>
                        </a:p>
                      </a:txBody>
                      <a:tcPr marL="91440" marR="91440" marT="45720" marB="45720" anchor="ctr">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+600.000</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Fallback>
      </mc:AlternateContent>
      <mc:AlternateContent xmlns:mc="http://schemas.openxmlformats.org/markup-compatibility/2006" xmlns:a14="http://schemas.microsoft.com/office/drawing/2010/main">
        <mc:Choice Requires="a14">
          <p:sp>
            <p:nvSpPr>
              <p:cNvPr id="6" name="本文4">
                <a:extLst xmlns:a="http://schemas.openxmlformats.org/drawingml/2006/main">
                  <a:ext uri="{FF2B5EF4-FFF2-40B4-BE49-F238E27FC236}">
                    <a16:creationId xmlns:a16="http://schemas.microsoft.com/office/drawing/2014/main" id="{F4496614-827F-49A6-9A86-E23FE1D456D6}"/>
                  </a:ext>
                </a:extLst>
              </p:cNvPr>
              <p:cNvSpPr>
                <a:spLocks xmlns:a="http://schemas.openxmlformats.org/drawingml/2006/main" noGrp="1"/>
              </p:cNvSpPr>
              <p:nvPr/>
            </p:nvSpPr>
            <p:spPr>
              <a:xfrm xmlns:a="http://schemas.openxmlformats.org/drawingml/2006/main">
                <a:off x="647700" y="441515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(1) </a:t>
                </a:r>
                <a14:m xmlns:m="http://schemas.openxmlformats.org/officeDocument/2006/math">
                  <m:oMath xmlns:mml="http://www.w3.org/1998/Math/MathML">
                    <m:sSub>
                      <m:e>
                        <m:r>
                          <a:rPr sz="2100" b="0" lang="en-US">
                            <a:solidFill>
                              <a:srgbClr val="213C4B"/>
                            </a:solidFill>
                            <a:latin typeface="Cambria Math"/>
                            <a:ea typeface="Meiryo"/>
                          </a:rPr>
                          <m:t>S</m:t>
                        </m:r>
                      </m:e>
                      <m:sub>
                        <m:r>
                          <a:rPr sz="2100" b="0" lang="en-US">
                            <a:solidFill>
                              <a:srgbClr val="213C4B"/>
                            </a:solidFill>
                            <a:latin typeface="Cambria Math"/>
                            <a:ea typeface="Meiryo"/>
                          </a:rPr>
                          <m:t>AB</m:t>
                        </m:r>
                      </m:sub>
                    </m:sSub>
                  </m:oMath>
                </a14:m>
                <a:r>
                  <a:rPr sz="2100" b="0">
                    <a:solidFill>
                      <a:srgbClr val="213C4B"/>
                    </a:solidFill>
                    <a:latin typeface="Meiryo"/>
                    <a:ea typeface="Meiryo"/>
                    <a:cs typeface="Meiryo"/>
                  </a:rPr>
                  <a:t> と </a:t>
                </a:r>
                <a14:m xmlns:m="http://schemas.openxmlformats.org/officeDocument/2006/math">
                  <m:oMath xmlns:mml="http://www.w3.org/1998/Math/MathML">
                    <m:sSub>
                      <m:e>
                        <m:r>
                          <a:rPr sz="2100" b="0" lang="en-US">
                            <a:solidFill>
                              <a:srgbClr val="213C4B"/>
                            </a:solidFill>
                            <a:latin typeface="Cambria Math"/>
                            <a:ea typeface="Meiryo"/>
                          </a:rPr>
                          <m:t>T</m:t>
                        </m:r>
                      </m:e>
                      <m:sub>
                        <m:r>
                          <a:rPr sz="2100" b="0" lang="en-US">
                            <a:solidFill>
                              <a:srgbClr val="213C4B"/>
                            </a:solidFill>
                            <a:latin typeface="Cambria Math"/>
                            <a:ea typeface="Meiryo"/>
                          </a:rPr>
                          <m:t>AB</m:t>
                        </m:r>
                      </m:sub>
                    </m:sSub>
                  </m:oMath>
                </a14:m>
                <a:r>
                  <a:rPr sz="2100" b="0">
                    <a:solidFill>
                      <a:srgbClr val="213C4B"/>
                    </a:solidFill>
                    <a:latin typeface="Meiryo"/>
                    <a:ea typeface="Meiryo"/>
                    <a:cs typeface="Meiryo"/>
                  </a:rPr>
                  <a:t> を求める（象限判定を書く）（3点）。</a:t>
                </a:r>
              </a:p>
            </p:txBody>
          </p:sp>
        </mc:Choice>
        <mc:Fallback>
          <p:sp>
            <p:nvSpPr>
              <p:cNvPr id="6" name="本文4">
                <a:extLst xmlns:a="http://schemas.openxmlformats.org/drawingml/2006/main">
                  <a:ext uri="{FF2B5EF4-FFF2-40B4-BE49-F238E27FC236}">
                    <a16:creationId xmlns:a16="http://schemas.microsoft.com/office/drawing/2014/main" id="{F4496614-827F-49A6-9A86-E23FE1D456D6}"/>
                  </a:ext>
                </a:extLst>
              </p:cNvPr>
              <p:cNvSpPr>
                <a:spLocks xmlns:a="http://schemas.openxmlformats.org/drawingml/2006/main" noGrp="1"/>
              </p:cNvSpPr>
              <p:nvPr/>
            </p:nvSpPr>
            <p:spPr>
              <a:xfrm xmlns:a="http://schemas.openxmlformats.org/drawingml/2006/main">
                <a:off x="647700" y="441515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(1) </a:t>
                </a:r>
                <a:r>
                  <a:rPr sz="2100" b="0">
                    <a:solidFill>
                      <a:srgbClr val="213C4B"/>
                    </a:solidFill>
                    <a:latin typeface="Cambria Math"/>
                    <a:ea typeface="Cambria Math"/>
                    <a:cs typeface="Cambria Math"/>
                  </a:rPr>
                  <a:t>S_{AB}</a:t>
                </a:r>
                <a:r>
                  <a:rPr sz="2100" b="0">
                    <a:solidFill>
                      <a:srgbClr val="213C4B"/>
                    </a:solidFill>
                    <a:latin typeface="Meiryo"/>
                    <a:ea typeface="Meiryo"/>
                    <a:cs typeface="Meiryo"/>
                  </a:rPr>
                  <a:t> と </a:t>
                </a:r>
                <a:r>
                  <a:rPr sz="2100" b="0">
                    <a:solidFill>
                      <a:srgbClr val="213C4B"/>
                    </a:solidFill>
                    <a:latin typeface="Cambria Math"/>
                    <a:ea typeface="Cambria Math"/>
                    <a:cs typeface="Cambria Math"/>
                  </a:rPr>
                  <a:t>T_{AB}</a:t>
                </a:r>
                <a:r>
                  <a:rPr sz="2100" b="0">
                    <a:solidFill>
                      <a:srgbClr val="213C4B"/>
                    </a:solidFill>
                    <a:latin typeface="Meiryo"/>
                    <a:ea typeface="Meiryo"/>
                    <a:cs typeface="Meiryo"/>
                  </a:rPr>
                  <a:t> を求める（象限判定を書く）（3点）。</a:t>
                </a:r>
              </a:p>
            </p:txBody>
          </p:sp>
        </mc:Fallback>
      </mc:AlternateContent>
      <mc:AlternateContent xmlns:mc="http://schemas.openxmlformats.org/markup-compatibility/2006" xmlns:a14="http://schemas.microsoft.com/office/drawing/2010/main">
        <mc:Choice Requires="a14">
          <p:sp>
            <p:nvSpPr>
              <p:cNvPr id="7" name="本文5">
                <a:extLst xmlns:a="http://schemas.openxmlformats.org/drawingml/2006/main">
                  <a:ext uri="{FF2B5EF4-FFF2-40B4-BE49-F238E27FC236}">
                    <a16:creationId xmlns:a16="http://schemas.microsoft.com/office/drawing/2014/main" id="{AA7D42EB-C27E-4A15-8C96-7933FE711358}"/>
                  </a:ext>
                </a:extLst>
              </p:cNvPr>
              <p:cNvSpPr>
                <a:spLocks xmlns:a="http://schemas.openxmlformats.org/drawingml/2006/main" noGrp="1"/>
              </p:cNvSpPr>
              <p:nvPr/>
            </p:nvSpPr>
            <p:spPr>
              <a:xfrm xmlns:a="http://schemas.openxmlformats.org/drawingml/2006/main">
                <a:off x="647700" y="506285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(2) A から </a:t>
                </a:r>
                <a14:m xmlns:m="http://schemas.openxmlformats.org/officeDocument/2006/math">
                  <m:oMath xmlns:mml="http://www.w3.org/1998/Math/MathML">
                    <m:sSub>
                      <m:e>
                        <m:r>
                          <a:rPr sz="2100" b="0" lang="en-US">
                            <a:solidFill>
                              <a:srgbClr val="213C4B"/>
                            </a:solidFill>
                            <a:latin typeface="Cambria Math"/>
                            <a:ea typeface="Meiryo"/>
                          </a:rPr>
                          <m:t>T</m:t>
                        </m:r>
                      </m:e>
                      <m:sub>
                        <m:r>
                          <a:rPr sz="2100" b="0" lang="en-US">
                            <a:solidFill>
                              <a:srgbClr val="213C4B"/>
                            </a:solidFill>
                            <a:latin typeface="Cambria Math"/>
                            <a:ea typeface="Meiryo"/>
                          </a:rPr>
                          <m:t>AC</m:t>
                        </m:r>
                      </m:sub>
                    </m:sSub>
                    <m:r>
                      <a:rPr sz="2100" b="0" lang="en-US">
                        <a:solidFill>
                          <a:srgbClr val="213C4B"/>
                        </a:solidFill>
                        <a:latin typeface="Cambria Math"/>
                        <a:ea typeface="Meiryo"/>
                      </a:rPr>
                      <m:t>=</m:t>
                    </m:r>
                    <m:sSup>
                      <m:e>
                        <m:r>
                          <a:rPr sz="2100" b="0" lang="en-US">
                            <a:solidFill>
                              <a:srgbClr val="213C4B"/>
                            </a:solidFill>
                            <a:latin typeface="Cambria Math"/>
                            <a:ea typeface="Meiryo"/>
                          </a:rPr>
                          <m:t>30</m:t>
                        </m:r>
                      </m:e>
                      <m:sup>
                        <m:r>
                          <a:rPr sz="2100" b="0" lang="en-US">
                            <a:solidFill>
                              <a:srgbClr val="213C4B"/>
                            </a:solidFill>
                            <a:latin typeface="Cambria Math"/>
                            <a:ea typeface="Meiryo"/>
                          </a:rPr>
                          <m:t>∘</m:t>
                        </m:r>
                      </m:sup>
                    </m:sSup>
                    <m:sSup>
                      <m:e>
                        <m:r>
                          <a:rPr sz="2100" b="0" lang="en-US">
                            <a:solidFill>
                              <a:srgbClr val="213C4B"/>
                            </a:solidFill>
                            <a:latin typeface="Cambria Math"/>
                            <a:ea typeface="Meiryo"/>
                          </a:rPr>
                          <m:t>00</m:t>
                        </m:r>
                      </m:e>
                      <m:sup>
                        <m:r>
                          <m:rPr>
                            <m:sty m:val="p"/>
                          </m:rPr>
                          <a:rPr sz="2100" b="0" lang="en-US">
                            <a:solidFill>
                              <a:srgbClr val="213C4B"/>
                            </a:solidFill>
                            <a:latin typeface="Cambria Math"/>
                            <a:ea typeface="Meiryo"/>
                          </a:rPr>
                          <m:t>′</m:t>
                        </m:r>
                      </m:sup>
                    </m:sSup>
                    <m:sSup>
                      <m:e>
                        <m:r>
                          <a:rPr sz="2100" b="0" lang="en-US">
                            <a:solidFill>
                              <a:srgbClr val="213C4B"/>
                            </a:solidFill>
                            <a:latin typeface="Cambria Math"/>
                            <a:ea typeface="Meiryo"/>
                          </a:rPr>
                          <m:t>00</m:t>
                        </m:r>
                      </m:e>
                      <m:sup>
                        <m:r>
                          <m:rPr>
                            <m:sty m:val="p"/>
                          </m:rPr>
                          <a:rPr sz="2100" b="0" lang="en-US">
                            <a:solidFill>
                              <a:srgbClr val="213C4B"/>
                            </a:solidFill>
                            <a:latin typeface="Cambria Math"/>
                            <a:ea typeface="Meiryo"/>
                          </a:rPr>
                          <m:t>′′</m:t>
                        </m:r>
                      </m:sup>
                    </m:sSup>
                  </m:oMath>
                </a14:m>
                <a:r>
                  <a:rPr sz="2100" b="0">
                    <a:solidFill>
                      <a:srgbClr val="213C4B"/>
                    </a:solidFill>
                    <a:latin typeface="Meiryo"/>
                    <a:ea typeface="Meiryo"/>
                    <a:cs typeface="Meiryo"/>
                  </a:rPr>
                  <a:t>、</a:t>
                </a:r>
                <a14:m xmlns:m="http://schemas.openxmlformats.org/officeDocument/2006/math">
                  <m:oMath xmlns:mml="http://www.w3.org/1998/Math/MathML">
                    <m:sSub>
                      <m:e>
                        <m:r>
                          <a:rPr sz="2100" b="0" lang="en-US">
                            <a:solidFill>
                              <a:srgbClr val="213C4B"/>
                            </a:solidFill>
                            <a:latin typeface="Cambria Math"/>
                            <a:ea typeface="Meiryo"/>
                          </a:rPr>
                          <m:t>S</m:t>
                        </m:r>
                      </m:e>
                      <m:sub>
                        <m:r>
                          <a:rPr sz="2100" b="0" lang="en-US">
                            <a:solidFill>
                              <a:srgbClr val="213C4B"/>
                            </a:solidFill>
                            <a:latin typeface="Cambria Math"/>
                            <a:ea typeface="Meiryo"/>
                          </a:rPr>
                          <m:t>AC</m:t>
                        </m:r>
                      </m:sub>
                    </m:sSub>
                    <m:r>
                      <a:rPr sz="2100" b="0" lang="en-US">
                        <a:solidFill>
                          <a:srgbClr val="213C4B"/>
                        </a:solidFill>
                        <a:latin typeface="Cambria Math"/>
                        <a:ea typeface="Meiryo"/>
                      </a:rPr>
                      <m:t>=200.000</m:t>
                    </m:r>
                  </m:oMath>
                </a14:m>
                <a:r>
                  <a:rPr sz="2100" b="0">
                    <a:solidFill>
                      <a:srgbClr val="213C4B"/>
                    </a:solidFill>
                    <a:latin typeface="Meiryo"/>
                    <a:ea typeface="Meiryo"/>
                    <a:cs typeface="Meiryo"/>
                  </a:rPr>
                  <a:t> m の新点 C の座標（2点）。</a:t>
                </a:r>
              </a:p>
            </p:txBody>
          </p:sp>
        </mc:Choice>
        <mc:Fallback>
          <p:sp>
            <p:nvSpPr>
              <p:cNvPr id="7" name="本文5">
                <a:extLst xmlns:a="http://schemas.openxmlformats.org/drawingml/2006/main">
                  <a:ext uri="{FF2B5EF4-FFF2-40B4-BE49-F238E27FC236}">
                    <a16:creationId xmlns:a16="http://schemas.microsoft.com/office/drawing/2014/main" id="{AA7D42EB-C27E-4A15-8C96-7933FE711358}"/>
                  </a:ext>
                </a:extLst>
              </p:cNvPr>
              <p:cNvSpPr>
                <a:spLocks xmlns:a="http://schemas.openxmlformats.org/drawingml/2006/main" noGrp="1"/>
              </p:cNvSpPr>
              <p:nvPr/>
            </p:nvSpPr>
            <p:spPr>
              <a:xfrm xmlns:a="http://schemas.openxmlformats.org/drawingml/2006/main">
                <a:off x="647700" y="506285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(2) A から </a:t>
                </a:r>
                <a:r>
                  <a:rPr sz="2100" b="0">
                    <a:solidFill>
                      <a:srgbClr val="213C4B"/>
                    </a:solidFill>
                    <a:latin typeface="Cambria Math"/>
                    <a:ea typeface="Cambria Math"/>
                    <a:cs typeface="Cambria Math"/>
                  </a:rPr>
                  <a:t>T_{AC}=30^\circ00' 00'' </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S_{AC}=200.000</a:t>
                </a:r>
                <a:r>
                  <a:rPr sz="2100" b="0">
                    <a:solidFill>
                      <a:srgbClr val="213C4B"/>
                    </a:solidFill>
                    <a:latin typeface="Meiryo"/>
                    <a:ea typeface="Meiryo"/>
                    <a:cs typeface="Meiryo"/>
                  </a:rPr>
                  <a:t> m の新点 C の座標（2点）。</a:t>
                </a:r>
              </a:p>
            </p:txBody>
          </p:sp>
        </mc:Fallback>
      </mc:AlternateContent>
    </p:spTree>
    <p:extLst>
      <p:ext uri="{BB962C8B-B14F-4D97-AF65-F5344CB8AC3E}">
        <p14:creationId xmlns:p14="http://schemas.microsoft.com/office/powerpoint/2010/main" val="448142467"/>
      </p:ext>
    </p:extLst>
  </p:cSld>
</p:sld>
</file>

<file path=ppt/slides/slide75.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10" name="本文0">
            <a:extLst xmlns:a="http://schemas.openxmlformats.org/drawingml/2006/main">
              <a:ext uri="{FF2B5EF4-FFF2-40B4-BE49-F238E27FC236}">
                <a16:creationId xmlns:a16="http://schemas.microsoft.com/office/drawing/2014/main" id="{535D4BE4-6CA1-43A4-A785-F00375A98967}"/>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3-7</a:t>
            </a:r>
          </a:p>
        </p:txBody>
      </p:sp>
      <p:sp>
        <p:nvSpPr>
          <p:cNvPr id="2" name="本文1">
            <a:extLst xmlns:a="http://schemas.openxmlformats.org/drawingml/2006/main">
              <a:ext uri="{FF2B5EF4-FFF2-40B4-BE49-F238E27FC236}">
                <a16:creationId xmlns:a16="http://schemas.microsoft.com/office/drawing/2014/main" id="{7A4126E1-21C4-4C71-B219-80B5A6ADEBFB}"/>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手計算テスト：問2 距離の換算（5点）</a:t>
            </a:r>
          </a:p>
        </p:txBody>
      </p:sp>
      <p:sp>
        <p:nvSpPr>
          <p:cNvPr id="3" name="本文2">
            <a:extLst xmlns:a="http://schemas.openxmlformats.org/drawingml/2006/main">
              <a:ext uri="{FF2B5EF4-FFF2-40B4-BE49-F238E27FC236}">
                <a16:creationId xmlns:a16="http://schemas.microsoft.com/office/drawing/2014/main" id="{41F22652-AC20-431C-9B99-FF113CC9FFF1}"/>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75</a:t>
            </a:r>
          </a:p>
        </p:txBody>
      </p:sp>
      <mc:AlternateContent xmlns:mc="http://schemas.openxmlformats.org/markup-compatibility/2006" xmlns:a14="http://schemas.microsoft.com/office/drawing/2010/main">
        <mc:Choice Requires="a14">
          <p:sp>
            <p:nvSpPr>
              <p:cNvPr id="4" name="本文3">
                <a:extLst xmlns:a="http://schemas.openxmlformats.org/drawingml/2006/main">
                  <a:ext uri="{FF2B5EF4-FFF2-40B4-BE49-F238E27FC236}">
                    <a16:creationId xmlns:a16="http://schemas.microsoft.com/office/drawing/2014/main" id="{6C05B92B-2F17-4787-A0A1-72135CB8FFFA}"/>
                  </a:ext>
                </a:extLst>
              </p:cNvPr>
              <p:cNvSpPr>
                <a:spLocks xmlns:a="http://schemas.openxmlformats.org/drawingml/2006/main" noGrp="1"/>
              </p:cNvSpPr>
              <p:nvPr/>
            </p:nvSpPr>
            <p:spPr>
              <a:xfrm xmlns:a="http://schemas.openxmlformats.org/drawingml/2006/main">
                <a:off x="647700" y="1466850"/>
                <a:ext cx="108966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標高 </a:t>
                </a:r>
                <a14:m xmlns:m="http://schemas.openxmlformats.org/officeDocument/2006/math">
                  <m:oMath xmlns:mml="http://www.w3.org/1998/Math/MathML">
                    <m:r>
                      <a:rPr sz="2100" b="0" lang="en-US">
                        <a:solidFill>
                          <a:srgbClr val="213C4B"/>
                        </a:solidFill>
                        <a:latin typeface="Cambria Math"/>
                        <a:ea typeface="Meiryo"/>
                      </a:rPr>
                      <m:t>H=200</m:t>
                    </m:r>
                  </m:oMath>
                </a14:m>
                <a:r>
                  <a:rPr sz="2100" b="0">
                    <a:solidFill>
                      <a:srgbClr val="213C4B"/>
                    </a:solidFill>
                    <a:latin typeface="Meiryo"/>
                    <a:ea typeface="Meiryo"/>
                    <a:cs typeface="Meiryo"/>
                  </a:rPr>
                  <a:t> m 付近で、斜距離 </a:t>
                </a:r>
                <a14:m xmlns:m="http://schemas.openxmlformats.org/officeDocument/2006/math">
                  <m:oMath xmlns:mml="http://www.w3.org/1998/Math/MathML">
                    <m:r>
                      <a:rPr sz="2100" b="0" lang="en-US">
                        <a:solidFill>
                          <a:srgbClr val="213C4B"/>
                        </a:solidFill>
                        <a:latin typeface="Cambria Math"/>
                        <a:ea typeface="Meiryo"/>
                      </a:rPr>
                      <m:t>L=500.020</m:t>
                    </m:r>
                  </m:oMath>
                </a14:m>
                <a:r>
                  <a:rPr sz="2100" b="0">
                    <a:solidFill>
                      <a:srgbClr val="213C4B"/>
                    </a:solidFill>
                    <a:latin typeface="Meiryo"/>
                    <a:ea typeface="Meiryo"/>
                    <a:cs typeface="Meiryo"/>
                  </a:rPr>
                  <a:t> m、高低差 </a:t>
                </a:r>
                <a14:m xmlns:m="http://schemas.openxmlformats.org/officeDocument/2006/math">
                  <m:oMath xmlns:mml="http://www.w3.org/1998/Math/MathML">
                    <m:r>
                      <m:rPr>
                        <m:sty m:val="p"/>
                      </m:rPr>
                      <a:rPr sz="2100" b="0" lang="en-US">
                        <a:solidFill>
                          <a:srgbClr val="213C4B"/>
                        </a:solidFill>
                        <a:latin typeface="Cambria Math"/>
                        <a:ea typeface="Meiryo"/>
                      </a:rPr>
                      <m:t>Δ</m:t>
                    </m:r>
                    <m:r>
                      <a:rPr sz="2100" b="0" lang="en-US">
                        <a:solidFill>
                          <a:srgbClr val="213C4B"/>
                        </a:solidFill>
                        <a:latin typeface="Cambria Math"/>
                        <a:ea typeface="Meiryo"/>
                      </a:rPr>
                      <m:t>h=4.500</m:t>
                    </m:r>
                  </m:oMath>
                </a14:m>
                <a:r>
                  <a:rPr sz="2100" b="0">
                    <a:solidFill>
                      <a:srgbClr val="213C4B"/>
                    </a:solidFill>
                    <a:latin typeface="Meiryo"/>
                    <a:ea typeface="Meiryo"/>
                    <a:cs typeface="Meiryo"/>
                  </a:rPr>
                  <a:t> m を観測した。縮尺係数 </a:t>
                </a:r>
                <a14:m xmlns:m="http://schemas.openxmlformats.org/officeDocument/2006/math">
                  <m:oMath xmlns:mml="http://www.w3.org/1998/Math/MathML">
                    <m:r>
                      <a:rPr sz="2100" b="0" lang="en-US">
                        <a:solidFill>
                          <a:srgbClr val="213C4B"/>
                        </a:solidFill>
                        <a:latin typeface="Cambria Math"/>
                        <a:ea typeface="Meiryo"/>
                      </a:rPr>
                      <m:t>m=0.9999</m:t>
                    </m:r>
                  </m:oMath>
                </a14:m>
                <a:r>
                  <a:rPr sz="2100" b="0">
                    <a:solidFill>
                      <a:srgbClr val="213C4B"/>
                    </a:solidFill>
                    <a:latin typeface="Meiryo"/>
                    <a:ea typeface="Meiryo"/>
                    <a:cs typeface="Meiryo"/>
                  </a:rPr>
                  <a:t>。</a:t>
                </a:r>
              </a:p>
            </p:txBody>
          </p:sp>
        </mc:Choice>
        <mc:Fallback>
          <p:sp>
            <p:nvSpPr>
              <p:cNvPr id="4" name="本文3">
                <a:extLst xmlns:a="http://schemas.openxmlformats.org/drawingml/2006/main">
                  <a:ext uri="{FF2B5EF4-FFF2-40B4-BE49-F238E27FC236}">
                    <a16:creationId xmlns:a16="http://schemas.microsoft.com/office/drawing/2014/main" id="{6C05B92B-2F17-4787-A0A1-72135CB8FFFA}"/>
                  </a:ext>
                </a:extLst>
              </p:cNvPr>
              <p:cNvSpPr>
                <a:spLocks xmlns:a="http://schemas.openxmlformats.org/drawingml/2006/main" noGrp="1"/>
              </p:cNvSpPr>
              <p:nvPr/>
            </p:nvSpPr>
            <p:spPr>
              <a:xfrm xmlns:a="http://schemas.openxmlformats.org/drawingml/2006/main">
                <a:off x="647700" y="1466850"/>
                <a:ext cx="108966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標高 </a:t>
                </a:r>
                <a:r>
                  <a:rPr sz="2100" b="0">
                    <a:solidFill>
                      <a:srgbClr val="213C4B"/>
                    </a:solidFill>
                    <a:latin typeface="Cambria Math"/>
                    <a:ea typeface="Cambria Math"/>
                    <a:cs typeface="Cambria Math"/>
                  </a:rPr>
                  <a:t>H=200</a:t>
                </a:r>
                <a:r>
                  <a:rPr sz="2100" b="0">
                    <a:solidFill>
                      <a:srgbClr val="213C4B"/>
                    </a:solidFill>
                    <a:latin typeface="Meiryo"/>
                    <a:ea typeface="Meiryo"/>
                    <a:cs typeface="Meiryo"/>
                  </a:rPr>
                  <a:t> m 付近で、斜距離 </a:t>
                </a:r>
                <a:r>
                  <a:rPr sz="2100" b="0">
                    <a:solidFill>
                      <a:srgbClr val="213C4B"/>
                    </a:solidFill>
                    <a:latin typeface="Cambria Math"/>
                    <a:ea typeface="Cambria Math"/>
                    <a:cs typeface="Cambria Math"/>
                  </a:rPr>
                  <a:t>L=500.020</a:t>
                </a:r>
                <a:r>
                  <a:rPr sz="2100" b="0">
                    <a:solidFill>
                      <a:srgbClr val="213C4B"/>
                    </a:solidFill>
                    <a:latin typeface="Meiryo"/>
                    <a:ea typeface="Meiryo"/>
                    <a:cs typeface="Meiryo"/>
                  </a:rPr>
                  <a:t> m、高低差 </a:t>
                </a:r>
                <a:r>
                  <a:rPr sz="2100" b="0">
                    <a:solidFill>
                      <a:srgbClr val="213C4B"/>
                    </a:solidFill>
                    <a:latin typeface="Cambria Math"/>
                    <a:ea typeface="Cambria Math"/>
                    <a:cs typeface="Cambria Math"/>
                  </a:rPr>
                  <a:t>\Delta h=4.500</a:t>
                </a:r>
                <a:r>
                  <a:rPr sz="2100" b="0">
                    <a:solidFill>
                      <a:srgbClr val="213C4B"/>
                    </a:solidFill>
                    <a:latin typeface="Meiryo"/>
                    <a:ea typeface="Meiryo"/>
                    <a:cs typeface="Meiryo"/>
                  </a:rPr>
                  <a:t> m を観測した。縮尺係数 </a:t>
                </a:r>
                <a:r>
                  <a:rPr sz="2100" b="0">
                    <a:solidFill>
                      <a:srgbClr val="213C4B"/>
                    </a:solidFill>
                    <a:latin typeface="Cambria Math"/>
                    <a:ea typeface="Cambria Math"/>
                    <a:cs typeface="Cambria Math"/>
                  </a:rPr>
                  <a:t>m=0.9999</a:t>
                </a:r>
                <a:r>
                  <a:rPr sz="2100" b="0">
                    <a:solidFill>
                      <a:srgbClr val="213C4B"/>
                    </a:solidFill>
                    <a:latin typeface="Meiryo"/>
                    <a:ea typeface="Meiryo"/>
                    <a:cs typeface="Meiryo"/>
                  </a:rPr>
                  <a:t>。</a:t>
                </a:r>
              </a:p>
            </p:txBody>
          </p:sp>
        </mc:Fallback>
      </mc:AlternateContent>
      <mc:AlternateContent xmlns:mc="http://schemas.openxmlformats.org/markup-compatibility/2006" xmlns:a14="http://schemas.microsoft.com/office/drawing/2010/main">
        <mc:Choice Requires="a14">
          <p:sp>
            <p:nvSpPr>
              <p:cNvPr id="5" name="本文4">
                <a:extLst xmlns:a="http://schemas.openxmlformats.org/drawingml/2006/main">
                  <a:ext uri="{FF2B5EF4-FFF2-40B4-BE49-F238E27FC236}">
                    <a16:creationId xmlns:a16="http://schemas.microsoft.com/office/drawing/2014/main" id="{9303A7E4-5802-4B75-BA79-4D11C5814A54}"/>
                  </a:ext>
                </a:extLst>
              </p:cNvPr>
              <p:cNvSpPr>
                <a:spLocks xmlns:a="http://schemas.openxmlformats.org/drawingml/2006/main" noGrp="1"/>
              </p:cNvSpPr>
              <p:nvPr/>
            </p:nvSpPr>
            <p:spPr>
              <a:xfrm xmlns:a="http://schemas.openxmlformats.org/drawingml/2006/main">
                <a:off x="647700" y="25146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(1) 水平距離 </a:t>
                </a:r>
                <a14:m xmlns:m="http://schemas.openxmlformats.org/officeDocument/2006/math">
                  <m:oMath xmlns:mml="http://www.w3.org/1998/Math/MathML">
                    <m:r>
                      <a:rPr sz="2100" b="0" lang="en-US">
                        <a:solidFill>
                          <a:srgbClr val="213C4B"/>
                        </a:solidFill>
                        <a:latin typeface="Cambria Math"/>
                        <a:ea typeface="Meiryo"/>
                      </a:rPr>
                      <m:t>S</m:t>
                    </m:r>
                  </m:oMath>
                </a14:m>
                <a:r>
                  <a:rPr sz="2100" b="0">
                    <a:solidFill>
                      <a:srgbClr val="213C4B"/>
                    </a:solidFill>
                    <a:latin typeface="Meiryo"/>
                    <a:ea typeface="Meiryo"/>
                    <a:cs typeface="Meiryo"/>
                  </a:rPr>
                  <a:t>（1点）</a:t>
                </a:r>
              </a:p>
            </p:txBody>
          </p:sp>
        </mc:Choice>
        <mc:Fallback>
          <p:sp>
            <p:nvSpPr>
              <p:cNvPr id="5" name="本文4">
                <a:extLst xmlns:a="http://schemas.openxmlformats.org/drawingml/2006/main">
                  <a:ext uri="{FF2B5EF4-FFF2-40B4-BE49-F238E27FC236}">
                    <a16:creationId xmlns:a16="http://schemas.microsoft.com/office/drawing/2014/main" id="{9303A7E4-5802-4B75-BA79-4D11C5814A54}"/>
                  </a:ext>
                </a:extLst>
              </p:cNvPr>
              <p:cNvSpPr>
                <a:spLocks xmlns:a="http://schemas.openxmlformats.org/drawingml/2006/main" noGrp="1"/>
              </p:cNvSpPr>
              <p:nvPr/>
            </p:nvSpPr>
            <p:spPr>
              <a:xfrm xmlns:a="http://schemas.openxmlformats.org/drawingml/2006/main">
                <a:off x="647700" y="25146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(1) 水平距離 </a:t>
                </a:r>
                <a:r>
                  <a:rPr sz="2100" b="0">
                    <a:solidFill>
                      <a:srgbClr val="213C4B"/>
                    </a:solidFill>
                    <a:latin typeface="Cambria Math"/>
                    <a:ea typeface="Cambria Math"/>
                    <a:cs typeface="Cambria Math"/>
                  </a:rPr>
                  <a:t>S</a:t>
                </a:r>
                <a:r>
                  <a:rPr sz="2100" b="0">
                    <a:solidFill>
                      <a:srgbClr val="213C4B"/>
                    </a:solidFill>
                    <a:latin typeface="Meiryo"/>
                    <a:ea typeface="Meiryo"/>
                    <a:cs typeface="Meiryo"/>
                  </a:rPr>
                  <a:t>（1点）</a:t>
                </a:r>
              </a:p>
            </p:txBody>
          </p:sp>
        </mc:Fallback>
      </mc:AlternateContent>
      <mc:AlternateContent xmlns:mc="http://schemas.openxmlformats.org/markup-compatibility/2006" xmlns:a14="http://schemas.microsoft.com/office/drawing/2010/main">
        <mc:Choice Requires="a14">
          <p:sp>
            <p:nvSpPr>
              <p:cNvPr id="6" name="本文5">
                <a:extLst xmlns:a="http://schemas.openxmlformats.org/drawingml/2006/main">
                  <a:ext uri="{FF2B5EF4-FFF2-40B4-BE49-F238E27FC236}">
                    <a16:creationId xmlns:a16="http://schemas.microsoft.com/office/drawing/2014/main" id="{7D2366CF-BF3A-4449-AEA0-112FCCB032C4}"/>
                  </a:ext>
                </a:extLst>
              </p:cNvPr>
              <p:cNvSpPr>
                <a:spLocks xmlns:a="http://schemas.openxmlformats.org/drawingml/2006/main" noGrp="1"/>
              </p:cNvSpPr>
              <p:nvPr/>
            </p:nvSpPr>
            <p:spPr>
              <a:xfrm xmlns:a="http://schemas.openxmlformats.org/drawingml/2006/main">
                <a:off x="647700" y="31623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(2) 基準面上の距離 </a:t>
                </a:r>
                <a14:m xmlns:m="http://schemas.openxmlformats.org/officeDocument/2006/math">
                  <m:oMath xmlns:mml="http://www.w3.org/1998/Math/MathML">
                    <m:sSub>
                      <m:e>
                        <m:r>
                          <a:rPr sz="2100" b="0" lang="en-US">
                            <a:solidFill>
                              <a:srgbClr val="213C4B"/>
                            </a:solidFill>
                            <a:latin typeface="Cambria Math"/>
                            <a:ea typeface="Meiryo"/>
                          </a:rPr>
                          <m:t>S</m:t>
                        </m:r>
                      </m:e>
                      <m:sub>
                        <m:r>
                          <a:rPr sz="2100" b="0" lang="en-US">
                            <a:solidFill>
                              <a:srgbClr val="213C4B"/>
                            </a:solidFill>
                            <a:latin typeface="Cambria Math"/>
                            <a:ea typeface="Meiryo"/>
                          </a:rPr>
                          <m:t>0</m:t>
                        </m:r>
                      </m:sub>
                    </m:sSub>
                  </m:oMath>
                </a14:m>
                <a:r>
                  <a:rPr sz="2100" b="0">
                    <a:solidFill>
                      <a:srgbClr val="213C4B"/>
                    </a:solidFill>
                    <a:latin typeface="Meiryo"/>
                    <a:ea typeface="Meiryo"/>
                    <a:cs typeface="Meiryo"/>
                  </a:rPr>
                  <a:t>（1.5点）</a:t>
                </a:r>
              </a:p>
            </p:txBody>
          </p:sp>
        </mc:Choice>
        <mc:Fallback>
          <p:sp>
            <p:nvSpPr>
              <p:cNvPr id="6" name="本文5">
                <a:extLst xmlns:a="http://schemas.openxmlformats.org/drawingml/2006/main">
                  <a:ext uri="{FF2B5EF4-FFF2-40B4-BE49-F238E27FC236}">
                    <a16:creationId xmlns:a16="http://schemas.microsoft.com/office/drawing/2014/main" id="{7D2366CF-BF3A-4449-AEA0-112FCCB032C4}"/>
                  </a:ext>
                </a:extLst>
              </p:cNvPr>
              <p:cNvSpPr>
                <a:spLocks xmlns:a="http://schemas.openxmlformats.org/drawingml/2006/main" noGrp="1"/>
              </p:cNvSpPr>
              <p:nvPr/>
            </p:nvSpPr>
            <p:spPr>
              <a:xfrm xmlns:a="http://schemas.openxmlformats.org/drawingml/2006/main">
                <a:off x="647700" y="31623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(2) 基準面上の距離 </a:t>
                </a:r>
                <a:r>
                  <a:rPr sz="2100" b="0">
                    <a:solidFill>
                      <a:srgbClr val="213C4B"/>
                    </a:solidFill>
                    <a:latin typeface="Cambria Math"/>
                    <a:ea typeface="Cambria Math"/>
                    <a:cs typeface="Cambria Math"/>
                  </a:rPr>
                  <a:t>S_0</a:t>
                </a:r>
                <a:r>
                  <a:rPr sz="2100" b="0">
                    <a:solidFill>
                      <a:srgbClr val="213C4B"/>
                    </a:solidFill>
                    <a:latin typeface="Meiryo"/>
                    <a:ea typeface="Meiryo"/>
                    <a:cs typeface="Meiryo"/>
                  </a:rPr>
                  <a:t>（1.5点）</a:t>
                </a:r>
              </a:p>
            </p:txBody>
          </p:sp>
        </mc:Fallback>
      </mc:AlternateContent>
      <mc:AlternateContent xmlns:mc="http://schemas.openxmlformats.org/markup-compatibility/2006" xmlns:a14="http://schemas.microsoft.com/office/drawing/2010/main">
        <mc:Choice Requires="a14">
          <p:sp>
            <p:nvSpPr>
              <p:cNvPr id="7" name="本文6">
                <a:extLst xmlns:a="http://schemas.openxmlformats.org/drawingml/2006/main">
                  <a:ext uri="{FF2B5EF4-FFF2-40B4-BE49-F238E27FC236}">
                    <a16:creationId xmlns:a16="http://schemas.microsoft.com/office/drawing/2014/main" id="{705BDA24-AE45-442F-BA16-7B0C2599EBFB}"/>
                  </a:ext>
                </a:extLst>
              </p:cNvPr>
              <p:cNvSpPr>
                <a:spLocks xmlns:a="http://schemas.openxmlformats.org/drawingml/2006/main" noGrp="1"/>
              </p:cNvSpPr>
              <p:nvPr/>
            </p:nvSpPr>
            <p:spPr>
              <a:xfrm xmlns:a="http://schemas.openxmlformats.org/drawingml/2006/main">
                <a:off x="647700" y="38100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(3) 平面直角座標上の距離 </a:t>
                </a:r>
                <a14:m xmlns:m="http://schemas.openxmlformats.org/officeDocument/2006/math">
                  <m:oMath xmlns:mml="http://www.w3.org/1998/Math/MathML">
                    <m:r>
                      <a:rPr sz="2100" b="0" lang="en-US">
                        <a:solidFill>
                          <a:srgbClr val="213C4B"/>
                        </a:solidFill>
                        <a:latin typeface="Cambria Math"/>
                        <a:ea typeface="Meiryo"/>
                      </a:rPr>
                      <m:t>s</m:t>
                    </m:r>
                  </m:oMath>
                </a14:m>
                <a:r>
                  <a:rPr sz="2100" b="0">
                    <a:solidFill>
                      <a:srgbClr val="213C4B"/>
                    </a:solidFill>
                    <a:latin typeface="Meiryo"/>
                    <a:ea typeface="Meiryo"/>
                    <a:cs typeface="Meiryo"/>
                  </a:rPr>
                  <a:t>（1.5点）</a:t>
                </a:r>
              </a:p>
            </p:txBody>
          </p:sp>
        </mc:Choice>
        <mc:Fallback>
          <p:sp>
            <p:nvSpPr>
              <p:cNvPr id="7" name="本文6">
                <a:extLst xmlns:a="http://schemas.openxmlformats.org/drawingml/2006/main">
                  <a:ext uri="{FF2B5EF4-FFF2-40B4-BE49-F238E27FC236}">
                    <a16:creationId xmlns:a16="http://schemas.microsoft.com/office/drawing/2014/main" id="{705BDA24-AE45-442F-BA16-7B0C2599EBFB}"/>
                  </a:ext>
                </a:extLst>
              </p:cNvPr>
              <p:cNvSpPr>
                <a:spLocks xmlns:a="http://schemas.openxmlformats.org/drawingml/2006/main" noGrp="1"/>
              </p:cNvSpPr>
              <p:nvPr/>
            </p:nvSpPr>
            <p:spPr>
              <a:xfrm xmlns:a="http://schemas.openxmlformats.org/drawingml/2006/main">
                <a:off x="647700" y="38100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(3) 平面直角座標上の距離 </a:t>
                </a:r>
                <a:r>
                  <a:rPr sz="2100" b="0">
                    <a:solidFill>
                      <a:srgbClr val="213C4B"/>
                    </a:solidFill>
                    <a:latin typeface="Cambria Math"/>
                    <a:ea typeface="Cambria Math"/>
                    <a:cs typeface="Cambria Math"/>
                  </a:rPr>
                  <a:t>s</a:t>
                </a:r>
                <a:r>
                  <a:rPr sz="2100" b="0">
                    <a:solidFill>
                      <a:srgbClr val="213C4B"/>
                    </a:solidFill>
                    <a:latin typeface="Meiryo"/>
                    <a:ea typeface="Meiryo"/>
                    <a:cs typeface="Meiryo"/>
                  </a:rPr>
                  <a:t>（1.5点）</a:t>
                </a:r>
              </a:p>
            </p:txBody>
          </p:sp>
        </mc:Fallback>
      </mc:AlternateContent>
      <p:sp>
        <p:nvSpPr>
          <p:cNvPr id="8" name="本文7">
            <a:extLst xmlns:a="http://schemas.openxmlformats.org/drawingml/2006/main">
              <a:ext uri="{FF2B5EF4-FFF2-40B4-BE49-F238E27FC236}">
                <a16:creationId xmlns:a16="http://schemas.microsoft.com/office/drawing/2014/main" id="{B1D870D0-973E-4A9C-9444-27257DB9D40C}"/>
              </a:ext>
            </a:extLst>
          </p:cNvPr>
          <p:cNvSpPr>
            <a:spLocks xmlns:a="http://schemas.openxmlformats.org/drawingml/2006/main" noGrp="1"/>
          </p:cNvSpPr>
          <p:nvPr/>
        </p:nvSpPr>
        <p:spPr>
          <a:xfrm xmlns:a="http://schemas.openxmlformats.org/drawingml/2006/main">
            <a:off x="647700" y="44577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(4) (2)(3) の補正は距離を長くするか短くするか。理由を1行ずつ（1点）</a:t>
            </a:r>
          </a:p>
        </p:txBody>
      </p:sp>
      <p:sp>
        <p:nvSpPr>
          <p:cNvPr id="9" name="本文8">
            <a:extLst xmlns:a="http://schemas.openxmlformats.org/drawingml/2006/main">
              <a:ext uri="{FF2B5EF4-FFF2-40B4-BE49-F238E27FC236}">
                <a16:creationId xmlns:a16="http://schemas.microsoft.com/office/drawing/2014/main" id="{5C6DBB9B-EEF5-456A-BFDD-BEFAAAB0AE67}"/>
              </a:ext>
            </a:extLst>
          </p:cNvPr>
          <p:cNvSpPr>
            <a:spLocks xmlns:a="http://schemas.openxmlformats.org/drawingml/2006/main" noGrp="1"/>
          </p:cNvSpPr>
          <p:nvPr/>
        </p:nvSpPr>
        <p:spPr>
          <a:xfrm xmlns:a="http://schemas.openxmlformats.org/drawingml/2006/main">
            <a:off x="647700" y="51054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発展（加点なし）：設計の平面距離 300.000 m を現地で測る水平距離に戻す。</a:t>
            </a:r>
          </a:p>
        </p:txBody>
      </p:sp>
    </p:spTree>
    <p:extLst>
      <p:ext uri="{BB962C8B-B14F-4D97-AF65-F5344CB8AC3E}">
        <p14:creationId xmlns:p14="http://schemas.microsoft.com/office/powerpoint/2010/main" val="1142528231"/>
      </p:ext>
    </p:extLst>
  </p:cSld>
</p:sld>
</file>

<file path=ppt/slides/slide76.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7" name="本文0">
            <a:extLst xmlns:a="http://schemas.openxmlformats.org/drawingml/2006/main">
              <a:ext uri="{FF2B5EF4-FFF2-40B4-BE49-F238E27FC236}">
                <a16:creationId xmlns:a16="http://schemas.microsoft.com/office/drawing/2014/main" id="{9FAD6DC0-5F3C-47A7-9CB1-FAB678C76598}"/>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3-7</a:t>
            </a:r>
          </a:p>
        </p:txBody>
      </p:sp>
      <p:sp>
        <p:nvSpPr>
          <p:cNvPr id="2" name="本文1">
            <a:extLst xmlns:a="http://schemas.openxmlformats.org/drawingml/2006/main">
              <a:ext uri="{FF2B5EF4-FFF2-40B4-BE49-F238E27FC236}">
                <a16:creationId xmlns:a16="http://schemas.microsoft.com/office/drawing/2014/main" id="{040451A8-5DD6-4789-BE0D-D472F61D1F08}"/>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計算中のチェック</a:t>
            </a:r>
          </a:p>
        </p:txBody>
      </p:sp>
      <p:sp>
        <p:nvSpPr>
          <p:cNvPr id="3" name="本文2">
            <a:extLst xmlns:a="http://schemas.openxmlformats.org/drawingml/2006/main">
              <a:ext uri="{FF2B5EF4-FFF2-40B4-BE49-F238E27FC236}">
                <a16:creationId xmlns:a16="http://schemas.microsoft.com/office/drawing/2014/main" id="{72EA8267-274F-49D5-9430-5DBD7281E6AC}"/>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76</a:t>
            </a:r>
          </a:p>
        </p:txBody>
      </p:sp>
      <mc:AlternateContent xmlns:mc="http://schemas.openxmlformats.org/markup-compatibility/2006" xmlns:a14="http://schemas.microsoft.com/office/drawing/2010/main">
        <mc:Choice Requires="a14">
          <p:graphicFrame>
            <p:nvGraphicFramePr>
              <p:cNvPr id="4" name="">
                <a:extLst xmlns:a="http://schemas.openxmlformats.org/drawingml/2006/main">
                  <a:ext uri="{FF2B5EF4-FFF2-40B4-BE49-F238E27FC236}">
                    <a16:creationId xmlns:a16="http://schemas.microsoft.com/office/drawing/2014/main" id="{5DECA85E-8948-415B-8421-D1CE62CB86D1}"/>
                  </a:ext>
                </a:extLst>
              </p:cNvPr>
              <p:cNvGraphicFramePr/>
              <p:nvPr/>
            </p:nvGraphicFramePr>
            <p:xfrm>
              <a:off xmlns:a="http://schemas.openxmlformats.org/drawingml/2006/main" x="647700" y="1466850"/>
              <a:ext xmlns:a="http://schemas.openxmlformats.org/drawingml/2006/main" cx="10896600" cy="2981325"/>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計算</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確認する順序</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逆計算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座標差の符号、象限、距離、方向角</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順計算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Xにcos、Yにsin、移動量の符号</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距離換算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水平、基準面、平面の順</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検算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r>
                                <m:rPr>
                                  <m:sty m:val="p"/>
                                </m:rPr>
                                <a:rPr sz="2100" b="0" lang="en-US">
                                  <a:solidFill>
                                    <a:srgbClr val="213C4B"/>
                                  </a:solidFill>
                                  <a:latin typeface="Cambria Math"/>
                                  <a:ea typeface="Meiryo"/>
                                </a:rPr>
                                <m:t>Δ</m:t>
                              </m:r>
                              <m:sSup>
                                <m:e>
                                  <m:r>
                                    <a:rPr sz="2100" b="0" lang="en-US">
                                      <a:solidFill>
                                        <a:srgbClr val="213C4B"/>
                                      </a:solidFill>
                                      <a:latin typeface="Cambria Math"/>
                                      <a:ea typeface="Meiryo"/>
                                    </a:rPr>
                                    <m:t>X</m:t>
                                  </m:r>
                                </m:e>
                                <m:sup>
                                  <m:r>
                                    <a:rPr sz="2100" b="0" lang="en-US">
                                      <a:solidFill>
                                        <a:srgbClr val="213C4B"/>
                                      </a:solidFill>
                                      <a:latin typeface="Cambria Math"/>
                                      <a:ea typeface="Meiryo"/>
                                    </a:rPr>
                                    <m:t>2</m:t>
                                  </m:r>
                                </m:sup>
                              </m:sSup>
                              <m:r>
                                <a:rPr sz="2100" b="0" lang="en-US">
                                  <a:solidFill>
                                    <a:srgbClr val="213C4B"/>
                                  </a:solidFill>
                                  <a:latin typeface="Cambria Math"/>
                                  <a:ea typeface="Meiryo"/>
                                </a:rPr>
                                <m:t>+</m:t>
                              </m:r>
                              <m:r>
                                <m:rPr>
                                  <m:sty m:val="p"/>
                                </m:rPr>
                                <a:rPr sz="2100" b="0" lang="en-US">
                                  <a:solidFill>
                                    <a:srgbClr val="213C4B"/>
                                  </a:solidFill>
                                  <a:latin typeface="Cambria Math"/>
                                  <a:ea typeface="Meiryo"/>
                                </a:rPr>
                                <m:t>Δ</m:t>
                              </m:r>
                              <m:sSup>
                                <m:e>
                                  <m:r>
                                    <a:rPr sz="2100" b="0" lang="en-US">
                                      <a:solidFill>
                                        <a:srgbClr val="213C4B"/>
                                      </a:solidFill>
                                      <a:latin typeface="Cambria Math"/>
                                      <a:ea typeface="Meiryo"/>
                                    </a:rPr>
                                    <m:t>Y</m:t>
                                  </m:r>
                                </m:e>
                                <m:sup>
                                  <m:r>
                                    <a:rPr sz="2100" b="0" lang="en-US">
                                      <a:solidFill>
                                        <a:srgbClr val="213C4B"/>
                                      </a:solidFill>
                                      <a:latin typeface="Cambria Math"/>
                                      <a:ea typeface="Meiryo"/>
                                    </a:rPr>
                                    <m:t>2</m:t>
                                  </m:r>
                                </m:sup>
                              </m:sSup>
                              <m:r>
                                <a:rPr sz="2100" b="0" lang="en-US">
                                  <a:solidFill>
                                    <a:srgbClr val="213C4B"/>
                                  </a:solidFill>
                                  <a:latin typeface="Cambria Math"/>
                                  <a:ea typeface="Meiryo"/>
                                </a:rPr>
                                <m:t>=</m:t>
                              </m:r>
                              <m:sSup>
                                <m:e>
                                  <m:r>
                                    <a:rPr sz="2100" b="0" lang="en-US">
                                      <a:solidFill>
                                        <a:srgbClr val="213C4B"/>
                                      </a:solidFill>
                                      <a:latin typeface="Cambria Math"/>
                                      <a:ea typeface="Meiryo"/>
                                    </a:rPr>
                                    <m:t>S</m:t>
                                  </m:r>
                                </m:e>
                                <m:sup>
                                  <m:r>
                                    <a:rPr sz="2100" b="0" lang="en-US">
                                      <a:solidFill>
                                        <a:srgbClr val="213C4B"/>
                                      </a:solidFill>
                                      <a:latin typeface="Cambria Math"/>
                                      <a:ea typeface="Meiryo"/>
                                    </a:rPr>
                                    <m:t>2</m:t>
                                  </m:r>
                                </m:sup>
                              </m:sSup>
                            </m:oMath>
                          </a14:m>
                          <a:r>
                            <a:rPr sz="2100" b="0">
                              <a:solidFill>
                                <a:srgbClr val="213C4B"/>
                              </a:solidFill>
                              <a:latin typeface="Meiryo"/>
                              <a:ea typeface="Meiryo"/>
                              <a:cs typeface="Meiryo"/>
                            </a:rPr>
                            <a:t>、順逆計算の一致</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Choice>
        <mc:Fallback>
          <p:graphicFrame>
            <p:nvGraphicFramePr>
              <p:cNvPr id="4" name="">
                <a:extLst xmlns:a="http://schemas.openxmlformats.org/drawingml/2006/main">
                  <a:ext uri="{FF2B5EF4-FFF2-40B4-BE49-F238E27FC236}">
                    <a16:creationId xmlns:a16="http://schemas.microsoft.com/office/drawing/2014/main" id="{5DECA85E-8948-415B-8421-D1CE62CB86D1}"/>
                  </a:ext>
                </a:extLst>
              </p:cNvPr>
              <p:cNvGraphicFramePr/>
              <p:nvPr/>
            </p:nvGraphicFramePr>
            <p:xfrm>
              <a:off xmlns:a="http://schemas.openxmlformats.org/drawingml/2006/main" x="647700" y="1466850"/>
              <a:ext xmlns:a="http://schemas.openxmlformats.org/drawingml/2006/main" cx="10896600" cy="2981325"/>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計算</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確認する順序</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逆計算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座標差の符号、象限、距離、方向角</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順計算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Xにcos、Yにsin、移動量の符号</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距離換算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水平、基準面、平面の順</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検算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Cambria Math"/>
                              <a:ea typeface="Cambria Math"/>
                              <a:cs typeface="Cambria Math"/>
                            </a:rPr>
                            <a:t>\Delta X^2+\Delta Y^2=S^2</a:t>
                          </a:r>
                          <a:r>
                            <a:rPr sz="2100" b="0">
                              <a:solidFill>
                                <a:srgbClr val="213C4B"/>
                              </a:solidFill>
                              <a:latin typeface="Meiryo"/>
                              <a:ea typeface="Meiryo"/>
                              <a:cs typeface="Meiryo"/>
                            </a:rPr>
                            <a:t>、順逆計算の一致</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bl>
              </a:graphicData>
            </a:graphic>
          </p:graphicFrame>
        </mc:Fallback>
      </mc:AlternateContent>
      <p:sp>
        <p:nvSpPr>
          <p:cNvPr id="5" name="本文3">
            <a:extLst xmlns:a="http://schemas.openxmlformats.org/drawingml/2006/main">
              <a:ext uri="{FF2B5EF4-FFF2-40B4-BE49-F238E27FC236}">
                <a16:creationId xmlns:a16="http://schemas.microsoft.com/office/drawing/2014/main" id="{1F4A5659-B7DD-40C8-9B57-5843390B73AB}"/>
              </a:ext>
            </a:extLst>
          </p:cNvPr>
          <p:cNvSpPr>
            <a:spLocks xmlns:a="http://schemas.openxmlformats.org/drawingml/2006/main" noGrp="1"/>
          </p:cNvSpPr>
          <p:nvPr/>
        </p:nvSpPr>
        <p:spPr>
          <a:xfrm xmlns:a="http://schemas.openxmlformats.org/drawingml/2006/main">
            <a:off x="647700" y="461962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座標・距離：m、小数第3位。角：秒まで。</a:t>
            </a:r>
          </a:p>
        </p:txBody>
      </p:sp>
      <p:sp>
        <p:nvSpPr>
          <p:cNvPr id="6" name="本文4">
            <a:extLst xmlns:a="http://schemas.openxmlformats.org/drawingml/2006/main">
              <a:ext uri="{FF2B5EF4-FFF2-40B4-BE49-F238E27FC236}">
                <a16:creationId xmlns:a16="http://schemas.microsoft.com/office/drawing/2014/main" id="{45C74DFD-817E-4AF1-99D3-D0BD33F7FFF9}"/>
              </a:ext>
            </a:extLst>
          </p:cNvPr>
          <p:cNvSpPr>
            <a:spLocks xmlns:a="http://schemas.openxmlformats.org/drawingml/2006/main" noGrp="1"/>
          </p:cNvSpPr>
          <p:nvPr/>
        </p:nvSpPr>
        <p:spPr>
          <a:xfrm xmlns:a="http://schemas.openxmlformats.org/drawingml/2006/main">
            <a:off x="647700" y="5267325"/>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a:t>
            </a:r>
            <a:r>
              <a:rPr sz="2100" b="1">
                <a:solidFill>
                  <a:srgbClr val="137D78"/>
                </a:solidFill>
                <a:latin typeface="Meiryo"/>
                <a:ea typeface="Meiryo"/>
                <a:cs typeface="Meiryo"/>
              </a:rPr>
              <a:t>途中では丸めない</a:t>
            </a:r>
            <a:r>
              <a:rPr sz="2100" b="0">
                <a:solidFill>
                  <a:srgbClr val="213C4B"/>
                </a:solidFill>
                <a:latin typeface="Meiryo"/>
                <a:ea typeface="Meiryo"/>
                <a:cs typeface="Meiryo"/>
              </a:rPr>
              <a:t>。最後に単位と補正の向きを書く。</a:t>
            </a:r>
          </a:p>
        </p:txBody>
      </p:sp>
    </p:spTree>
    <p:extLst>
      <p:ext uri="{BB962C8B-B14F-4D97-AF65-F5344CB8AC3E}">
        <p14:creationId xmlns:p14="http://schemas.microsoft.com/office/powerpoint/2010/main" val="2080945220"/>
      </p:ext>
    </p:extLst>
  </p:cSld>
</p:sld>
</file>

<file path=ppt/slides/slide77.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8" name="本文0">
            <a:extLst xmlns:a="http://schemas.openxmlformats.org/drawingml/2006/main">
              <a:ext uri="{FF2B5EF4-FFF2-40B4-BE49-F238E27FC236}">
                <a16:creationId xmlns:a16="http://schemas.microsoft.com/office/drawing/2014/main" id="{AF05B4F6-E11A-400E-A7A9-0A622FF4BDDE}"/>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3-7</a:t>
            </a:r>
          </a:p>
        </p:txBody>
      </p:sp>
      <p:sp>
        <p:nvSpPr>
          <p:cNvPr id="2" name="本文1">
            <a:extLst xmlns:a="http://schemas.openxmlformats.org/drawingml/2006/main">
              <a:ext uri="{FF2B5EF4-FFF2-40B4-BE49-F238E27FC236}">
                <a16:creationId xmlns:a16="http://schemas.microsoft.com/office/drawing/2014/main" id="{7958C897-E329-4B43-92F2-20D7122A73E6}"/>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提出前の確認</a:t>
            </a:r>
          </a:p>
        </p:txBody>
      </p:sp>
      <p:sp>
        <p:nvSpPr>
          <p:cNvPr id="3" name="本文2">
            <a:extLst xmlns:a="http://schemas.openxmlformats.org/drawingml/2006/main">
              <a:ext uri="{FF2B5EF4-FFF2-40B4-BE49-F238E27FC236}">
                <a16:creationId xmlns:a16="http://schemas.microsoft.com/office/drawing/2014/main" id="{0E370EBE-CA1E-4A08-8C87-1BD118055478}"/>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77</a:t>
            </a:r>
          </a:p>
        </p:txBody>
      </p:sp>
      <p:sp>
        <p:nvSpPr>
          <p:cNvPr id="4" name="本文3">
            <a:extLst xmlns:a="http://schemas.openxmlformats.org/drawingml/2006/main">
              <a:ext uri="{FF2B5EF4-FFF2-40B4-BE49-F238E27FC236}">
                <a16:creationId xmlns:a16="http://schemas.microsoft.com/office/drawing/2014/main" id="{6C2016BD-F672-449C-8E58-55832BDE42F5}"/>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解説は次回冒頭。順計算・逆計算を復習しておく。</a:t>
            </a:r>
          </a:p>
        </p:txBody>
      </p:sp>
      <p:sp>
        <p:nvSpPr>
          <p:cNvPr id="5" name="本文4">
            <a:extLst xmlns:a="http://schemas.openxmlformats.org/drawingml/2006/main">
              <a:ext uri="{FF2B5EF4-FFF2-40B4-BE49-F238E27FC236}">
                <a16:creationId xmlns:a16="http://schemas.microsoft.com/office/drawing/2014/main" id="{F178E57D-57BB-4449-B294-8A302ACF8539}"/>
              </a:ext>
            </a:extLst>
          </p:cNvPr>
          <p:cNvSpPr>
            <a:spLocks xmlns:a="http://schemas.openxmlformats.org/drawingml/2006/main" noGrp="1"/>
          </p:cNvSpPr>
          <p:nvPr/>
        </p:nvSpPr>
        <p:spPr>
          <a:xfrm xmlns:a="http://schemas.openxmlformats.org/drawingml/2006/main">
            <a:off x="647700" y="19621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小テストと、手計算テスト2ページをまとめる。</a:t>
            </a:r>
          </a:p>
        </p:txBody>
      </p:sp>
      <p:sp>
        <p:nvSpPr>
          <p:cNvPr id="6" name="本文5">
            <a:extLst xmlns:a="http://schemas.openxmlformats.org/drawingml/2006/main">
              <a:ext uri="{FF2B5EF4-FFF2-40B4-BE49-F238E27FC236}">
                <a16:creationId xmlns:a16="http://schemas.microsoft.com/office/drawing/2014/main" id="{24681D54-65E0-4745-95B0-B082FE045826}"/>
              </a:ext>
            </a:extLst>
          </p:cNvPr>
          <p:cNvSpPr>
            <a:spLocks xmlns:a="http://schemas.openxmlformats.org/drawingml/2006/main" noGrp="1"/>
          </p:cNvSpPr>
          <p:nvPr/>
        </p:nvSpPr>
        <p:spPr>
          <a:xfrm xmlns:a="http://schemas.openxmlformats.org/drawingml/2006/main">
            <a:off x="647700" y="26098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a:t>
            </a:r>
            <a:r>
              <a:rPr sz="2100" b="1">
                <a:solidFill>
                  <a:srgbClr val="137D78"/>
                </a:solidFill>
                <a:latin typeface="Meiryo"/>
                <a:ea typeface="Meiryo"/>
                <a:cs typeface="Meiryo"/>
              </a:rPr>
              <a:t>式・途中計算・単位</a:t>
            </a:r>
            <a:r>
              <a:rPr sz="2100" b="0">
                <a:solidFill>
                  <a:srgbClr val="213C4B"/>
                </a:solidFill>
                <a:latin typeface="Meiryo"/>
                <a:ea typeface="Meiryo"/>
                <a:cs typeface="Meiryo"/>
              </a:rPr>
              <a:t>を残す。解けなかった部分も提出する。</a:t>
            </a:r>
          </a:p>
        </p:txBody>
      </p:sp>
      <p:sp>
        <p:nvSpPr>
          <p:cNvPr id="7" name="本文6">
            <a:extLst xmlns:a="http://schemas.openxmlformats.org/drawingml/2006/main">
              <a:ext uri="{FF2B5EF4-FFF2-40B4-BE49-F238E27FC236}">
                <a16:creationId xmlns:a16="http://schemas.microsoft.com/office/drawing/2014/main" id="{5EFD464A-F79D-4A3C-8155-A25AE285F8D8}"/>
              </a:ext>
            </a:extLst>
          </p:cNvPr>
          <p:cNvSpPr>
            <a:spLocks xmlns:a="http://schemas.openxmlformats.org/drawingml/2006/main" noGrp="1"/>
          </p:cNvSpPr>
          <p:nvPr/>
        </p:nvSpPr>
        <p:spPr>
          <a:xfrm xmlns:a="http://schemas.openxmlformats.org/drawingml/2006/main">
            <a:off x="647700" y="32575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提出用番号は、配布紙にのみ記入する。</a:t>
            </a:r>
          </a:p>
        </p:txBody>
      </p:sp>
    </p:spTree>
    <p:extLst>
      <p:ext uri="{BB962C8B-B14F-4D97-AF65-F5344CB8AC3E}">
        <p14:creationId xmlns:p14="http://schemas.microsoft.com/office/powerpoint/2010/main" val="1178459387"/>
      </p:ext>
    </p:extLst>
  </p:cSld>
</p:sld>
</file>

<file path=ppt/slides/slide78.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6" name="本文0">
            <a:extLst xmlns:a="http://schemas.openxmlformats.org/drawingml/2006/main">
              <a:ext uri="{FF2B5EF4-FFF2-40B4-BE49-F238E27FC236}">
                <a16:creationId xmlns:a16="http://schemas.microsoft.com/office/drawing/2014/main" id="{386ACD51-5E05-4BD2-9F57-7E8B8422BCF2}"/>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3-8</a:t>
            </a:r>
          </a:p>
        </p:txBody>
      </p:sp>
      <p:sp>
        <p:nvSpPr>
          <p:cNvPr id="2" name="本文1">
            <a:extLst xmlns:a="http://schemas.openxmlformats.org/drawingml/2006/main">
              <a:ext uri="{FF2B5EF4-FFF2-40B4-BE49-F238E27FC236}">
                <a16:creationId xmlns:a16="http://schemas.microsoft.com/office/drawing/2014/main" id="{85D49C8D-54AD-4669-905F-2E6EC852B23C}"/>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今日の式と、その意味</a:t>
            </a:r>
          </a:p>
        </p:txBody>
      </p:sp>
      <p:sp>
        <p:nvSpPr>
          <p:cNvPr id="3" name="本文2">
            <a:extLst xmlns:a="http://schemas.openxmlformats.org/drawingml/2006/main">
              <a:ext uri="{FF2B5EF4-FFF2-40B4-BE49-F238E27FC236}">
                <a16:creationId xmlns:a16="http://schemas.microsoft.com/office/drawing/2014/main" id="{1C36E75B-4C4D-42E9-A0D9-664CF959C5ED}"/>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78</a:t>
            </a:r>
          </a:p>
        </p:txBody>
      </p:sp>
      <p:sp>
        <p:nvSpPr>
          <p:cNvPr id="4" name="本文3">
            <a:extLst xmlns:a="http://schemas.openxmlformats.org/drawingml/2006/main">
              <a:ext uri="{FF2B5EF4-FFF2-40B4-BE49-F238E27FC236}">
                <a16:creationId xmlns:a16="http://schemas.microsoft.com/office/drawing/2014/main" id="{8BA39BAE-35AB-4B84-B26C-C664E6F3044E}"/>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どの座標系か、どの高さか、どの距離かを確かめてから使う。</a:t>
            </a:r>
          </a:p>
        </p:txBody>
      </p:sp>
      <mc:AlternateContent xmlns:mc="http://schemas.openxmlformats.org/markup-compatibility/2006" xmlns:a14="http://schemas.microsoft.com/office/drawing/2010/main">
        <mc:Choice Requires="a14">
          <p:graphicFrame>
            <p:nvGraphicFramePr>
              <p:cNvPr id="5" name="">
                <a:extLst xmlns:a="http://schemas.openxmlformats.org/drawingml/2006/main">
                  <a:ext uri="{FF2B5EF4-FFF2-40B4-BE49-F238E27FC236}">
                    <a16:creationId xmlns:a16="http://schemas.microsoft.com/office/drawing/2014/main" id="{D8F96ED4-571C-47F4-9977-9A6405F18497}"/>
                  </a:ext>
                </a:extLst>
              </p:cNvPr>
              <p:cNvGraphicFramePr/>
              <p:nvPr/>
            </p:nvGraphicFramePr>
            <p:xfrm>
              <a:off xmlns:a="http://schemas.openxmlformats.org/drawingml/2006/main" x="647700" y="1466850"/>
              <a:ext xmlns:a="http://schemas.openxmlformats.org/drawingml/2006/main" cx="10896600" cy="397764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何を求めるか</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関係式</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GNSSの高さから標高</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H=h−N</m:t>
                              </m:r>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729615">
                    <a:tc>
                      <a:txBody>
                        <a:bodyPr lIns="114300" tIns="114300" rIns="114300" bIns="114300">
                          <a:noAutofit/>
                        </a:bodyPr>
                        <a:lstStyle/>
                        <a:p>
                          <a:pPr algn="l"/>
                          <a:r>
                            <a:rPr sz="2100" b="0">
                              <a:solidFill>
                                <a:srgbClr val="213C4B"/>
                              </a:solidFill>
                              <a:latin typeface="Meiryo"/>
                              <a:ea typeface="Meiryo"/>
                              <a:cs typeface="Meiryo"/>
                            </a:rPr>
                            <a:t>現地の水平距離から平面距離</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s=mS</m:t>
                              </m:r>
                              <m:f>
                                <m:fPr>
                                  <m:type m:val="bar"/>
                                </m:fPr>
                                <m:num>
                                  <m:r>
                                    <a:rPr sz="2100" b="0" lang="en-US">
                                      <a:solidFill>
                                        <a:srgbClr val="213C4B"/>
                                      </a:solidFill>
                                      <a:latin typeface="Cambria Math"/>
                                      <a:ea typeface="Meiryo"/>
                                    </a:rPr>
                                    <m:t>R</m:t>
                                  </m:r>
                                </m:num>
                                <m:den>
                                  <m:r>
                                    <a:rPr sz="2100" b="0" lang="en-US">
                                      <a:solidFill>
                                        <a:srgbClr val="213C4B"/>
                                      </a:solidFill>
                                      <a:latin typeface="Cambria Math"/>
                                      <a:ea typeface="Meiryo"/>
                                    </a:rPr>
                                    <m:t>R+H</m:t>
                                  </m:r>
                                </m:den>
                              </m:f>
                            </m:oMath>
                          </a14:m>
                          <a:r>
                            <a:rPr sz="2100" b="0">
                              <a:solidFill>
                                <a:srgbClr val="213C4B"/>
                              </a:solidFill>
                              <a:latin typeface="Meiryo"/>
                              <a:ea typeface="Meiryo"/>
                              <a:cs typeface="Meiryo"/>
                            </a:rPr>
                            <a:t>（標高による近似）</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距離と方向角から座標差</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r>
                                <m:rPr>
                                  <m:sty m:val="p"/>
                                </m:rPr>
                                <a:rPr sz="2100" b="0" lang="en-US">
                                  <a:solidFill>
                                    <a:srgbClr val="213C4B"/>
                                  </a:solidFill>
                                  <a:latin typeface="Cambria Math"/>
                                  <a:ea typeface="Meiryo"/>
                                </a:rPr>
                                <m:t>Δ</m:t>
                              </m:r>
                              <m:r>
                                <a:rPr sz="2100" b="0" lang="en-US">
                                  <a:solidFill>
                                    <a:srgbClr val="213C4B"/>
                                  </a:solidFill>
                                  <a:latin typeface="Cambria Math"/>
                                  <a:ea typeface="Meiryo"/>
                                </a:rPr>
                                <m:t>X=S</m:t>
                              </m:r>
                              <m:r>
                                <m:rPr>
                                  <m:sty m:val="p"/>
                                </m:rPr>
                                <a:rPr sz="2100" b="0" lang="en-US">
                                  <a:solidFill>
                                    <a:srgbClr val="213C4B"/>
                                  </a:solidFill>
                                  <a:latin typeface="Cambria Math"/>
                                  <a:ea typeface="Meiryo"/>
                                </a:rPr>
                                <m:t>cos</m:t>
                              </m:r>
                              <m:r>
                                <a:rPr sz="2100" b="0" lang="en-US">
                                  <a:solidFill>
                                    <a:srgbClr val="213C4B"/>
                                  </a:solidFill>
                                  <a:latin typeface="Cambria Math"/>
                                  <a:ea typeface="Meiryo"/>
                                </a:rPr>
                                <m:t>⁡T</m:t>
                              </m:r>
                            </m:oMath>
                          </a14:m>
                          <a:r>
                            <a:rPr sz="2100" b="0">
                              <a:solidFill>
                                <a:srgbClr val="213C4B"/>
                              </a:solidFill>
                              <a:latin typeface="Meiryo"/>
                              <a:ea typeface="Meiryo"/>
                              <a:cs typeface="Meiryo"/>
                            </a:rPr>
                            <a:t>、</a:t>
                          </a:r>
                          <a14:m xmlns:m="http://schemas.openxmlformats.org/officeDocument/2006/math">
                            <m:oMath xmlns:mml="http://www.w3.org/1998/Math/MathML">
                              <m:r>
                                <m:rPr>
                                  <m:sty m:val="p"/>
                                </m:rPr>
                                <a:rPr sz="2100" b="0" lang="en-US">
                                  <a:solidFill>
                                    <a:srgbClr val="213C4B"/>
                                  </a:solidFill>
                                  <a:latin typeface="Cambria Math"/>
                                  <a:ea typeface="Meiryo"/>
                                </a:rPr>
                                <m:t>Δ</m:t>
                              </m:r>
                              <m:r>
                                <a:rPr sz="2100" b="0" lang="en-US">
                                  <a:solidFill>
                                    <a:srgbClr val="213C4B"/>
                                  </a:solidFill>
                                  <a:latin typeface="Cambria Math"/>
                                  <a:ea typeface="Meiryo"/>
                                </a:rPr>
                                <m:t>Y=S</m:t>
                              </m:r>
                              <m:r>
                                <m:rPr>
                                  <m:sty m:val="p"/>
                                </m:rPr>
                                <a:rPr sz="2100" b="0" lang="en-US">
                                  <a:solidFill>
                                    <a:srgbClr val="213C4B"/>
                                  </a:solidFill>
                                  <a:latin typeface="Cambria Math"/>
                                  <a:ea typeface="Meiryo"/>
                                </a:rPr>
                                <m:t>sin</m:t>
                              </m:r>
                              <m:r>
                                <a:rPr sz="2100" b="0" lang="en-US">
                                  <a:solidFill>
                                    <a:srgbClr val="213C4B"/>
                                  </a:solidFill>
                                  <a:latin typeface="Cambria Math"/>
                                  <a:ea typeface="Meiryo"/>
                                </a:rPr>
                                <m:t>⁡T</m:t>
                              </m:r>
                            </m:oMath>
                          </a14:m>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729615">
                    <a:tc>
                      <a:txBody>
                        <a:bodyPr lIns="114300" tIns="114300" rIns="114300" bIns="114300">
                          <a:noAutofit/>
                        </a:bodyPr>
                        <a:lstStyle/>
                        <a:p>
                          <a:pPr algn="l"/>
                          <a:r>
                            <a:rPr sz="2100" b="0">
                              <a:solidFill>
                                <a:srgbClr val="213C4B"/>
                              </a:solidFill>
                              <a:latin typeface="Meiryo"/>
                              <a:ea typeface="Meiryo"/>
                              <a:cs typeface="Meiryo"/>
                            </a:rPr>
                            <a:t>座標差から距離</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14:m xmlns:m="http://schemas.openxmlformats.org/officeDocument/2006/math">
                            <m:oMath xmlns:mml="http://www.w3.org/1998/Math/MathML">
                              <m:r>
                                <a:rPr sz="2100" b="0" lang="en-US">
                                  <a:solidFill>
                                    <a:srgbClr val="213C4B"/>
                                  </a:solidFill>
                                  <a:latin typeface="Cambria Math"/>
                                  <a:ea typeface="Meiryo"/>
                                </a:rPr>
                                <m:t>S=</m:t>
                              </m:r>
                              <m:rad>
                                <m:radPr>
                                  <m:degHide m:val="on"/>
                                </m:radPr>
                                <m:deg/>
                                <m:e>
                                  <m:r>
                                    <m:rPr>
                                      <m:sty m:val="p"/>
                                    </m:rPr>
                                    <a:rPr sz="2100" b="0" lang="en-US">
                                      <a:solidFill>
                                        <a:srgbClr val="213C4B"/>
                                      </a:solidFill>
                                      <a:latin typeface="Cambria Math"/>
                                      <a:ea typeface="Meiryo"/>
                                    </a:rPr>
                                    <m:t>Δ</m:t>
                                  </m:r>
                                  <m:sSup>
                                    <m:e>
                                      <m:r>
                                        <a:rPr sz="2100" b="0" lang="en-US">
                                          <a:solidFill>
                                            <a:srgbClr val="213C4B"/>
                                          </a:solidFill>
                                          <a:latin typeface="Cambria Math"/>
                                          <a:ea typeface="Meiryo"/>
                                        </a:rPr>
                                        <m:t>X</m:t>
                                      </m:r>
                                    </m:e>
                                    <m:sup>
                                      <m:r>
                                        <a:rPr sz="2100" b="0" lang="en-US">
                                          <a:solidFill>
                                            <a:srgbClr val="213C4B"/>
                                          </a:solidFill>
                                          <a:latin typeface="Cambria Math"/>
                                          <a:ea typeface="Meiryo"/>
                                        </a:rPr>
                                        <m:t>2</m:t>
                                      </m:r>
                                    </m:sup>
                                  </m:sSup>
                                  <m:r>
                                    <a:rPr sz="2100" b="0" lang="en-US">
                                      <a:solidFill>
                                        <a:srgbClr val="213C4B"/>
                                      </a:solidFill>
                                      <a:latin typeface="Cambria Math"/>
                                      <a:ea typeface="Meiryo"/>
                                    </a:rPr>
                                    <m:t>+</m:t>
                                  </m:r>
                                  <m:r>
                                    <m:rPr>
                                      <m:sty m:val="p"/>
                                    </m:rPr>
                                    <a:rPr sz="2100" b="0" lang="en-US">
                                      <a:solidFill>
                                        <a:srgbClr val="213C4B"/>
                                      </a:solidFill>
                                      <a:latin typeface="Cambria Math"/>
                                      <a:ea typeface="Meiryo"/>
                                    </a:rPr>
                                    <m:t>Δ</m:t>
                                  </m:r>
                                  <m:sSup>
                                    <m:e>
                                      <m:r>
                                        <a:rPr sz="2100" b="0" lang="en-US">
                                          <a:solidFill>
                                            <a:srgbClr val="213C4B"/>
                                          </a:solidFill>
                                          <a:latin typeface="Cambria Math"/>
                                          <a:ea typeface="Meiryo"/>
                                        </a:rPr>
                                        <m:t>Y</m:t>
                                      </m:r>
                                    </m:e>
                                    <m:sup>
                                      <m:r>
                                        <a:rPr sz="2100" b="0" lang="en-US">
                                          <a:solidFill>
                                            <a:srgbClr val="213C4B"/>
                                          </a:solidFill>
                                          <a:latin typeface="Cambria Math"/>
                                          <a:ea typeface="Meiryo"/>
                                        </a:rPr>
                                        <m:t>2</m:t>
                                      </m:r>
                                    </m:sup>
                                  </m:sSup>
                                </m:e>
                              </m:rad>
                            </m:oMath>
                          </a14:m>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729615">
                    <a:tc>
                      <a:txBody>
                        <a:bodyPr lIns="114300" tIns="114300" rIns="114300" bIns="114300">
                          <a:noAutofit/>
                        </a:bodyPr>
                        <a:lstStyle/>
                        <a:p>
                          <a:pPr algn="l"/>
                          <a:r>
                            <a:rPr sz="2100" b="0">
                              <a:solidFill>
                                <a:srgbClr val="213C4B"/>
                              </a:solidFill>
                              <a:latin typeface="Meiryo"/>
                              <a:ea typeface="Meiryo"/>
                              <a:cs typeface="Meiryo"/>
                            </a:rPr>
                            <a:t>座標差から方向角</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14:m xmlns:m="http://schemas.openxmlformats.org/officeDocument/2006/math">
                            <m:oMath xmlns:mml="http://www.w3.org/1998/Math/MathML">
                              <m:r>
                                <m:rPr>
                                  <m:sty m:val="p"/>
                                </m:rPr>
                                <a:rPr sz="2100" b="0" lang="en-US">
                                  <a:solidFill>
                                    <a:srgbClr val="213C4B"/>
                                  </a:solidFill>
                                  <a:latin typeface="Cambria Math"/>
                                  <a:ea typeface="Meiryo"/>
                                </a:rPr>
                                <m:t>tan</m:t>
                              </m:r>
                              <m:r>
                                <a:rPr sz="2100" b="0" lang="en-US">
                                  <a:solidFill>
                                    <a:srgbClr val="213C4B"/>
                                  </a:solidFill>
                                  <a:latin typeface="Cambria Math"/>
                                  <a:ea typeface="Meiryo"/>
                                </a:rPr>
                                <m:t>⁡T=</m:t>
                              </m:r>
                              <m:f>
                                <m:fPr>
                                  <m:type m:val="bar"/>
                                </m:fPr>
                                <m:num>
                                  <m:r>
                                    <m:rPr>
                                      <m:sty m:val="p"/>
                                    </m:rPr>
                                    <a:rPr sz="2100" b="0" lang="en-US">
                                      <a:solidFill>
                                        <a:srgbClr val="213C4B"/>
                                      </a:solidFill>
                                      <a:latin typeface="Cambria Math"/>
                                      <a:ea typeface="Meiryo"/>
                                    </a:rPr>
                                    <m:t>Δ</m:t>
                                  </m:r>
                                  <m:r>
                                    <a:rPr sz="2100" b="0" lang="en-US">
                                      <a:solidFill>
                                        <a:srgbClr val="213C4B"/>
                                      </a:solidFill>
                                      <a:latin typeface="Cambria Math"/>
                                      <a:ea typeface="Meiryo"/>
                                    </a:rPr>
                                    <m:t>Y</m:t>
                                  </m:r>
                                </m:num>
                                <m:den>
                                  <m:r>
                                    <m:rPr>
                                      <m:sty m:val="p"/>
                                    </m:rPr>
                                    <a:rPr sz="2100" b="0" lang="en-US">
                                      <a:solidFill>
                                        <a:srgbClr val="213C4B"/>
                                      </a:solidFill>
                                      <a:latin typeface="Cambria Math"/>
                                      <a:ea typeface="Meiryo"/>
                                    </a:rPr>
                                    <m:t>Δ</m:t>
                                  </m:r>
                                  <m:r>
                                    <a:rPr sz="2100" b="0" lang="en-US">
                                      <a:solidFill>
                                        <a:srgbClr val="213C4B"/>
                                      </a:solidFill>
                                      <a:latin typeface="Cambria Math"/>
                                      <a:ea typeface="Meiryo"/>
                                    </a:rPr>
                                    <m:t>X</m:t>
                                  </m:r>
                                </m:den>
                              </m:f>
                            </m:oMath>
                          </a14:m>
                          <a:r>
                            <a:rPr sz="2100" b="0">
                              <a:solidFill>
                                <a:srgbClr val="213C4B"/>
                              </a:solidFill>
                              <a:latin typeface="Meiryo"/>
                              <a:ea typeface="Meiryo"/>
                              <a:cs typeface="Meiryo"/>
                            </a:rPr>
                            <a:t>、象限で補正</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Choice>
        <mc:Fallback>
          <p:graphicFrame>
            <p:nvGraphicFramePr>
              <p:cNvPr id="5" name="">
                <a:extLst xmlns:a="http://schemas.openxmlformats.org/drawingml/2006/main">
                  <a:ext uri="{FF2B5EF4-FFF2-40B4-BE49-F238E27FC236}">
                    <a16:creationId xmlns:a16="http://schemas.microsoft.com/office/drawing/2014/main" id="{D8F96ED4-571C-47F4-9977-9A6405F18497}"/>
                  </a:ext>
                </a:extLst>
              </p:cNvPr>
              <p:cNvGraphicFramePr/>
              <p:nvPr/>
            </p:nvGraphicFramePr>
            <p:xfrm>
              <a:off xmlns:a="http://schemas.openxmlformats.org/drawingml/2006/main" x="647700" y="1466850"/>
              <a:ext xmlns:a="http://schemas.openxmlformats.org/drawingml/2006/main" cx="10896600" cy="397764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何を求めるか</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関係式</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GNSSの高さから標高</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Cambria Math"/>
                              <a:ea typeface="Cambria Math"/>
                              <a:cs typeface="Cambria Math"/>
                            </a:rPr>
                            <a:t>H=h-N</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729615">
                    <a:tc>
                      <a:txBody>
                        <a:bodyPr lIns="114300" tIns="114300" rIns="114300" bIns="114300">
                          <a:noAutofit/>
                        </a:bodyPr>
                        <a:lstStyle/>
                        <a:p>
                          <a:pPr algn="l"/>
                          <a:r>
                            <a:rPr sz="2100" b="0">
                              <a:solidFill>
                                <a:srgbClr val="213C4B"/>
                              </a:solidFill>
                              <a:latin typeface="Meiryo"/>
                              <a:ea typeface="Meiryo"/>
                              <a:cs typeface="Meiryo"/>
                            </a:rPr>
                            <a:t>現地の水平距離から平面距離</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Cambria Math"/>
                              <a:ea typeface="Cambria Math"/>
                              <a:cs typeface="Cambria Math"/>
                            </a:rPr>
                            <a:t>s=mS\frac{R}{R+H}</a:t>
                          </a:r>
                          <a:r>
                            <a:rPr sz="2100" b="0">
                              <a:solidFill>
                                <a:srgbClr val="213C4B"/>
                              </a:solidFill>
                              <a:latin typeface="Meiryo"/>
                              <a:ea typeface="Meiryo"/>
                              <a:cs typeface="Meiryo"/>
                            </a:rPr>
                            <a:t>（標高による近似）</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距離と方向角から座標差</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Cambria Math"/>
                              <a:ea typeface="Cambria Math"/>
                              <a:cs typeface="Cambria Math"/>
                            </a:rPr>
                            <a:t>\Delta X=S\cos T</a:t>
                          </a:r>
                          <a:r>
                            <a:rPr sz="2100" b="0">
                              <a:solidFill>
                                <a:srgbClr val="213C4B"/>
                              </a:solidFill>
                              <a:latin typeface="Meiryo"/>
                              <a:ea typeface="Meiryo"/>
                              <a:cs typeface="Meiryo"/>
                            </a:rPr>
                            <a:t>、</a:t>
                          </a:r>
                          <a:r>
                            <a:rPr sz="2100" b="0">
                              <a:solidFill>
                                <a:srgbClr val="213C4B"/>
                              </a:solidFill>
                              <a:latin typeface="Cambria Math"/>
                              <a:ea typeface="Cambria Math"/>
                              <a:cs typeface="Cambria Math"/>
                            </a:rPr>
                            <a:t>\Delta Y=S\sin T</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729615">
                    <a:tc>
                      <a:txBody>
                        <a:bodyPr lIns="114300" tIns="114300" rIns="114300" bIns="114300">
                          <a:noAutofit/>
                        </a:bodyPr>
                        <a:lstStyle/>
                        <a:p>
                          <a:pPr algn="l"/>
                          <a:r>
                            <a:rPr sz="2100" b="0">
                              <a:solidFill>
                                <a:srgbClr val="213C4B"/>
                              </a:solidFill>
                              <a:latin typeface="Meiryo"/>
                              <a:ea typeface="Meiryo"/>
                              <a:cs typeface="Meiryo"/>
                            </a:rPr>
                            <a:t>座標差から距離</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Cambria Math"/>
                              <a:ea typeface="Cambria Math"/>
                              <a:cs typeface="Cambria Math"/>
                            </a:rPr>
                            <a:t>S=\sqrt{\Delta X^2+\Delta Y^2}</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729615">
                    <a:tc>
                      <a:txBody>
                        <a:bodyPr lIns="114300" tIns="114300" rIns="114300" bIns="114300">
                          <a:noAutofit/>
                        </a:bodyPr>
                        <a:lstStyle/>
                        <a:p>
                          <a:pPr algn="l"/>
                          <a:r>
                            <a:rPr sz="2100" b="0">
                              <a:solidFill>
                                <a:srgbClr val="213C4B"/>
                              </a:solidFill>
                              <a:latin typeface="Meiryo"/>
                              <a:ea typeface="Meiryo"/>
                              <a:cs typeface="Meiryo"/>
                            </a:rPr>
                            <a:t>座標差から方向角</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Cambria Math"/>
                              <a:ea typeface="Cambria Math"/>
                              <a:cs typeface="Cambria Math"/>
                            </a:rPr>
                            <a:t>\tan T=\frac{\Delta Y}{\Delta X}</a:t>
                          </a:r>
                          <a:r>
                            <a:rPr sz="2100" b="0">
                              <a:solidFill>
                                <a:srgbClr val="213C4B"/>
                              </a:solidFill>
                              <a:latin typeface="Meiryo"/>
                              <a:ea typeface="Meiryo"/>
                              <a:cs typeface="Meiryo"/>
                            </a:rPr>
                            <a:t>、象限で補正</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Fallback>
      </mc:AlternateContent>
    </p:spTree>
    <p:extLst>
      <p:ext uri="{BB962C8B-B14F-4D97-AF65-F5344CB8AC3E}">
        <p14:creationId xmlns:p14="http://schemas.microsoft.com/office/powerpoint/2010/main" val="2143179146"/>
      </p:ext>
    </p:extLst>
  </p:cSld>
</p:sld>
</file>

<file path=ppt/slides/slide79.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6" name="本文0">
            <a:extLst xmlns:a="http://schemas.openxmlformats.org/drawingml/2006/main">
              <a:ext uri="{FF2B5EF4-FFF2-40B4-BE49-F238E27FC236}">
                <a16:creationId xmlns:a16="http://schemas.microsoft.com/office/drawing/2014/main" id="{3B07D1EE-9A40-4406-9FFE-DE7A1AAB947D}"/>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3-8</a:t>
            </a:r>
          </a:p>
        </p:txBody>
      </p:sp>
      <p:sp>
        <p:nvSpPr>
          <p:cNvPr id="2" name="本文1">
            <a:extLst xmlns:a="http://schemas.openxmlformats.org/drawingml/2006/main">
              <a:ext uri="{FF2B5EF4-FFF2-40B4-BE49-F238E27FC236}">
                <a16:creationId xmlns:a16="http://schemas.microsoft.com/office/drawing/2014/main" id="{8E64598E-FC30-4635-8359-98E8F68F8453}"/>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次回小テストに向けた復習</a:t>
            </a:r>
          </a:p>
        </p:txBody>
      </p:sp>
      <p:sp>
        <p:nvSpPr>
          <p:cNvPr id="3" name="本文2">
            <a:extLst xmlns:a="http://schemas.openxmlformats.org/drawingml/2006/main">
              <a:ext uri="{FF2B5EF4-FFF2-40B4-BE49-F238E27FC236}">
                <a16:creationId xmlns:a16="http://schemas.microsoft.com/office/drawing/2014/main" id="{7D2B2A06-9877-48AA-8951-35D383251341}"/>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79</a:t>
            </a:r>
          </a:p>
        </p:txBody>
      </p:sp>
      <p:sp>
        <p:nvSpPr>
          <p:cNvPr id="4" name="本文3">
            <a:extLst xmlns:a="http://schemas.openxmlformats.org/drawingml/2006/main">
              <a:ext uri="{FF2B5EF4-FFF2-40B4-BE49-F238E27FC236}">
                <a16:creationId xmlns:a16="http://schemas.microsoft.com/office/drawing/2014/main" id="{BEC90F59-00AE-4E12-BB13-C48BAAE48586}"/>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次回はこの範囲から5問。式だけでなく、符号の理由も確認する。</a:t>
            </a:r>
          </a:p>
        </p:txBody>
      </p:sp>
      <mc:AlternateContent xmlns:mc="http://schemas.openxmlformats.org/markup-compatibility/2006" xmlns:a14="http://schemas.microsoft.com/office/drawing/2010/main">
        <mc:Choice Requires="a14">
          <p:graphicFrame>
            <p:nvGraphicFramePr>
              <p:cNvPr id="5" name="">
                <a:extLst xmlns:a="http://schemas.openxmlformats.org/drawingml/2006/main">
                  <a:ext uri="{FF2B5EF4-FFF2-40B4-BE49-F238E27FC236}">
                    <a16:creationId xmlns:a16="http://schemas.microsoft.com/office/drawing/2014/main" id="{73EB7599-DDAE-40E1-B470-99F875CAE03D}"/>
                  </a:ext>
                </a:extLst>
              </p:cNvPr>
              <p:cNvGraphicFramePr/>
              <p:nvPr/>
            </p:nvGraphicFramePr>
            <p:xfrm>
              <a:off xmlns:a="http://schemas.openxmlformats.org/drawingml/2006/main" x="647700" y="1744345"/>
              <a:ext xmlns:a="http://schemas.openxmlformats.org/drawingml/2006/main" cx="10896600" cy="357759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分野</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説明・計算できるようにすること</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ジオイド</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定義と </a:t>
                          </a:r>
                          <a14:m xmlns:m="http://schemas.openxmlformats.org/officeDocument/2006/math">
                            <m:oMath xmlns:mml="http://www.w3.org/1998/Math/MathML">
                              <m:r>
                                <a:rPr sz="2100" b="0" lang="en-US">
                                  <a:solidFill>
                                    <a:srgbClr val="213C4B"/>
                                  </a:solidFill>
                                  <a:latin typeface="Cambria Math"/>
                                  <a:ea typeface="Meiryo"/>
                                </a:rPr>
                                <m:t>h,H,N</m:t>
                              </m:r>
                            </m:oMath>
                          </a14:m>
                          <a:r>
                            <a:rPr sz="2100" b="0">
                              <a:solidFill>
                                <a:srgbClr val="213C4B"/>
                              </a:solidFill>
                              <a:latin typeface="Meiryo"/>
                              <a:ea typeface="Meiryo"/>
                              <a:cs typeface="Meiryo"/>
                            </a:rPr>
                            <a:t> の関係、傾斜による補間</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測地系・投影</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地球の基準、元期、UTMと平面直角座標の違い</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平面直角座標</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Xが北、Yが東、19系、中央の縮尺係数0.9999</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距離換算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基準面への縮約と、縮尺係数を掛ける操作</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座標計算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順計算・逆計算・方向角の象限</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Choice>
        <mc:Fallback>
          <p:graphicFrame>
            <p:nvGraphicFramePr>
              <p:cNvPr id="5" name="">
                <a:extLst xmlns:a="http://schemas.openxmlformats.org/drawingml/2006/main">
                  <a:ext uri="{FF2B5EF4-FFF2-40B4-BE49-F238E27FC236}">
                    <a16:creationId xmlns:a16="http://schemas.microsoft.com/office/drawing/2014/main" id="{73EB7599-DDAE-40E1-B470-99F875CAE03D}"/>
                  </a:ext>
                </a:extLst>
              </p:cNvPr>
              <p:cNvGraphicFramePr/>
              <p:nvPr/>
            </p:nvGraphicFramePr>
            <p:xfrm>
              <a:off xmlns:a="http://schemas.openxmlformats.org/drawingml/2006/main" x="647700" y="1744345"/>
              <a:ext xmlns:a="http://schemas.openxmlformats.org/drawingml/2006/main" cx="10896600" cy="3577590"/>
            </p:xfrm>
            <a:graphic xmlns:a="http://schemas.openxmlformats.org/drawingml/2006/main">
              <a:graphicData uri="http://schemas.openxmlformats.org/drawingml/2006/table">
                <a:tbl>
                  <a:tblPr/>
                  <a:tblGrid>
                    <a:gridCol w="4031742"/>
                    <a:gridCol w="6864858"/>
                  </a:tblGrid>
                  <a:tr h="596265">
                    <a:tc>
                      <a:txBody>
                        <a:bodyPr lIns="114300" tIns="114300" rIns="114300" bIns="114300">
                          <a:noAutofit/>
                        </a:bodyPr>
                        <a:lstStyle/>
                        <a:p>
                          <a:pPr algn="l"/>
                          <a:r>
                            <a:rPr sz="2100" b="1">
                              <a:solidFill>
                                <a:srgbClr val="FFFFFF"/>
                              </a:solidFill>
                              <a:latin typeface="Meiryo"/>
                              <a:ea typeface="Meiryo"/>
                              <a:cs typeface="Meiryo"/>
                            </a:rPr>
                            <a:t>分野</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2100" b="1">
                              <a:solidFill>
                                <a:srgbClr val="FFFFFF"/>
                              </a:solidFill>
                              <a:latin typeface="Meiryo"/>
                              <a:ea typeface="Meiryo"/>
                              <a:cs typeface="Meiryo"/>
                            </a:rPr>
                            <a:t>説明・計算できるようにすること</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596265">
                    <a:tc>
                      <a:txBody>
                        <a:bodyPr lIns="114300" tIns="114300" rIns="114300" bIns="114300">
                          <a:noAutofit/>
                        </a:bodyPr>
                        <a:lstStyle/>
                        <a:p>
                          <a:pPr algn="l"/>
                          <a:r>
                            <a:rPr sz="2100" b="0">
                              <a:solidFill>
                                <a:srgbClr val="213C4B"/>
                              </a:solidFill>
                              <a:latin typeface="Meiryo"/>
                              <a:ea typeface="Meiryo"/>
                              <a:cs typeface="Meiryo"/>
                            </a:rPr>
                            <a:t>ジオイド</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定義と </a:t>
                          </a:r>
                          <a:r>
                            <a:rPr sz="2100" b="0">
                              <a:solidFill>
                                <a:srgbClr val="213C4B"/>
                              </a:solidFill>
                              <a:latin typeface="Cambria Math"/>
                              <a:ea typeface="Cambria Math"/>
                              <a:cs typeface="Cambria Math"/>
                            </a:rPr>
                            <a:t>h,H,N</a:t>
                          </a:r>
                          <a:r>
                            <a:rPr sz="2100" b="0">
                              <a:solidFill>
                                <a:srgbClr val="213C4B"/>
                              </a:solidFill>
                              <a:latin typeface="Meiryo"/>
                              <a:ea typeface="Meiryo"/>
                              <a:cs typeface="Meiryo"/>
                            </a:rPr>
                            <a:t> の関係、傾斜による補間</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測地系・投影</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地球の基準、元期、UTMと平面直角座標の違い</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平面直角座標</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Xが北、Yが東、19系、中央の縮尺係数0.9999</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96265">
                    <a:tc>
                      <a:txBody>
                        <a:bodyPr lIns="114300" tIns="114300" rIns="114300" bIns="114300">
                          <a:noAutofit/>
                        </a:bodyPr>
                        <a:lstStyle/>
                        <a:p>
                          <a:pPr algn="l"/>
                          <a:r>
                            <a:rPr sz="2100" b="0">
                              <a:solidFill>
                                <a:srgbClr val="213C4B"/>
                              </a:solidFill>
                              <a:latin typeface="Meiryo"/>
                              <a:ea typeface="Meiryo"/>
                              <a:cs typeface="Meiryo"/>
                            </a:rPr>
                            <a:t>距離換算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2100" b="0">
                              <a:solidFill>
                                <a:srgbClr val="213C4B"/>
                              </a:solidFill>
                              <a:latin typeface="Meiryo"/>
                              <a:ea typeface="Meiryo"/>
                              <a:cs typeface="Meiryo"/>
                            </a:rPr>
                            <a:t>基準面への縮約と、縮尺係数を掛ける操作</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96265">
                    <a:tc>
                      <a:txBody>
                        <a:bodyPr lIns="114300" tIns="114300" rIns="114300" bIns="114300">
                          <a:noAutofit/>
                        </a:bodyPr>
                        <a:lstStyle/>
                        <a:p>
                          <a:pPr algn="l"/>
                          <a:r>
                            <a:rPr sz="2100" b="0">
                              <a:solidFill>
                                <a:srgbClr val="213C4B"/>
                              </a:solidFill>
                              <a:latin typeface="Meiryo"/>
                              <a:ea typeface="Meiryo"/>
                              <a:cs typeface="Meiryo"/>
                            </a:rPr>
                            <a:t>座標計算</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2100" b="0">
                              <a:solidFill>
                                <a:srgbClr val="213C4B"/>
                              </a:solidFill>
                              <a:latin typeface="Meiryo"/>
                              <a:ea typeface="Meiryo"/>
                              <a:cs typeface="Meiryo"/>
                            </a:rPr>
                            <a:t>順計算・逆計算・方向角の象限</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mc:Fallback>
      </mc:AlternateContent>
    </p:spTree>
    <p:extLst>
      <p:ext uri="{BB962C8B-B14F-4D97-AF65-F5344CB8AC3E}">
        <p14:creationId xmlns:p14="http://schemas.microsoft.com/office/powerpoint/2010/main" val="1736079805"/>
      </p:ext>
    </p:extLst>
  </p:cSld>
</p:sld>
</file>

<file path=ppt/slides/slide80.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9" name="本文0">
            <a:extLst xmlns:a="http://schemas.openxmlformats.org/drawingml/2006/main">
              <a:ext uri="{FF2B5EF4-FFF2-40B4-BE49-F238E27FC236}">
                <a16:creationId xmlns:a16="http://schemas.microsoft.com/office/drawing/2014/main" id="{772D7FE1-D692-4265-B908-10E90B44DC0F}"/>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3-8</a:t>
            </a:r>
          </a:p>
        </p:txBody>
      </p:sp>
      <p:sp>
        <p:nvSpPr>
          <p:cNvPr id="2" name="本文1">
            <a:extLst xmlns:a="http://schemas.openxmlformats.org/drawingml/2006/main">
              <a:ext uri="{FF2B5EF4-FFF2-40B4-BE49-F238E27FC236}">
                <a16:creationId xmlns:a16="http://schemas.microsoft.com/office/drawing/2014/main" id="{4BC33BDC-5FFD-4386-A40F-46DD2BFEB8B5}"/>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次回：角測量</a:t>
            </a:r>
          </a:p>
        </p:txBody>
      </p:sp>
      <p:sp>
        <p:nvSpPr>
          <p:cNvPr id="3" name="本文2">
            <a:extLst xmlns:a="http://schemas.openxmlformats.org/drawingml/2006/main">
              <a:ext uri="{FF2B5EF4-FFF2-40B4-BE49-F238E27FC236}">
                <a16:creationId xmlns:a16="http://schemas.microsoft.com/office/drawing/2014/main" id="{96693068-CDB7-4355-B6D2-A36E23383AAC}"/>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80</a:t>
            </a:r>
          </a:p>
        </p:txBody>
      </p:sp>
      <p:sp>
        <p:nvSpPr>
          <p:cNvPr id="4" name="本文3">
            <a:extLst xmlns:a="http://schemas.openxmlformats.org/drawingml/2006/main">
              <a:ext uri="{FF2B5EF4-FFF2-40B4-BE49-F238E27FC236}">
                <a16:creationId xmlns:a16="http://schemas.microsoft.com/office/drawing/2014/main" id="{2BC9CC24-D641-46DD-A93B-E9A1DCD172DD}"/>
              </a:ext>
            </a:extLst>
          </p:cNvPr>
          <p:cNvSpPr>
            <a:spLocks xmlns:a="http://schemas.openxmlformats.org/drawingml/2006/main" noGrp="1"/>
          </p:cNvSpPr>
          <p:nvPr/>
        </p:nvSpPr>
        <p:spPr>
          <a:xfrm xmlns:a="http://schemas.openxmlformats.org/drawingml/2006/main">
            <a:off x="647700" y="6019800"/>
            <a:ext cx="1071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137D78"/>
                </a:solidFill>
                <a:latin typeface="Meiryo"/>
                <a:ea typeface="Meiryo"/>
                <a:cs typeface="Meiryo"/>
              </a:defRPr>
            </a:defPPr>
          </a:lstStyle>
          <a:p xmlns:a="http://schemas.openxmlformats.org/drawingml/2006/main">
            <a:pPr algn="l">
              <a:defRPr sz="1725" b="1">
                <a:solidFill>
                  <a:srgbClr val="137D78"/>
                </a:solidFill>
                <a:latin typeface="Meiryo"/>
                <a:ea typeface="Meiryo"/>
                <a:cs typeface="Meiryo"/>
              </a:defRPr>
            </a:pPr>
            <a:r>
              <a:rPr sz="1725" b="1">
                <a:solidFill>
                  <a:srgbClr val="137D78"/>
                </a:solidFill>
                <a:latin typeface="Meiryo"/>
                <a:ea typeface="Meiryo"/>
                <a:cs typeface="Meiryo"/>
              </a:rPr>
              <a:t>関数電卓を持参。方向角と順逆計算を復習する。</a:t>
            </a:r>
          </a:p>
        </p:txBody>
      </p:sp>
      <p:sp>
        <p:nvSpPr>
          <p:cNvPr id="5" name="本文4">
            <a:extLst xmlns:a="http://schemas.openxmlformats.org/drawingml/2006/main">
              <a:ext uri="{FF2B5EF4-FFF2-40B4-BE49-F238E27FC236}">
                <a16:creationId xmlns:a16="http://schemas.microsoft.com/office/drawing/2014/main" id="{E24F8D09-7293-473C-8F92-EF24EC9D5B7C}"/>
              </a:ext>
            </a:extLst>
          </p:cNvPr>
          <p:cNvSpPr>
            <a:spLocks xmlns:a="http://schemas.openxmlformats.org/drawingml/2006/main" noGrp="1"/>
          </p:cNvSpPr>
          <p:nvPr/>
        </p:nvSpPr>
        <p:spPr>
          <a:xfrm xmlns:a="http://schemas.openxmlformats.org/drawingml/2006/main">
            <a:off x="647700" y="19621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前回演習の解説と、第3回の範囲の小テスト。</a:t>
            </a:r>
          </a:p>
        </p:txBody>
      </p:sp>
      <p:sp>
        <p:nvSpPr>
          <p:cNvPr id="6" name="本文5">
            <a:extLst xmlns:a="http://schemas.openxmlformats.org/drawingml/2006/main">
              <a:ext uri="{FF2B5EF4-FFF2-40B4-BE49-F238E27FC236}">
                <a16:creationId xmlns:a16="http://schemas.microsoft.com/office/drawing/2014/main" id="{76C9ECEA-6140-4972-A200-D2B4E355E667}"/>
              </a:ext>
            </a:extLst>
          </p:cNvPr>
          <p:cNvSpPr>
            <a:spLocks xmlns:a="http://schemas.openxmlformats.org/drawingml/2006/main" noGrp="1"/>
          </p:cNvSpPr>
          <p:nvPr/>
        </p:nvSpPr>
        <p:spPr>
          <a:xfrm xmlns:a="http://schemas.openxmlformats.org/drawingml/2006/main">
            <a:off x="647700" y="26098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単測法・倍角法・方向法と、観測の点検。</a:t>
            </a:r>
          </a:p>
        </p:txBody>
      </p:sp>
      <p:sp>
        <p:nvSpPr>
          <p:cNvPr id="7" name="本文6">
            <a:extLst xmlns:a="http://schemas.openxmlformats.org/drawingml/2006/main">
              <a:ext uri="{FF2B5EF4-FFF2-40B4-BE49-F238E27FC236}">
                <a16:creationId xmlns:a16="http://schemas.microsoft.com/office/drawing/2014/main" id="{BF4BDA44-8A4A-4074-A232-40FE98FB7F68}"/>
              </a:ext>
            </a:extLst>
          </p:cNvPr>
          <p:cNvSpPr>
            <a:spLocks xmlns:a="http://schemas.openxmlformats.org/drawingml/2006/main" noGrp="1"/>
          </p:cNvSpPr>
          <p:nvPr/>
        </p:nvSpPr>
        <p:spPr>
          <a:xfrm xmlns:a="http://schemas.openxmlformats.org/drawingml/2006/main">
            <a:off x="647700" y="32575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偏心観測、TSの自動視準・二軸補正。</a:t>
            </a:r>
          </a:p>
        </p:txBody>
      </p:sp>
      <p:sp>
        <p:nvSpPr>
          <p:cNvPr id="8" name="本文7">
            <a:extLst xmlns:a="http://schemas.openxmlformats.org/drawingml/2006/main">
              <a:ext uri="{FF2B5EF4-FFF2-40B4-BE49-F238E27FC236}">
                <a16:creationId xmlns:a16="http://schemas.microsoft.com/office/drawing/2014/main" id="{DE88B4A5-53C8-4E10-AA08-33E77F4AC5DF}"/>
              </a:ext>
            </a:extLst>
          </p:cNvPr>
          <p:cNvSpPr>
            <a:spLocks xmlns:a="http://schemas.openxmlformats.org/drawingml/2006/main" noGrp="1"/>
          </p:cNvSpPr>
          <p:nvPr/>
        </p:nvSpPr>
        <p:spPr>
          <a:xfrm xmlns:a="http://schemas.openxmlformats.org/drawingml/2006/main">
            <a:off x="647700" y="390525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0">
                <a:solidFill>
                  <a:srgbClr val="213C4B"/>
                </a:solidFill>
                <a:latin typeface="Meiryo"/>
                <a:ea typeface="Meiryo"/>
                <a:cs typeface="Meiryo"/>
              </a:defRPr>
            </a:defPPr>
          </a:lstStyle>
          <a:p xmlns:a="http://schemas.openxmlformats.org/drawingml/2006/main">
            <a:pPr algn="l">
              <a:defRPr sz="2100" b="0">
                <a:solidFill>
                  <a:srgbClr val="213C4B"/>
                </a:solidFill>
                <a:latin typeface="Meiryo"/>
                <a:ea typeface="Meiryo"/>
                <a:cs typeface="Meiryo"/>
              </a:defRPr>
            </a:pPr>
            <a:r>
              <a:rPr sz="2100" b="0">
                <a:solidFill>
                  <a:srgbClr val="213C4B"/>
                </a:solidFill>
                <a:latin typeface="Meiryo"/>
                <a:ea typeface="Meiryo"/>
                <a:cs typeface="Meiryo"/>
              </a:rPr>
              <a:t>•  巻尺の補正と光波測距の原理。</a:t>
            </a:r>
          </a:p>
        </p:txBody>
      </p:sp>
    </p:spTree>
    <p:extLst>
      <p:ext uri="{BB962C8B-B14F-4D97-AF65-F5344CB8AC3E}">
        <p14:creationId xmlns:p14="http://schemas.microsoft.com/office/powerpoint/2010/main" val="522526236"/>
      </p:ext>
    </p:extLst>
  </p:cSld>
</p:sld>
</file>

<file path=ppt/slides/slide81.xml><?xml version="1.0" encoding="utf-8"?>
<p:sld xmlns:p="http://schemas.openxmlformats.org/presentationml/2006/main">
  <p:cSld>
    <p:bg>
      <p:bgPr>
        <a:solidFill xmlns:a="http://schemas.openxmlformats.org/drawingml/2006/main">
          <a:srgbClr val="FAF9F5"/>
        </a:solidFill>
      </p:bgPr>
    </p:bg>
    <p:spTree>
      <p:nvGrpSpPr>
        <p:cNvPr id="1" name=""/>
        <p:cNvGrpSpPr/>
        <p:nvPr/>
      </p:nvGrpSpPr>
      <p:grpSpPr>
        <a:xfrm xmlns:a="http://schemas.openxmlformats.org/drawingml/2006/main"/>
      </p:grpSpPr>
      <p:sp>
        <p:nvSpPr>
          <p:cNvPr id="6" name="本文0">
            <a:extLst xmlns:a="http://schemas.openxmlformats.org/drawingml/2006/main">
              <a:ext uri="{FF2B5EF4-FFF2-40B4-BE49-F238E27FC236}">
                <a16:creationId xmlns:a16="http://schemas.microsoft.com/office/drawing/2014/main" id="{8D220498-F62D-4A93-8719-9EBF7DABCD9D}"/>
              </a:ext>
            </a:extLst>
          </p:cNvPr>
          <p:cNvSpPr>
            <a:spLocks xmlns:a="http://schemas.openxmlformats.org/drawingml/2006/main" noGrp="1"/>
          </p:cNvSpPr>
          <p:nvPr/>
        </p:nvSpPr>
        <p:spPr>
          <a:xfrm xmlns:a="http://schemas.openxmlformats.org/drawingml/2006/main">
            <a:off x="619125" y="2667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275" b="0">
                <a:solidFill>
                  <a:srgbClr val="657781"/>
                </a:solidFill>
                <a:latin typeface="Meiryo"/>
                <a:ea typeface="Meiryo"/>
                <a:cs typeface="Meiryo"/>
              </a:defRPr>
            </a:defPPr>
          </a:lstStyle>
          <a:p xmlns:a="http://schemas.openxmlformats.org/drawingml/2006/main">
            <a:pPr algn="l">
              <a:defRPr sz="1275" b="0">
                <a:solidFill>
                  <a:srgbClr val="657781"/>
                </a:solidFill>
                <a:latin typeface="Meiryo"/>
                <a:ea typeface="Meiryo"/>
                <a:cs typeface="Meiryo"/>
              </a:defRPr>
            </a:pPr>
            <a:r>
              <a:rPr sz="1275" b="0">
                <a:solidFill>
                  <a:srgbClr val="657781"/>
                </a:solidFill>
                <a:latin typeface="Meiryo"/>
                <a:ea typeface="Meiryo"/>
                <a:cs typeface="Meiryo"/>
              </a:rPr>
              <a:t>測量の座標　資料</a:t>
            </a:r>
          </a:p>
        </p:txBody>
      </p:sp>
      <p:sp>
        <p:nvSpPr>
          <p:cNvPr id="2" name="本文1">
            <a:extLst xmlns:a="http://schemas.openxmlformats.org/drawingml/2006/main">
              <a:ext uri="{FF2B5EF4-FFF2-40B4-BE49-F238E27FC236}">
                <a16:creationId xmlns:a16="http://schemas.microsoft.com/office/drawing/2014/main" id="{A6615F83-2DB6-4928-B4B7-E05F7715BCA1}"/>
              </a:ext>
            </a:extLst>
          </p:cNvPr>
          <p:cNvSpPr>
            <a:spLocks xmlns:a="http://schemas.openxmlformats.org/drawingml/2006/main" noGrp="1"/>
          </p:cNvSpPr>
          <p:nvPr/>
        </p:nvSpPr>
        <p:spPr>
          <a:xfrm xmlns:a="http://schemas.openxmlformats.org/drawingml/2006/main">
            <a:off x="600075" y="647700"/>
            <a:ext cx="10991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153D50"/>
                </a:solidFill>
                <a:latin typeface="Meiryo"/>
                <a:ea typeface="Meiryo"/>
                <a:cs typeface="Meiryo"/>
              </a:defRPr>
            </a:defPPr>
          </a:lstStyle>
          <a:p xmlns:a="http://schemas.openxmlformats.org/drawingml/2006/main">
            <a:pPr algn="l">
              <a:defRPr sz="3000" b="1">
                <a:solidFill>
                  <a:srgbClr val="153D50"/>
                </a:solidFill>
                <a:latin typeface="Meiryo"/>
                <a:ea typeface="Meiryo"/>
                <a:cs typeface="Meiryo"/>
              </a:defRPr>
            </a:pPr>
            <a:r>
              <a:rPr sz="3000" b="1">
                <a:solidFill>
                  <a:srgbClr val="153D50"/>
                </a:solidFill>
                <a:latin typeface="Meiryo"/>
                <a:ea typeface="Meiryo"/>
                <a:cs typeface="Meiryo"/>
              </a:rPr>
              <a:t>付録：主な出典</a:t>
            </a:r>
          </a:p>
        </p:txBody>
      </p:sp>
      <p:sp>
        <p:nvSpPr>
          <p:cNvPr id="3" name="本文2">
            <a:extLst xmlns:a="http://schemas.openxmlformats.org/drawingml/2006/main">
              <a:ext uri="{FF2B5EF4-FFF2-40B4-BE49-F238E27FC236}">
                <a16:creationId xmlns:a16="http://schemas.microsoft.com/office/drawing/2014/main" id="{59763B22-01F1-4D44-BF6C-63CAA7D8EE31}"/>
              </a:ext>
            </a:extLst>
          </p:cNvPr>
          <p:cNvSpPr>
            <a:spLocks xmlns:a="http://schemas.openxmlformats.org/drawingml/2006/main" noGrp="1"/>
          </p:cNvSpPr>
          <p:nvPr/>
        </p:nvSpPr>
        <p:spPr>
          <a:xfrm xmlns:a="http://schemas.openxmlformats.org/drawingml/2006/main">
            <a:off x="10953750" y="6448425"/>
            <a:ext cx="619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r">
              <a:defRPr sz="1275" b="0">
                <a:solidFill>
                  <a:srgbClr val="657781"/>
                </a:solidFill>
                <a:latin typeface="Meiryo"/>
                <a:ea typeface="Meiryo"/>
                <a:cs typeface="Meiryo"/>
              </a:defRPr>
            </a:defPPr>
          </a:lstStyle>
          <a:p xmlns:a="http://schemas.openxmlformats.org/drawingml/2006/main">
            <a:pPr algn="r">
              <a:defRPr sz="1275" b="0">
                <a:solidFill>
                  <a:srgbClr val="657781"/>
                </a:solidFill>
                <a:latin typeface="Meiryo"/>
                <a:ea typeface="Meiryo"/>
                <a:cs typeface="Meiryo"/>
              </a:defRPr>
            </a:pPr>
            <a:r>
              <a:rPr sz="1275" b="0">
                <a:solidFill>
                  <a:srgbClr val="657781"/>
                </a:solidFill>
                <a:latin typeface="Meiryo"/>
                <a:ea typeface="Meiryo"/>
                <a:cs typeface="Meiryo"/>
              </a:rPr>
              <a:t>81</a:t>
            </a:r>
          </a:p>
        </p:txBody>
      </p:sp>
      <p:graphicFrame>
        <p:nvGraphicFramePr>
          <p:cNvPr id="4" name="">
            <a:extLst xmlns:a="http://schemas.openxmlformats.org/drawingml/2006/main">
              <a:ext uri="{FF2B5EF4-FFF2-40B4-BE49-F238E27FC236}">
                <a16:creationId xmlns:a16="http://schemas.microsoft.com/office/drawing/2014/main" id="{B4630590-A3BD-425A-B368-2B416FF139E6}"/>
              </a:ext>
            </a:extLst>
          </p:cNvPr>
          <p:cNvGraphicFramePr/>
          <p:nvPr/>
        </p:nvGraphicFramePr>
        <p:xfrm>
          <a:off xmlns:a="http://schemas.openxmlformats.org/drawingml/2006/main" x="647700" y="1466850"/>
          <a:ext xmlns:a="http://schemas.openxmlformats.org/drawingml/2006/main" cx="10896600" cy="4019550"/>
        </p:xfrm>
        <a:graphic xmlns:a="http://schemas.openxmlformats.org/drawingml/2006/main">
          <a:graphicData uri="http://schemas.openxmlformats.org/drawingml/2006/table">
            <a:tbl>
              <a:tblPr/>
              <a:tblGrid>
                <a:gridCol w="4576572"/>
                <a:gridCol w="6320028"/>
              </a:tblGrid>
              <a:tr h="554831">
                <a:tc>
                  <a:txBody>
                    <a:bodyPr lIns="114300" tIns="114300" rIns="114300" bIns="114300">
                      <a:noAutofit/>
                    </a:bodyPr>
                    <a:lstStyle/>
                    <a:p>
                      <a:pPr algn="l"/>
                      <a:r>
                        <a:rPr sz="1875" b="1">
                          <a:solidFill>
                            <a:srgbClr val="FFFFFF"/>
                          </a:solidFill>
                          <a:latin typeface="Meiryo"/>
                          <a:ea typeface="Meiryo"/>
                          <a:cs typeface="Meiryo"/>
                        </a:rPr>
                        <a:t>出典</a:t>
                      </a:r>
                    </a:p>
                  </a:txBody>
                  <a:tcPr marL="91440" marR="91440" marT="45720" marB="45720" anchor="ctr">
                    <a:lnL w="6191">
                      <a:solidFill>
                        <a:srgbClr val="D7E2E1"/>
                      </a:solidFill>
                      <a:prstDash val="solid"/>
                    </a:lnL>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c>
                  <a:txBody>
                    <a:bodyPr lIns="114300" tIns="114300" rIns="114300" bIns="114300">
                      <a:noAutofit/>
                    </a:bodyPr>
                    <a:lstStyle/>
                    <a:p>
                      <a:pPr algn="l"/>
                      <a:r>
                        <a:rPr sz="1875" b="1">
                          <a:solidFill>
                            <a:srgbClr val="FFFFFF"/>
                          </a:solidFill>
                          <a:latin typeface="Meiryo"/>
                          <a:ea typeface="Meiryo"/>
                          <a:cs typeface="Meiryo"/>
                        </a:rPr>
                        <a:t>対応する内容</a:t>
                      </a:r>
                    </a:p>
                  </a:txBody>
                  <a:tcPr marL="91440" marR="91440" marT="45720" marB="45720" anchor="ctr">
                    <a:lnR w="6191">
                      <a:solidFill>
                        <a:srgbClr val="D7E2E1"/>
                      </a:solidFill>
                      <a:prstDash val="solid"/>
                    </a:lnR>
                    <a:lnT w="6191">
                      <a:solidFill>
                        <a:srgbClr val="D7E2E1"/>
                      </a:solidFill>
                      <a:prstDash val="solid"/>
                    </a:lnT>
                    <a:lnB w="6191">
                      <a:solidFill>
                        <a:srgbClr val="D7E2E1"/>
                      </a:solidFill>
                      <a:prstDash val="solid"/>
                    </a:lnB>
                    <a:solidFill>
                      <a:srgbClr val="153D50"/>
                    </a:solidFill>
                  </a:tcPr>
                </a:tc>
              </a:tr>
              <a:tr h="900113">
                <a:tc>
                  <a:txBody>
                    <a:bodyPr lIns="114300" tIns="114300" rIns="114300" bIns="114300">
                      <a:noAutofit/>
                    </a:bodyPr>
                    <a:lstStyle/>
                    <a:p>
                      <a:pPr algn="l"/>
                      <a:r>
                        <a:rPr sz="1875" b="0">
                          <a:solidFill>
                            <a:srgbClr val="213C4B"/>
                          </a:solidFill>
                          <a:latin typeface="Meiryo"/>
                          <a:ea typeface="Meiryo"/>
                          <a:cs typeface="Meiryo"/>
                        </a:rPr>
                        <a:t>国土地理院「日本の測地系」「平面直角座標系」</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1875" b="0">
                          <a:solidFill>
                            <a:srgbClr val="213C4B"/>
                          </a:solidFill>
                          <a:latin typeface="Meiryo"/>
                          <a:ea typeface="Meiryo"/>
                          <a:cs typeface="Meiryo"/>
                        </a:rPr>
                        <a:t>楕円体、19系、軸・縮尺係数</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900113">
                <a:tc>
                  <a:txBody>
                    <a:bodyPr lIns="114300" tIns="114300" rIns="114300" bIns="114300">
                      <a:noAutofit/>
                    </a:bodyPr>
                    <a:lstStyle/>
                    <a:p>
                      <a:pPr algn="l"/>
                      <a:r>
                        <a:rPr sz="1875" b="0">
                          <a:solidFill>
                            <a:srgbClr val="213C4B"/>
                          </a:solidFill>
                          <a:latin typeface="Meiryo"/>
                          <a:ea typeface="Meiryo"/>
                          <a:cs typeface="Meiryo"/>
                        </a:rPr>
                        <a:t>国土地理院「全国の標高成果の改定に関するQ&amp;A」</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1875" b="0">
                          <a:solidFill>
                            <a:srgbClr val="213C4B"/>
                          </a:solidFill>
                          <a:latin typeface="Meiryo"/>
                          <a:ea typeface="Meiryo"/>
                          <a:cs typeface="Meiryo"/>
                        </a:rPr>
                        <a:t>測地成果2024、JGD2024、ジオイドモデル</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54831">
                <a:tc>
                  <a:txBody>
                    <a:bodyPr lIns="114300" tIns="114300" rIns="114300" bIns="114300">
                      <a:noAutofit/>
                    </a:bodyPr>
                    <a:lstStyle/>
                    <a:p>
                      <a:pPr algn="l"/>
                      <a:r>
                        <a:rPr sz="1875" b="0">
                          <a:solidFill>
                            <a:srgbClr val="213C4B"/>
                          </a:solidFill>
                          <a:latin typeface="Meiryo"/>
                          <a:ea typeface="Meiryo"/>
                          <a:cs typeface="Meiryo"/>
                        </a:rPr>
                        <a:t>国土地理院「基準点情報の解説」</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1875" b="0">
                          <a:solidFill>
                            <a:srgbClr val="213C4B"/>
                          </a:solidFill>
                          <a:latin typeface="Meiryo"/>
                          <a:ea typeface="Meiryo"/>
                          <a:cs typeface="Meiryo"/>
                        </a:rPr>
                        <a:t>真北方向角、成果表</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r h="554831">
                <a:tc>
                  <a:txBody>
                    <a:bodyPr lIns="114300" tIns="114300" rIns="114300" bIns="114300">
                      <a:noAutofit/>
                    </a:bodyPr>
                    <a:lstStyle/>
                    <a:p>
                      <a:pPr algn="l"/>
                      <a:r>
                        <a:rPr sz="1875" b="0">
                          <a:solidFill>
                            <a:srgbClr val="213C4B"/>
                          </a:solidFill>
                          <a:latin typeface="Meiryo"/>
                          <a:ea typeface="Meiryo"/>
                          <a:cs typeface="Meiryo"/>
                        </a:rPr>
                        <a:t>国土地理院「測量士・測量士補試験」</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EEF4F1"/>
                    </a:solidFill>
                  </a:tcPr>
                </a:tc>
                <a:tc>
                  <a:txBody>
                    <a:bodyPr lIns="114300" tIns="114300" rIns="114300" bIns="114300">
                      <a:noAutofit/>
                    </a:bodyPr>
                    <a:lstStyle/>
                    <a:p>
                      <a:pPr algn="l"/>
                      <a:r>
                        <a:rPr sz="1875" b="0">
                          <a:solidFill>
                            <a:srgbClr val="213C4B"/>
                          </a:solidFill>
                          <a:latin typeface="Meiryo"/>
                          <a:ea typeface="Meiryo"/>
                          <a:cs typeface="Meiryo"/>
                        </a:rPr>
                        <a:t>試験形式・出題の型</a:t>
                      </a:r>
                    </a:p>
                  </a:txBody>
                  <a:tcPr marL="91440" marR="91440" marT="45720" marB="45720" anchor="ctr">
                    <a:lnR w="6191">
                      <a:solidFill>
                        <a:srgbClr val="D7E2E1"/>
                      </a:solidFill>
                      <a:prstDash val="solid"/>
                    </a:lnR>
                    <a:lnB w="6191">
                      <a:solidFill>
                        <a:srgbClr val="D7E2E1"/>
                      </a:solidFill>
                      <a:prstDash val="solid"/>
                    </a:lnB>
                    <a:solidFill>
                      <a:srgbClr val="EEF4F1"/>
                    </a:solidFill>
                  </a:tcPr>
                </a:tc>
              </a:tr>
              <a:tr h="554831">
                <a:tc>
                  <a:txBody>
                    <a:bodyPr lIns="114300" tIns="114300" rIns="114300" bIns="114300">
                      <a:noAutofit/>
                    </a:bodyPr>
                    <a:lstStyle/>
                    <a:p>
                      <a:pPr algn="l"/>
                      <a:r>
                        <a:rPr sz="1875" b="0">
                          <a:solidFill>
                            <a:srgbClr val="213C4B"/>
                          </a:solidFill>
                          <a:latin typeface="Meiryo"/>
                          <a:ea typeface="Meiryo"/>
                          <a:cs typeface="Meiryo"/>
                        </a:rPr>
                        <a:t>測量法第11条・測量法施行令</a:t>
                      </a:r>
                    </a:p>
                  </a:txBody>
                  <a:tcPr marL="91440" marR="91440" marT="45720" marB="45720" anchor="ctr">
                    <a:lnL w="6191">
                      <a:solidFill>
                        <a:srgbClr val="D7E2E1"/>
                      </a:solidFill>
                      <a:prstDash val="solid"/>
                    </a:lnL>
                    <a:lnR w="6191">
                      <a:solidFill>
                        <a:srgbClr val="D7E2E1"/>
                      </a:solidFill>
                      <a:prstDash val="solid"/>
                    </a:lnR>
                    <a:lnB w="6191">
                      <a:solidFill>
                        <a:srgbClr val="D7E2E1"/>
                      </a:solidFill>
                      <a:prstDash val="solid"/>
                    </a:lnB>
                    <a:solidFill>
                      <a:srgbClr val="FFFFFF"/>
                    </a:solidFill>
                  </a:tcPr>
                </a:tc>
                <a:tc>
                  <a:txBody>
                    <a:bodyPr lIns="114300" tIns="114300" rIns="114300" bIns="114300">
                      <a:noAutofit/>
                    </a:bodyPr>
                    <a:lstStyle/>
                    <a:p>
                      <a:pPr algn="l"/>
                      <a:r>
                        <a:rPr sz="1875" b="0">
                          <a:solidFill>
                            <a:srgbClr val="213C4B"/>
                          </a:solidFill>
                          <a:latin typeface="Meiryo"/>
                          <a:ea typeface="Meiryo"/>
                          <a:cs typeface="Meiryo"/>
                        </a:rPr>
                        <a:t>位置の表示と基準</a:t>
                      </a:r>
                    </a:p>
                  </a:txBody>
                  <a:tcPr marL="91440" marR="91440" marT="45720" marB="45720" anchor="ctr">
                    <a:lnR w="6191">
                      <a:solidFill>
                        <a:srgbClr val="D7E2E1"/>
                      </a:solidFill>
                      <a:prstDash val="solid"/>
                    </a:lnR>
                    <a:lnB w="6191">
                      <a:solidFill>
                        <a:srgbClr val="D7E2E1"/>
                      </a:solidFill>
                      <a:prstDash val="solid"/>
                    </a:lnB>
                    <a:solidFill>
                      <a:srgbClr val="FFFFFF"/>
                    </a:solidFill>
                  </a:tcPr>
                </a:tc>
              </a:tr>
            </a:tbl>
          </a:graphicData>
        </a:graphic>
      </p:graphicFrame>
      <p:sp>
        <p:nvSpPr>
          <p:cNvPr id="5" name="本文3">
            <a:extLst xmlns:a="http://schemas.openxmlformats.org/drawingml/2006/main">
              <a:ext uri="{FF2B5EF4-FFF2-40B4-BE49-F238E27FC236}">
                <a16:creationId xmlns:a16="http://schemas.microsoft.com/office/drawing/2014/main" id="{6DA2FF13-628E-4428-8697-0F7FAF9C7ECF}"/>
              </a:ext>
            </a:extLst>
          </p:cNvPr>
          <p:cNvSpPr>
            <a:spLocks xmlns:a="http://schemas.openxmlformats.org/drawingml/2006/main" noGrp="1"/>
          </p:cNvSpPr>
          <p:nvPr/>
        </p:nvSpPr>
        <p:spPr>
          <a:xfrm xmlns:a="http://schemas.openxmlformats.org/drawingml/2006/main">
            <a:off x="647700" y="5581650"/>
            <a:ext cx="10896600" cy="4333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75" b="0">
                <a:solidFill>
                  <a:srgbClr val="213C4B"/>
                </a:solidFill>
                <a:latin typeface="Meiryo"/>
                <a:ea typeface="Meiryo"/>
                <a:cs typeface="Meiryo"/>
              </a:defRPr>
            </a:defPPr>
          </a:lstStyle>
          <a:p xmlns:a="http://schemas.openxmlformats.org/drawingml/2006/main">
            <a:pPr algn="l">
              <a:defRPr sz="1875" b="0">
                <a:solidFill>
                  <a:srgbClr val="213C4B"/>
                </a:solidFill>
                <a:latin typeface="Meiryo"/>
                <a:ea typeface="Meiryo"/>
                <a:cs typeface="Meiryo"/>
              </a:defRPr>
            </a:pPr>
            <a:r>
              <a:rPr sz="1875" b="0">
                <a:solidFill>
                  <a:srgbClr val="213C4B"/>
                </a:solidFill>
                <a:latin typeface="Meiryo"/>
                <a:ea typeface="Meiryo"/>
                <a:cs typeface="Meiryo"/>
              </a:rPr>
              <a:t>数値例は教材用。図は模式図、イラストはAI生成。リンクは発表者ノートとREADMEに掲載。</a:t>
            </a:r>
          </a:p>
        </p:txBody>
      </p:sp>
    </p:spTree>
    <p:extLst>
      <p:ext uri="{BB962C8B-B14F-4D97-AF65-F5344CB8AC3E}">
        <p14:creationId xmlns:p14="http://schemas.microsoft.com/office/powerpoint/2010/main" val="18412277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
  <lastModifiedBy/>
  <dc:title>Presentation</dc:title>
  <dcterms:created xsi:type="dcterms:W3CDTF">2026-10-14T17:53:26.1790000Z</dcterms:created>
  <dcterms:modified xsi:type="dcterms:W3CDTF">2026-10-14T17:53:26.1790000Z</dcterms:modified>
</coreProperties>
</file>