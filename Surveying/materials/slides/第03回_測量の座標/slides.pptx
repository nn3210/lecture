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導入の1枚目です。前回は観測値のばらつきを扱いました。今回は「座標とは何か」から始めて、地球の形（ジオイド）、測地系と投影、平面直角座標系、座標計算までを順に学びます。実習で TS や GNSS の画面に出る X・Y・標高の意味が分かるようになります。表紙の絵は AI（Codex の画像生成）で作った概念イラストで、実際の現場の写真ではありません。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残差和が0になることと、分母が n−1 の5であることを確認します。最確値の標準偏差は観測回数の平方根で小さくなります。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通常の残差和は −9 で0になりませんが、重み付き残差和は0になります。重みの根拠を書けていたかを重点的に見ました。詳しい採点基準は配布した解答に書いてあります。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今日は5つの到達目標があります。前半（1〜3）は「考え方」で、図を見ながら理解することが中心です。後半（4〜5）は計算で、最後の演習で確認します。1〜4 は次回の冒頭小テストでも問います。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回から冒頭に前回範囲の小テストを入れます。測量士補試験と同じ五肢択一で、電卓は使いません。講義は理論（座標・ジオイド・投影）と実務（平面直角座標系・座標計算）の2部構成で、各節の終わりに短い確認問題を置き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測量士補試験は国土地理院が行う国家試験で、合格すると測量士補として登録できます。計算問題も電卓なしで解ける数値になっているので、今日の小テストも同じ条件にします。詳しい試験の要項は配布資料の注記を見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1問2分の目安で進めます。選択肢の番号は a から順に1〜5です。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末尾の mm だけを足すと早く計算できます。残差の和が0になるかで検算できます。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1観測の標準偏差と最確値の標準偏差の区別を問う問題です。分母が n−1 であることにも注意させます。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路線長に反比例なので、短い路線の重みが大きくなります。単純平均の 10.015 を選ばないよう、比を作ってから計算させます。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ppm は100万分の1です。1 km は 10⁶ mm なので、2 ppm は 2 mm になります。残り1分で解答欄を確認させ、用紙を回収します。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問1は「減らない」が誤りです。問3で 3.0 mm を選んだ人は、1観測の標準偏差で止まっています。士補試験では残差が整数 mm、平方和が平方数になるように作られているので、根号が開けなければ計算ミスを疑ってください。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問4で 10.015 を選んだ人は単純平均です。問5は 2 ppm と 1 km の単位を合わせる問題で、実習で使う TS のカタログにも同じ書き方があります。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カルト以来の考え方です。平面の点の集合と実数の組の集合の間に、原点と2本の軸を決めることで1対1の対応（全単射）ができます。対応は「約束」なので、約束を変えれば同じ点の数は変わります。図の右の軸は原点を (1.0, 0.5) に動かし、30° 回したもので、P の座標は (2.48, 0.30) 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学的には、平面直角座標系の変換は平行移動と回転の合成（合同変換）に、必要なら一様な縮尺を加えたものです。距離と角が保たれるので、現地で測った形はどの座標系でも同じ形として表せます。測量が「距離と角の観測」でできているのはこのためです。式の導出は線形代数で学んだ回転行列そのもので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学ではガウスの「驚異の定理」として知られています。曲率が違う面どうしは、長さを保ったまま写し合えません。球面（曲率が正）を平面（曲率ゼロ）に写すと、必ず長さか角か面積のどれかがひずみます。この絵は AI（Codex の画像生成）で作った概念イラストです。後半の投影の話は、このひずみをどう扱うかの話です。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数学の座標は頭の中の約束で済みますが、測量の座標は地面に打った基準点という「実物」で約束を支えています。GIS で「CRS」や「EPSG コード」を選ぶ画面は、この3点セットを指定しているのです。今日の後半の内容は、この3つの約束を順に具体化していくものです。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左から右へ、同じ1点（帯広付近の例）を4通りの座標で表しています。GNSS 受信機は左から右へ順に変換して表示し、TS は右端の器械座標から左へ向かって平面直角座標に直します。各箱の上に書いた「決めるもの」が、前のスライドの約束です。値は説明用で、実測ではありません。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表の3行は同じ杭を違う約束で表した例で、値は説明用の概数です。農業土木の図面には「第 XIII 系、JGD2011、標高は T.P.」のように約束を書きます。書いていない図面は使えません。</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地球を「球」とするとき半径 6370 km を使いますが、精密には赤道方向に 21 km 長い回転楕円体です。この滑らかな数学的な面が、緯度・経度・楕円体高の基準になります。ただし実際の海面は、この楕円体にぴったり重なりません。それが次のジオイドの話です。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物理の「重力」の延長です。おもりを糸で吊るすと糸は重力の向きを指し、水面はそれに垂直です。山の近くでは山の質量に引かれて糸がわずかに山側へ傾き、水面もそれに合わせて山側で持ち上がります。この「水面」を地球全体でつないだものがジオイドで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この絵は AI（Codex の画像生成）で作った概念図で、起伏を強く誇張してあります。色の違いは楕円体より高いか低いかを表し、地形ではありません。ジオイドは「水が静止する面」なので、水準測量の「高さ 0」、つまり標高の基準になります。試験では「ジオイド＝平均海面を陸地の下まで延長した面」「重力の等ポテンシャル面」の2つの言い方を覚えてください。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「平均海面」は抽象的な言葉ですが、実物は検潮所の潮位記録の平均です。T.P. は Tokyo Peil（オランダ語で基準面）の略です。この絵は AI（Codex の画像生成）で作った概念イラストで、特定の検潮所ではありません。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日本付近ではジオイドが楕円体より 20〜45 m 上にあります。つまり GNSS の楕円体高は、標高より数十 m 大きく出ます。この N を全国で細かく求めたものがジオイドモデルで、2025 年から「ジオイド2024日本とその周辺」が使われています。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高さには基準が2つあります。水が流れる向きを決めるのはジオイド、GNSS が計算するのは楕円体です。図の3本の線の違いを押さえてください。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この式は測量士補で毎年のように問われます。GNSS で得た楕円体高からジオイド高を引くと標高になります。符号を間違えないよう、図で N が楕円体とジオイドの間の高さであることを確認してください。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楕円体高をそのまま標高と思うと 35 m も違います。実習の GNSS 受信機は内部にジオイドモデルを持っていて、標高に変換して表示できます。どちらを表示しているか必ず確認してください。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農業土木でジオイドを学ぶ理由はこれです。GNSS の楕円体高だけで用水路の勾配を決めると、ジオイドの傾きの分だけ間違えます。数値は説明用に誇張してありますが、ジオイド高が数 km で数十 cm 変わる地域は日本にもあります。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答えの例は「海の水面を陸の下まで延ばした、重力に垂直な面」、15.0 m、水準測量です。隣の人と30秒で確認してください。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測地系は「地球の形と置き方の約束」です。明治以来の旧日本測地系は、天文観測で決めた原点とベッセル楕円体を使っていたため、GPS で決まる世界測地系とは数百 m ずれていました。古い地図や座標リストを使うときは、どの測地系かを必ず確認します。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「WGS84 と JGD2011 は違うのか」とよく聞かれますが、実用上の差は数 cm です。違いが出るのは地殻変動の扱いで、日本は地震で動くため、国の基準点は決まった時点の座標で管理し、必要に応じて補正します。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緯度は地球の中心から測る角ではなく、楕円体面に垂直な線（法線）で定義します。度分秒で表すので、前回の DMS 変換が必要になります。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GNSS の受信機は、まず地心直交座標を解き、それを緯度経度楕円体高に直し、さらに平面直角座標と標高に変換して表示しています。この3段階を知っていると、受信機の設定画面が読めます。</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地図投影の基本形は3つです。紙を筒にして巻く（円筒図法）、円錐の帽子をかぶせる（円錐図法）、板を当てる（方位図法）。どれも「接している所の近くはひずみが小さく、離れるほど大きい」という共通の性質があります。測量で使うのは円筒図法の仲間です。</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地球儀の中心に電球を置き、赤道で接する紙の筒に経緯線の影を写すイメージです。影は高緯度ほど上に引き伸ばされます。これを切り開くと長方形の地図になります。この絵は AI（Codex の画像生成）で作った概念イラストで、切り開いた紙の格子は等間隔に描かれています。厳密なメルカトル図法は光源投影ではなく「角を保つ」条件で緯線の間隔を決めるので、実際は高緯度ほど緯線の間隔が広がります（次のスライドの図）。</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地球上では同じ大きさの円が、高緯度ほど大きく描かれています。長さは 1/cos φ 倍、面積は 1/cos² φ 倍で、緯度 60° では面積が 4 倍、グリーンランドが南米より大きく見える理由です。代わりに角が正しく保たれるので（等角）、航海や測量で使われます。平面直角座標系も UTM も、この等角という性質を引き継いでいます。</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メルカトルは赤道の近くしか正確ではありません。円筒を横に倒して子午線に接するようにすると、その子午線（中央子午線）の近くが正確になります。これが横メルカトル、ガウス・クリューゲル投影です。南北に長い日本には好都合で、東西に細長い帯に分けて使います。UTM も平面直角座標系も、この投影です。</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UTM は世界共通の投影座標系で、経度 6° ごとに 60 の帯に分け、各帯の中央子午線で横メルカトル投影します。日本は 51〜56 帯、帯広は 54 帯（中央子午線 141°E）です。原点の縮尺係数は 0.9996 で、東西の座標 E には 500 000 m を足して負の値を避けます。1:25 000 地形図の座標はこの UTM です。</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どちらも同じ投影で、違いは帯の幅と原点の縮尺係数です。狭い範囲を高い精度で扱う公共測量は平面直角座標系、広い範囲の地形図や国際的な利用は UTM です。UTM は第 10 回の地形図で再登場します。</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測量法第11条は、位置をどう表すかを定めています。条文の「直角座標」が平面直角座標系の根拠で、告示で19系が定められています。電子基準点は実習で使うネットワーク型 RTK の基準になっています。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2025 年から標高の成果が変わっています。古い成果表やジオイドモデルを混ぜると数 cm〜数十 cm の食い違いが出ます。実習データの日付と使ったモデルを必ず記録してください。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士補試験の法規と測地測量の分野では、この表の型がそのまま出ます。計算より用語の正確な理解が問われます。</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日本を19に分ける理由は、1つの平面で扱う範囲を狭くして距離のひずみを 1 万分の 1 以内に収めるためです。図は配置の模式図で、正確な境界は告示の別表で確認します。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一番間違えやすい点です。測量では縦軸が X です。GIS ソフトに座標を入れるとき X と Y を逆にして、点が別の場所に飛ぶ事故がよく起きます。</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原点から見てどの方角にあるかで符号が決まります。後で逆計算をするときに、この表で方向角の範囲を決めます。</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本学の座標は第 XIII 系で X も Y も負になります。実習で GNSS の座標が負の値で出ても異常ではありません。隣の系と混ぜると数十 km ずれるので、成果には必ず系を書きます。</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縮尺係数は「基準面上の距離に掛けると平面上の距離になる係数」です。原点で 1 より小さくし、端で 1 より大きくすることで、全体のひずみを ±1 万分の 1 以内に保っています。R は 6370 km です。実務では国土地理院の計算サービスや成果表の値を使いますが、この近似式で桁の感覚がつかめます。Y が 50 km なら 1 km あたり 7 cm 短く計算されます。</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座標計算に使う距離は④です。実習で TS が表示する「水平距離」は②で、座標計算に使うにはまだ2段階の換算が要ります。TS の設定で③④を自動にできますが、何をしているかを知っておきます。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 は鉛直角から自動で水平距離にしています。巻尺で斜面を測ったときは、高低差を別に測って自分で直します。図の外側の弧と内側の弧は同じ中心角です。半径が大きい外側の方が長いので、基準面に下ろすと短くなります。式は相似比そのものです。</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標高補正は常にマイナス、縮尺係数は場所によってプラスにもマイナスにもなります。試験では「符号の向き」を問う正誤問題が出ます。</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km で 12 cm 近く違います。設計図の距離と現地で測る距離が合わない原因の多くがこの換算の抜けです。演習では同じ型を数値を変えて解きます。</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農業土木の現場では、設計座標から杭の位置を出すことが多いです。平面距離のまま巻尺で測ると、標高の高い所ほど短く打ってしまいます。</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答えは南東（第2象限）、2000×500/6370000 ≒ 0.157 m、約 1.0000 です。</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士補では「原点の縮尺係数は 1.0000 である」のような誤文を見抜く問題と、標高補正の計算が頻出です。電卓なしで 2000×500/6370000 のような割り算ができるよう、概算の練習をしておいてください。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「北」は3つあり、角の呼び名は「どの北から測ったか」で決まります。今後のトラバース計算で出てくるのは全部方向角です。真北との差は次の真北方向角として出てきます。</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符号は国土地理院の定義（座標北から真北へ右回りが正）に合わせています。帯広は原点より西なので真北が座標北の右（東）側にあり、正の値になります。計算サービスの値をそのまま使えるよう、この定義で覚え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方位は「北か南から、東か西へ何度」という書き方で、0〜90° の範囲です。方向角への換算は象限ごとに決まっています。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緯距は南北方向の差、経距は東西方向の差です。X に cos、Y に sin が付くのは、角を北から測っているからです。</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方向角 120° は第2象限（南東）なので、ΔX が負、ΔY が正になります。電卓は度モードにし、DMS 入力を使います。</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逆計算は、座標が分かっている2点の間を測るときや、トラバースの検算で使います。arctan の象限補正が最大の落とし穴です。</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ΔX が負なら 180° を足す、ΔX が正で ΔY が負なら 360° を足す、と覚えます。符号を先に書いてから計算する習慣を付けてください。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順計算した座標を逆計算して元の距離と方向角に戻ることを確かめるのが、座標計算の基本の検算です。前回の「残差の和が0」と同じで、検算を手順に組み込みます。演習でもこの検算を書いてもらいます。</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士補試験では電卓が使えない代わりに、この形の表が問題に付きます。掛け算は筆算なので、桁数の少ない値になるよう作られています。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答えは 225°、S 30° E、座標北と真北です。</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今日の計算は第5・6回のトラバース計算の部品になります。ここで順計算と逆計算を確実にしておくと、トラバースは手順を追うだけになります。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実習で GNSS が出す座標は、今日の約束を順に通ったものです。設定が違うと③④で数 m〜数十 m ずれます。協力企業の実習で画面を見せてもらうとき、この表と対応させてください。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 の「座標観測モード」は、今日やった順計算を機械が代わりにしているだけです。設定の縮尺係数を 1 のままにすると、座標が数 cm 単位でずれます。</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演習開始時刻を告げ、問1は9分を目安にします。配布用紙と同じ問題文です。質問には記号の意味だけ答え、数値は伝えません。</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問2は7分を目安にします。発展問題は余った人向けで、採点しません。</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このスライドは計算中に映しておきます。残り2分になったら検算と単位の確認へ移るよう声を掛けます。</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演習18分の終了を告げ、計算途中も採点対象になることを伝えます。小テストと手計算テストの両方がそろっているか確認させます。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理論（座標・ジオイド・投影）と計算（距離の換算・順逆計算）を結び直します。どれも次回以降のトラバース・水準・GNSS の計算で前提になります。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次回の小テストの範囲を予告します。計算は電卓なしで解ける数値にするので、式と符号の理解を優先して復習してください。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次回は角の観測です。今日の方向角は、次回の観測した角と合わせて第5回のトラバース計算につながります。</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出典は公式サイトで最新を確認してください。本スライドの数値例は本教材用に作ったもので、実測データではありません。イラスト（illustrations/）は AI（Codex の画像生成）で作った概念図です。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1.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農地で GNSS 受信機とトータルステーションを据えた測量の情景（AI 生成の概念イラスト）"/>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411480"/>
            <a:ext cx="11094415" cy="914400"/>
          </a:xfrm>
          <a:prstGeom prst="rect">
            <a:avLst/>
          </a:prstGeom>
          <a:noFill/>
        </p:spPr>
        <p:txBody>
          <a:bodyPr wrap="square" lIns="45720" rIns="45720" tIns="18288" bIns="18288" anchor="ctr">
            <a:spAutoFit/>
          </a:bodyPr>
          <a:lstStyle/>
          <a:p>
            <a:r>
              <a:rPr sz="4000" b="1">
                <a:solidFill>
                  <a:srgbClr val="1F4E79"/>
                </a:solidFill>
                <a:latin typeface="Noto Sans CJK JP"/>
              </a:rPr>
              <a:t>測量学 第3回</a:t>
            </a:r>
          </a:p>
        </p:txBody>
      </p:sp>
      <p:sp>
        <p:nvSpPr>
          <p:cNvPr id="4" name="TextBox 3"/>
          <p:cNvSpPr txBox="1"/>
          <p:nvPr/>
        </p:nvSpPr>
        <p:spPr>
          <a:xfrm>
            <a:off x="548640" y="1325880"/>
            <a:ext cx="11094415" cy="1371600"/>
          </a:xfrm>
          <a:prstGeom prst="rect">
            <a:avLst/>
          </a:prstGeom>
          <a:noFill/>
        </p:spPr>
        <p:txBody>
          <a:bodyPr wrap="square" lIns="45720" rIns="45720" tIns="18288" bIns="18288">
            <a:spAutoFit/>
          </a:bodyPr>
          <a:lstStyle/>
          <a:p>
            <a:r>
              <a:rPr sz="2200" b="0">
                <a:solidFill>
                  <a:srgbClr val="1F4E79"/>
                </a:solidFill>
                <a:latin typeface="Noto Sans CJK JP"/>
              </a:rPr>
              <a:t>測量の座標</a:t>
            </a:r>
          </a:p>
          <a:p>
            <a:r>
              <a:rPr sz="2200" b="0">
                <a:solidFill>
                  <a:srgbClr val="1F4E79"/>
                </a:solidFill>
                <a:latin typeface="Noto Sans CJK JP"/>
              </a:rPr>
              <a:t>農業農村工学系の学部講義｜図解版 改訂（2026-10-15）</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3-0 前回の手計算テスト 問1の解答</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438400"/>
        </p:xfrm>
        <a:graphic>
          <a:graphicData uri="http://schemas.openxmlformats.org/drawingml/2006/table">
            <a:tbl>
              <a:tblPr firstRow="1" bandRow="1">
                <a:tableStyleId>{5C22544A-7EE6-4342-B048-85BDC9FD1C3A}</a:tableStyleId>
              </a:tblPr>
              <a:tblGrid>
                <a:gridCol w="5547207"/>
                <a:gridCol w="5547208"/>
              </a:tblGrid>
              <a:tr h="406400">
                <a:tc>
                  <a:txBody>
                    <a:bodyPr wrap="square"/>
                    <a:lstStyle/>
                    <a:p>
                      <a:r>
                        <a:rPr sz="1600" b="1">
                          <a:solidFill>
                            <a:srgbClr val="1F1F1F"/>
                          </a:solidFill>
                          <a:latin typeface="Noto Sans CJK JP"/>
                        </a:rPr>
                        <a:t>項目</a:t>
                      </a:r>
                    </a:p>
                  </a:txBody>
                  <a:tcPr marL="54864" marR="54864" marT="27432" marB="27432">
                    <a:solidFill>
                      <a:srgbClr val="DCE6F1"/>
                    </a:solidFill>
                  </a:tcPr>
                </a:tc>
                <a:tc>
                  <a:txBody>
                    <a:bodyPr wrap="square"/>
                    <a:lstStyle/>
                    <a:p>
                      <a:r>
                        <a:rPr sz="1600" b="1">
                          <a:solidFill>
                            <a:srgbClr val="1F1F1F"/>
                          </a:solidFill>
                          <a:latin typeface="Noto Sans CJK JP"/>
                        </a:rPr>
                        <a:t>値</a:t>
                      </a:r>
                    </a:p>
                  </a:txBody>
                  <a:tcPr marL="54864" marR="54864" marT="27432" marB="27432">
                    <a:solidFill>
                      <a:srgbClr val="DCE6F1"/>
                    </a:solidFill>
                  </a:tcPr>
                </a:tc>
              </a:tr>
              <a:tr h="406400">
                <a:tc>
                  <a:txBody>
                    <a:bodyPr wrap="square"/>
                    <a:lstStyle/>
                    <a:p>
                      <a:r>
                        <a:rPr sz="1600" b="0">
                          <a:latin typeface="Noto Sans CJK JP"/>
                        </a:rPr>
                        <a:t>最確値 </a:t>
                      </a:r>
                      <a:r>
                        <a:rPr sz="1600" b="0">
                          <a:latin typeface="DejaVu Sans"/>
                        </a:rPr>
                        <a:t>x̄=Σ x</a:t>
                      </a:r>
                      <a:r>
                        <a:rPr sz="1600" b="0" baseline="-25000">
                          <a:latin typeface="DejaVu Sans"/>
                        </a:rPr>
                        <a:t>i</a:t>
                      </a:r>
                      <a:r>
                        <a:rPr sz="1600" b="0">
                          <a:latin typeface="DejaVu Sans"/>
                        </a:rPr>
                        <a:t>/6</a:t>
                      </a:r>
                    </a:p>
                  </a:txBody>
                  <a:tcPr marL="54864" marR="54864" marT="27432" marB="27432">
                    <a:solidFill>
                      <a:srgbClr val="FFFFFF"/>
                    </a:solidFill>
                  </a:tcPr>
                </a:tc>
                <a:tc>
                  <a:txBody>
                    <a:bodyPr wrap="square"/>
                    <a:lstStyle/>
                    <a:p>
                      <a:r>
                        <a:rPr sz="1600" b="0">
                          <a:latin typeface="Noto Sans CJK JP"/>
                        </a:rPr>
                        <a:t>30.006 m</a:t>
                      </a:r>
                    </a:p>
                  </a:txBody>
                  <a:tcPr marL="54864" marR="54864" marT="27432" marB="27432">
                    <a:solidFill>
                      <a:srgbClr val="FFFFFF"/>
                    </a:solidFill>
                  </a:tcPr>
                </a:tc>
              </a:tr>
              <a:tr h="406400">
                <a:tc>
                  <a:txBody>
                    <a:bodyPr wrap="square"/>
                    <a:lstStyle/>
                    <a:p>
                      <a:r>
                        <a:rPr sz="1600" b="0">
                          <a:latin typeface="Noto Sans CJK JP"/>
                        </a:rPr>
                        <a:t>残差 </a:t>
                      </a:r>
                      <a:r>
                        <a:rPr sz="1600" b="0">
                          <a:latin typeface="DejaVu Sans"/>
                        </a:rPr>
                        <a:t>v</a:t>
                      </a:r>
                      <a:r>
                        <a:rPr sz="1600" b="0" baseline="-25000">
                          <a:latin typeface="DejaVu Sans"/>
                        </a:rPr>
                        <a:t>i</a:t>
                      </a:r>
                      <a:r>
                        <a:rPr sz="1600" b="0">
                          <a:latin typeface="Noto Sans CJK JP"/>
                        </a:rPr>
                        <a:t>（mm）</a:t>
                      </a:r>
                    </a:p>
                  </a:txBody>
                  <a:tcPr marL="54864" marR="54864" marT="27432" marB="27432">
                    <a:solidFill>
                      <a:srgbClr val="F5F7FA"/>
                    </a:solidFill>
                  </a:tcPr>
                </a:tc>
                <a:tc>
                  <a:txBody>
                    <a:bodyPr wrap="square"/>
                    <a:lstStyle/>
                    <a:p>
                      <a:r>
                        <a:rPr sz="1600" b="0">
                          <a:latin typeface="Noto Sans CJK JP"/>
                        </a:rPr>
                        <a:t>−3, −2, −1, +1, +2, +3（和 0）</a:t>
                      </a:r>
                    </a:p>
                  </a:txBody>
                  <a:tcPr marL="54864" marR="54864" marT="27432" marB="27432">
                    <a:solidFill>
                      <a:srgbClr val="F5F7FA"/>
                    </a:solidFill>
                  </a:tcPr>
                </a:tc>
              </a:tr>
              <a:tr h="406400">
                <a:tc>
                  <a:txBody>
                    <a:bodyPr wrap="square"/>
                    <a:lstStyle/>
                    <a:p>
                      <a:r>
                        <a:rPr sz="1600" b="0">
                          <a:latin typeface="DejaVu Sans"/>
                        </a:rPr>
                        <a:t>Σ v</a:t>
                      </a:r>
                      <a:r>
                        <a:rPr sz="1600" b="0" baseline="-25000">
                          <a:latin typeface="DejaVu Sans"/>
                        </a:rPr>
                        <a:t>i</a:t>
                      </a:r>
                      <a:r>
                        <a:rPr sz="1600" b="0" baseline="30000">
                          <a:latin typeface="DejaVu Sans"/>
                        </a:rPr>
                        <a:t>2</a:t>
                      </a:r>
                    </a:p>
                  </a:txBody>
                  <a:tcPr marL="54864" marR="54864" marT="27432" marB="27432">
                    <a:solidFill>
                      <a:srgbClr val="FFFFFF"/>
                    </a:solidFill>
                  </a:tcPr>
                </a:tc>
                <a:tc>
                  <a:txBody>
                    <a:bodyPr wrap="square"/>
                    <a:lstStyle/>
                    <a:p>
                      <a:r>
                        <a:rPr sz="1600" b="0">
                          <a:latin typeface="Noto Sans CJK JP"/>
                        </a:rPr>
                        <a:t>28 mm²</a:t>
                      </a:r>
                    </a:p>
                  </a:txBody>
                  <a:tcPr marL="54864" marR="54864" marT="27432" marB="27432">
                    <a:solidFill>
                      <a:srgbClr val="FFFFFF"/>
                    </a:solidFill>
                  </a:tcPr>
                </a:tc>
              </a:tr>
              <a:tr h="406400">
                <a:tc>
                  <a:txBody>
                    <a:bodyPr wrap="square"/>
                    <a:lstStyle/>
                    <a:p>
                      <a:r>
                        <a:rPr sz="1600" b="0">
                          <a:latin typeface="Noto Sans CJK JP"/>
                        </a:rPr>
                        <a:t>1観測の標準偏差 </a:t>
                      </a:r>
                      <a:r>
                        <a:rPr sz="1600" b="0">
                          <a:latin typeface="DejaVu Sans"/>
                        </a:rPr>
                        <a:t>σ=√(28/5)</a:t>
                      </a:r>
                    </a:p>
                  </a:txBody>
                  <a:tcPr marL="54864" marR="54864" marT="27432" marB="27432">
                    <a:solidFill>
                      <a:srgbClr val="F5F7FA"/>
                    </a:solidFill>
                  </a:tcPr>
                </a:tc>
                <a:tc>
                  <a:txBody>
                    <a:bodyPr wrap="square"/>
                    <a:lstStyle/>
                    <a:p>
                      <a:r>
                        <a:rPr sz="1600" b="0">
                          <a:latin typeface="Noto Sans CJK JP"/>
                        </a:rPr>
                        <a:t>2.37 mm</a:t>
                      </a:r>
                    </a:p>
                  </a:txBody>
                  <a:tcPr marL="54864" marR="54864" marT="27432" marB="27432">
                    <a:solidFill>
                      <a:srgbClr val="F5F7FA"/>
                    </a:solidFill>
                  </a:tcPr>
                </a:tc>
              </a:tr>
              <a:tr h="406400">
                <a:tc>
                  <a:txBody>
                    <a:bodyPr wrap="square"/>
                    <a:lstStyle/>
                    <a:p>
                      <a:r>
                        <a:rPr sz="1600" b="0">
                          <a:latin typeface="Noto Sans CJK JP"/>
                        </a:rPr>
                        <a:t>最確値の標準偏差 </a:t>
                      </a:r>
                      <a:r>
                        <a:rPr sz="1600" b="0">
                          <a:latin typeface="DejaVu Sans"/>
                        </a:rPr>
                        <a:t>σ/√6</a:t>
                      </a:r>
                    </a:p>
                  </a:txBody>
                  <a:tcPr marL="54864" marR="54864" marT="27432" marB="27432">
                    <a:solidFill>
                      <a:srgbClr val="FFFFFF"/>
                    </a:solidFill>
                  </a:tcPr>
                </a:tc>
                <a:tc>
                  <a:txBody>
                    <a:bodyPr wrap="square"/>
                    <a:lstStyle/>
                    <a:p>
                      <a:r>
                        <a:rPr sz="1600" b="0">
                          <a:latin typeface="Noto Sans CJK JP"/>
                        </a:rPr>
                        <a:t>0.97 mm</a:t>
                      </a:r>
                    </a:p>
                  </a:txBody>
                  <a:tcPr marL="54864" marR="54864" marT="27432" marB="27432">
                    <a:solidFill>
                      <a:srgbClr val="FFFFFF"/>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3-0 前回の手計算テスト 問2の解答</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438400"/>
        </p:xfrm>
        <a:graphic>
          <a:graphicData uri="http://schemas.openxmlformats.org/drawingml/2006/table">
            <a:tbl>
              <a:tblPr firstRow="1" bandRow="1">
                <a:tableStyleId>{5C22544A-7EE6-4342-B048-85BDC9FD1C3A}</a:tableStyleId>
              </a:tblPr>
              <a:tblGrid>
                <a:gridCol w="5547207"/>
                <a:gridCol w="5547208"/>
              </a:tblGrid>
              <a:tr h="406400">
                <a:tc>
                  <a:txBody>
                    <a:bodyPr wrap="square"/>
                    <a:lstStyle/>
                    <a:p>
                      <a:r>
                        <a:rPr sz="1600" b="1">
                          <a:solidFill>
                            <a:srgbClr val="1F1F1F"/>
                          </a:solidFill>
                          <a:latin typeface="Noto Sans CJK JP"/>
                        </a:rPr>
                        <a:t>項目</a:t>
                      </a:r>
                    </a:p>
                  </a:txBody>
                  <a:tcPr marL="54864" marR="54864" marT="27432" marB="27432">
                    <a:solidFill>
                      <a:srgbClr val="DCE6F1"/>
                    </a:solidFill>
                  </a:tcPr>
                </a:tc>
                <a:tc>
                  <a:txBody>
                    <a:bodyPr wrap="square"/>
                    <a:lstStyle/>
                    <a:p>
                      <a:r>
                        <a:rPr sz="1600" b="1">
                          <a:solidFill>
                            <a:srgbClr val="1F1F1F"/>
                          </a:solidFill>
                          <a:latin typeface="Noto Sans CJK JP"/>
                        </a:rPr>
                        <a:t>値</a:t>
                      </a:r>
                    </a:p>
                  </a:txBody>
                  <a:tcPr marL="54864" marR="54864" marT="27432" marB="27432">
                    <a:solidFill>
                      <a:srgbClr val="DCE6F1"/>
                    </a:solidFill>
                  </a:tcPr>
                </a:tc>
              </a:tr>
              <a:tr h="406400">
                <a:tc>
                  <a:txBody>
                    <a:bodyPr wrap="square"/>
                    <a:lstStyle/>
                    <a:p>
                      <a:r>
                        <a:rPr sz="1600" b="0">
                          <a:latin typeface="Noto Sans CJK JP"/>
                        </a:rPr>
                        <a:t>重み（回数に比例）</a:t>
                      </a:r>
                    </a:p>
                  </a:txBody>
                  <a:tcPr marL="54864" marR="54864" marT="27432" marB="27432">
                    <a:solidFill>
                      <a:srgbClr val="FFFFFF"/>
                    </a:solidFill>
                  </a:tcPr>
                </a:tc>
                <a:tc>
                  <a:txBody>
                    <a:bodyPr wrap="square"/>
                    <a:lstStyle/>
                    <a:p>
                      <a:r>
                        <a:rPr sz="1600" b="0">
                          <a:latin typeface="DejaVu Sans"/>
                        </a:rPr>
                        <a:t>w</a:t>
                      </a:r>
                      <a:r>
                        <a:rPr sz="1600" b="0" baseline="-25000">
                          <a:latin typeface="DejaVu Sans"/>
                        </a:rPr>
                        <a:t>1</a:t>
                      </a:r>
                      <a:r>
                        <a:rPr sz="1600" b="0">
                          <a:latin typeface="DejaVu Sans"/>
                        </a:rPr>
                        <a:t>:w</a:t>
                      </a:r>
                      <a:r>
                        <a:rPr sz="1600" b="0" baseline="-25000">
                          <a:latin typeface="DejaVu Sans"/>
                        </a:rPr>
                        <a:t>2</a:t>
                      </a:r>
                      <a:r>
                        <a:rPr sz="1600" b="0">
                          <a:latin typeface="DejaVu Sans"/>
                        </a:rPr>
                        <a:t>=1:4</a:t>
                      </a:r>
                    </a:p>
                  </a:txBody>
                  <a:tcPr marL="54864" marR="54864" marT="27432" marB="27432">
                    <a:solidFill>
                      <a:srgbClr val="FFFFFF"/>
                    </a:solidFill>
                  </a:tcPr>
                </a:tc>
              </a:tr>
              <a:tr h="406400">
                <a:tc>
                  <a:txBody>
                    <a:bodyPr wrap="square"/>
                    <a:lstStyle/>
                    <a:p>
                      <a:r>
                        <a:rPr sz="1600" b="0">
                          <a:latin typeface="Noto Sans CJK JP"/>
                        </a:rPr>
                        <a:t>重み付き平均 </a:t>
                      </a:r>
                      <a:r>
                        <a:rPr sz="1600" b="0">
                          <a:latin typeface="DejaVu Sans"/>
                        </a:rPr>
                        <a:t>(1×80.000+4×80.015)/5</a:t>
                      </a:r>
                    </a:p>
                  </a:txBody>
                  <a:tcPr marL="54864" marR="54864" marT="27432" marB="27432">
                    <a:solidFill>
                      <a:srgbClr val="F5F7FA"/>
                    </a:solidFill>
                  </a:tcPr>
                </a:tc>
                <a:tc>
                  <a:txBody>
                    <a:bodyPr wrap="square"/>
                    <a:lstStyle/>
                    <a:p>
                      <a:r>
                        <a:rPr sz="1600" b="0">
                          <a:latin typeface="Noto Sans CJK JP"/>
                        </a:rPr>
                        <a:t>80.012 m</a:t>
                      </a:r>
                    </a:p>
                  </a:txBody>
                  <a:tcPr marL="54864" marR="54864" marT="27432" marB="27432">
                    <a:solidFill>
                      <a:srgbClr val="F5F7FA"/>
                    </a:solidFill>
                  </a:tcPr>
                </a:tc>
              </a:tr>
              <a:tr h="406400">
                <a:tc>
                  <a:txBody>
                    <a:bodyPr wrap="square"/>
                    <a:lstStyle/>
                    <a:p>
                      <a:r>
                        <a:rPr sz="1600" b="0">
                          <a:latin typeface="Noto Sans CJK JP"/>
                        </a:rPr>
                        <a:t>残差 </a:t>
                      </a:r>
                      <a:r>
                        <a:rPr sz="1600" b="0">
                          <a:latin typeface="DejaVu Sans"/>
                        </a:rPr>
                        <a:t>v</a:t>
                      </a:r>
                      <a:r>
                        <a:rPr sz="1600" b="0" baseline="-25000">
                          <a:latin typeface="DejaVu Sans"/>
                        </a:rPr>
                        <a:t>i</a:t>
                      </a:r>
                      <a:r>
                        <a:rPr sz="1600" b="0">
                          <a:latin typeface="Noto Sans CJK JP"/>
                        </a:rPr>
                        <a:t>（mm）</a:t>
                      </a:r>
                    </a:p>
                  </a:txBody>
                  <a:tcPr marL="54864" marR="54864" marT="27432" marB="27432">
                    <a:solidFill>
                      <a:srgbClr val="FFFFFF"/>
                    </a:solidFill>
                  </a:tcPr>
                </a:tc>
                <a:tc>
                  <a:txBody>
                    <a:bodyPr wrap="square"/>
                    <a:lstStyle/>
                    <a:p>
                      <a:r>
                        <a:rPr sz="1600" b="0">
                          <a:latin typeface="Noto Sans CJK JP"/>
                        </a:rPr>
                        <a:t>−12, +3（</a:t>
                      </a:r>
                      <a:r>
                        <a:rPr sz="1600" b="0">
                          <a:latin typeface="DejaVu Sans"/>
                        </a:rPr>
                        <a:t>Σ w</a:t>
                      </a:r>
                      <a:r>
                        <a:rPr sz="1600" b="0" baseline="-25000">
                          <a:latin typeface="DejaVu Sans"/>
                        </a:rPr>
                        <a:t>i</a:t>
                      </a:r>
                      <a:r>
                        <a:rPr sz="1600" b="0">
                          <a:latin typeface="DejaVu Sans"/>
                        </a:rPr>
                        <a:t>v</a:t>
                      </a:r>
                      <a:r>
                        <a:rPr sz="1600" b="0" baseline="-25000">
                          <a:latin typeface="DejaVu Sans"/>
                        </a:rPr>
                        <a:t>i</a:t>
                      </a:r>
                      <a:r>
                        <a:rPr sz="1600" b="0">
                          <a:latin typeface="DejaVu Sans"/>
                        </a:rPr>
                        <a:t>=0</a:t>
                      </a:r>
                      <a:r>
                        <a:rPr sz="1600" b="0">
                          <a:latin typeface="Noto Sans CJK JP"/>
                        </a:rPr>
                        <a:t>）</a:t>
                      </a:r>
                    </a:p>
                  </a:txBody>
                  <a:tcPr marL="54864" marR="54864" marT="27432" marB="27432">
                    <a:solidFill>
                      <a:srgbClr val="FFFFFF"/>
                    </a:solidFill>
                  </a:tcPr>
                </a:tc>
              </a:tr>
              <a:tr h="406400">
                <a:tc>
                  <a:txBody>
                    <a:bodyPr wrap="square"/>
                    <a:lstStyle/>
                    <a:p>
                      <a:r>
                        <a:rPr sz="1600" b="0">
                          <a:latin typeface="DejaVu Sans"/>
                        </a:rPr>
                        <a:t>Σ w</a:t>
                      </a:r>
                      <a:r>
                        <a:rPr sz="1600" b="0" baseline="-25000">
                          <a:latin typeface="DejaVu Sans"/>
                        </a:rPr>
                        <a:t>i</a:t>
                      </a:r>
                      <a:r>
                        <a:rPr sz="1600" b="0">
                          <a:latin typeface="DejaVu Sans"/>
                        </a:rPr>
                        <a:t>v</a:t>
                      </a:r>
                      <a:r>
                        <a:rPr sz="1600" b="0" baseline="-25000">
                          <a:latin typeface="DejaVu Sans"/>
                        </a:rPr>
                        <a:t>i</a:t>
                      </a:r>
                      <a:r>
                        <a:rPr sz="1600" b="0" baseline="30000">
                          <a:latin typeface="DejaVu Sans"/>
                        </a:rPr>
                        <a:t>2</a:t>
                      </a:r>
                    </a:p>
                  </a:txBody>
                  <a:tcPr marL="54864" marR="54864" marT="27432" marB="27432">
                    <a:solidFill>
                      <a:srgbClr val="F5F7FA"/>
                    </a:solidFill>
                  </a:tcPr>
                </a:tc>
                <a:tc>
                  <a:txBody>
                    <a:bodyPr wrap="square"/>
                    <a:lstStyle/>
                    <a:p>
                      <a:r>
                        <a:rPr sz="1600" b="0">
                          <a:latin typeface="Noto Sans CJK JP"/>
                        </a:rPr>
                        <a:t>180 mm²</a:t>
                      </a:r>
                    </a:p>
                  </a:txBody>
                  <a:tcPr marL="54864" marR="54864" marT="27432" marB="27432">
                    <a:solidFill>
                      <a:srgbClr val="F5F7FA"/>
                    </a:solidFill>
                  </a:tcPr>
                </a:tc>
              </a:tr>
              <a:tr h="406400">
                <a:tc>
                  <a:txBody>
                    <a:bodyPr wrap="square"/>
                    <a:lstStyle/>
                    <a:p>
                      <a:r>
                        <a:rPr sz="1600" b="0">
                          <a:latin typeface="DejaVu Sans"/>
                        </a:rPr>
                        <a:t>σ</a:t>
                      </a:r>
                      <a:r>
                        <a:rPr sz="1600" b="0" baseline="-25000">
                          <a:latin typeface="DejaVu Sans"/>
                        </a:rPr>
                        <a:t>0</a:t>
                      </a:r>
                      <a:r>
                        <a:rPr sz="1600" b="0">
                          <a:latin typeface="DejaVu Sans"/>
                        </a:rPr>
                        <a:t>=√(180/1)</a:t>
                      </a:r>
                      <a:r>
                        <a:rPr sz="1600" b="0">
                          <a:latin typeface="Noto Sans CJK JP"/>
                        </a:rPr>
                        <a:t>、</a:t>
                      </a:r>
                      <a:r>
                        <a:rPr sz="1600" b="0">
                          <a:latin typeface="DejaVu Sans"/>
                        </a:rPr>
                        <a:t>σ</a:t>
                      </a:r>
                      <a:r>
                        <a:rPr sz="1600" b="0" baseline="-25000">
                          <a:latin typeface="DejaVu Sans"/>
                        </a:rPr>
                        <a:t>x̄</a:t>
                      </a:r>
                      <a:r>
                        <a:rPr sz="1600" b="0" baseline="-25000">
                          <a:latin typeface="DejaVu Sans"/>
                        </a:rPr>
                        <a:t>w</a:t>
                      </a:r>
                      <a:r>
                        <a:rPr sz="1600" b="0">
                          <a:latin typeface="DejaVu Sans"/>
                        </a:rPr>
                        <a:t>=σ</a:t>
                      </a:r>
                      <a:r>
                        <a:rPr sz="1600" b="0" baseline="-25000">
                          <a:latin typeface="DejaVu Sans"/>
                        </a:rPr>
                        <a:t>0</a:t>
                      </a:r>
                      <a:r>
                        <a:rPr sz="1600" b="0">
                          <a:latin typeface="DejaVu Sans"/>
                        </a:rPr>
                        <a:t>/√5</a:t>
                      </a:r>
                    </a:p>
                  </a:txBody>
                  <a:tcPr marL="54864" marR="54864" marT="27432" marB="27432">
                    <a:solidFill>
                      <a:srgbClr val="FFFFFF"/>
                    </a:solidFill>
                  </a:tcPr>
                </a:tc>
                <a:tc>
                  <a:txBody>
                    <a:bodyPr wrap="square"/>
                    <a:lstStyle/>
                    <a:p>
                      <a:r>
                        <a:rPr sz="1600" b="0">
                          <a:latin typeface="Noto Sans CJK JP"/>
                        </a:rPr>
                        <a:t>13.42 mm、6.00 mm</a:t>
                      </a:r>
                    </a:p>
                  </a:txBody>
                  <a:tcPr marL="54864" marR="54864" marT="27432" marB="27432">
                    <a:solidFill>
                      <a:srgbClr val="FFFFFF"/>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3-0 本日の到達目標</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「座標」を数学（点と数の組の対応）と測量（位置を共有する約束）の両面から説明できる。</a:t>
            </a:r>
          </a:p>
          <a:p>
            <a:pPr>
              <a:spcAft>
                <a:spcPts val="400"/>
              </a:spcAft>
            </a:pPr>
            <a:r>
              <a:rPr sz="2000" b="0">
                <a:latin typeface="Noto Sans CJK JP"/>
              </a:rPr>
              <a:t>• </a:t>
            </a:r>
            <a:r>
              <a:rPr sz="2000" b="1">
                <a:latin typeface="Noto Sans CJK JP"/>
              </a:rPr>
              <a:t>ジオイドとは何か</a:t>
            </a:r>
            <a:r>
              <a:rPr sz="2000" b="0">
                <a:latin typeface="Noto Sans CJK JP"/>
              </a:rPr>
              <a:t>を自分の言葉で説明でき、</a:t>
            </a:r>
            <a:r>
              <a:rPr sz="2000" b="0">
                <a:latin typeface="DejaVu Sans"/>
              </a:rPr>
              <a:t>h=H+N</a:t>
            </a:r>
            <a:r>
              <a:rPr sz="2000" b="0">
                <a:latin typeface="Noto Sans CJK JP"/>
              </a:rPr>
              <a:t> の関係を図と式で示せる。</a:t>
            </a:r>
          </a:p>
          <a:p>
            <a:pPr>
              <a:spcAft>
                <a:spcPts val="400"/>
              </a:spcAft>
            </a:pPr>
            <a:r>
              <a:rPr sz="2000" b="0">
                <a:latin typeface="Noto Sans CJK JP"/>
              </a:rPr>
              <a:t>• </a:t>
            </a:r>
            <a:r>
              <a:rPr sz="2000" b="0">
                <a:latin typeface="Noto Sans CJK JP"/>
              </a:rPr>
              <a:t>測地系・地理座標・投影座標（メルカトル、UTM、平面直角座標系）の違いを図で説明できる。</a:t>
            </a:r>
          </a:p>
          <a:p>
            <a:pPr>
              <a:spcAft>
                <a:spcPts val="400"/>
              </a:spcAft>
            </a:pPr>
            <a:r>
              <a:rPr sz="2000" b="0">
                <a:latin typeface="Noto Sans CJK JP"/>
              </a:rPr>
              <a:t>• </a:t>
            </a:r>
            <a:r>
              <a:rPr sz="2000" b="0">
                <a:latin typeface="Noto Sans CJK JP"/>
              </a:rPr>
              <a:t>平面直角座標系の約束（X が北、Y が東、原点の縮尺係数 0.9999）を説明できる。</a:t>
            </a:r>
          </a:p>
          <a:p>
            <a:pPr>
              <a:spcAft>
                <a:spcPts val="400"/>
              </a:spcAft>
            </a:pPr>
            <a:r>
              <a:rPr sz="2000" b="0">
                <a:latin typeface="Noto Sans CJK JP"/>
              </a:rPr>
              <a:t>• </a:t>
            </a:r>
            <a:r>
              <a:rPr sz="2000" b="0">
                <a:latin typeface="Noto Sans CJK JP"/>
              </a:rPr>
              <a:t>既知点から新点の座標を計算し、2点から距離と方向角を求め、斜距離を平面距離まで換算できる。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3-0 本日の流れと時間配分</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844800"/>
        </p:xfrm>
        <a:graphic>
          <a:graphicData uri="http://schemas.openxmlformats.org/drawingml/2006/table">
            <a:tbl>
              <a:tblPr firstRow="1" bandRow="1">
                <a:tableStyleId>{5C22544A-7EE6-4342-B048-85BDC9FD1C3A}</a:tableStyleId>
              </a:tblPr>
              <a:tblGrid>
                <a:gridCol w="5547207"/>
                <a:gridCol w="5547208"/>
              </a:tblGrid>
              <a:tr h="355600">
                <a:tc>
                  <a:txBody>
                    <a:bodyPr wrap="square"/>
                    <a:lstStyle/>
                    <a:p>
                      <a:r>
                        <a:rPr sz="1400" b="1">
                          <a:solidFill>
                            <a:srgbClr val="1F1F1F"/>
                          </a:solidFill>
                          <a:latin typeface="Noto Sans CJK JP"/>
                        </a:rPr>
                        <a:t>時間</a:t>
                      </a:r>
                    </a:p>
                  </a:txBody>
                  <a:tcPr marL="54864" marR="54864" marT="27432" marB="27432">
                    <a:solidFill>
                      <a:srgbClr val="DCE6F1"/>
                    </a:solidFill>
                  </a:tcPr>
                </a:tc>
                <a:tc>
                  <a:txBody>
                    <a:bodyPr wrap="square"/>
                    <a:lstStyle/>
                    <a:p>
                      <a:r>
                        <a:rPr sz="1400" b="1">
                          <a:solidFill>
                            <a:srgbClr val="1F1F1F"/>
                          </a:solidFill>
                          <a:latin typeface="Noto Sans CJK JP"/>
                        </a:rPr>
                        <a:t>内容</a:t>
                      </a:r>
                    </a:p>
                  </a:txBody>
                  <a:tcPr marL="54864" marR="54864" marT="27432" marB="27432">
                    <a:solidFill>
                      <a:srgbClr val="DCE6F1"/>
                    </a:solidFill>
                  </a:tcPr>
                </a:tc>
              </a:tr>
              <a:tr h="355600">
                <a:tc>
                  <a:txBody>
                    <a:bodyPr wrap="square"/>
                    <a:lstStyle/>
                    <a:p>
                      <a:r>
                        <a:rPr sz="1400" b="0">
                          <a:latin typeface="Noto Sans CJK JP"/>
                        </a:rPr>
                        <a:t>0〜4分</a:t>
                      </a:r>
                    </a:p>
                  </a:txBody>
                  <a:tcPr marL="54864" marR="54864" marT="27432" marB="27432">
                    <a:solidFill>
                      <a:srgbClr val="FFFFFF"/>
                    </a:solidFill>
                  </a:tcPr>
                </a:tc>
                <a:tc>
                  <a:txBody>
                    <a:bodyPr wrap="square"/>
                    <a:lstStyle/>
                    <a:p>
                      <a:r>
                        <a:rPr sz="1400" b="0">
                          <a:latin typeface="Noto Sans CJK JP"/>
                        </a:rPr>
                        <a:t>前回の確認・到達目標</a:t>
                      </a:r>
                    </a:p>
                  </a:txBody>
                  <a:tcPr marL="54864" marR="54864" marT="27432" marB="27432">
                    <a:solidFill>
                      <a:srgbClr val="FFFFFF"/>
                    </a:solidFill>
                  </a:tcPr>
                </a:tc>
              </a:tr>
              <a:tr h="355600">
                <a:tc>
                  <a:txBody>
                    <a:bodyPr wrap="square"/>
                    <a:lstStyle/>
                    <a:p>
                      <a:r>
                        <a:rPr sz="1400" b="0">
                          <a:latin typeface="Noto Sans CJK JP"/>
                        </a:rPr>
                        <a:t>4〜16分</a:t>
                      </a:r>
                    </a:p>
                  </a:txBody>
                  <a:tcPr marL="54864" marR="54864" marT="27432" marB="27432">
                    <a:solidFill>
                      <a:srgbClr val="F5F7FA"/>
                    </a:solidFill>
                  </a:tcPr>
                </a:tc>
                <a:tc>
                  <a:txBody>
                    <a:bodyPr wrap="square"/>
                    <a:lstStyle/>
                    <a:p>
                      <a:r>
                        <a:rPr sz="1400" b="0">
                          <a:latin typeface="Noto Sans CJK JP"/>
                        </a:rPr>
                        <a:t>小テスト（前回範囲、測量士補形式）10分＋解説2分</a:t>
                      </a:r>
                    </a:p>
                  </a:txBody>
                  <a:tcPr marL="54864" marR="54864" marT="27432" marB="27432">
                    <a:solidFill>
                      <a:srgbClr val="F5F7FA"/>
                    </a:solidFill>
                  </a:tcPr>
                </a:tc>
              </a:tr>
              <a:tr h="355600">
                <a:tc>
                  <a:txBody>
                    <a:bodyPr wrap="square"/>
                    <a:lstStyle/>
                    <a:p>
                      <a:r>
                        <a:rPr sz="1400" b="0">
                          <a:latin typeface="Noto Sans CJK JP"/>
                        </a:rPr>
                        <a:t>16〜34分</a:t>
                      </a:r>
                    </a:p>
                  </a:txBody>
                  <a:tcPr marL="54864" marR="54864" marT="27432" marB="27432">
                    <a:solidFill>
                      <a:srgbClr val="FFFFFF"/>
                    </a:solidFill>
                  </a:tcPr>
                </a:tc>
                <a:tc>
                  <a:txBody>
                    <a:bodyPr wrap="square"/>
                    <a:lstStyle/>
                    <a:p>
                      <a:r>
                        <a:rPr sz="1400" b="0">
                          <a:latin typeface="Noto Sans CJK JP"/>
                        </a:rPr>
                        <a:t>座標とは何か → 地球の形とジオイド</a:t>
                      </a:r>
                    </a:p>
                  </a:txBody>
                  <a:tcPr marL="54864" marR="54864" marT="27432" marB="27432">
                    <a:solidFill>
                      <a:srgbClr val="FFFFFF"/>
                    </a:solidFill>
                  </a:tcPr>
                </a:tc>
              </a:tr>
              <a:tr h="355600">
                <a:tc>
                  <a:txBody>
                    <a:bodyPr wrap="square"/>
                    <a:lstStyle/>
                    <a:p>
                      <a:r>
                        <a:rPr sz="1400" b="0">
                          <a:latin typeface="Noto Sans CJK JP"/>
                        </a:rPr>
                        <a:t>34〜56分</a:t>
                      </a:r>
                    </a:p>
                  </a:txBody>
                  <a:tcPr marL="54864" marR="54864" marT="27432" marB="27432">
                    <a:solidFill>
                      <a:srgbClr val="F5F7FA"/>
                    </a:solidFill>
                  </a:tcPr>
                </a:tc>
                <a:tc>
                  <a:txBody>
                    <a:bodyPr wrap="square"/>
                    <a:lstStyle/>
                    <a:p>
                      <a:r>
                        <a:rPr sz="1400" b="0">
                          <a:latin typeface="Noto Sans CJK JP"/>
                        </a:rPr>
                        <a:t>測地系と投影（メルカトル・UTM） → 平面直角座標系</a:t>
                      </a:r>
                    </a:p>
                  </a:txBody>
                  <a:tcPr marL="54864" marR="54864" marT="27432" marB="27432">
                    <a:solidFill>
                      <a:srgbClr val="F5F7FA"/>
                    </a:solidFill>
                  </a:tcPr>
                </a:tc>
              </a:tr>
              <a:tr h="355600">
                <a:tc>
                  <a:txBody>
                    <a:bodyPr wrap="square"/>
                    <a:lstStyle/>
                    <a:p>
                      <a:r>
                        <a:rPr sz="1400" b="0">
                          <a:latin typeface="Noto Sans CJK JP"/>
                        </a:rPr>
                        <a:t>56〜68分</a:t>
                      </a:r>
                    </a:p>
                  </a:txBody>
                  <a:tcPr marL="54864" marR="54864" marT="27432" marB="27432">
                    <a:solidFill>
                      <a:srgbClr val="FFFFFF"/>
                    </a:solidFill>
                  </a:tcPr>
                </a:tc>
                <a:tc>
                  <a:txBody>
                    <a:bodyPr wrap="square"/>
                    <a:lstStyle/>
                    <a:p>
                      <a:r>
                        <a:rPr sz="1400" b="0">
                          <a:latin typeface="Noto Sans CJK JP"/>
                        </a:rPr>
                        <a:t>方向角と座標計算 → GNSS・TS との接続</a:t>
                      </a:r>
                    </a:p>
                  </a:txBody>
                  <a:tcPr marL="54864" marR="54864" marT="27432" marB="27432">
                    <a:solidFill>
                      <a:srgbClr val="FFFFFF"/>
                    </a:solidFill>
                  </a:tcPr>
                </a:tc>
              </a:tr>
              <a:tr h="355600">
                <a:tc>
                  <a:txBody>
                    <a:bodyPr wrap="square"/>
                    <a:lstStyle/>
                    <a:p>
                      <a:r>
                        <a:rPr sz="1400" b="0">
                          <a:latin typeface="Noto Sans CJK JP"/>
                        </a:rPr>
                        <a:t>68〜86分</a:t>
                      </a:r>
                    </a:p>
                  </a:txBody>
                  <a:tcPr marL="54864" marR="54864" marT="27432" marB="27432">
                    <a:solidFill>
                      <a:srgbClr val="F5F7FA"/>
                    </a:solidFill>
                  </a:tcPr>
                </a:tc>
                <a:tc>
                  <a:txBody>
                    <a:bodyPr wrap="square"/>
                    <a:lstStyle/>
                    <a:p>
                      <a:r>
                        <a:rPr sz="1400" b="0">
                          <a:latin typeface="Noto Sans CJK JP"/>
                        </a:rPr>
                        <a:t>手計算テスト18分</a:t>
                      </a:r>
                    </a:p>
                  </a:txBody>
                  <a:tcPr marL="54864" marR="54864" marT="27432" marB="27432">
                    <a:solidFill>
                      <a:srgbClr val="F5F7FA"/>
                    </a:solidFill>
                  </a:tcPr>
                </a:tc>
              </a:tr>
              <a:tr h="355600">
                <a:tc>
                  <a:txBody>
                    <a:bodyPr wrap="square"/>
                    <a:lstStyle/>
                    <a:p>
                      <a:r>
                        <a:rPr sz="1400" b="0">
                          <a:latin typeface="Noto Sans CJK JP"/>
                        </a:rPr>
                        <a:t>86〜90分</a:t>
                      </a:r>
                    </a:p>
                  </a:txBody>
                  <a:tcPr marL="54864" marR="54864" marT="27432" marB="27432">
                    <a:solidFill>
                      <a:srgbClr val="FFFFFF"/>
                    </a:solidFill>
                  </a:tcPr>
                </a:tc>
                <a:tc>
                  <a:txBody>
                    <a:bodyPr wrap="square"/>
                    <a:lstStyle/>
                    <a:p>
                      <a:r>
                        <a:rPr sz="1400" b="0">
                          <a:latin typeface="Noto Sans CJK JP"/>
                        </a:rPr>
                        <a:t>要点確認・提出・次回予告</a:t>
                      </a:r>
                    </a:p>
                  </a:txBody>
                  <a:tcPr marL="54864" marR="54864" marT="27432" marB="27432">
                    <a:solidFill>
                      <a:srgbClr val="FFFFFF"/>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3-Q 小テストの形式：測量士補試験にならう</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国家試験「測量士補」は択一式（五肢）28問・3時間・700点満点、450点以上で合格。</a:t>
            </a:r>
            <a:r>
              <a:rPr sz="2200" b="1">
                <a:latin typeface="Noto Sans CJK JP"/>
              </a:rPr>
              <a:t>電卓は使えない</a:t>
            </a:r>
            <a:r>
              <a:rPr sz="2200" b="0">
                <a:latin typeface="Noto Sans CJK JP"/>
              </a:rPr>
              <a:t>（関数表が付く）。</a:t>
            </a:r>
          </a:p>
          <a:p>
            <a:pPr>
              <a:spcAft>
                <a:spcPts val="400"/>
              </a:spcAft>
            </a:pPr>
            <a:r>
              <a:rPr sz="2200" b="0">
                <a:latin typeface="Noto Sans CJK JP"/>
              </a:rPr>
              <a:t>• </a:t>
            </a:r>
            <a:r>
              <a:rPr sz="2200" b="0">
                <a:latin typeface="Noto Sans CJK JP"/>
              </a:rPr>
              <a:t>出題区分（令和7年〜）：測量に関する法規、測地測量、測図測量、応用測量（三次元点群測量も出題）。</a:t>
            </a:r>
          </a:p>
          <a:p>
            <a:pPr>
              <a:spcAft>
                <a:spcPts val="400"/>
              </a:spcAft>
            </a:pPr>
            <a:r>
              <a:rPr sz="2200" b="0">
                <a:latin typeface="Noto Sans CJK JP"/>
              </a:rPr>
              <a:t>• </a:t>
            </a:r>
            <a:r>
              <a:rPr sz="2200" b="0">
                <a:latin typeface="Noto Sans CJK JP"/>
              </a:rPr>
              <a:t>本日の小テストは前回範囲（誤差論）から5問・10分・各2点。</a:t>
            </a:r>
          </a:p>
          <a:p>
            <a:pPr>
              <a:spcAft>
                <a:spcPts val="400"/>
              </a:spcAft>
            </a:pPr>
            <a:r>
              <a:rPr sz="2200" b="0">
                <a:latin typeface="Noto Sans CJK JP"/>
              </a:rPr>
              <a:t>• </a:t>
            </a:r>
            <a:r>
              <a:rPr sz="2200" b="0">
                <a:latin typeface="Noto Sans CJK JP"/>
              </a:rPr>
              <a:t>問題文は配布用紙と同じ。答は番号で書く。</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3-Q 問1 誤差の種類</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600"/>
              </a:spcAft>
            </a:pPr>
            <a:r>
              <a:rPr sz="2200" b="0">
                <a:latin typeface="Noto Sans CJK JP"/>
              </a:rPr>
              <a:t>次の a〜e のうち、</a:t>
            </a:r>
            <a:r>
              <a:rPr sz="2200" b="1">
                <a:latin typeface="Noto Sans CJK JP"/>
              </a:rPr>
              <a:t>明らかに間違っているもの</a:t>
            </a:r>
            <a:r>
              <a:rPr sz="2200" b="0">
                <a:latin typeface="Noto Sans CJK JP"/>
              </a:rPr>
              <a:t>はどれか。</a:t>
            </a:r>
          </a:p>
          <a:p>
            <a:pPr>
              <a:spcAft>
                <a:spcPts val="400"/>
              </a:spcAft>
            </a:pPr>
            <a:r>
              <a:rPr sz="2200" b="0">
                <a:latin typeface="Noto Sans CJK JP"/>
              </a:rPr>
              <a:t>• </a:t>
            </a:r>
            <a:r>
              <a:rPr sz="2200" b="0">
                <a:latin typeface="Noto Sans CJK JP"/>
              </a:rPr>
              <a:t>a. 過失（読み違い・転記の誤り）は、点検や再測によって取り除く。</a:t>
            </a:r>
          </a:p>
          <a:p>
            <a:pPr>
              <a:spcAft>
                <a:spcPts val="400"/>
              </a:spcAft>
            </a:pPr>
            <a:r>
              <a:rPr sz="2200" b="0">
                <a:latin typeface="Noto Sans CJK JP"/>
              </a:rPr>
              <a:t>• </a:t>
            </a:r>
            <a:r>
              <a:rPr sz="2200" b="0">
                <a:latin typeface="Noto Sans CJK JP"/>
              </a:rPr>
              <a:t>b. 尺定数のように原因と大きさが分かる定誤差は、補正計算で取り除く。</a:t>
            </a:r>
          </a:p>
          <a:p>
            <a:pPr>
              <a:spcAft>
                <a:spcPts val="400"/>
              </a:spcAft>
            </a:pPr>
            <a:r>
              <a:rPr sz="2200" b="0">
                <a:latin typeface="Noto Sans CJK JP"/>
              </a:rPr>
              <a:t>• </a:t>
            </a:r>
            <a:r>
              <a:rPr sz="2200" b="0">
                <a:latin typeface="Noto Sans CJK JP"/>
              </a:rPr>
              <a:t>c. 偶然誤差は、同精度の独立な観測回数を増やしても平均の標準偏差は小さくならない。</a:t>
            </a:r>
          </a:p>
          <a:p>
            <a:pPr>
              <a:spcAft>
                <a:spcPts val="400"/>
              </a:spcAft>
            </a:pPr>
            <a:r>
              <a:rPr sz="2200" b="0">
                <a:latin typeface="Noto Sans CJK JP"/>
              </a:rPr>
              <a:t>• </a:t>
            </a:r>
            <a:r>
              <a:rPr sz="2200" b="0">
                <a:latin typeface="Noto Sans CJK JP"/>
              </a:rPr>
              <a:t>d. 同精度の独立な観測の最確値は算術平均である。</a:t>
            </a:r>
          </a:p>
          <a:p>
            <a:pPr>
              <a:spcAft>
                <a:spcPts val="400"/>
              </a:spcAft>
            </a:pPr>
            <a:r>
              <a:rPr sz="2200" b="0">
                <a:latin typeface="Noto Sans CJK JP"/>
              </a:rPr>
              <a:t>• </a:t>
            </a:r>
            <a:r>
              <a:rPr sz="2200" b="0">
                <a:latin typeface="Noto Sans CJK JP"/>
              </a:rPr>
              <a:t>e. 較差が許容値を超えたら、観測値を書き換えずに再測する。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3-Q 問2 最確値</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600"/>
              </a:spcAft>
            </a:pPr>
            <a:r>
              <a:rPr sz="2200" b="0">
                <a:latin typeface="Noto Sans CJK JP"/>
              </a:rPr>
              <a:t>同一の距離を同精度で独立に5回観測した（過失・定誤差は処理済み）。最確値はどれか。</a:t>
            </a:r>
          </a:p>
          <a:p>
            <a:pPr>
              <a:spcAft>
                <a:spcPts val="600"/>
              </a:spcAft>
            </a:pPr>
            <a:r>
              <a:rPr sz="2200" b="0">
                <a:latin typeface="Noto Sans CJK JP"/>
              </a:rPr>
              <a:t>観測値（m）：50.003、50.005、50.006、50.008、50.008</a:t>
            </a:r>
          </a:p>
          <a:p>
            <a:pPr>
              <a:spcAft>
                <a:spcPts val="600"/>
              </a:spcAft>
            </a:pPr>
            <a:r>
              <a:rPr sz="2200" b="0">
                <a:latin typeface="Noto Sans CJK JP"/>
              </a:rPr>
              <a:t>選択肢　1. 50.005 m　2. 50.006 m　3. 50.007 m　4. 50.008 m　5. 50.0055 m</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3-Q 問3 最確値の標準偏差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436370"/>
          </a:xfrm>
          <a:prstGeom prst="rect">
            <a:avLst/>
          </a:prstGeom>
          <a:noFill/>
        </p:spPr>
        <p:txBody>
          <a:bodyPr wrap="square" lIns="45720" rIns="45720" tIns="18288" bIns="18288">
            <a:spAutoFit/>
          </a:bodyPr>
          <a:lstStyle/>
          <a:p>
            <a:pPr>
              <a:spcAft>
                <a:spcPts val="600"/>
              </a:spcAft>
            </a:pPr>
            <a:r>
              <a:rPr sz="2200" b="0">
                <a:latin typeface="Noto Sans CJK JP"/>
              </a:rPr>
              <a:t>同精度で独立に4回観測し、残差の二乗の和が </a:t>
            </a:r>
            <a:r>
              <a:rPr sz="2200" b="0">
                <a:latin typeface="DejaVu Sans"/>
              </a:rPr>
              <a:t>Σ v</a:t>
            </a:r>
            <a:r>
              <a:rPr sz="2200" b="0" baseline="-25000">
                <a:latin typeface="DejaVu Sans"/>
              </a:rPr>
              <a:t>i</a:t>
            </a:r>
            <a:r>
              <a:rPr sz="2200" b="0" baseline="30000">
                <a:latin typeface="DejaVu Sans"/>
              </a:rPr>
              <a:t>2</a:t>
            </a:r>
            <a:r>
              <a:rPr sz="2200" b="0">
                <a:latin typeface="DejaVu Sans"/>
              </a:rPr>
              <a:t>=27 mm</a:t>
            </a:r>
            <a:r>
              <a:rPr sz="2200" b="0" baseline="30000">
                <a:latin typeface="DejaVu Sans"/>
              </a:rPr>
              <a:t>2</a:t>
            </a:r>
            <a:r>
              <a:rPr sz="2200" b="0">
                <a:latin typeface="Noto Sans CJK JP"/>
              </a:rPr>
              <a:t> であった。最確値の標準偏差はどれか。</a:t>
            </a:r>
          </a:p>
          <a:p>
            <a:pPr>
              <a:spcAft>
                <a:spcPts val="600"/>
              </a:spcAft>
            </a:pPr>
            <a:r>
              <a:rPr sz="2200" b="0">
                <a:latin typeface="Noto Sans CJK JP"/>
              </a:rPr>
              <a:t>選択肢　1. 0.75 mm　2. 1.5 mm　3. 2.6 mm　4. 3.0 mm　5. 6.0 mm</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3-Q 問4 重み付き平均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436370"/>
          </a:xfrm>
          <a:prstGeom prst="rect">
            <a:avLst/>
          </a:prstGeom>
          <a:noFill/>
        </p:spPr>
        <p:txBody>
          <a:bodyPr wrap="square" lIns="45720" rIns="45720" tIns="18288" bIns="18288">
            <a:spAutoFit/>
          </a:bodyPr>
          <a:lstStyle/>
          <a:p>
            <a:pPr>
              <a:spcAft>
                <a:spcPts val="600"/>
              </a:spcAft>
            </a:pPr>
            <a:r>
              <a:rPr sz="2200" b="0">
                <a:latin typeface="Noto Sans CJK JP"/>
              </a:rPr>
              <a:t>新点 P の標高を2本の水準路線で観測した。路線1（2 km）は 10.012 m、路線2（4 km）は 10.018 m。重みを路線長に反比例させるとき、最確値はどれか。</a:t>
            </a:r>
          </a:p>
          <a:p>
            <a:pPr>
              <a:spcAft>
                <a:spcPts val="600"/>
              </a:spcAft>
            </a:pPr>
            <a:r>
              <a:rPr sz="2200" b="0">
                <a:latin typeface="Noto Sans CJK JP"/>
              </a:rPr>
              <a:t>選択肢　1. 10.012 m　2. 10.013 m　3. 10.014 m　4. 10.015 m　5. 10.016 m</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3-Q 問5 機器の精度表示</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436370"/>
          </a:xfrm>
          <a:prstGeom prst="rect">
            <a:avLst/>
          </a:prstGeom>
          <a:noFill/>
        </p:spPr>
        <p:txBody>
          <a:bodyPr wrap="square" lIns="45720" rIns="45720" tIns="18288" bIns="18288">
            <a:spAutoFit/>
          </a:bodyPr>
          <a:lstStyle/>
          <a:p>
            <a:pPr>
              <a:spcAft>
                <a:spcPts val="600"/>
              </a:spcAft>
            </a:pPr>
            <a:r>
              <a:rPr sz="2200" b="0">
                <a:latin typeface="Noto Sans CJK JP"/>
              </a:rPr>
              <a:t>TS の測距精度が「±(2 mm + 2 ppm × D)」と表示されている。1 km の距離を測ったとき、この表示が示す標準偏差はどれか。</a:t>
            </a:r>
          </a:p>
          <a:p>
            <a:pPr>
              <a:spcAft>
                <a:spcPts val="600"/>
              </a:spcAft>
            </a:pPr>
            <a:r>
              <a:rPr sz="2200" b="0">
                <a:latin typeface="Noto Sans CJK JP"/>
              </a:rPr>
              <a:t>選択肢　1. 2 mm　2. 4 mm　3. 6 mm　4. 22 mm　5. 202 mm</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3-Q 解答（問1〜3）</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828800"/>
        </p:xfrm>
        <a:graphic>
          <a:graphicData uri="http://schemas.openxmlformats.org/drawingml/2006/table">
            <a:tbl>
              <a:tblPr firstRow="1" bandRow="1">
                <a:tableStyleId>{5C22544A-7EE6-4342-B048-85BDC9FD1C3A}</a:tableStyleId>
              </a:tblPr>
              <a:tblGrid>
                <a:gridCol w="3698138"/>
                <a:gridCol w="3698138"/>
                <a:gridCol w="3698139"/>
              </a:tblGrid>
              <a:tr h="457200">
                <a:tc>
                  <a:txBody>
                    <a:bodyPr wrap="square"/>
                    <a:lstStyle/>
                    <a:p>
                      <a:r>
                        <a:rPr sz="1800" b="1">
                          <a:solidFill>
                            <a:srgbClr val="1F1F1F"/>
                          </a:solidFill>
                          <a:latin typeface="Noto Sans CJK JP"/>
                        </a:rPr>
                        <a:t>問</a:t>
                      </a:r>
                    </a:p>
                  </a:txBody>
                  <a:tcPr marL="54864" marR="54864" marT="27432" marB="27432">
                    <a:solidFill>
                      <a:srgbClr val="DCE6F1"/>
                    </a:solidFill>
                  </a:tcPr>
                </a:tc>
                <a:tc>
                  <a:txBody>
                    <a:bodyPr wrap="square"/>
                    <a:lstStyle/>
                    <a:p>
                      <a:r>
                        <a:rPr sz="1800" b="1">
                          <a:solidFill>
                            <a:srgbClr val="1F1F1F"/>
                          </a:solidFill>
                          <a:latin typeface="Noto Sans CJK JP"/>
                        </a:rPr>
                        <a:t>正答</a:t>
                      </a:r>
                    </a:p>
                  </a:txBody>
                  <a:tcPr marL="54864" marR="54864" marT="27432" marB="27432">
                    <a:solidFill>
                      <a:srgbClr val="DCE6F1"/>
                    </a:solidFill>
                  </a:tcPr>
                </a:tc>
                <a:tc>
                  <a:txBody>
                    <a:bodyPr wrap="square"/>
                    <a:lstStyle/>
                    <a:p>
                      <a:r>
                        <a:rPr sz="1800" b="1">
                          <a:solidFill>
                            <a:srgbClr val="1F1F1F"/>
                          </a:solidFill>
                          <a:latin typeface="Noto Sans CJK JP"/>
                        </a:rPr>
                        <a:t>根拠</a:t>
                      </a:r>
                    </a:p>
                  </a:txBody>
                  <a:tcPr marL="54864" marR="54864" marT="27432" marB="27432">
                    <a:solidFill>
                      <a:srgbClr val="DCE6F1"/>
                    </a:solidFill>
                  </a:tcPr>
                </a:tc>
              </a:tr>
              <a:tr h="457200">
                <a:tc>
                  <a:txBody>
                    <a:bodyPr wrap="square"/>
                    <a:lstStyle/>
                    <a:p>
                      <a:r>
                        <a:rPr sz="1800" b="0">
                          <a:latin typeface="Noto Sans CJK JP"/>
                        </a:rPr>
                        <a:t>1</a:t>
                      </a:r>
                    </a:p>
                  </a:txBody>
                  <a:tcPr marL="54864" marR="54864" marT="27432" marB="27432">
                    <a:solidFill>
                      <a:srgbClr val="FFFFFF"/>
                    </a:solidFill>
                  </a:tcPr>
                </a:tc>
                <a:tc>
                  <a:txBody>
                    <a:bodyPr wrap="square"/>
                    <a:lstStyle/>
                    <a:p>
                      <a:r>
                        <a:rPr sz="1800" b="0">
                          <a:latin typeface="Noto Sans CJK JP"/>
                        </a:rPr>
                        <a:t>3（c）</a:t>
                      </a:r>
                    </a:p>
                  </a:txBody>
                  <a:tcPr marL="54864" marR="54864" marT="27432" marB="27432">
                    <a:solidFill>
                      <a:srgbClr val="FFFFFF"/>
                    </a:solidFill>
                  </a:tcPr>
                </a:tc>
                <a:tc>
                  <a:txBody>
                    <a:bodyPr wrap="square"/>
                    <a:lstStyle/>
                    <a:p>
                      <a:r>
                        <a:rPr sz="1800" b="0">
                          <a:latin typeface="Noto Sans CJK JP"/>
                        </a:rPr>
                        <a:t>独立・同精度なら平均の標準偏差は </a:t>
                      </a:r>
                      <a:r>
                        <a:rPr sz="1800" b="0">
                          <a:latin typeface="DejaVu Sans"/>
                        </a:rPr>
                        <a:t>σ/√n</a:t>
                      </a:r>
                      <a:r>
                        <a:rPr sz="1800" b="0">
                          <a:latin typeface="Noto Sans CJK JP"/>
                        </a:rPr>
                        <a:t> で減る</a:t>
                      </a:r>
                    </a:p>
                  </a:txBody>
                  <a:tcPr marL="54864" marR="54864" marT="27432" marB="27432">
                    <a:solidFill>
                      <a:srgbClr val="FFFFFF"/>
                    </a:solidFill>
                  </a:tcPr>
                </a:tc>
              </a:tr>
              <a:tr h="457200">
                <a:tc>
                  <a:txBody>
                    <a:bodyPr wrap="square"/>
                    <a:lstStyle/>
                    <a:p>
                      <a:r>
                        <a:rPr sz="1800" b="0">
                          <a:latin typeface="Noto Sans CJK JP"/>
                        </a:rPr>
                        <a:t>2</a:t>
                      </a:r>
                    </a:p>
                  </a:txBody>
                  <a:tcPr marL="54864" marR="54864" marT="27432" marB="27432">
                    <a:solidFill>
                      <a:srgbClr val="F5F7FA"/>
                    </a:solidFill>
                  </a:tcPr>
                </a:tc>
                <a:tc>
                  <a:txBody>
                    <a:bodyPr wrap="square"/>
                    <a:lstStyle/>
                    <a:p>
                      <a:r>
                        <a:rPr sz="1800" b="0">
                          <a:latin typeface="Noto Sans CJK JP"/>
                        </a:rPr>
                        <a:t>2（50.006 m）</a:t>
                      </a:r>
                    </a:p>
                  </a:txBody>
                  <a:tcPr marL="54864" marR="54864" marT="27432" marB="27432">
                    <a:solidFill>
                      <a:srgbClr val="F5F7FA"/>
                    </a:solidFill>
                  </a:tcPr>
                </a:tc>
                <a:tc>
                  <a:txBody>
                    <a:bodyPr wrap="square"/>
                    <a:lstStyle/>
                    <a:p>
                      <a:r>
                        <a:rPr sz="1800" b="0">
                          <a:latin typeface="Noto Sans CJK JP"/>
                        </a:rPr>
                        <a:t>合計 250.030 ÷ 5。残差 −3,−1,0,+2,+2 の和は 0</a:t>
                      </a:r>
                    </a:p>
                  </a:txBody>
                  <a:tcPr marL="54864" marR="54864" marT="27432" marB="27432">
                    <a:solidFill>
                      <a:srgbClr val="F5F7FA"/>
                    </a:solidFill>
                  </a:tcPr>
                </a:tc>
              </a:tr>
              <a:tr h="457200">
                <a:tc>
                  <a:txBody>
                    <a:bodyPr wrap="square"/>
                    <a:lstStyle/>
                    <a:p>
                      <a:r>
                        <a:rPr sz="1800" b="0">
                          <a:latin typeface="Noto Sans CJK JP"/>
                        </a:rPr>
                        <a:t>3</a:t>
                      </a:r>
                    </a:p>
                  </a:txBody>
                  <a:tcPr marL="54864" marR="54864" marT="27432" marB="27432">
                    <a:solidFill>
                      <a:srgbClr val="FFFFFF"/>
                    </a:solidFill>
                  </a:tcPr>
                </a:tc>
                <a:tc>
                  <a:txBody>
                    <a:bodyPr wrap="square"/>
                    <a:lstStyle/>
                    <a:p>
                      <a:r>
                        <a:rPr sz="1800" b="0">
                          <a:latin typeface="Noto Sans CJK JP"/>
                        </a:rPr>
                        <a:t>2（1.5 mm）</a:t>
                      </a:r>
                    </a:p>
                  </a:txBody>
                  <a:tcPr marL="54864" marR="54864" marT="27432" marB="27432">
                    <a:solidFill>
                      <a:srgbClr val="FFFFFF"/>
                    </a:solidFill>
                  </a:tcPr>
                </a:tc>
                <a:tc>
                  <a:txBody>
                    <a:bodyPr wrap="square"/>
                    <a:lstStyle/>
                    <a:p>
                      <a:r>
                        <a:rPr sz="1800" b="0">
                          <a:latin typeface="DejaVu Sans"/>
                        </a:rPr>
                        <a:t>σ=√(27/3)=3.0</a:t>
                      </a:r>
                      <a:r>
                        <a:rPr sz="1800" b="0">
                          <a:latin typeface="Noto Sans CJK JP"/>
                        </a:rPr>
                        <a:t> mm、</a:t>
                      </a:r>
                      <a:r>
                        <a:rPr sz="1800" b="0">
                          <a:latin typeface="DejaVu Sans"/>
                        </a:rPr>
                        <a:t>σ</a:t>
                      </a:r>
                      <a:r>
                        <a:rPr sz="1800" b="0" baseline="-25000">
                          <a:latin typeface="DejaVu Sans"/>
                        </a:rPr>
                        <a:t>x̄</a:t>
                      </a:r>
                      <a:r>
                        <a:rPr sz="1800" b="0">
                          <a:latin typeface="DejaVu Sans"/>
                        </a:rPr>
                        <a:t>=3.0/√4=1.5</a:t>
                      </a:r>
                      <a:r>
                        <a:rPr sz="1800" b="0">
                          <a:latin typeface="Noto Sans CJK JP"/>
                        </a:rPr>
                        <a:t> mm</a:t>
                      </a:r>
                    </a:p>
                  </a:txBody>
                  <a:tcPr marL="54864" marR="54864" marT="27432" marB="27432">
                    <a:solidFill>
                      <a:srgbClr val="FFFFFF"/>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3-Q 解答（問4〜5）</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371600"/>
        </p:xfrm>
        <a:graphic>
          <a:graphicData uri="http://schemas.openxmlformats.org/drawingml/2006/table">
            <a:tbl>
              <a:tblPr firstRow="1" bandRow="1">
                <a:tableStyleId>{5C22544A-7EE6-4342-B048-85BDC9FD1C3A}</a:tableStyleId>
              </a:tblPr>
              <a:tblGrid>
                <a:gridCol w="3698138"/>
                <a:gridCol w="3698138"/>
                <a:gridCol w="3698139"/>
              </a:tblGrid>
              <a:tr h="457200">
                <a:tc>
                  <a:txBody>
                    <a:bodyPr wrap="square"/>
                    <a:lstStyle/>
                    <a:p>
                      <a:r>
                        <a:rPr sz="1800" b="1">
                          <a:solidFill>
                            <a:srgbClr val="1F1F1F"/>
                          </a:solidFill>
                          <a:latin typeface="Noto Sans CJK JP"/>
                        </a:rPr>
                        <a:t>問</a:t>
                      </a:r>
                    </a:p>
                  </a:txBody>
                  <a:tcPr marL="54864" marR="54864" marT="27432" marB="27432">
                    <a:solidFill>
                      <a:srgbClr val="DCE6F1"/>
                    </a:solidFill>
                  </a:tcPr>
                </a:tc>
                <a:tc>
                  <a:txBody>
                    <a:bodyPr wrap="square"/>
                    <a:lstStyle/>
                    <a:p>
                      <a:r>
                        <a:rPr sz="1800" b="1">
                          <a:solidFill>
                            <a:srgbClr val="1F1F1F"/>
                          </a:solidFill>
                          <a:latin typeface="Noto Sans CJK JP"/>
                        </a:rPr>
                        <a:t>正答</a:t>
                      </a:r>
                    </a:p>
                  </a:txBody>
                  <a:tcPr marL="54864" marR="54864" marT="27432" marB="27432">
                    <a:solidFill>
                      <a:srgbClr val="DCE6F1"/>
                    </a:solidFill>
                  </a:tcPr>
                </a:tc>
                <a:tc>
                  <a:txBody>
                    <a:bodyPr wrap="square"/>
                    <a:lstStyle/>
                    <a:p>
                      <a:r>
                        <a:rPr sz="1800" b="1">
                          <a:solidFill>
                            <a:srgbClr val="1F1F1F"/>
                          </a:solidFill>
                          <a:latin typeface="Noto Sans CJK JP"/>
                        </a:rPr>
                        <a:t>根拠</a:t>
                      </a:r>
                    </a:p>
                  </a:txBody>
                  <a:tcPr marL="54864" marR="54864" marT="27432" marB="27432">
                    <a:solidFill>
                      <a:srgbClr val="DCE6F1"/>
                    </a:solidFill>
                  </a:tcPr>
                </a:tc>
              </a:tr>
              <a:tr h="457200">
                <a:tc>
                  <a:txBody>
                    <a:bodyPr wrap="square"/>
                    <a:lstStyle/>
                    <a:p>
                      <a:r>
                        <a:rPr sz="1800" b="0">
                          <a:latin typeface="Noto Sans CJK JP"/>
                        </a:rPr>
                        <a:t>4</a:t>
                      </a:r>
                    </a:p>
                  </a:txBody>
                  <a:tcPr marL="54864" marR="54864" marT="27432" marB="27432">
                    <a:solidFill>
                      <a:srgbClr val="FFFFFF"/>
                    </a:solidFill>
                  </a:tcPr>
                </a:tc>
                <a:tc>
                  <a:txBody>
                    <a:bodyPr wrap="square"/>
                    <a:lstStyle/>
                    <a:p>
                      <a:r>
                        <a:rPr sz="1800" b="0">
                          <a:latin typeface="Noto Sans CJK JP"/>
                        </a:rPr>
                        <a:t>3（10.014 m）</a:t>
                      </a:r>
                    </a:p>
                  </a:txBody>
                  <a:tcPr marL="54864" marR="54864" marT="27432" marB="27432">
                    <a:solidFill>
                      <a:srgbClr val="FFFFFF"/>
                    </a:solidFill>
                  </a:tcPr>
                </a:tc>
                <a:tc>
                  <a:txBody>
                    <a:bodyPr wrap="square"/>
                    <a:lstStyle/>
                    <a:p>
                      <a:r>
                        <a:rPr sz="1800" b="0">
                          <a:latin typeface="Noto Sans CJK JP"/>
                        </a:rPr>
                        <a:t>重み 2:1。(2×10.012+10.018)/3</a:t>
                      </a:r>
                    </a:p>
                  </a:txBody>
                  <a:tcPr marL="54864" marR="54864" marT="27432" marB="27432">
                    <a:solidFill>
                      <a:srgbClr val="FFFFFF"/>
                    </a:solidFill>
                  </a:tcPr>
                </a:tc>
              </a:tr>
              <a:tr h="457200">
                <a:tc>
                  <a:txBody>
                    <a:bodyPr wrap="square"/>
                    <a:lstStyle/>
                    <a:p>
                      <a:r>
                        <a:rPr sz="1800" b="0">
                          <a:latin typeface="Noto Sans CJK JP"/>
                        </a:rPr>
                        <a:t>5</a:t>
                      </a:r>
                    </a:p>
                  </a:txBody>
                  <a:tcPr marL="54864" marR="54864" marT="27432" marB="27432">
                    <a:solidFill>
                      <a:srgbClr val="F5F7FA"/>
                    </a:solidFill>
                  </a:tcPr>
                </a:tc>
                <a:tc>
                  <a:txBody>
                    <a:bodyPr wrap="square"/>
                    <a:lstStyle/>
                    <a:p>
                      <a:r>
                        <a:rPr sz="1800" b="0">
                          <a:latin typeface="Noto Sans CJK JP"/>
                        </a:rPr>
                        <a:t>2（4 mm）</a:t>
                      </a:r>
                    </a:p>
                  </a:txBody>
                  <a:tcPr marL="54864" marR="54864" marT="27432" marB="27432">
                    <a:solidFill>
                      <a:srgbClr val="F5F7FA"/>
                    </a:solidFill>
                  </a:tcPr>
                </a:tc>
                <a:tc>
                  <a:txBody>
                    <a:bodyPr wrap="square"/>
                    <a:lstStyle/>
                    <a:p>
                      <a:r>
                        <a:rPr sz="1800" b="0">
                          <a:latin typeface="Noto Sans CJK JP"/>
                        </a:rPr>
                        <a:t>2 mm + 2×10⁻⁶×10⁶ mm</a:t>
                      </a:r>
                    </a:p>
                  </a:txBody>
                  <a:tcPr marL="54864" marR="54864" marT="27432" marB="27432">
                    <a:solidFill>
                      <a:srgbClr val="F5F7FA"/>
                    </a:solidFill>
                  </a:tcPr>
                </a:tc>
              </a:tr>
            </a:tbl>
          </a:graphicData>
        </a:graphic>
      </p:graphicFrame>
      <p:sp>
        <p:nvSpPr>
          <p:cNvPr id="5" name="TextBox 4"/>
          <p:cNvSpPr txBox="1"/>
          <p:nvPr/>
        </p:nvSpPr>
        <p:spPr>
          <a:xfrm>
            <a:off x="548640" y="2880360"/>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士補の型：水準測量は「路線長に反比例」、多角測量の反復は「回数に比例」。</a:t>
            </a:r>
          </a:p>
          <a:p>
            <a:pPr>
              <a:spcAft>
                <a:spcPts val="400"/>
              </a:spcAft>
            </a:pPr>
            <a:r>
              <a:rPr sz="2200" b="0">
                <a:latin typeface="Noto Sans CJK JP"/>
              </a:rPr>
              <a:t>• </a:t>
            </a:r>
            <a:r>
              <a:rPr sz="2200" b="0">
                <a:latin typeface="Noto Sans CJK JP"/>
              </a:rPr>
              <a:t>機器の性能表示は距離に応じて読む。</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3-1 座標とは何か：数学の答え</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55448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座標＝</a:t>
            </a:r>
            <a:r>
              <a:rPr sz="1800" b="1">
                <a:latin typeface="Noto Sans CJK JP"/>
              </a:rPr>
              <a:t>点と「数の組」を 1 対 1 に対応させる約束</a:t>
            </a:r>
            <a:r>
              <a:rPr sz="1800" b="0">
                <a:latin typeface="Noto Sans CJK JP"/>
              </a:rPr>
              <a:t>。平面なら 2 つ、空間なら 3 つの実数。</a:t>
            </a:r>
          </a:p>
          <a:p>
            <a:pPr>
              <a:spcAft>
                <a:spcPts val="400"/>
              </a:spcAft>
            </a:pPr>
            <a:r>
              <a:rPr sz="1800" b="0">
                <a:latin typeface="Noto Sans CJK JP"/>
              </a:rPr>
              <a:t>• </a:t>
            </a:r>
            <a:r>
              <a:rPr sz="1800" b="0">
                <a:latin typeface="Noto Sans CJK JP"/>
              </a:rPr>
              <a:t>対応のしかたを決めるのが</a:t>
            </a:r>
            <a:r>
              <a:rPr sz="1800" b="1">
                <a:latin typeface="Noto Sans CJK JP"/>
              </a:rPr>
              <a:t>座標系</a:t>
            </a:r>
            <a:r>
              <a:rPr sz="1800" b="0">
                <a:latin typeface="Noto Sans CJK JP"/>
              </a:rPr>
              <a:t>：原点 O、軸の向き、単位（物差し）。</a:t>
            </a:r>
          </a:p>
          <a:p>
            <a:pPr>
              <a:spcAft>
                <a:spcPts val="400"/>
              </a:spcAft>
            </a:pPr>
            <a:r>
              <a:rPr sz="1800" b="0">
                <a:latin typeface="Noto Sans CJK JP"/>
              </a:rPr>
              <a:t>• </a:t>
            </a:r>
            <a:r>
              <a:rPr sz="1800" b="0">
                <a:latin typeface="Noto Sans CJK JP"/>
              </a:rPr>
              <a:t>点は 1 つでも、座標系を変えれば数は変わる。図の P は左の軸では (3, 2)、右の軸では別の値。</a:t>
            </a:r>
          </a:p>
          <a:p>
            <a:pPr>
              <a:spcAft>
                <a:spcPts val="400"/>
              </a:spcAft>
            </a:pPr>
            <a:r>
              <a:rPr sz="1800" b="0">
                <a:latin typeface="Noto Sans CJK JP"/>
              </a:rPr>
              <a:t>• </a:t>
            </a:r>
            <a:r>
              <a:rPr sz="1800" b="0">
                <a:latin typeface="Noto Sans CJK JP"/>
              </a:rPr>
              <a:t>「点そのもの」と「点の座標」は別物。測量が決めたいのは位置、記録するのは座標。</a:t>
            </a:r>
          </a:p>
        </p:txBody>
      </p:sp>
      <p:pic>
        <p:nvPicPr>
          <p:cNvPr id="5" name="Picture 4" descr="同じ点 P を 2 組の座標軸で表す。座標系＝原点＋軸の向き＋単位"/>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3-1 座標系を変えると数はどう変わるか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491490"/>
          </a:xfrm>
          <a:prstGeom prst="rect">
            <a:avLst/>
          </a:prstGeom>
          <a:noFill/>
        </p:spPr>
        <p:txBody>
          <a:bodyPr wrap="square" lIns="45720" rIns="45720" tIns="18288" bIns="18288">
            <a:spAutoFit/>
          </a:bodyPr>
          <a:lstStyle/>
          <a:p>
            <a:pPr>
              <a:spcAft>
                <a:spcPts val="600"/>
              </a:spcAft>
            </a:pPr>
            <a:r>
              <a:rPr sz="1800" b="0">
                <a:latin typeface="Noto Sans CJK JP"/>
              </a:rPr>
              <a:t>原点を </a:t>
            </a:r>
            <a:r>
              <a:rPr sz="1800" b="0">
                <a:latin typeface="DejaVu Sans"/>
              </a:rPr>
              <a:t>(x</a:t>
            </a:r>
            <a:r>
              <a:rPr sz="1800" b="0" baseline="-25000">
                <a:latin typeface="DejaVu Sans"/>
              </a:rPr>
              <a:t>0</a:t>
            </a:r>
            <a:r>
              <a:rPr sz="1800" b="0">
                <a:latin typeface="DejaVu Sans"/>
              </a:rPr>
              <a:t>, y</a:t>
            </a:r>
            <a:r>
              <a:rPr sz="1800" b="0" baseline="-25000">
                <a:latin typeface="DejaVu Sans"/>
              </a:rPr>
              <a:t>0</a:t>
            </a:r>
            <a:r>
              <a:rPr sz="1800" b="0">
                <a:latin typeface="DejaVu Sans"/>
              </a:rPr>
              <a:t>)</a:t>
            </a:r>
            <a:r>
              <a:rPr sz="1800" b="0">
                <a:latin typeface="Noto Sans CJK JP"/>
              </a:rPr>
              <a:t> に移し、軸を角 </a:t>
            </a:r>
            <a:r>
              <a:rPr sz="1800" b="0">
                <a:latin typeface="DejaVu Sans"/>
              </a:rPr>
              <a:t>θ</a:t>
            </a:r>
            <a:r>
              <a:rPr sz="1800" b="0">
                <a:latin typeface="Noto Sans CJK JP"/>
              </a:rPr>
              <a:t> だけ回した座標系では：</a:t>
            </a:r>
          </a:p>
        </p:txBody>
      </p:sp>
      <p:pic>
        <p:nvPicPr>
          <p:cNvPr id="5" name="Picture 4" descr="eq_301cdb7c8e45.png"/>
          <p:cNvPicPr>
            <a:picLocks noChangeAspect="1"/>
          </p:cNvPicPr>
          <p:nvPr/>
        </p:nvPicPr>
        <p:blipFill>
          <a:blip r:embed="rId2"/>
          <a:stretch>
            <a:fillRect/>
          </a:stretch>
        </p:blipFill>
        <p:spPr>
          <a:xfrm>
            <a:off x="1053693" y="1936242"/>
            <a:ext cx="10084308" cy="297180"/>
          </a:xfrm>
          <a:prstGeom prst="rect">
            <a:avLst/>
          </a:prstGeom>
        </p:spPr>
      </p:pic>
      <p:sp>
        <p:nvSpPr>
          <p:cNvPr id="6" name="TextBox 5"/>
          <p:cNvSpPr txBox="1"/>
          <p:nvPr/>
        </p:nvSpPr>
        <p:spPr>
          <a:xfrm>
            <a:off x="548640" y="2388870"/>
            <a:ext cx="11094415" cy="190881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2 点間の</a:t>
            </a:r>
            <a:r>
              <a:rPr sz="1800" b="1">
                <a:latin typeface="Noto Sans CJK JP"/>
              </a:rPr>
              <a:t>距離</a:t>
            </a:r>
            <a:r>
              <a:rPr sz="1800" b="0">
                <a:latin typeface="Noto Sans CJK JP"/>
              </a:rPr>
              <a:t>と 2 直線のなす</a:t>
            </a:r>
            <a:r>
              <a:rPr sz="1800" b="1">
                <a:latin typeface="Noto Sans CJK JP"/>
              </a:rPr>
              <a:t>角</a:t>
            </a:r>
            <a:r>
              <a:rPr sz="1800" b="0">
                <a:latin typeface="Noto Sans CJK JP"/>
              </a:rPr>
              <a:t>は変わらない（座標変換の</a:t>
            </a:r>
            <a:r>
              <a:rPr sz="1800" b="1">
                <a:latin typeface="Noto Sans CJK JP"/>
              </a:rPr>
              <a:t>不変量</a:t>
            </a:r>
            <a:r>
              <a:rPr sz="1800" b="0">
                <a:latin typeface="Noto Sans CJK JP"/>
              </a:rPr>
              <a:t>）。数は変わっても「形」は変わらない。</a:t>
            </a:r>
          </a:p>
          <a:p>
            <a:pPr>
              <a:spcAft>
                <a:spcPts val="400"/>
              </a:spcAft>
            </a:pPr>
            <a:r>
              <a:rPr sz="1800" b="0">
                <a:latin typeface="Noto Sans CJK JP"/>
              </a:rPr>
              <a:t>• </a:t>
            </a:r>
            <a:r>
              <a:rPr sz="1800" b="0">
                <a:latin typeface="Noto Sans CJK JP"/>
              </a:rPr>
              <a:t>測量で出てくる座標変換（器械座標 → 平面直角座標、旧測地系 → 世界測地系）は、この式の仲間（3 次元では平行移動 3 ＋ 回転 3 ＋ 縮尺 1 の 7 パラメータ）。</a:t>
            </a:r>
          </a:p>
          <a:p>
            <a:pPr>
              <a:spcAft>
                <a:spcPts val="400"/>
              </a:spcAft>
            </a:pPr>
            <a:r>
              <a:rPr sz="1800" b="0">
                <a:latin typeface="Noto Sans CJK JP"/>
              </a:rPr>
              <a:t>• </a:t>
            </a:r>
            <a:r>
              <a:rPr sz="1800" b="0">
                <a:latin typeface="Noto Sans CJK JP"/>
              </a:rPr>
              <a:t>だから測量では、距離と角を測って「形」を決め、既知点の座標で「置き場所」を決める。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3-1 曲面は、裂かずに平面へ広げられない</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球面に平面の直角座標をそのまま貼ることはできない。みかんの皮を平らに押すと必ず裂ける（または伸びる）。</a:t>
            </a:r>
          </a:p>
          <a:p>
            <a:pPr>
              <a:spcAft>
                <a:spcPts val="400"/>
              </a:spcAft>
            </a:pPr>
            <a:r>
              <a:rPr sz="2000" b="0">
                <a:latin typeface="Noto Sans CJK JP"/>
              </a:rPr>
              <a:t>• </a:t>
            </a:r>
            <a:r>
              <a:rPr sz="2000" b="0">
                <a:latin typeface="Noto Sans CJK JP"/>
              </a:rPr>
              <a:t>だから地球の座標には工夫が要る：</a:t>
            </a:r>
            <a:r>
              <a:rPr sz="2000" b="1">
                <a:latin typeface="Noto Sans CJK JP"/>
              </a:rPr>
              <a:t>曲面のまま</a:t>
            </a:r>
            <a:r>
              <a:rPr sz="2000" b="0">
                <a:latin typeface="Noto Sans CJK JP"/>
              </a:rPr>
              <a:t>表す座標（緯度・経度）と、</a:t>
            </a:r>
            <a:r>
              <a:rPr sz="2000" b="1">
                <a:latin typeface="Noto Sans CJK JP"/>
              </a:rPr>
              <a:t>ひずみを管理して平面に写す</a:t>
            </a:r>
            <a:r>
              <a:rPr sz="2000" b="0">
                <a:latin typeface="Noto Sans CJK JP"/>
              </a:rPr>
              <a:t>座標（投影座標）。</a:t>
            </a:r>
          </a:p>
        </p:txBody>
      </p:sp>
      <p:pic>
        <p:nvPicPr>
          <p:cNvPr id="5" name="Picture 4" descr="みかんの皮を平らに押し広げると裂ける（AI 生成の概念イラスト）"/>
          <p:cNvPicPr>
            <a:picLocks noChangeAspect="1"/>
          </p:cNvPicPr>
          <p:nvPr/>
        </p:nvPicPr>
        <p:blipFill>
          <a:blip r:embed="rId2"/>
          <a:stretch>
            <a:fillRect/>
          </a:stretch>
        </p:blipFill>
        <p:spPr>
          <a:xfrm>
            <a:off x="3576134" y="3429000"/>
            <a:ext cx="5036682"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3-1 座標の測量学的な意味：位置を共有する約束</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2867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測量＝地球上の点の位置を、</a:t>
            </a:r>
            <a:r>
              <a:rPr sz="2000" b="1">
                <a:latin typeface="Noto Sans CJK JP"/>
              </a:rPr>
              <a:t>誰がいつ測っても再現できる形</a:t>
            </a:r>
            <a:r>
              <a:rPr sz="2000" b="0">
                <a:latin typeface="Noto Sans CJK JP"/>
              </a:rPr>
              <a:t>で決め、他の人と共有すること。</a:t>
            </a:r>
          </a:p>
          <a:p>
            <a:pPr>
              <a:spcAft>
                <a:spcPts val="400"/>
              </a:spcAft>
            </a:pPr>
            <a:r>
              <a:rPr sz="2000" b="0">
                <a:latin typeface="Noto Sans CJK JP"/>
              </a:rPr>
              <a:t>• </a:t>
            </a:r>
            <a:r>
              <a:rPr sz="2000" b="0">
                <a:latin typeface="Noto Sans CJK JP"/>
              </a:rPr>
              <a:t>共有に必要な「約束」の 3 点セット：どの地球の形か（</a:t>
            </a:r>
            <a:r>
              <a:rPr sz="2000" b="1">
                <a:latin typeface="Noto Sans CJK JP"/>
              </a:rPr>
              <a:t>測地系</a:t>
            </a:r>
            <a:r>
              <a:rPr sz="2000" b="0">
                <a:latin typeface="Noto Sans CJK JP"/>
              </a:rPr>
              <a:t>）、どの種類の座標か（</a:t>
            </a:r>
            <a:r>
              <a:rPr sz="2000" b="1">
                <a:latin typeface="Noto Sans CJK JP"/>
              </a:rPr>
              <a:t>緯度経度／平面</a:t>
            </a:r>
            <a:r>
              <a:rPr sz="2000" b="0">
                <a:latin typeface="Noto Sans CJK JP"/>
              </a:rPr>
              <a:t>）、高さの 0 はどこか（</a:t>
            </a:r>
            <a:r>
              <a:rPr sz="2000" b="1">
                <a:latin typeface="Noto Sans CJK JP"/>
              </a:rPr>
              <a:t>ジオイド</a:t>
            </a:r>
            <a:r>
              <a:rPr sz="2000" b="0">
                <a:latin typeface="Noto Sans CJK JP"/>
              </a:rPr>
              <a:t>）。この組を</a:t>
            </a:r>
            <a:r>
              <a:rPr sz="2000" b="1">
                <a:latin typeface="Noto Sans CJK JP"/>
              </a:rPr>
              <a:t>座標参照系（CRS）</a:t>
            </a:r>
            <a:r>
              <a:rPr sz="2000" b="0">
                <a:latin typeface="Noto Sans CJK JP"/>
              </a:rPr>
              <a:t>という。</a:t>
            </a:r>
          </a:p>
          <a:p>
            <a:pPr>
              <a:spcAft>
                <a:spcPts val="400"/>
              </a:spcAft>
            </a:pPr>
            <a:r>
              <a:rPr sz="2000" b="0">
                <a:latin typeface="Noto Sans CJK JP"/>
              </a:rPr>
              <a:t>• </a:t>
            </a:r>
            <a:r>
              <a:rPr sz="2000" b="0">
                <a:latin typeface="Noto Sans CJK JP"/>
              </a:rPr>
              <a:t>約束の実体は</a:t>
            </a:r>
            <a:r>
              <a:rPr sz="2000" b="1">
                <a:latin typeface="Noto Sans CJK JP"/>
              </a:rPr>
              <a:t>基準点</a:t>
            </a:r>
            <a:r>
              <a:rPr sz="2000" b="0">
                <a:latin typeface="Noto Sans CJK JP"/>
              </a:rPr>
              <a:t>（三角点・水準点・電子基準点）。新しい点は既知点からの距離と角で決める。</a:t>
            </a:r>
          </a:p>
          <a:p>
            <a:pPr>
              <a:spcAft>
                <a:spcPts val="400"/>
              </a:spcAft>
            </a:pPr>
            <a:r>
              <a:rPr sz="2000" b="0">
                <a:latin typeface="Noto Sans CJK JP"/>
              </a:rPr>
              <a:t>• </a:t>
            </a:r>
            <a:r>
              <a:rPr sz="2000" b="0">
                <a:latin typeface="Noto Sans CJK JP"/>
              </a:rPr>
              <a:t>同じ約束なら、別の人・別の日・別の機器の成果を重ねられる。約束が違えば、同じ杭でも数値は違う。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3-1 測量で使う座標の階層</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地心直交座標 → 地理座標 → 投影座標＋標高 → 局所座標。同じ 1 点（帯広付近）を 4 通りで表す"/>
          <p:cNvPicPr>
            <a:picLocks noChangeAspect="1"/>
          </p:cNvPicPr>
          <p:nvPr/>
        </p:nvPicPr>
        <p:blipFill>
          <a:blip r:embed="rId2"/>
          <a:stretch>
            <a:fillRect/>
          </a:stretch>
        </p:blipFill>
        <p:spPr>
          <a:xfrm>
            <a:off x="449814" y="1371600"/>
            <a:ext cx="11289323" cy="4892040"/>
          </a:xfrm>
          <a:prstGeom prst="rect">
            <a:avLst/>
          </a:prstGeom>
        </p:spPr>
      </p:pic>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3-1 同じ杭を 3 通りで表す</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625600"/>
        </p:xfrm>
        <a:graphic>
          <a:graphicData uri="http://schemas.openxmlformats.org/drawingml/2006/table">
            <a:tbl>
              <a:tblPr firstRow="1" bandRow="1">
                <a:tableStyleId>{5C22544A-7EE6-4342-B048-85BDC9FD1C3A}</a:tableStyleId>
              </a:tblPr>
              <a:tblGrid>
                <a:gridCol w="5547207"/>
                <a:gridCol w="5547208"/>
              </a:tblGrid>
              <a:tr h="406400">
                <a:tc>
                  <a:txBody>
                    <a:bodyPr wrap="square"/>
                    <a:lstStyle/>
                    <a:p>
                      <a:r>
                        <a:rPr sz="1600" b="1">
                          <a:solidFill>
                            <a:srgbClr val="1F1F1F"/>
                          </a:solidFill>
                          <a:latin typeface="Noto Sans CJK JP"/>
                        </a:rPr>
                        <a:t>約束</a:t>
                      </a:r>
                    </a:p>
                  </a:txBody>
                  <a:tcPr marL="54864" marR="54864" marT="27432" marB="27432">
                    <a:solidFill>
                      <a:srgbClr val="DCE6F1"/>
                    </a:solidFill>
                  </a:tcPr>
                </a:tc>
                <a:tc>
                  <a:txBody>
                    <a:bodyPr wrap="square"/>
                    <a:lstStyle/>
                    <a:p>
                      <a:r>
                        <a:rPr sz="1600" b="1">
                          <a:solidFill>
                            <a:srgbClr val="1F1F1F"/>
                          </a:solidFill>
                          <a:latin typeface="Noto Sans CJK JP"/>
                        </a:rPr>
                        <a:t>同じ杭の表し方</a:t>
                      </a:r>
                    </a:p>
                  </a:txBody>
                  <a:tcPr marL="54864" marR="54864" marT="27432" marB="27432">
                    <a:solidFill>
                      <a:srgbClr val="DCE6F1"/>
                    </a:solidFill>
                  </a:tcPr>
                </a:tc>
              </a:tr>
              <a:tr h="406400">
                <a:tc>
                  <a:txBody>
                    <a:bodyPr wrap="square"/>
                    <a:lstStyle/>
                    <a:p>
                      <a:r>
                        <a:rPr sz="1600" b="0">
                          <a:latin typeface="Noto Sans CJK JP"/>
                        </a:rPr>
                        <a:t>緯度・経度・楕円体高（JGD2011）</a:t>
                      </a:r>
                    </a:p>
                  </a:txBody>
                  <a:tcPr marL="54864" marR="54864" marT="27432" marB="27432">
                    <a:solidFill>
                      <a:srgbClr val="FFFFFF"/>
                    </a:solidFill>
                  </a:tcPr>
                </a:tc>
                <a:tc>
                  <a:txBody>
                    <a:bodyPr wrap="square"/>
                    <a:lstStyle/>
                    <a:p>
                      <a:r>
                        <a:rPr sz="1600" b="0">
                          <a:latin typeface="Noto Sans CJK JP"/>
                        </a:rPr>
                        <a:t>42°55′N、143°12′E、h = 85.0 m</a:t>
                      </a:r>
                    </a:p>
                  </a:txBody>
                  <a:tcPr marL="54864" marR="54864" marT="27432" marB="27432">
                    <a:solidFill>
                      <a:srgbClr val="FFFFFF"/>
                    </a:solidFill>
                  </a:tcPr>
                </a:tc>
              </a:tr>
              <a:tr h="406400">
                <a:tc>
                  <a:txBody>
                    <a:bodyPr wrap="square"/>
                    <a:lstStyle/>
                    <a:p>
                      <a:r>
                        <a:rPr sz="1600" b="0">
                          <a:latin typeface="Noto Sans CJK JP"/>
                        </a:rPr>
                        <a:t>平面直角座標（第 XIII 系）と標高</a:t>
                      </a:r>
                    </a:p>
                  </a:txBody>
                  <a:tcPr marL="54864" marR="54864" marT="27432" marB="27432">
                    <a:solidFill>
                      <a:srgbClr val="F5F7FA"/>
                    </a:solidFill>
                  </a:tcPr>
                </a:tc>
                <a:tc>
                  <a:txBody>
                    <a:bodyPr wrap="square"/>
                    <a:lstStyle/>
                    <a:p>
                      <a:r>
                        <a:rPr sz="1600" b="0">
                          <a:latin typeface="Noto Sans CJK JP"/>
                        </a:rPr>
                        <a:t>X ≈ −120 000 m、Y ≈ −85 000 m、H ≈ 56.0 m</a:t>
                      </a:r>
                    </a:p>
                  </a:txBody>
                  <a:tcPr marL="54864" marR="54864" marT="27432" marB="27432">
                    <a:solidFill>
                      <a:srgbClr val="F5F7FA"/>
                    </a:solidFill>
                  </a:tcPr>
                </a:tc>
              </a:tr>
              <a:tr h="406400">
                <a:tc>
                  <a:txBody>
                    <a:bodyPr wrap="square"/>
                    <a:lstStyle/>
                    <a:p>
                      <a:r>
                        <a:rPr sz="1600" b="0">
                          <a:latin typeface="Noto Sans CJK JP"/>
                        </a:rPr>
                        <a:t>器械点を原点にした器械座標</a:t>
                      </a:r>
                    </a:p>
                  </a:txBody>
                  <a:tcPr marL="54864" marR="54864" marT="27432" marB="27432">
                    <a:solidFill>
                      <a:srgbClr val="FFFFFF"/>
                    </a:solidFill>
                  </a:tcPr>
                </a:tc>
                <a:tc>
                  <a:txBody>
                    <a:bodyPr wrap="square"/>
                    <a:lstStyle/>
                    <a:p>
                      <a:r>
                        <a:rPr sz="1600" b="0">
                          <a:latin typeface="Noto Sans CJK JP"/>
                        </a:rPr>
                        <a:t>x = +12.345 m、y = −3.210 m、h = +0.52 m</a:t>
                      </a:r>
                    </a:p>
                  </a:txBody>
                  <a:tcPr marL="54864" marR="54864" marT="27432" marB="27432">
                    <a:solidFill>
                      <a:srgbClr val="FFFFFF"/>
                    </a:solidFill>
                  </a:tcPr>
                </a:tc>
              </a:tr>
            </a:tbl>
          </a:graphicData>
        </a:graphic>
      </p:graphicFrame>
      <p:sp>
        <p:nvSpPr>
          <p:cNvPr id="5" name="TextBox 4"/>
          <p:cNvSpPr txBox="1"/>
          <p:nvPr/>
        </p:nvSpPr>
        <p:spPr>
          <a:xfrm>
            <a:off x="548640" y="313436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どれも正しい。違うのは</a:t>
            </a:r>
            <a:r>
              <a:rPr sz="2000" b="1">
                <a:latin typeface="Noto Sans CJK JP"/>
              </a:rPr>
              <a:t>約束</a:t>
            </a:r>
            <a:r>
              <a:rPr sz="2000" b="0">
                <a:latin typeface="Noto Sans CJK JP"/>
              </a:rPr>
              <a:t>だけ。成果には必ず「どの約束か」を書く。</a:t>
            </a:r>
          </a:p>
          <a:p>
            <a:pPr>
              <a:spcAft>
                <a:spcPts val="400"/>
              </a:spcAft>
            </a:pPr>
            <a:r>
              <a:rPr sz="2000" b="0">
                <a:latin typeface="Noto Sans CJK JP"/>
              </a:rPr>
              <a:t>• </a:t>
            </a:r>
            <a:r>
              <a:rPr sz="2000" b="0">
                <a:latin typeface="Noto Sans CJK JP"/>
              </a:rPr>
              <a:t>標高 56 m と楕円体高 85 m の差 29 m が、次の節で学ぶ</a:t>
            </a:r>
            <a:r>
              <a:rPr sz="2000" b="1">
                <a:latin typeface="Noto Sans CJK JP"/>
              </a:rPr>
              <a:t>ジオイド高</a:t>
            </a:r>
            <a:r>
              <a:rPr sz="2000" b="0">
                <a:latin typeface="Noto Sans CJK JP"/>
              </a:rPr>
              <a:t>。</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地球の形①：回転楕円体</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地球は自転の遠心力で赤道方向にふくらんだ</a:t>
            </a:r>
            <a:r>
              <a:rPr sz="2000" b="1">
                <a:latin typeface="Noto Sans CJK JP"/>
              </a:rPr>
              <a:t>回転楕円体</a:t>
            </a:r>
            <a:r>
              <a:rPr sz="2000" b="0">
                <a:latin typeface="Noto Sans CJK JP"/>
              </a:rPr>
              <a:t>で近似する。</a:t>
            </a:r>
          </a:p>
          <a:p>
            <a:pPr>
              <a:spcAft>
                <a:spcPts val="400"/>
              </a:spcAft>
            </a:pPr>
            <a:r>
              <a:rPr sz="2000" b="0">
                <a:latin typeface="Noto Sans CJK JP"/>
              </a:rPr>
              <a:t>• </a:t>
            </a:r>
            <a:r>
              <a:rPr sz="2000" b="0">
                <a:latin typeface="Noto Sans CJK JP"/>
              </a:rPr>
              <a:t>GRS80 楕円体：赤道半径 </a:t>
            </a:r>
            <a:r>
              <a:rPr sz="2000" b="0">
                <a:latin typeface="DejaVu Sans"/>
              </a:rPr>
              <a:t>a=6 378 137</a:t>
            </a:r>
            <a:r>
              <a:rPr sz="2000" b="0">
                <a:latin typeface="Noto Sans CJK JP"/>
              </a:rPr>
              <a:t> m、極半径 </a:t>
            </a:r>
            <a:r>
              <a:rPr sz="2000" b="0">
                <a:latin typeface="DejaVu Sans"/>
              </a:rPr>
              <a:t>b=6 356 752</a:t>
            </a:r>
            <a:r>
              <a:rPr sz="2000" b="0">
                <a:latin typeface="Noto Sans CJK JP"/>
              </a:rPr>
              <a:t> m、差は約 21 km（0.3 %）。</a:t>
            </a:r>
          </a:p>
          <a:p>
            <a:pPr>
              <a:spcAft>
                <a:spcPts val="400"/>
              </a:spcAft>
            </a:pPr>
            <a:r>
              <a:rPr sz="2000" b="0">
                <a:latin typeface="Noto Sans CJK JP"/>
              </a:rPr>
              <a:t>• </a:t>
            </a:r>
            <a:r>
              <a:rPr sz="2000" b="0">
                <a:latin typeface="Noto Sans CJK JP"/>
              </a:rPr>
              <a:t>扁平率 </a:t>
            </a:r>
            <a:r>
              <a:rPr sz="2000" b="0">
                <a:latin typeface="DejaVu Sans"/>
              </a:rPr>
              <a:t>f=(a-b)/a=1/298.257…</a:t>
            </a:r>
            <a:r>
              <a:rPr sz="2000" b="0">
                <a:latin typeface="Noto Sans CJK JP"/>
              </a:rPr>
              <a:t>。図は分かるように誇張してある。</a:t>
            </a:r>
          </a:p>
        </p:txBody>
      </p:sp>
      <p:pic>
        <p:nvPicPr>
          <p:cNvPr id="5" name="Picture 4" descr="同じ半径の円と誇張した楕円の重ね合わせ、a・b・扁平率"/>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海面の高さは「どこでも同じ」か？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55448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コップの水面が水平なのは、水が</a:t>
            </a:r>
            <a:r>
              <a:rPr sz="1800" b="1">
                <a:latin typeface="Noto Sans CJK JP"/>
              </a:rPr>
              <a:t>重力に垂直な面</a:t>
            </a:r>
            <a:r>
              <a:rPr sz="1800" b="0">
                <a:latin typeface="Noto Sans CJK JP"/>
              </a:rPr>
              <a:t>で静止するから。</a:t>
            </a:r>
          </a:p>
          <a:p>
            <a:pPr>
              <a:spcAft>
                <a:spcPts val="400"/>
              </a:spcAft>
            </a:pPr>
            <a:r>
              <a:rPr sz="1800" b="0">
                <a:latin typeface="Noto Sans CJK JP"/>
              </a:rPr>
              <a:t>• </a:t>
            </a:r>
            <a:r>
              <a:rPr sz="1800" b="0">
                <a:latin typeface="Noto Sans CJK JP"/>
              </a:rPr>
              <a:t>地球の重力の向きは場所ごとに少し違う（山や地下の重い岩に引かれる）。だから「水平」も場所ごとに少し傾く。</a:t>
            </a:r>
          </a:p>
          <a:p>
            <a:pPr>
              <a:spcAft>
                <a:spcPts val="400"/>
              </a:spcAft>
            </a:pPr>
            <a:r>
              <a:rPr sz="1800" b="0">
                <a:latin typeface="Noto Sans CJK JP"/>
              </a:rPr>
              <a:t>• </a:t>
            </a:r>
            <a:r>
              <a:rPr sz="1800" b="0">
                <a:latin typeface="Noto Sans CJK JP"/>
              </a:rPr>
              <a:t>海面も同じ。平均海面は、滑らかな楕円体から最大 ±100 m ほど上下にずれた</a:t>
            </a:r>
            <a:r>
              <a:rPr sz="1800" b="1">
                <a:latin typeface="Noto Sans CJK JP"/>
              </a:rPr>
              <a:t>でこぼこの面</a:t>
            </a:r>
            <a:r>
              <a:rPr sz="1800" b="0">
                <a:latin typeface="Noto Sans CJK JP"/>
              </a:rPr>
              <a:t>になる。</a:t>
            </a:r>
          </a:p>
        </p:txBody>
      </p:sp>
      <p:pic>
        <p:nvPicPr>
          <p:cNvPr id="5" name="Picture 4" descr="山の近くで鉛直線が傾き、ジオイドが楕円体から持ち上がる断面図"/>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ジオイドとは：平均海面を陸の下まで延長した面</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海をそのまま陸の下にも運河で引き込んだと考えたときの</a:t>
            </a:r>
            <a:r>
              <a:rPr sz="2000" b="1">
                <a:latin typeface="Noto Sans CJK JP"/>
              </a:rPr>
              <a:t>水面</a:t>
            </a:r>
            <a:r>
              <a:rPr sz="2000" b="0">
                <a:latin typeface="Noto Sans CJK JP"/>
              </a:rPr>
              <a:t>。重力に垂直な面（等ポテンシャル面）。</a:t>
            </a:r>
          </a:p>
          <a:p>
            <a:pPr>
              <a:spcAft>
                <a:spcPts val="400"/>
              </a:spcAft>
            </a:pPr>
            <a:r>
              <a:rPr sz="2000" b="0">
                <a:latin typeface="Noto Sans CJK JP"/>
              </a:rPr>
              <a:t>• </a:t>
            </a:r>
            <a:r>
              <a:rPr sz="2000" b="0">
                <a:latin typeface="Noto Sans CJK JP"/>
              </a:rPr>
              <a:t>滑らかな楕円体（細い輪郭線）に対して、</a:t>
            </a:r>
            <a:r>
              <a:rPr sz="2000" b="1">
                <a:latin typeface="Noto Sans CJK JP"/>
              </a:rPr>
              <a:t>最大で 100 m ほど</a:t>
            </a:r>
            <a:r>
              <a:rPr sz="2000" b="0">
                <a:latin typeface="Noto Sans CJK JP"/>
              </a:rPr>
              <a:t>上下にうねっている。</a:t>
            </a:r>
          </a:p>
        </p:txBody>
      </p:sp>
      <p:pic>
        <p:nvPicPr>
          <p:cNvPr id="5" name="Picture 4" descr="でこぼこのジオイドと滑らかな楕円体の輪郭（AI 生成の概念図、起伏は誇張）"/>
          <p:cNvPicPr>
            <a:picLocks noChangeAspect="1"/>
          </p:cNvPicPr>
          <p:nvPr/>
        </p:nvPicPr>
        <p:blipFill>
          <a:blip r:embed="rId2"/>
          <a:stretch>
            <a:fillRect/>
          </a:stretch>
        </p:blipFill>
        <p:spPr>
          <a:xfrm>
            <a:off x="3291805" y="3108960"/>
            <a:ext cx="5605340" cy="315467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平均海面はどう決めるか：検潮所</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55448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港の</a:t>
            </a:r>
            <a:r>
              <a:rPr sz="1800" b="1">
                <a:latin typeface="Noto Sans CJK JP"/>
              </a:rPr>
              <a:t>検潮所</a:t>
            </a:r>
            <a:r>
              <a:rPr sz="1800" b="0">
                <a:latin typeface="Noto Sans CJK JP"/>
              </a:rPr>
              <a:t>で潮位を何年も測って平均すると、潮の満ち引きが消えて</a:t>
            </a:r>
            <a:r>
              <a:rPr sz="1800" b="1">
                <a:latin typeface="Noto Sans CJK JP"/>
              </a:rPr>
              <a:t>平均海面</a:t>
            </a:r>
            <a:r>
              <a:rPr sz="1800" b="0">
                <a:latin typeface="Noto Sans CJK JP"/>
              </a:rPr>
              <a:t>が得られる。</a:t>
            </a:r>
          </a:p>
          <a:p>
            <a:pPr>
              <a:spcAft>
                <a:spcPts val="400"/>
              </a:spcAft>
            </a:pPr>
            <a:r>
              <a:rPr sz="1800" b="0">
                <a:latin typeface="Noto Sans CJK JP"/>
              </a:rPr>
              <a:t>• </a:t>
            </a:r>
            <a:r>
              <a:rPr sz="1800" b="0">
                <a:latin typeface="Noto Sans CJK JP"/>
              </a:rPr>
              <a:t>日本の標高 0 m は</a:t>
            </a:r>
            <a:r>
              <a:rPr sz="1800" b="1">
                <a:latin typeface="Noto Sans CJK JP"/>
              </a:rPr>
              <a:t>東京湾平均海面（T.P.）</a:t>
            </a:r>
            <a:r>
              <a:rPr sz="1800" b="0">
                <a:latin typeface="Noto Sans CJK JP"/>
              </a:rPr>
              <a:t>。そこから水準測量でつないだ</a:t>
            </a:r>
            <a:r>
              <a:rPr sz="1800" b="1">
                <a:latin typeface="Noto Sans CJK JP"/>
              </a:rPr>
              <a:t>日本水準原点</a:t>
            </a:r>
            <a:r>
              <a:rPr sz="1800" b="0">
                <a:latin typeface="Noto Sans CJK JP"/>
              </a:rPr>
              <a:t>（永田町）の標高が 24.3900 m。</a:t>
            </a:r>
          </a:p>
          <a:p>
            <a:pPr>
              <a:spcAft>
                <a:spcPts val="400"/>
              </a:spcAft>
            </a:pPr>
            <a:r>
              <a:rPr sz="1800" b="0">
                <a:latin typeface="Noto Sans CJK JP"/>
              </a:rPr>
              <a:t>• </a:t>
            </a:r>
            <a:r>
              <a:rPr sz="1800" b="0">
                <a:latin typeface="Noto Sans CJK JP"/>
              </a:rPr>
              <a:t>海のない所の「海面の高さ」は、水準測量と重力の観測でつないで決める。これがジオイド。</a:t>
            </a:r>
          </a:p>
        </p:txBody>
      </p:sp>
      <p:pic>
        <p:nvPicPr>
          <p:cNvPr id="5" name="Picture 4" descr="静かな港の検潮所と水平な海面（AI 生成の概念イラスト）"/>
          <p:cNvPicPr>
            <a:picLocks noChangeAspect="1"/>
          </p:cNvPicPr>
          <p:nvPr/>
        </p:nvPicPr>
        <p:blipFill>
          <a:blip r:embed="rId2"/>
          <a:stretch>
            <a:fillRect/>
          </a:stretch>
        </p:blipFill>
        <p:spPr>
          <a:xfrm>
            <a:off x="3576134" y="3429000"/>
            <a:ext cx="5036682"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数字で見るジオイド高 N</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1">
                <a:latin typeface="Noto Sans CJK JP"/>
              </a:rPr>
              <a:t>ジオイド高 N</a:t>
            </a:r>
            <a:r>
              <a:rPr sz="2000" b="0">
                <a:latin typeface="Noto Sans CJK JP"/>
              </a:rPr>
              <a:t>＝楕円体面からジオイドまでの高さ（ジオイドが上なら正）。</a:t>
            </a:r>
          </a:p>
          <a:p>
            <a:pPr>
              <a:spcAft>
                <a:spcPts val="400"/>
              </a:spcAft>
            </a:pPr>
            <a:r>
              <a:rPr sz="2000" b="0">
                <a:latin typeface="Noto Sans CJK JP"/>
              </a:rPr>
              <a:t>• </a:t>
            </a:r>
            <a:r>
              <a:rPr sz="2000" b="0">
                <a:latin typeface="Noto Sans CJK JP"/>
              </a:rPr>
              <a:t>世界では約 −106 m（インド南方の海）〜約 +85 m（ニューギニア付近）。</a:t>
            </a:r>
          </a:p>
          <a:p>
            <a:pPr>
              <a:spcAft>
                <a:spcPts val="400"/>
              </a:spcAft>
            </a:pPr>
            <a:r>
              <a:rPr sz="2000" b="0">
                <a:latin typeface="Noto Sans CJK JP"/>
              </a:rPr>
              <a:t>• </a:t>
            </a:r>
            <a:r>
              <a:rPr sz="2000" b="0">
                <a:latin typeface="Noto Sans CJK JP"/>
              </a:rPr>
              <a:t>日本では約 +20〜+45 m。東京 約 37 m、帯広 約 29 m。「ジオイド2024日本とその周辺」のモデルから読む。</a:t>
            </a:r>
          </a:p>
        </p:txBody>
      </p:sp>
      <p:pic>
        <p:nvPicPr>
          <p:cNvPr id="5" name="Picture 4" descr="−120〜+100 m の数直線上に世界と日本のジオイド高を示す"/>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地球の3つの面</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200150"/>
          </a:xfrm>
          <a:prstGeom prst="rect">
            <a:avLst/>
          </a:prstGeom>
          <a:noFill/>
        </p:spPr>
        <p:txBody>
          <a:bodyPr wrap="square" lIns="45720" rIns="45720" tIns="18288" bIns="18288">
            <a:spAutoFit/>
          </a:bodyPr>
          <a:lstStyle/>
          <a:p>
            <a:pPr>
              <a:spcAft>
                <a:spcPts val="400"/>
              </a:spcAft>
            </a:pPr>
            <a:r>
              <a:rPr sz="1800" b="0">
                <a:latin typeface="Noto Sans CJK JP"/>
              </a:rPr>
              <a:t>• </a:t>
            </a:r>
            <a:r>
              <a:rPr sz="1800" b="1">
                <a:latin typeface="Noto Sans CJK JP"/>
              </a:rPr>
              <a:t>地表</a:t>
            </a:r>
            <a:r>
              <a:rPr sz="1800" b="0">
                <a:latin typeface="Noto Sans CJK JP"/>
              </a:rPr>
              <a:t>：実際の地面。起伏がある。</a:t>
            </a:r>
          </a:p>
          <a:p>
            <a:pPr>
              <a:spcAft>
                <a:spcPts val="400"/>
              </a:spcAft>
            </a:pPr>
            <a:r>
              <a:rPr sz="1800" b="0">
                <a:latin typeface="Noto Sans CJK JP"/>
              </a:rPr>
              <a:t>• </a:t>
            </a:r>
            <a:r>
              <a:rPr sz="1800" b="1">
                <a:latin typeface="Noto Sans CJK JP"/>
              </a:rPr>
              <a:t>ジオイド</a:t>
            </a:r>
            <a:r>
              <a:rPr sz="1800" b="0">
                <a:latin typeface="Noto Sans CJK JP"/>
              </a:rPr>
              <a:t>：平均海面を陸地の下まで延長した面。重力の等ポテンシャル面で、水準測量の「高さ0」。</a:t>
            </a:r>
          </a:p>
          <a:p>
            <a:pPr>
              <a:spcAft>
                <a:spcPts val="400"/>
              </a:spcAft>
            </a:pPr>
            <a:r>
              <a:rPr sz="1800" b="0">
                <a:latin typeface="Noto Sans CJK JP"/>
              </a:rPr>
              <a:t>• </a:t>
            </a:r>
            <a:r>
              <a:rPr sz="1800" b="1">
                <a:latin typeface="Noto Sans CJK JP"/>
              </a:rPr>
              <a:t>準拠楕円体</a:t>
            </a:r>
            <a:r>
              <a:rPr sz="1800" b="0">
                <a:latin typeface="Noto Sans CJK JP"/>
              </a:rPr>
              <a:t>：ジオイドに近い滑らかな回転楕円体（GRS80）。緯度・経度・楕円体高の基準。</a:t>
            </a:r>
          </a:p>
        </p:txBody>
      </p:sp>
      <p:pic>
        <p:nvPicPr>
          <p:cNvPr id="5" name="Picture 4" descr="地表・ジオイド・楕円体の断面"/>
          <p:cNvPicPr>
            <a:picLocks noChangeAspect="1"/>
          </p:cNvPicPr>
          <p:nvPr/>
        </p:nvPicPr>
        <p:blipFill>
          <a:blip r:embed="rId2"/>
          <a:stretch>
            <a:fillRect/>
          </a:stretch>
        </p:blipFill>
        <p:spPr>
          <a:xfrm>
            <a:off x="779526" y="3429000"/>
            <a:ext cx="10629899"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標高・楕円体高・ジオイド高</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1b67dd4c0eac.png"/>
          <p:cNvPicPr>
            <a:picLocks noChangeAspect="1"/>
          </p:cNvPicPr>
          <p:nvPr/>
        </p:nvPicPr>
        <p:blipFill>
          <a:blip r:embed="rId2"/>
          <a:stretch>
            <a:fillRect/>
          </a:stretch>
        </p:blipFill>
        <p:spPr>
          <a:xfrm>
            <a:off x="5412333" y="1444752"/>
            <a:ext cx="1367028" cy="229819"/>
          </a:xfrm>
          <a:prstGeom prst="rect">
            <a:avLst/>
          </a:prstGeom>
        </p:spPr>
      </p:pic>
      <p:sp>
        <p:nvSpPr>
          <p:cNvPr id="5" name="TextBox 4"/>
          <p:cNvSpPr txBox="1"/>
          <p:nvPr/>
        </p:nvSpPr>
        <p:spPr>
          <a:xfrm>
            <a:off x="548640" y="1830019"/>
            <a:ext cx="11094415" cy="120015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DejaVu Sans"/>
              </a:rPr>
              <a:t>H</a:t>
            </a:r>
            <a:r>
              <a:rPr sz="1800" b="0">
                <a:latin typeface="Noto Sans CJK JP"/>
              </a:rPr>
              <a:t>：標高（ジオイドからの高さ。水準測量・地形図の高さ）</a:t>
            </a:r>
          </a:p>
          <a:p>
            <a:pPr>
              <a:spcAft>
                <a:spcPts val="400"/>
              </a:spcAft>
            </a:pPr>
            <a:r>
              <a:rPr sz="1800" b="0">
                <a:latin typeface="Noto Sans CJK JP"/>
              </a:rPr>
              <a:t>• </a:t>
            </a:r>
            <a:r>
              <a:rPr sz="1800" b="0">
                <a:latin typeface="DejaVu Sans"/>
              </a:rPr>
              <a:t>h</a:t>
            </a:r>
            <a:r>
              <a:rPr sz="1800" b="0">
                <a:latin typeface="Noto Sans CJK JP"/>
              </a:rPr>
              <a:t>：楕円体高（楕円体からの高さ。GNSS が出す高さ）</a:t>
            </a:r>
          </a:p>
          <a:p>
            <a:pPr>
              <a:spcAft>
                <a:spcPts val="400"/>
              </a:spcAft>
            </a:pPr>
            <a:r>
              <a:rPr sz="1800" b="0">
                <a:latin typeface="Noto Sans CJK JP"/>
              </a:rPr>
              <a:t>• </a:t>
            </a:r>
            <a:r>
              <a:rPr sz="1800" b="0">
                <a:latin typeface="DejaVu Sans"/>
              </a:rPr>
              <a:t>N</a:t>
            </a:r>
            <a:r>
              <a:rPr sz="1800" b="0">
                <a:latin typeface="Noto Sans CJK JP"/>
              </a:rPr>
              <a:t>：ジオイド高（楕円体からジオイドまでの高さ）</a:t>
            </a:r>
          </a:p>
        </p:txBody>
      </p:sp>
      <p:pic>
        <p:nvPicPr>
          <p:cNvPr id="6" name="Picture 5" descr="1点の鉛直線上の3つの高さ"/>
          <p:cNvPicPr>
            <a:picLocks noChangeAspect="1"/>
          </p:cNvPicPr>
          <p:nvPr/>
        </p:nvPicPr>
        <p:blipFill>
          <a:blip r:embed="rId3"/>
          <a:stretch>
            <a:fillRect/>
          </a:stretch>
        </p:blipFill>
        <p:spPr>
          <a:xfrm>
            <a:off x="779526" y="3429000"/>
            <a:ext cx="10629899" cy="2834639"/>
          </a:xfrm>
          <a:prstGeom prst="rect">
            <a:avLst/>
          </a:prstGeom>
        </p:spPr>
      </p:pic>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数値例：GNSS の高さを標高に直す</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GNSS が表示した楕円体高：</a:t>
            </a:r>
            <a:r>
              <a:rPr sz="2200" b="0">
                <a:latin typeface="DejaVu Sans"/>
              </a:rPr>
              <a:t>h=85.000</a:t>
            </a:r>
            <a:r>
              <a:rPr sz="2200" b="0">
                <a:latin typeface="Noto Sans CJK JP"/>
              </a:rPr>
              <a:t> m</a:t>
            </a:r>
          </a:p>
          <a:p>
            <a:pPr>
              <a:spcAft>
                <a:spcPts val="400"/>
              </a:spcAft>
            </a:pPr>
            <a:r>
              <a:rPr sz="2200" b="0">
                <a:latin typeface="Noto Sans CJK JP"/>
              </a:rPr>
              <a:t>• </a:t>
            </a:r>
            <a:r>
              <a:rPr sz="2200" b="0">
                <a:latin typeface="Noto Sans CJK JP"/>
              </a:rPr>
              <a:t>ジオイドモデルから読んだジオイド高：</a:t>
            </a:r>
            <a:r>
              <a:rPr sz="2200" b="0">
                <a:latin typeface="DejaVu Sans"/>
              </a:rPr>
              <a:t>N=35.000</a:t>
            </a:r>
            <a:r>
              <a:rPr sz="2200" b="0">
                <a:latin typeface="Noto Sans CJK JP"/>
              </a:rPr>
              <a:t> m</a:t>
            </a:r>
          </a:p>
        </p:txBody>
      </p:sp>
      <p:pic>
        <p:nvPicPr>
          <p:cNvPr id="5" name="Picture 4" descr="eq_a71480212001.png"/>
          <p:cNvPicPr>
            <a:picLocks noChangeAspect="1"/>
          </p:cNvPicPr>
          <p:nvPr/>
        </p:nvPicPr>
        <p:blipFill>
          <a:blip r:embed="rId2"/>
          <a:stretch>
            <a:fillRect/>
          </a:stretch>
        </p:blipFill>
        <p:spPr>
          <a:xfrm>
            <a:off x="2448458" y="2448052"/>
            <a:ext cx="7294778" cy="297180"/>
          </a:xfrm>
          <a:prstGeom prst="rect">
            <a:avLst/>
          </a:prstGeom>
        </p:spPr>
      </p:pic>
      <p:sp>
        <p:nvSpPr>
          <p:cNvPr id="6" name="TextBox 5"/>
          <p:cNvSpPr txBox="1"/>
          <p:nvPr/>
        </p:nvSpPr>
        <p:spPr>
          <a:xfrm>
            <a:off x="548640" y="2900680"/>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日本のジオイド高はおよそ 20〜45 m。帯広市付近は約 29 m（ジオイド2024）。</a:t>
            </a:r>
          </a:p>
          <a:p>
            <a:pPr>
              <a:spcAft>
                <a:spcPts val="400"/>
              </a:spcAft>
            </a:pPr>
            <a:r>
              <a:rPr sz="2200" b="0">
                <a:latin typeface="Noto Sans CJK JP"/>
              </a:rPr>
              <a:t>• </a:t>
            </a:r>
            <a:r>
              <a:rPr sz="2200" b="0">
                <a:latin typeface="Noto Sans CJK JP"/>
              </a:rPr>
              <a:t>ジオイド高はモデル（「ジオイド2024日本とその周辺」）から求める。</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なぜ標高で判断するのか：水の流れる向き</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55448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楕円体高は A（60 m）の方が B（58 m）より高い。しかし標高は B（24 m）の方が A（20 m）より高い。</a:t>
            </a:r>
          </a:p>
          <a:p>
            <a:pPr>
              <a:spcAft>
                <a:spcPts val="400"/>
              </a:spcAft>
            </a:pPr>
            <a:r>
              <a:rPr sz="1800" b="0">
                <a:latin typeface="Noto Sans CJK JP"/>
              </a:rPr>
              <a:t>• </a:t>
            </a:r>
            <a:r>
              <a:rPr sz="1800" b="0">
                <a:latin typeface="Noto Sans CJK JP"/>
              </a:rPr>
              <a:t>水はジオイドに沿って流れるので、</a:t>
            </a:r>
            <a:r>
              <a:rPr sz="1800" b="1">
                <a:latin typeface="Noto Sans CJK JP"/>
              </a:rPr>
              <a:t>B → A</a:t>
            </a:r>
            <a:r>
              <a:rPr sz="1800" b="0">
                <a:latin typeface="Noto Sans CJK JP"/>
              </a:rPr>
              <a:t> に流れる。楕円体高で判断すると逆になる。</a:t>
            </a:r>
          </a:p>
          <a:p>
            <a:pPr>
              <a:spcAft>
                <a:spcPts val="400"/>
              </a:spcAft>
            </a:pPr>
            <a:r>
              <a:rPr sz="1800" b="0">
                <a:latin typeface="Noto Sans CJK JP"/>
              </a:rPr>
              <a:t>• </a:t>
            </a:r>
            <a:r>
              <a:rPr sz="1800" b="0">
                <a:latin typeface="Noto Sans CJK JP"/>
              </a:rPr>
              <a:t>農業水利・排水・ほ場の均平は、必ず</a:t>
            </a:r>
            <a:r>
              <a:rPr sz="1800" b="1">
                <a:latin typeface="Noto Sans CJK JP"/>
              </a:rPr>
              <a:t>標高 H</a:t>
            </a:r>
            <a:r>
              <a:rPr sz="1800" b="0">
                <a:latin typeface="Noto Sans CJK JP"/>
              </a:rPr>
              <a:t> で設計する。</a:t>
            </a:r>
          </a:p>
        </p:txBody>
      </p:sp>
      <p:pic>
        <p:nvPicPr>
          <p:cNvPr id="5" name="Picture 4" descr="楕円体高では A が高いが、標高では B が高い。水は B から A へ流れる"/>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3-2 ここまでの確認①</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「ジオイド」を高校生に 1 文で説明すると？</a:t>
            </a:r>
          </a:p>
          <a:p>
            <a:pPr>
              <a:spcAft>
                <a:spcPts val="400"/>
              </a:spcAft>
            </a:pPr>
            <a:r>
              <a:rPr sz="2200" b="0">
                <a:latin typeface="Noto Sans CJK JP"/>
              </a:rPr>
              <a:t>• </a:t>
            </a:r>
            <a:r>
              <a:rPr sz="2200" b="0">
                <a:latin typeface="Noto Sans CJK JP"/>
              </a:rPr>
              <a:t>楕円体高 50.0 m、ジオイド高 35.0 m の点の標高は？</a:t>
            </a:r>
          </a:p>
          <a:p>
            <a:pPr>
              <a:spcAft>
                <a:spcPts val="400"/>
              </a:spcAft>
            </a:pPr>
            <a:r>
              <a:rPr sz="2200" b="0">
                <a:latin typeface="Noto Sans CJK JP"/>
              </a:rPr>
              <a:t>• </a:t>
            </a:r>
            <a:r>
              <a:rPr sz="2200" b="0">
                <a:latin typeface="Noto Sans CJK JP"/>
              </a:rPr>
              <a:t>GNSS が出す高さと水準測量の高さ、どちらが「ジオイドからの高さ」か？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測地系（データム）：どの地球の形を使うか</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90881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緯度・経度は楕円体に対して決まる → </a:t>
            </a:r>
            <a:r>
              <a:rPr sz="1800" b="1">
                <a:latin typeface="Noto Sans CJK JP"/>
              </a:rPr>
              <a:t>楕円体の大きさと中心の位置</a:t>
            </a:r>
            <a:r>
              <a:rPr sz="1800" b="0">
                <a:latin typeface="Noto Sans CJK JP"/>
              </a:rPr>
              <a:t>を決めないと座標が定まらない。この約束が</a:t>
            </a:r>
            <a:r>
              <a:rPr sz="1800" b="1">
                <a:latin typeface="Noto Sans CJK JP"/>
              </a:rPr>
              <a:t>測地系</a:t>
            </a:r>
            <a:r>
              <a:rPr sz="1800" b="0">
                <a:latin typeface="Noto Sans CJK JP"/>
              </a:rPr>
              <a:t>。</a:t>
            </a:r>
          </a:p>
          <a:p>
            <a:pPr>
              <a:spcAft>
                <a:spcPts val="400"/>
              </a:spcAft>
            </a:pPr>
            <a:r>
              <a:rPr sz="1800" b="0">
                <a:latin typeface="Noto Sans CJK JP"/>
              </a:rPr>
              <a:t>• </a:t>
            </a:r>
            <a:r>
              <a:rPr sz="1800" b="0">
                <a:latin typeface="Noto Sans CJK JP"/>
              </a:rPr>
              <a:t>旧日本測地系：ベッセル楕円体（</a:t>
            </a:r>
            <a:r>
              <a:rPr sz="1800" b="0">
                <a:latin typeface="DejaVu Sans"/>
              </a:rPr>
              <a:t>a=6 377 397</a:t>
            </a:r>
            <a:r>
              <a:rPr sz="1800" b="0">
                <a:latin typeface="Noto Sans CJK JP"/>
              </a:rPr>
              <a:t> m）、中心が地球重心からずれている。2002 年から</a:t>
            </a:r>
            <a:r>
              <a:rPr sz="1800" b="1">
                <a:latin typeface="Noto Sans CJK JP"/>
              </a:rPr>
              <a:t>世界測地系</a:t>
            </a:r>
            <a:r>
              <a:rPr sz="1800" b="0">
                <a:latin typeface="Noto Sans CJK JP"/>
              </a:rPr>
              <a:t>（GRS80、</a:t>
            </a:r>
            <a:r>
              <a:rPr sz="1800" b="0">
                <a:latin typeface="DejaVu Sans"/>
              </a:rPr>
              <a:t>a=6 378 137</a:t>
            </a:r>
            <a:r>
              <a:rPr sz="1800" b="0">
                <a:latin typeface="Noto Sans CJK JP"/>
              </a:rPr>
              <a:t> m、中心＝地球重心）。</a:t>
            </a:r>
          </a:p>
          <a:p>
            <a:pPr>
              <a:spcAft>
                <a:spcPts val="400"/>
              </a:spcAft>
            </a:pPr>
            <a:r>
              <a:rPr sz="1800" b="0">
                <a:latin typeface="Noto Sans CJK JP"/>
              </a:rPr>
              <a:t>• </a:t>
            </a:r>
            <a:r>
              <a:rPr sz="1800" b="0">
                <a:latin typeface="Noto Sans CJK JP"/>
              </a:rPr>
              <a:t>同じ杭でも、東京付近で緯度経度が約 450 m（北西方向）ずれる。古い図面と混ぜない。</a:t>
            </a:r>
          </a:p>
        </p:txBody>
      </p:sp>
      <p:pic>
        <p:nvPicPr>
          <p:cNvPr id="5" name="Picture 4" descr="同じ点 P に対する 2 つの楕円体と法線の違い"/>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WGS84・ITRF・JGD2011：名前は違うがほぼ同じ</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422400"/>
        </p:xfrm>
        <a:graphic>
          <a:graphicData uri="http://schemas.openxmlformats.org/drawingml/2006/table">
            <a:tbl>
              <a:tblPr firstRow="1" bandRow="1">
                <a:tableStyleId>{5C22544A-7EE6-4342-B048-85BDC9FD1C3A}</a:tableStyleId>
              </a:tblPr>
              <a:tblGrid>
                <a:gridCol w="3698138"/>
                <a:gridCol w="3698138"/>
                <a:gridCol w="3698139"/>
              </a:tblGrid>
              <a:tr h="355600">
                <a:tc>
                  <a:txBody>
                    <a:bodyPr wrap="square"/>
                    <a:lstStyle/>
                    <a:p>
                      <a:r>
                        <a:rPr sz="1400" b="1">
                          <a:solidFill>
                            <a:srgbClr val="1F1F1F"/>
                          </a:solidFill>
                          <a:latin typeface="Noto Sans CJK JP"/>
                        </a:rPr>
                        <a:t>名前</a:t>
                      </a:r>
                    </a:p>
                  </a:txBody>
                  <a:tcPr marL="54864" marR="54864" marT="27432" marB="27432">
                    <a:solidFill>
                      <a:srgbClr val="DCE6F1"/>
                    </a:solidFill>
                  </a:tcPr>
                </a:tc>
                <a:tc>
                  <a:txBody>
                    <a:bodyPr wrap="square"/>
                    <a:lstStyle/>
                    <a:p>
                      <a:r>
                        <a:rPr sz="1400" b="1">
                          <a:solidFill>
                            <a:srgbClr val="1F1F1F"/>
                          </a:solidFill>
                          <a:latin typeface="Noto Sans CJK JP"/>
                        </a:rPr>
                        <a:t>決めている主体</a:t>
                      </a:r>
                    </a:p>
                  </a:txBody>
                  <a:tcPr marL="54864" marR="54864" marT="27432" marB="27432">
                    <a:solidFill>
                      <a:srgbClr val="DCE6F1"/>
                    </a:solidFill>
                  </a:tcPr>
                </a:tc>
                <a:tc>
                  <a:txBody>
                    <a:bodyPr wrap="square"/>
                    <a:lstStyle/>
                    <a:p>
                      <a:r>
                        <a:rPr sz="1400" b="1">
                          <a:solidFill>
                            <a:srgbClr val="1F1F1F"/>
                          </a:solidFill>
                          <a:latin typeface="Noto Sans CJK JP"/>
                        </a:rPr>
                        <a:t>主な使い道</a:t>
                      </a:r>
                    </a:p>
                  </a:txBody>
                  <a:tcPr marL="54864" marR="54864" marT="27432" marB="27432">
                    <a:solidFill>
                      <a:srgbClr val="DCE6F1"/>
                    </a:solidFill>
                  </a:tcPr>
                </a:tc>
              </a:tr>
              <a:tr h="355600">
                <a:tc>
                  <a:txBody>
                    <a:bodyPr wrap="square"/>
                    <a:lstStyle/>
                    <a:p>
                      <a:r>
                        <a:rPr sz="1400" b="0">
                          <a:latin typeface="Noto Sans CJK JP"/>
                        </a:rPr>
                        <a:t>WGS84</a:t>
                      </a:r>
                    </a:p>
                  </a:txBody>
                  <a:tcPr marL="54864" marR="54864" marT="27432" marB="27432">
                    <a:solidFill>
                      <a:srgbClr val="FFFFFF"/>
                    </a:solidFill>
                  </a:tcPr>
                </a:tc>
                <a:tc>
                  <a:txBody>
                    <a:bodyPr wrap="square"/>
                    <a:lstStyle/>
                    <a:p>
                      <a:r>
                        <a:rPr sz="1400" b="0">
                          <a:latin typeface="Noto Sans CJK JP"/>
                        </a:rPr>
                        <a:t>米国（GPS の軌道の基準）</a:t>
                      </a:r>
                    </a:p>
                  </a:txBody>
                  <a:tcPr marL="54864" marR="54864" marT="27432" marB="27432">
                    <a:solidFill>
                      <a:srgbClr val="FFFFFF"/>
                    </a:solidFill>
                  </a:tcPr>
                </a:tc>
                <a:tc>
                  <a:txBody>
                    <a:bodyPr wrap="square"/>
                    <a:lstStyle/>
                    <a:p>
                      <a:r>
                        <a:rPr sz="1400" b="0">
                          <a:latin typeface="Noto Sans CJK JP"/>
                        </a:rPr>
                        <a:t>スマホ・カーナビ・GPS の生データ</a:t>
                      </a:r>
                    </a:p>
                  </a:txBody>
                  <a:tcPr marL="54864" marR="54864" marT="27432" marB="27432">
                    <a:solidFill>
                      <a:srgbClr val="FFFFFF"/>
                    </a:solidFill>
                  </a:tcPr>
                </a:tc>
              </a:tr>
              <a:tr h="355600">
                <a:tc>
                  <a:txBody>
                    <a:bodyPr wrap="square"/>
                    <a:lstStyle/>
                    <a:p>
                      <a:r>
                        <a:rPr sz="1400" b="0">
                          <a:latin typeface="Noto Sans CJK JP"/>
                        </a:rPr>
                        <a:t>ITRF</a:t>
                      </a:r>
                    </a:p>
                  </a:txBody>
                  <a:tcPr marL="54864" marR="54864" marT="27432" marB="27432">
                    <a:solidFill>
                      <a:srgbClr val="F5F7FA"/>
                    </a:solidFill>
                  </a:tcPr>
                </a:tc>
                <a:tc>
                  <a:txBody>
                    <a:bodyPr wrap="square"/>
                    <a:lstStyle/>
                    <a:p>
                      <a:r>
                        <a:rPr sz="1400" b="0">
                          <a:latin typeface="Noto Sans CJK JP"/>
                        </a:rPr>
                        <a:t>国際機関（世界の観測局の座標から決める）</a:t>
                      </a:r>
                    </a:p>
                  </a:txBody>
                  <a:tcPr marL="54864" marR="54864" marT="27432" marB="27432">
                    <a:solidFill>
                      <a:srgbClr val="F5F7FA"/>
                    </a:solidFill>
                  </a:tcPr>
                </a:tc>
                <a:tc>
                  <a:txBody>
                    <a:bodyPr wrap="square"/>
                    <a:lstStyle/>
                    <a:p>
                      <a:r>
                        <a:rPr sz="1400" b="0">
                          <a:latin typeface="Noto Sans CJK JP"/>
                        </a:rPr>
                        <a:t>学術、GNSS 精密測位の基準</a:t>
                      </a:r>
                    </a:p>
                  </a:txBody>
                  <a:tcPr marL="54864" marR="54864" marT="27432" marB="27432">
                    <a:solidFill>
                      <a:srgbClr val="F5F7FA"/>
                    </a:solidFill>
                  </a:tcPr>
                </a:tc>
              </a:tr>
              <a:tr h="355600">
                <a:tc>
                  <a:txBody>
                    <a:bodyPr wrap="square"/>
                    <a:lstStyle/>
                    <a:p>
                      <a:r>
                        <a:rPr sz="1400" b="0">
                          <a:latin typeface="Noto Sans CJK JP"/>
                        </a:rPr>
                        <a:t>JGD2011（日本測地系 2011）</a:t>
                      </a:r>
                    </a:p>
                  </a:txBody>
                  <a:tcPr marL="54864" marR="54864" marT="27432" marB="27432">
                    <a:solidFill>
                      <a:srgbClr val="FFFFFF"/>
                    </a:solidFill>
                  </a:tcPr>
                </a:tc>
                <a:tc>
                  <a:txBody>
                    <a:bodyPr wrap="square"/>
                    <a:lstStyle/>
                    <a:p>
                      <a:r>
                        <a:rPr sz="1400" b="0">
                          <a:latin typeface="Noto Sans CJK JP"/>
                        </a:rPr>
                        <a:t>日本（測量法。ITRF に整合）</a:t>
                      </a:r>
                    </a:p>
                  </a:txBody>
                  <a:tcPr marL="54864" marR="54864" marT="27432" marB="27432">
                    <a:solidFill>
                      <a:srgbClr val="FFFFFF"/>
                    </a:solidFill>
                  </a:tcPr>
                </a:tc>
                <a:tc>
                  <a:txBody>
                    <a:bodyPr wrap="square"/>
                    <a:lstStyle/>
                    <a:p>
                      <a:r>
                        <a:rPr sz="1400" b="0">
                          <a:latin typeface="Noto Sans CJK JP"/>
                        </a:rPr>
                        <a:t>日本の公共測量・基準点成果</a:t>
                      </a:r>
                    </a:p>
                  </a:txBody>
                  <a:tcPr marL="54864" marR="54864" marT="27432" marB="27432">
                    <a:solidFill>
                      <a:srgbClr val="FFFFFF"/>
                    </a:solidFill>
                  </a:tcPr>
                </a:tc>
              </a:tr>
            </a:tbl>
          </a:graphicData>
        </a:graphic>
      </p:graphicFrame>
      <p:sp>
        <p:nvSpPr>
          <p:cNvPr id="5" name="TextBox 4"/>
          <p:cNvSpPr txBox="1"/>
          <p:nvPr/>
        </p:nvSpPr>
        <p:spPr>
          <a:xfrm>
            <a:off x="548640" y="2931160"/>
            <a:ext cx="11094415" cy="120015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3 つは</a:t>
            </a:r>
            <a:r>
              <a:rPr sz="1800" b="1">
                <a:latin typeface="Noto Sans CJK JP"/>
              </a:rPr>
              <a:t>数 cm 以内で一致</a:t>
            </a:r>
            <a:r>
              <a:rPr sz="1800" b="0">
                <a:latin typeface="Noto Sans CJK JP"/>
              </a:rPr>
              <a:t>し、実用上は同じ扱い。楕円体はいずれも GRS80 とほぼ同じ。</a:t>
            </a:r>
          </a:p>
          <a:p>
            <a:pPr>
              <a:spcAft>
                <a:spcPts val="400"/>
              </a:spcAft>
            </a:pPr>
            <a:r>
              <a:rPr sz="1800" b="0">
                <a:latin typeface="Noto Sans CJK JP"/>
              </a:rPr>
              <a:t>• </a:t>
            </a:r>
            <a:r>
              <a:rPr sz="1800" b="0">
                <a:latin typeface="Noto Sans CJK JP"/>
              </a:rPr>
              <a:t>JGD2011 は、地震などの地殻変動を「ある時点（元期）」の位置で管理する点が違う。</a:t>
            </a:r>
          </a:p>
          <a:p>
            <a:pPr>
              <a:spcAft>
                <a:spcPts val="400"/>
              </a:spcAft>
            </a:pPr>
            <a:r>
              <a:rPr sz="1800" b="0">
                <a:latin typeface="Noto Sans CJK JP"/>
              </a:rPr>
              <a:t>• </a:t>
            </a:r>
            <a:r>
              <a:rPr sz="1800" b="0">
                <a:latin typeface="Noto Sans CJK JP"/>
              </a:rPr>
              <a:t>約 450 m 違う旧日本測地系（Tokyo Datum）とは区別する。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地理座標：緯度・経度・楕円体高</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緯度 φ：赤道面と、その点の楕円体の法線がなす角（北緯・南緯）。</a:t>
            </a:r>
          </a:p>
          <a:p>
            <a:pPr>
              <a:spcAft>
                <a:spcPts val="400"/>
              </a:spcAft>
            </a:pPr>
            <a:r>
              <a:rPr sz="2000" b="0">
                <a:latin typeface="Noto Sans CJK JP"/>
              </a:rPr>
              <a:t>• </a:t>
            </a:r>
            <a:r>
              <a:rPr sz="2000" b="0">
                <a:latin typeface="Noto Sans CJK JP"/>
              </a:rPr>
              <a:t>経度 </a:t>
            </a:r>
            <a:r>
              <a:rPr sz="2000" b="0">
                <a:latin typeface="DejaVu Sans"/>
              </a:rPr>
              <a:t>λ</a:t>
            </a:r>
            <a:r>
              <a:rPr sz="2000" b="0">
                <a:latin typeface="Noto Sans CJK JP"/>
              </a:rPr>
              <a:t>：本初子午線からの角（東経・西経）。</a:t>
            </a:r>
          </a:p>
          <a:p>
            <a:pPr>
              <a:spcAft>
                <a:spcPts val="400"/>
              </a:spcAft>
            </a:pPr>
            <a:r>
              <a:rPr sz="2000" b="0">
                <a:latin typeface="Noto Sans CJK JP"/>
              </a:rPr>
              <a:t>• </a:t>
            </a:r>
            <a:r>
              <a:rPr sz="2000" b="0">
                <a:latin typeface="Noto Sans CJK JP"/>
              </a:rPr>
              <a:t>楕円体高 </a:t>
            </a:r>
            <a:r>
              <a:rPr sz="2000" b="0">
                <a:latin typeface="DejaVu Sans"/>
              </a:rPr>
              <a:t>h</a:t>
            </a:r>
            <a:r>
              <a:rPr sz="2000" b="0">
                <a:latin typeface="Noto Sans CJK JP"/>
              </a:rPr>
              <a:t>：法線に沿った楕円体面からの高さ。</a:t>
            </a:r>
          </a:p>
          <a:p>
            <a:pPr>
              <a:spcAft>
                <a:spcPts val="400"/>
              </a:spcAft>
            </a:pPr>
            <a:r>
              <a:rPr sz="2000" b="0">
                <a:latin typeface="Noto Sans CJK JP"/>
              </a:rPr>
              <a:t>• </a:t>
            </a:r>
            <a:r>
              <a:rPr sz="2000" b="0">
                <a:latin typeface="Noto Sans CJK JP"/>
              </a:rPr>
              <a:t>日本の測地系：</a:t>
            </a:r>
            <a:r>
              <a:rPr sz="2000" b="1">
                <a:latin typeface="Noto Sans CJK JP"/>
              </a:rPr>
              <a:t>日本測地系 2011（JGD2011）</a:t>
            </a:r>
            <a:r>
              <a:rPr sz="2000" b="0">
                <a:latin typeface="Noto Sans CJK JP"/>
              </a:rPr>
              <a:t>、楕円体は GRS80。</a:t>
            </a:r>
          </a:p>
        </p:txBody>
      </p:sp>
      <p:pic>
        <p:nvPicPr>
          <p:cNvPr id="5" name="Picture 4" descr="楕円体上の緯度・経度・楕円体高"/>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地心直交座標（GNSS の内部座標）</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原点＝地球の重心、Z 軸＝自転軸、X 軸＝本初子午線と赤道の交点方向。</a:t>
            </a:r>
          </a:p>
          <a:p>
            <a:pPr>
              <a:spcAft>
                <a:spcPts val="400"/>
              </a:spcAft>
            </a:pPr>
            <a:r>
              <a:rPr sz="2000" b="0">
                <a:latin typeface="Noto Sans CJK JP"/>
              </a:rPr>
              <a:t>• </a:t>
            </a:r>
            <a:r>
              <a:rPr sz="2000" b="0">
                <a:latin typeface="Noto Sans CJK JP"/>
              </a:rPr>
              <a:t>GNSS は衛星までの距離からこの </a:t>
            </a:r>
            <a:r>
              <a:rPr sz="2000" b="0">
                <a:latin typeface="DejaVu Sans"/>
              </a:rPr>
              <a:t>(X, Y, Z)</a:t>
            </a:r>
            <a:r>
              <a:rPr sz="2000" b="0">
                <a:latin typeface="Noto Sans CJK JP"/>
              </a:rPr>
              <a:t> を解く。</a:t>
            </a:r>
          </a:p>
          <a:p>
            <a:pPr>
              <a:spcAft>
                <a:spcPts val="400"/>
              </a:spcAft>
            </a:pPr>
            <a:r>
              <a:rPr sz="2000" b="0">
                <a:latin typeface="Noto Sans CJK JP"/>
              </a:rPr>
              <a:t>• </a:t>
            </a:r>
            <a:r>
              <a:rPr sz="2000" b="0">
                <a:latin typeface="Noto Sans CJK JP"/>
              </a:rPr>
              <a:t>測地座標 (φ, λ, h) とは公式で相互変換できる（本講義では計算しない）。</a:t>
            </a:r>
          </a:p>
          <a:p>
            <a:pPr>
              <a:spcAft>
                <a:spcPts val="400"/>
              </a:spcAft>
            </a:pPr>
            <a:r>
              <a:rPr sz="2000" b="0">
                <a:latin typeface="Noto Sans CJK JP"/>
              </a:rPr>
              <a:t>• </a:t>
            </a:r>
            <a:r>
              <a:rPr sz="2000" b="0">
                <a:latin typeface="Noto Sans CJK JP"/>
              </a:rPr>
              <a:t>国際的な枠組み ITRF と JGD2011 は、ほぼ同じ地心座標系。</a:t>
            </a:r>
          </a:p>
        </p:txBody>
      </p:sp>
      <p:pic>
        <p:nvPicPr>
          <p:cNvPr id="5" name="Picture 4" descr="地球中心を原点とする3軸"/>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投影座標系：曲面を平面へ写す 3 つの方法</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球に接する円筒・円錐・平面と、それぞれを開いた形"/>
          <p:cNvPicPr>
            <a:picLocks noChangeAspect="1"/>
          </p:cNvPicPr>
          <p:nvPr/>
        </p:nvPicPr>
        <p:blipFill>
          <a:blip r:embed="rId2"/>
          <a:stretch>
            <a:fillRect/>
          </a:stretch>
        </p:blipFill>
        <p:spPr>
          <a:xfrm>
            <a:off x="449814" y="1371600"/>
            <a:ext cx="11289323" cy="4892040"/>
          </a:xfrm>
          <a:prstGeom prst="rect">
            <a:avLst/>
          </a:prstGeom>
        </p:spPr>
      </p:pic>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球から円筒へ：メルカトル図法のしくみ</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光源を置いた地球儀を、赤道で接する紙の円筒に投影する（AI 生成の概念イラスト）"/>
          <p:cNvPicPr>
            <a:picLocks noChangeAspect="1"/>
          </p:cNvPicPr>
          <p:nvPr/>
        </p:nvPicPr>
        <p:blipFill>
          <a:blip r:embed="rId2"/>
          <a:stretch>
            <a:fillRect/>
          </a:stretch>
        </p:blipFill>
        <p:spPr>
          <a:xfrm>
            <a:off x="1748306" y="1371600"/>
            <a:ext cx="8692338" cy="4892040"/>
          </a:xfrm>
          <a:prstGeom prst="rect">
            <a:avLst/>
          </a:prstGeom>
        </p:spPr>
      </p:pic>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メルカトル図法：角は正しく、面積はひずむ</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メルカトル図法の経緯線網とティソーの指示円。高緯度ほど円が大きい"/>
          <p:cNvPicPr>
            <a:picLocks noChangeAspect="1"/>
          </p:cNvPicPr>
          <p:nvPr/>
        </p:nvPicPr>
        <p:blipFill>
          <a:blip r:embed="rId2"/>
          <a:stretch>
            <a:fillRect/>
          </a:stretch>
        </p:blipFill>
        <p:spPr>
          <a:xfrm>
            <a:off x="449814" y="1371600"/>
            <a:ext cx="11289323" cy="4892040"/>
          </a:xfrm>
          <a:prstGeom prst="rect">
            <a:avLst/>
          </a:prstGeom>
        </p:spPr>
      </p:pic>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円筒を横に倒す：横メルカトル＝ガウス・クリューゲル投影</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正軸円筒（赤道で接する）と横軸円筒（子午線で接する）の比較"/>
          <p:cNvPicPr>
            <a:picLocks noChangeAspect="1"/>
          </p:cNvPicPr>
          <p:nvPr/>
        </p:nvPicPr>
        <p:blipFill>
          <a:blip r:embed="rId2"/>
          <a:stretch>
            <a:fillRect/>
          </a:stretch>
        </p:blipFill>
        <p:spPr>
          <a:xfrm>
            <a:off x="449814" y="1371600"/>
            <a:ext cx="11289323" cy="4892040"/>
          </a:xfrm>
          <a:prstGeom prst="rect">
            <a:avLst/>
          </a:prstGeom>
        </p:spPr>
      </p:pic>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UTM 座標系：6° 幅の帯で世界を覆う</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TM の 51〜56 帯と日本の模式図、帯広は第 54 帯"/>
          <p:cNvPicPr>
            <a:picLocks noChangeAspect="1"/>
          </p:cNvPicPr>
          <p:nvPr/>
        </p:nvPicPr>
        <p:blipFill>
          <a:blip r:embed="rId2"/>
          <a:stretch>
            <a:fillRect/>
          </a:stretch>
        </p:blipFill>
        <p:spPr>
          <a:xfrm>
            <a:off x="449814" y="1371600"/>
            <a:ext cx="11289323" cy="4892040"/>
          </a:xfrm>
          <a:prstGeom prst="rect">
            <a:avLst/>
          </a:prstGeom>
        </p:spPr>
      </p:pic>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投影座標系の比較：UTM と平面直角座標系</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489200"/>
        </p:xfrm>
        <a:graphic>
          <a:graphicData uri="http://schemas.openxmlformats.org/drawingml/2006/table">
            <a:tbl>
              <a:tblPr firstRow="1" bandRow="1">
                <a:tableStyleId>{5C22544A-7EE6-4342-B048-85BDC9FD1C3A}</a:tableStyleId>
              </a:tblPr>
              <a:tblGrid>
                <a:gridCol w="3698138"/>
                <a:gridCol w="3698138"/>
                <a:gridCol w="3698139"/>
              </a:tblGrid>
              <a:tr h="355600">
                <a:tc>
                  <a:txBody>
                    <a:bodyPr wrap="square"/>
                    <a:lstStyle/>
                    <a:p>
                      <a:r>
                        <a:rPr sz="1400" b="1">
                          <a:solidFill>
                            <a:srgbClr val="1F1F1F"/>
                          </a:solidFill>
                          <a:latin typeface="Noto Sans CJK JP"/>
                        </a:rPr>
                        <a:t>項目</a:t>
                      </a:r>
                    </a:p>
                  </a:txBody>
                  <a:tcPr marL="54864" marR="54864" marT="27432" marB="27432">
                    <a:solidFill>
                      <a:srgbClr val="DCE6F1"/>
                    </a:solidFill>
                  </a:tcPr>
                </a:tc>
                <a:tc>
                  <a:txBody>
                    <a:bodyPr wrap="square"/>
                    <a:lstStyle/>
                    <a:p>
                      <a:r>
                        <a:rPr sz="1400" b="1">
                          <a:solidFill>
                            <a:srgbClr val="1F1F1F"/>
                          </a:solidFill>
                          <a:latin typeface="Noto Sans CJK JP"/>
                        </a:rPr>
                        <a:t>平面直角座標系</a:t>
                      </a:r>
                    </a:p>
                  </a:txBody>
                  <a:tcPr marL="54864" marR="54864" marT="27432" marB="27432">
                    <a:solidFill>
                      <a:srgbClr val="DCE6F1"/>
                    </a:solidFill>
                  </a:tcPr>
                </a:tc>
                <a:tc>
                  <a:txBody>
                    <a:bodyPr wrap="square"/>
                    <a:lstStyle/>
                    <a:p>
                      <a:r>
                        <a:rPr sz="1400" b="1">
                          <a:solidFill>
                            <a:srgbClr val="1F1F1F"/>
                          </a:solidFill>
                          <a:latin typeface="Noto Sans CJK JP"/>
                        </a:rPr>
                        <a:t>UTM 座標系</a:t>
                      </a:r>
                    </a:p>
                  </a:txBody>
                  <a:tcPr marL="54864" marR="54864" marT="27432" marB="27432">
                    <a:solidFill>
                      <a:srgbClr val="DCE6F1"/>
                    </a:solidFill>
                  </a:tcPr>
                </a:tc>
              </a:tr>
              <a:tr h="355600">
                <a:tc>
                  <a:txBody>
                    <a:bodyPr wrap="square"/>
                    <a:lstStyle/>
                    <a:p>
                      <a:r>
                        <a:rPr sz="1400" b="0">
                          <a:latin typeface="Noto Sans CJK JP"/>
                        </a:rPr>
                        <a:t>投影法</a:t>
                      </a:r>
                    </a:p>
                  </a:txBody>
                  <a:tcPr marL="54864" marR="54864" marT="27432" marB="27432">
                    <a:solidFill>
                      <a:srgbClr val="FFFFFF"/>
                    </a:solidFill>
                  </a:tcPr>
                </a:tc>
                <a:tc>
                  <a:txBody>
                    <a:bodyPr wrap="square"/>
                    <a:lstStyle/>
                    <a:p>
                      <a:r>
                        <a:rPr sz="1400" b="0">
                          <a:latin typeface="Noto Sans CJK JP"/>
                        </a:rPr>
                        <a:t>ガウス・クリューゲル（横メルカトル）</a:t>
                      </a:r>
                    </a:p>
                  </a:txBody>
                  <a:tcPr marL="54864" marR="54864" marT="27432" marB="27432">
                    <a:solidFill>
                      <a:srgbClr val="FFFFFF"/>
                    </a:solidFill>
                  </a:tcPr>
                </a:tc>
                <a:tc>
                  <a:txBody>
                    <a:bodyPr wrap="square"/>
                    <a:lstStyle/>
                    <a:p>
                      <a:r>
                        <a:rPr sz="1400" b="0">
                          <a:latin typeface="Noto Sans CJK JP"/>
                        </a:rPr>
                        <a:t>同じ</a:t>
                      </a:r>
                    </a:p>
                  </a:txBody>
                  <a:tcPr marL="54864" marR="54864" marT="27432" marB="27432">
                    <a:solidFill>
                      <a:srgbClr val="FFFFFF"/>
                    </a:solidFill>
                  </a:tcPr>
                </a:tc>
              </a:tr>
              <a:tr h="355600">
                <a:tc>
                  <a:txBody>
                    <a:bodyPr wrap="square"/>
                    <a:lstStyle/>
                    <a:p>
                      <a:r>
                        <a:rPr sz="1400" b="0">
                          <a:latin typeface="Noto Sans CJK JP"/>
                        </a:rPr>
                        <a:t>区分</a:t>
                      </a:r>
                    </a:p>
                  </a:txBody>
                  <a:tcPr marL="54864" marR="54864" marT="27432" marB="27432">
                    <a:solidFill>
                      <a:srgbClr val="F5F7FA"/>
                    </a:solidFill>
                  </a:tcPr>
                </a:tc>
                <a:tc>
                  <a:txBody>
                    <a:bodyPr wrap="square"/>
                    <a:lstStyle/>
                    <a:p>
                      <a:r>
                        <a:rPr sz="1400" b="0">
                          <a:latin typeface="Noto Sans CJK JP"/>
                        </a:rPr>
                        <a:t>日本を 19 系（約 130 km 幅）</a:t>
                      </a:r>
                    </a:p>
                  </a:txBody>
                  <a:tcPr marL="54864" marR="54864" marT="27432" marB="27432">
                    <a:solidFill>
                      <a:srgbClr val="F5F7FA"/>
                    </a:solidFill>
                  </a:tcPr>
                </a:tc>
                <a:tc>
                  <a:txBody>
                    <a:bodyPr wrap="square"/>
                    <a:lstStyle/>
                    <a:p>
                      <a:r>
                        <a:rPr sz="1400" b="0">
                          <a:latin typeface="Noto Sans CJK JP"/>
                        </a:rPr>
                        <a:t>経度 6° 幅 × 60 帯（日本は 51〜56 帯）</a:t>
                      </a:r>
                    </a:p>
                  </a:txBody>
                  <a:tcPr marL="54864" marR="54864" marT="27432" marB="27432">
                    <a:solidFill>
                      <a:srgbClr val="F5F7FA"/>
                    </a:solidFill>
                  </a:tcPr>
                </a:tc>
              </a:tr>
              <a:tr h="355600">
                <a:tc>
                  <a:txBody>
                    <a:bodyPr wrap="square"/>
                    <a:lstStyle/>
                    <a:p>
                      <a:r>
                        <a:rPr sz="1400" b="0">
                          <a:latin typeface="Noto Sans CJK JP"/>
                        </a:rPr>
                        <a:t>原点の縮尺係数</a:t>
                      </a:r>
                    </a:p>
                  </a:txBody>
                  <a:tcPr marL="54864" marR="54864" marT="27432" marB="27432">
                    <a:solidFill>
                      <a:srgbClr val="FFFFFF"/>
                    </a:solidFill>
                  </a:tcPr>
                </a:tc>
                <a:tc>
                  <a:txBody>
                    <a:bodyPr wrap="square"/>
                    <a:lstStyle/>
                    <a:p>
                      <a:r>
                        <a:rPr sz="1400" b="0">
                          <a:latin typeface="Noto Sans CJK JP"/>
                        </a:rPr>
                        <a:t>0.9999</a:t>
                      </a:r>
                    </a:p>
                  </a:txBody>
                  <a:tcPr marL="54864" marR="54864" marT="27432" marB="27432">
                    <a:solidFill>
                      <a:srgbClr val="FFFFFF"/>
                    </a:solidFill>
                  </a:tcPr>
                </a:tc>
                <a:tc>
                  <a:txBody>
                    <a:bodyPr wrap="square"/>
                    <a:lstStyle/>
                    <a:p>
                      <a:r>
                        <a:rPr sz="1400" b="0">
                          <a:latin typeface="Noto Sans CJK JP"/>
                        </a:rPr>
                        <a:t>0.9996</a:t>
                      </a:r>
                    </a:p>
                  </a:txBody>
                  <a:tcPr marL="54864" marR="54864" marT="27432" marB="27432">
                    <a:solidFill>
                      <a:srgbClr val="FFFFFF"/>
                    </a:solidFill>
                  </a:tcPr>
                </a:tc>
              </a:tr>
              <a:tr h="355600">
                <a:tc>
                  <a:txBody>
                    <a:bodyPr wrap="square"/>
                    <a:lstStyle/>
                    <a:p>
                      <a:r>
                        <a:rPr sz="1400" b="0">
                          <a:latin typeface="Noto Sans CJK JP"/>
                        </a:rPr>
                        <a:t>原点の座標</a:t>
                      </a:r>
                    </a:p>
                  </a:txBody>
                  <a:tcPr marL="54864" marR="54864" marT="27432" marB="27432">
                    <a:solidFill>
                      <a:srgbClr val="F5F7FA"/>
                    </a:solidFill>
                  </a:tcPr>
                </a:tc>
                <a:tc>
                  <a:txBody>
                    <a:bodyPr wrap="square"/>
                    <a:lstStyle/>
                    <a:p>
                      <a:r>
                        <a:rPr sz="1400" b="0">
                          <a:latin typeface="Noto Sans CJK JP"/>
                        </a:rPr>
                        <a:t>(0, 0)。負の値もある</a:t>
                      </a:r>
                    </a:p>
                  </a:txBody>
                  <a:tcPr marL="54864" marR="54864" marT="27432" marB="27432">
                    <a:solidFill>
                      <a:srgbClr val="F5F7FA"/>
                    </a:solidFill>
                  </a:tcPr>
                </a:tc>
                <a:tc>
                  <a:txBody>
                    <a:bodyPr wrap="square"/>
                    <a:lstStyle/>
                    <a:p>
                      <a:r>
                        <a:rPr sz="1400" b="0">
                          <a:latin typeface="Noto Sans CJK JP"/>
                        </a:rPr>
                        <a:t>N は赤道から、E は 500 000 m を足す</a:t>
                      </a:r>
                    </a:p>
                  </a:txBody>
                  <a:tcPr marL="54864" marR="54864" marT="27432" marB="27432">
                    <a:solidFill>
                      <a:srgbClr val="F5F7FA"/>
                    </a:solidFill>
                  </a:tcPr>
                </a:tc>
              </a:tr>
              <a:tr h="355600">
                <a:tc>
                  <a:txBody>
                    <a:bodyPr wrap="square"/>
                    <a:lstStyle/>
                    <a:p>
                      <a:r>
                        <a:rPr sz="1400" b="0">
                          <a:latin typeface="Noto Sans CJK JP"/>
                        </a:rPr>
                        <a:t>軸</a:t>
                      </a:r>
                    </a:p>
                  </a:txBody>
                  <a:tcPr marL="54864" marR="54864" marT="27432" marB="27432">
                    <a:solidFill>
                      <a:srgbClr val="FFFFFF"/>
                    </a:solidFill>
                  </a:tcPr>
                </a:tc>
                <a:tc>
                  <a:txBody>
                    <a:bodyPr wrap="square"/>
                    <a:lstStyle/>
                    <a:p>
                      <a:r>
                        <a:rPr sz="1400" b="0">
                          <a:latin typeface="Noto Sans CJK JP"/>
                        </a:rPr>
                        <a:t>X が北、Y が東</a:t>
                      </a:r>
                    </a:p>
                  </a:txBody>
                  <a:tcPr marL="54864" marR="54864" marT="27432" marB="27432">
                    <a:solidFill>
                      <a:srgbClr val="FFFFFF"/>
                    </a:solidFill>
                  </a:tcPr>
                </a:tc>
                <a:tc>
                  <a:txBody>
                    <a:bodyPr wrap="square"/>
                    <a:lstStyle/>
                    <a:p>
                      <a:r>
                        <a:rPr sz="1400" b="0">
                          <a:latin typeface="Noto Sans CJK JP"/>
                        </a:rPr>
                        <a:t>N が北、E が東</a:t>
                      </a:r>
                    </a:p>
                  </a:txBody>
                  <a:tcPr marL="54864" marR="54864" marT="27432" marB="27432">
                    <a:solidFill>
                      <a:srgbClr val="FFFFFF"/>
                    </a:solidFill>
                  </a:tcPr>
                </a:tc>
              </a:tr>
              <a:tr h="355600">
                <a:tc>
                  <a:txBody>
                    <a:bodyPr wrap="square"/>
                    <a:lstStyle/>
                    <a:p>
                      <a:r>
                        <a:rPr sz="1400" b="0">
                          <a:latin typeface="Noto Sans CJK JP"/>
                        </a:rPr>
                        <a:t>用途</a:t>
                      </a:r>
                    </a:p>
                  </a:txBody>
                  <a:tcPr marL="54864" marR="54864" marT="27432" marB="27432">
                    <a:solidFill>
                      <a:srgbClr val="F5F7FA"/>
                    </a:solidFill>
                  </a:tcPr>
                </a:tc>
                <a:tc>
                  <a:txBody>
                    <a:bodyPr wrap="square"/>
                    <a:lstStyle/>
                    <a:p>
                      <a:r>
                        <a:rPr sz="1400" b="0">
                          <a:latin typeface="Noto Sans CJK JP"/>
                        </a:rPr>
                        <a:t>公共測量、地籍、設計図</a:t>
                      </a:r>
                    </a:p>
                  </a:txBody>
                  <a:tcPr marL="54864" marR="54864" marT="27432" marB="27432">
                    <a:solidFill>
                      <a:srgbClr val="F5F7FA"/>
                    </a:solidFill>
                  </a:tcPr>
                </a:tc>
                <a:tc>
                  <a:txBody>
                    <a:bodyPr wrap="square"/>
                    <a:lstStyle/>
                    <a:p>
                      <a:r>
                        <a:rPr sz="1400" b="0">
                          <a:latin typeface="Noto Sans CJK JP"/>
                        </a:rPr>
                        <a:t>地形図（1:25 000 など）、世界共通</a:t>
                      </a:r>
                    </a:p>
                  </a:txBody>
                  <a:tcPr marL="54864" marR="54864" marT="27432" marB="27432">
                    <a:solidFill>
                      <a:srgbClr val="F5F7FA"/>
                    </a:solidFill>
                  </a:tcPr>
                </a:tc>
              </a:tr>
            </a:tbl>
          </a:graphicData>
        </a:graphic>
      </p:graphicFrame>
      <p:sp>
        <p:nvSpPr>
          <p:cNvPr id="5" name="TextBox 4"/>
          <p:cNvSpPr txBox="1"/>
          <p:nvPr/>
        </p:nvSpPr>
        <p:spPr>
          <a:xfrm>
            <a:off x="548640" y="3997960"/>
            <a:ext cx="11094415" cy="84582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帯広：平面直角座標系は第 XIII 系、UTM は第 54 帯。本日はこの後、平面直角座標系を詳しく扱う。</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日本の基準：原点と基準点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032000"/>
        </p:xfrm>
        <a:graphic>
          <a:graphicData uri="http://schemas.openxmlformats.org/drawingml/2006/table">
            <a:tbl>
              <a:tblPr firstRow="1" bandRow="1">
                <a:tableStyleId>{5C22544A-7EE6-4342-B048-85BDC9FD1C3A}</a:tableStyleId>
              </a:tblPr>
              <a:tblGrid>
                <a:gridCol w="5547207"/>
                <a:gridCol w="5547208"/>
              </a:tblGrid>
              <a:tr h="406400">
                <a:tc>
                  <a:txBody>
                    <a:bodyPr wrap="square"/>
                    <a:lstStyle/>
                    <a:p>
                      <a:r>
                        <a:rPr sz="1600" b="1">
                          <a:solidFill>
                            <a:srgbClr val="1F1F1F"/>
                          </a:solidFill>
                          <a:latin typeface="Noto Sans CJK JP"/>
                        </a:rPr>
                        <a:t>基準</a:t>
                      </a:r>
                    </a:p>
                  </a:txBody>
                  <a:tcPr marL="54864" marR="54864" marT="27432" marB="27432">
                    <a:solidFill>
                      <a:srgbClr val="DCE6F1"/>
                    </a:solidFill>
                  </a:tcPr>
                </a:tc>
                <a:tc>
                  <a:txBody>
                    <a:bodyPr wrap="square"/>
                    <a:lstStyle/>
                    <a:p>
                      <a:r>
                        <a:rPr sz="1600" b="1">
                          <a:solidFill>
                            <a:srgbClr val="1F1F1F"/>
                          </a:solidFill>
                          <a:latin typeface="Noto Sans CJK JP"/>
                        </a:rPr>
                        <a:t>内容</a:t>
                      </a:r>
                    </a:p>
                  </a:txBody>
                  <a:tcPr marL="54864" marR="54864" marT="27432" marB="27432">
                    <a:solidFill>
                      <a:srgbClr val="DCE6F1"/>
                    </a:solidFill>
                  </a:tcPr>
                </a:tc>
              </a:tr>
              <a:tr h="406400">
                <a:tc>
                  <a:txBody>
                    <a:bodyPr wrap="square"/>
                    <a:lstStyle/>
                    <a:p>
                      <a:r>
                        <a:rPr sz="1600" b="0">
                          <a:latin typeface="Noto Sans CJK JP"/>
                        </a:rPr>
                        <a:t>日本経緯度原点</a:t>
                      </a:r>
                    </a:p>
                  </a:txBody>
                  <a:tcPr marL="54864" marR="54864" marT="27432" marB="27432">
                    <a:solidFill>
                      <a:srgbClr val="FFFFFF"/>
                    </a:solidFill>
                  </a:tcPr>
                </a:tc>
                <a:tc>
                  <a:txBody>
                    <a:bodyPr wrap="square"/>
                    <a:lstStyle/>
                    <a:p>
                      <a:r>
                        <a:rPr sz="1600" b="0">
                          <a:latin typeface="Noto Sans CJK JP"/>
                        </a:rPr>
                        <a:t>東京都港区麻布台。経緯度の出発点</a:t>
                      </a:r>
                    </a:p>
                  </a:txBody>
                  <a:tcPr marL="54864" marR="54864" marT="27432" marB="27432">
                    <a:solidFill>
                      <a:srgbClr val="FFFFFF"/>
                    </a:solidFill>
                  </a:tcPr>
                </a:tc>
              </a:tr>
              <a:tr h="406400">
                <a:tc>
                  <a:txBody>
                    <a:bodyPr wrap="square"/>
                    <a:lstStyle/>
                    <a:p>
                      <a:r>
                        <a:rPr sz="1600" b="0">
                          <a:latin typeface="Noto Sans CJK JP"/>
                        </a:rPr>
                        <a:t>日本水準原点</a:t>
                      </a:r>
                    </a:p>
                  </a:txBody>
                  <a:tcPr marL="54864" marR="54864" marT="27432" marB="27432">
                    <a:solidFill>
                      <a:srgbClr val="F5F7FA"/>
                    </a:solidFill>
                  </a:tcPr>
                </a:tc>
                <a:tc>
                  <a:txBody>
                    <a:bodyPr wrap="square"/>
                    <a:lstStyle/>
                    <a:p>
                      <a:r>
                        <a:rPr sz="1600" b="0">
                          <a:latin typeface="Noto Sans CJK JP"/>
                        </a:rPr>
                        <a:t>東京都千代田区永田町。標高の出発点（24.3900 m）</a:t>
                      </a:r>
                    </a:p>
                  </a:txBody>
                  <a:tcPr marL="54864" marR="54864" marT="27432" marB="27432">
                    <a:solidFill>
                      <a:srgbClr val="F5F7FA"/>
                    </a:solidFill>
                  </a:tcPr>
                </a:tc>
              </a:tr>
              <a:tr h="406400">
                <a:tc>
                  <a:txBody>
                    <a:bodyPr wrap="square"/>
                    <a:lstStyle/>
                    <a:p>
                      <a:r>
                        <a:rPr sz="1600" b="0">
                          <a:latin typeface="Noto Sans CJK JP"/>
                        </a:rPr>
                        <a:t>電子基準点</a:t>
                      </a:r>
                    </a:p>
                  </a:txBody>
                  <a:tcPr marL="54864" marR="54864" marT="27432" marB="27432">
                    <a:solidFill>
                      <a:srgbClr val="FFFFFF"/>
                    </a:solidFill>
                  </a:tcPr>
                </a:tc>
                <a:tc>
                  <a:txBody>
                    <a:bodyPr wrap="square"/>
                    <a:lstStyle/>
                    <a:p>
                      <a:r>
                        <a:rPr sz="1600" b="0">
                          <a:latin typeface="Noto Sans CJK JP"/>
                        </a:rPr>
                        <a:t>国土地理院が全国約 1300 点に設置した GNSS 連続観測点</a:t>
                      </a:r>
                    </a:p>
                  </a:txBody>
                  <a:tcPr marL="54864" marR="54864" marT="27432" marB="27432">
                    <a:solidFill>
                      <a:srgbClr val="FFFFFF"/>
                    </a:solidFill>
                  </a:tcPr>
                </a:tc>
              </a:tr>
              <a:tr h="406400">
                <a:tc>
                  <a:txBody>
                    <a:bodyPr wrap="square"/>
                    <a:lstStyle/>
                    <a:p>
                      <a:r>
                        <a:rPr sz="1600" b="0">
                          <a:latin typeface="Noto Sans CJK JP"/>
                        </a:rPr>
                        <a:t>三角点・水準点</a:t>
                      </a:r>
                    </a:p>
                  </a:txBody>
                  <a:tcPr marL="54864" marR="54864" marT="27432" marB="27432">
                    <a:solidFill>
                      <a:srgbClr val="F5F7FA"/>
                    </a:solidFill>
                  </a:tcPr>
                </a:tc>
                <a:tc>
                  <a:txBody>
                    <a:bodyPr wrap="square"/>
                    <a:lstStyle/>
                    <a:p>
                      <a:r>
                        <a:rPr sz="1600" b="0">
                          <a:latin typeface="Noto Sans CJK JP"/>
                        </a:rPr>
                        <a:t>位置・標高を与える基準点。公共測量の出発点</a:t>
                      </a:r>
                    </a:p>
                  </a:txBody>
                  <a:tcPr marL="54864" marR="54864" marT="27432" marB="27432">
                    <a:solidFill>
                      <a:srgbClr val="F5F7FA"/>
                    </a:solidFill>
                  </a:tcPr>
                </a:tc>
              </a:tr>
            </a:tbl>
          </a:graphicData>
        </a:graphic>
      </p:graphicFrame>
      <p:sp>
        <p:nvSpPr>
          <p:cNvPr id="5" name="TextBox 4"/>
          <p:cNvSpPr txBox="1"/>
          <p:nvPr/>
        </p:nvSpPr>
        <p:spPr>
          <a:xfrm>
            <a:off x="548640" y="354076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測量法第11条：位置は経緯度と平均海面からの高さで表す。ただし</a:t>
            </a:r>
            <a:r>
              <a:rPr sz="2000" b="1">
                <a:latin typeface="Noto Sans CJK JP"/>
              </a:rPr>
              <a:t>直角座標</a:t>
            </a:r>
            <a:r>
              <a:rPr sz="2000" b="0">
                <a:latin typeface="Noto Sans CJK JP"/>
              </a:rPr>
              <a:t>と高さ、極座標と高さ、地心直交座標でも表せる。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測地成果 2024 とは</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日本の基準点の成果は「測地成果 2011」（東北地方太平洋沖地震後に再定義）。</a:t>
            </a:r>
          </a:p>
          <a:p>
            <a:pPr>
              <a:spcAft>
                <a:spcPts val="400"/>
              </a:spcAft>
            </a:pPr>
            <a:r>
              <a:rPr sz="2200" b="0">
                <a:latin typeface="Noto Sans CJK JP"/>
              </a:rPr>
              <a:t>• </a:t>
            </a:r>
            <a:r>
              <a:rPr sz="2200" b="1">
                <a:latin typeface="Noto Sans CJK JP"/>
              </a:rPr>
              <a:t>測地成果 2024</a:t>
            </a:r>
            <a:r>
              <a:rPr sz="2200" b="0">
                <a:latin typeface="Noto Sans CJK JP"/>
              </a:rPr>
              <a:t>：2025 年 4 月 1 日から適用。</a:t>
            </a:r>
            <a:r>
              <a:rPr sz="2200" b="1">
                <a:latin typeface="Noto Sans CJK JP"/>
              </a:rPr>
              <a:t>標高成果のみ</a:t>
            </a:r>
            <a:r>
              <a:rPr sz="2200" b="0">
                <a:latin typeface="Noto Sans CJK JP"/>
              </a:rPr>
              <a:t>を改定し、水平位置（緯度経度・平面直角座標）は測地成果 2011 のまま。</a:t>
            </a:r>
          </a:p>
          <a:p>
            <a:pPr>
              <a:spcAft>
                <a:spcPts val="400"/>
              </a:spcAft>
            </a:pPr>
            <a:r>
              <a:rPr sz="2200" b="0">
                <a:latin typeface="Noto Sans CJK JP"/>
              </a:rPr>
              <a:t>• </a:t>
            </a:r>
            <a:r>
              <a:rPr sz="2200" b="0">
                <a:latin typeface="Noto Sans CJK JP"/>
              </a:rPr>
              <a:t>標高の基準はジオイドモデル「ジオイド2024日本とその周辺」に基づく。</a:t>
            </a:r>
          </a:p>
          <a:p>
            <a:pPr>
              <a:spcAft>
                <a:spcPts val="400"/>
              </a:spcAft>
            </a:pPr>
            <a:r>
              <a:rPr sz="2200" b="0">
                <a:latin typeface="Noto Sans CJK JP"/>
              </a:rPr>
              <a:t>• </a:t>
            </a:r>
            <a:r>
              <a:rPr sz="2200" b="0">
                <a:latin typeface="Noto Sans CJK JP"/>
              </a:rPr>
              <a:t>旧成果・旧ジオイドモデルと混用しない。</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3-3 試験で問われる型（高さ・基準・測地系）</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438400"/>
        </p:xfrm>
        <a:graphic>
          <a:graphicData uri="http://schemas.openxmlformats.org/drawingml/2006/table">
            <a:tbl>
              <a:tblPr firstRow="1" bandRow="1">
                <a:tableStyleId>{5C22544A-7EE6-4342-B048-85BDC9FD1C3A}</a:tableStyleId>
              </a:tblPr>
              <a:tblGrid>
                <a:gridCol w="5547207"/>
                <a:gridCol w="5547208"/>
              </a:tblGrid>
              <a:tr h="406400">
                <a:tc>
                  <a:txBody>
                    <a:bodyPr wrap="square"/>
                    <a:lstStyle/>
                    <a:p>
                      <a:r>
                        <a:rPr sz="1600" b="1">
                          <a:solidFill>
                            <a:srgbClr val="1F1F1F"/>
                          </a:solidFill>
                          <a:latin typeface="Noto Sans CJK JP"/>
                        </a:rPr>
                        <a:t>型</a:t>
                      </a:r>
                    </a:p>
                  </a:txBody>
                  <a:tcPr marL="54864" marR="54864" marT="27432" marB="27432">
                    <a:solidFill>
                      <a:srgbClr val="DCE6F1"/>
                    </a:solidFill>
                  </a:tcPr>
                </a:tc>
                <a:tc>
                  <a:txBody>
                    <a:bodyPr wrap="square"/>
                    <a:lstStyle/>
                    <a:p>
                      <a:r>
                        <a:rPr sz="1600" b="1">
                          <a:solidFill>
                            <a:srgbClr val="1F1F1F"/>
                          </a:solidFill>
                          <a:latin typeface="Noto Sans CJK JP"/>
                        </a:rPr>
                        <a:t>着眼点</a:t>
                      </a:r>
                    </a:p>
                  </a:txBody>
                  <a:tcPr marL="54864" marR="54864" marT="27432" marB="27432">
                    <a:solidFill>
                      <a:srgbClr val="DCE6F1"/>
                    </a:solidFill>
                  </a:tcPr>
                </a:tc>
              </a:tr>
              <a:tr h="406400">
                <a:tc>
                  <a:txBody>
                    <a:bodyPr wrap="square"/>
                    <a:lstStyle/>
                    <a:p>
                      <a:r>
                        <a:rPr sz="1600" b="0">
                          <a:latin typeface="DejaVu Sans"/>
                        </a:rPr>
                        <a:t>h=H+N</a:t>
                      </a:r>
                      <a:r>
                        <a:rPr sz="1600" b="0">
                          <a:latin typeface="Noto Sans CJK JP"/>
                        </a:rPr>
                        <a:t> の計算</a:t>
                      </a:r>
                    </a:p>
                  </a:txBody>
                  <a:tcPr marL="54864" marR="54864" marT="27432" marB="27432">
                    <a:solidFill>
                      <a:srgbClr val="FFFFFF"/>
                    </a:solidFill>
                  </a:tcPr>
                </a:tc>
                <a:tc>
                  <a:txBody>
                    <a:bodyPr wrap="square"/>
                    <a:lstStyle/>
                    <a:p>
                      <a:r>
                        <a:rPr sz="1600" b="0">
                          <a:latin typeface="DejaVu Sans"/>
                        </a:rPr>
                        <a:t>H=h-N</a:t>
                      </a:r>
                      <a:r>
                        <a:rPr sz="1600" b="0">
                          <a:latin typeface="Noto Sans CJK JP"/>
                        </a:rPr>
                        <a:t>。符号と図の対応</a:t>
                      </a:r>
                    </a:p>
                  </a:txBody>
                  <a:tcPr marL="54864" marR="54864" marT="27432" marB="27432">
                    <a:solidFill>
                      <a:srgbClr val="FFFFFF"/>
                    </a:solidFill>
                  </a:tcPr>
                </a:tc>
              </a:tr>
              <a:tr h="406400">
                <a:tc>
                  <a:txBody>
                    <a:bodyPr wrap="square"/>
                    <a:lstStyle/>
                    <a:p>
                      <a:r>
                        <a:rPr sz="1600" b="0">
                          <a:latin typeface="Noto Sans CJK JP"/>
                        </a:rPr>
                        <a:t>ジオイドの定義</a:t>
                      </a:r>
                    </a:p>
                  </a:txBody>
                  <a:tcPr marL="54864" marR="54864" marT="27432" marB="27432">
                    <a:solidFill>
                      <a:srgbClr val="F5F7FA"/>
                    </a:solidFill>
                  </a:tcPr>
                </a:tc>
                <a:tc>
                  <a:txBody>
                    <a:bodyPr wrap="square"/>
                    <a:lstStyle/>
                    <a:p>
                      <a:r>
                        <a:rPr sz="1600" b="0">
                          <a:latin typeface="Noto Sans CJK JP"/>
                        </a:rPr>
                        <a:t>平均海面を陸地の下まで延長した面、重力の等ポテンシャル面</a:t>
                      </a:r>
                    </a:p>
                  </a:txBody>
                  <a:tcPr marL="54864" marR="54864" marT="27432" marB="27432">
                    <a:solidFill>
                      <a:srgbClr val="F5F7FA"/>
                    </a:solidFill>
                  </a:tcPr>
                </a:tc>
              </a:tr>
              <a:tr h="406400">
                <a:tc>
                  <a:txBody>
                    <a:bodyPr wrap="square"/>
                    <a:lstStyle/>
                    <a:p>
                      <a:r>
                        <a:rPr sz="1600" b="0">
                          <a:latin typeface="Noto Sans CJK JP"/>
                        </a:rPr>
                        <a:t>基準の正誤</a:t>
                      </a:r>
                    </a:p>
                  </a:txBody>
                  <a:tcPr marL="54864" marR="54864" marT="27432" marB="27432">
                    <a:solidFill>
                      <a:srgbClr val="FFFFFF"/>
                    </a:solidFill>
                  </a:tcPr>
                </a:tc>
                <a:tc>
                  <a:txBody>
                    <a:bodyPr wrap="square"/>
                    <a:lstStyle/>
                    <a:p>
                      <a:r>
                        <a:rPr sz="1600" b="0">
                          <a:latin typeface="Noto Sans CJK JP"/>
                        </a:rPr>
                        <a:t>電子基準点は国土地理院（約 1300 点）、経緯度原点（麻布台）と水準原点（永田町、24.3900 m）の違い</a:t>
                      </a:r>
                    </a:p>
                  </a:txBody>
                  <a:tcPr marL="54864" marR="54864" marT="27432" marB="27432">
                    <a:solidFill>
                      <a:srgbClr val="FFFFFF"/>
                    </a:solidFill>
                  </a:tcPr>
                </a:tc>
              </a:tr>
              <a:tr h="406400">
                <a:tc>
                  <a:txBody>
                    <a:bodyPr wrap="square"/>
                    <a:lstStyle/>
                    <a:p>
                      <a:r>
                        <a:rPr sz="1600" b="0">
                          <a:latin typeface="Noto Sans CJK JP"/>
                        </a:rPr>
                        <a:t>測地系の正誤</a:t>
                      </a:r>
                    </a:p>
                  </a:txBody>
                  <a:tcPr marL="54864" marR="54864" marT="27432" marB="27432">
                    <a:solidFill>
                      <a:srgbClr val="F5F7FA"/>
                    </a:solidFill>
                  </a:tcPr>
                </a:tc>
                <a:tc>
                  <a:txBody>
                    <a:bodyPr wrap="square"/>
                    <a:lstStyle/>
                    <a:p>
                      <a:r>
                        <a:rPr sz="1600" b="0">
                          <a:latin typeface="Noto Sans CJK JP"/>
                        </a:rPr>
                        <a:t>JGD2011・GRS80・測地成果 2024（標高のみ改定）、世界測地系と旧日本測地系</a:t>
                      </a:r>
                    </a:p>
                  </a:txBody>
                  <a:tcPr marL="54864" marR="54864" marT="27432" marB="27432">
                    <a:solidFill>
                      <a:srgbClr val="F5F7FA"/>
                    </a:solidFill>
                  </a:tcPr>
                </a:tc>
              </a:tr>
              <a:tr h="406400">
                <a:tc>
                  <a:txBody>
                    <a:bodyPr wrap="square"/>
                    <a:lstStyle/>
                    <a:p>
                      <a:r>
                        <a:rPr sz="1600" b="0">
                          <a:latin typeface="Noto Sans CJK JP"/>
                        </a:rPr>
                        <a:t>投影の正誤</a:t>
                      </a:r>
                    </a:p>
                  </a:txBody>
                  <a:tcPr marL="54864" marR="54864" marT="27432" marB="27432">
                    <a:solidFill>
                      <a:srgbClr val="FFFFFF"/>
                    </a:solidFill>
                  </a:tcPr>
                </a:tc>
                <a:tc>
                  <a:txBody>
                    <a:bodyPr wrap="square"/>
                    <a:lstStyle/>
                    <a:p>
                      <a:r>
                        <a:rPr sz="1600" b="0">
                          <a:latin typeface="Noto Sans CJK JP"/>
                        </a:rPr>
                        <a:t>ガウス・クリューゲル（等角）、UTM 0.9996・6° 幅、平面直角座標系 0.9999・19 系</a:t>
                      </a:r>
                    </a:p>
                  </a:txBody>
                  <a:tcPr marL="54864" marR="54864" marT="27432" marB="27432">
                    <a:solidFill>
                      <a:srgbClr val="FFFFFF"/>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平面直角座標系の定義</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根拠：測量法施行令と国土交通省告示。日本を </a:t>
            </a:r>
            <a:r>
              <a:rPr sz="2000" b="1">
                <a:latin typeface="Noto Sans CJK JP"/>
              </a:rPr>
              <a:t>19 の系（I〜XIX）</a:t>
            </a:r>
            <a:r>
              <a:rPr sz="2000" b="0">
                <a:latin typeface="Noto Sans CJK JP"/>
              </a:rPr>
              <a:t> に分ける。</a:t>
            </a:r>
          </a:p>
          <a:p>
            <a:pPr>
              <a:spcAft>
                <a:spcPts val="400"/>
              </a:spcAft>
            </a:pPr>
            <a:r>
              <a:rPr sz="2000" b="0">
                <a:latin typeface="Noto Sans CJK JP"/>
              </a:rPr>
              <a:t>• </a:t>
            </a:r>
            <a:r>
              <a:rPr sz="2000" b="0">
                <a:latin typeface="Noto Sans CJK JP"/>
              </a:rPr>
              <a:t>各系の原点は</a:t>
            </a:r>
            <a:r>
              <a:rPr sz="2000" b="1">
                <a:latin typeface="Noto Sans CJK JP"/>
              </a:rPr>
              <a:t>緯度・経度</a:t>
            </a:r>
            <a:r>
              <a:rPr sz="2000" b="0">
                <a:latin typeface="Noto Sans CJK JP"/>
              </a:rPr>
              <a:t>で定め、原点の座標は </a:t>
            </a:r>
            <a:r>
              <a:rPr sz="2000" b="0">
                <a:latin typeface="DejaVu Sans"/>
              </a:rPr>
              <a:t>(X, Y)=(0, 0)</a:t>
            </a:r>
            <a:r>
              <a:rPr sz="2000" b="0">
                <a:latin typeface="Noto Sans CJK JP"/>
              </a:rPr>
              <a:t>。</a:t>
            </a:r>
          </a:p>
          <a:p>
            <a:pPr>
              <a:spcAft>
                <a:spcPts val="400"/>
              </a:spcAft>
            </a:pPr>
            <a:r>
              <a:rPr sz="2000" b="0">
                <a:latin typeface="Noto Sans CJK JP"/>
              </a:rPr>
              <a:t>• </a:t>
            </a:r>
            <a:r>
              <a:rPr sz="2000" b="0">
                <a:latin typeface="Noto Sans CJK JP"/>
              </a:rPr>
              <a:t>原点を通る子午線を X 軸、原点を通りそれに直交する線を Y 軸とする。</a:t>
            </a:r>
          </a:p>
          <a:p>
            <a:pPr>
              <a:spcAft>
                <a:spcPts val="400"/>
              </a:spcAft>
            </a:pPr>
            <a:r>
              <a:rPr sz="2000" b="0">
                <a:latin typeface="Noto Sans CJK JP"/>
              </a:rPr>
              <a:t>• </a:t>
            </a:r>
            <a:r>
              <a:rPr sz="2000" b="0">
                <a:latin typeface="Noto Sans CJK JP"/>
              </a:rPr>
              <a:t>1つの系の東西の幅はおよそ 130 km 以内（ひずみを抑えるため）。</a:t>
            </a:r>
          </a:p>
        </p:txBody>
      </p:sp>
      <p:pic>
        <p:nvPicPr>
          <p:cNvPr id="5" name="Picture 4" descr="19系の配置（模式図）"/>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X 軸が北、Y 軸が東</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数学：</a:t>
            </a:r>
            <a:r>
              <a:rPr sz="2000" b="0">
                <a:latin typeface="DejaVu Sans"/>
              </a:rPr>
              <a:t>x</a:t>
            </a:r>
            <a:r>
              <a:rPr sz="2000" b="0">
                <a:latin typeface="Noto Sans CJK JP"/>
              </a:rPr>
              <a:t> が横、</a:t>
            </a:r>
            <a:r>
              <a:rPr sz="2000" b="0">
                <a:latin typeface="DejaVu Sans"/>
              </a:rPr>
              <a:t>y</a:t>
            </a:r>
            <a:r>
              <a:rPr sz="2000" b="0">
                <a:latin typeface="Noto Sans CJK JP"/>
              </a:rPr>
              <a:t> が縦、角は </a:t>
            </a:r>
            <a:r>
              <a:rPr sz="2000" b="0">
                <a:latin typeface="DejaVu Sans"/>
              </a:rPr>
              <a:t>x</a:t>
            </a:r>
            <a:r>
              <a:rPr sz="2000" b="0">
                <a:latin typeface="Noto Sans CJK JP"/>
              </a:rPr>
              <a:t> 軸から</a:t>
            </a:r>
            <a:r>
              <a:rPr sz="2000" b="1">
                <a:latin typeface="Noto Sans CJK JP"/>
              </a:rPr>
              <a:t>左回り</a:t>
            </a:r>
            <a:r>
              <a:rPr sz="2000" b="0">
                <a:latin typeface="Noto Sans CJK JP"/>
              </a:rPr>
              <a:t>。</a:t>
            </a:r>
          </a:p>
          <a:p>
            <a:pPr>
              <a:spcAft>
                <a:spcPts val="400"/>
              </a:spcAft>
            </a:pPr>
            <a:r>
              <a:rPr sz="2000" b="0">
                <a:latin typeface="Noto Sans CJK JP"/>
              </a:rPr>
              <a:t>• </a:t>
            </a:r>
            <a:r>
              <a:rPr sz="2000" b="0">
                <a:latin typeface="Noto Sans CJK JP"/>
              </a:rPr>
              <a:t>測量：</a:t>
            </a:r>
            <a:r>
              <a:rPr sz="2000" b="1">
                <a:latin typeface="Noto Sans CJK JP"/>
              </a:rPr>
              <a:t>X が北（縦）、Y が東（横）</a:t>
            </a:r>
            <a:r>
              <a:rPr sz="2000" b="0">
                <a:latin typeface="Noto Sans CJK JP"/>
              </a:rPr>
              <a:t>、角は X 軸（北）から</a:t>
            </a:r>
            <a:r>
              <a:rPr sz="2000" b="1">
                <a:latin typeface="Noto Sans CJK JP"/>
              </a:rPr>
              <a:t>右回り</a:t>
            </a:r>
            <a:r>
              <a:rPr sz="2000" b="0">
                <a:latin typeface="Noto Sans CJK JP"/>
              </a:rPr>
              <a:t>。</a:t>
            </a:r>
          </a:p>
          <a:p>
            <a:pPr>
              <a:spcAft>
                <a:spcPts val="400"/>
              </a:spcAft>
            </a:pPr>
            <a:r>
              <a:rPr sz="2000" b="0">
                <a:latin typeface="Noto Sans CJK JP"/>
              </a:rPr>
              <a:t>• </a:t>
            </a:r>
            <a:r>
              <a:rPr sz="2000" b="0">
                <a:latin typeface="Noto Sans CJK JP"/>
              </a:rPr>
              <a:t>式の形は同じ：</a:t>
            </a:r>
            <a:r>
              <a:rPr sz="2000" b="0">
                <a:latin typeface="DejaVu Sans"/>
              </a:rPr>
              <a:t>Δ X=Scos T</a:t>
            </a:r>
            <a:r>
              <a:rPr sz="2000" b="0">
                <a:latin typeface="Noto Sans CJK JP"/>
              </a:rPr>
              <a:t>、</a:t>
            </a:r>
            <a:r>
              <a:rPr sz="2000" b="0">
                <a:latin typeface="DejaVu Sans"/>
              </a:rPr>
              <a:t>Δ Y=Ssin T</a:t>
            </a:r>
            <a:r>
              <a:rPr sz="2000" b="0">
                <a:latin typeface="Noto Sans CJK JP"/>
              </a:rPr>
              <a:t>。</a:t>
            </a:r>
          </a:p>
          <a:p>
            <a:pPr>
              <a:spcAft>
                <a:spcPts val="400"/>
              </a:spcAft>
            </a:pPr>
            <a:r>
              <a:rPr sz="2000" b="0">
                <a:latin typeface="Noto Sans CJK JP"/>
              </a:rPr>
              <a:t>• </a:t>
            </a:r>
            <a:r>
              <a:rPr sz="2000" b="0">
                <a:latin typeface="Noto Sans CJK JP"/>
              </a:rPr>
              <a:t>数学の </a:t>
            </a:r>
            <a:r>
              <a:rPr sz="2000" b="0">
                <a:latin typeface="DejaVu Sans"/>
              </a:rPr>
              <a:t>(x, y)</a:t>
            </a:r>
            <a:r>
              <a:rPr sz="2000" b="0">
                <a:latin typeface="Noto Sans CJK JP"/>
              </a:rPr>
              <a:t> を測量の </a:t>
            </a:r>
            <a:r>
              <a:rPr sz="2000" b="0">
                <a:latin typeface="DejaVu Sans"/>
              </a:rPr>
              <a:t>(Y, X)</a:t>
            </a:r>
            <a:r>
              <a:rPr sz="2000" b="0">
                <a:latin typeface="Noto Sans CJK JP"/>
              </a:rPr>
              <a:t> と読み替えれば、電卓の極座標変換も使える。</a:t>
            </a:r>
          </a:p>
        </p:txBody>
      </p:sp>
      <p:pic>
        <p:nvPicPr>
          <p:cNvPr id="5" name="Picture 4" descr="数学座標と測量座標の比較"/>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象限と座標の符号</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032000"/>
        </p:xfrm>
        <a:graphic>
          <a:graphicData uri="http://schemas.openxmlformats.org/drawingml/2006/table">
            <a:tbl>
              <a:tblPr firstRow="1" bandRow="1">
                <a:tableStyleId>{5C22544A-7EE6-4342-B048-85BDC9FD1C3A}</a:tableStyleId>
              </a:tblPr>
              <a:tblGrid>
                <a:gridCol w="2218883"/>
                <a:gridCol w="2218883"/>
                <a:gridCol w="2218883"/>
                <a:gridCol w="2218883"/>
                <a:gridCol w="2218883"/>
              </a:tblGrid>
              <a:tr h="406400">
                <a:tc>
                  <a:txBody>
                    <a:bodyPr wrap="square"/>
                    <a:lstStyle/>
                    <a:p>
                      <a:r>
                        <a:rPr sz="1600" b="1">
                          <a:solidFill>
                            <a:srgbClr val="1F1F1F"/>
                          </a:solidFill>
                          <a:latin typeface="Noto Sans CJK JP"/>
                        </a:rPr>
                        <a:t>象限</a:t>
                      </a:r>
                    </a:p>
                  </a:txBody>
                  <a:tcPr marL="54864" marR="54864" marT="27432" marB="27432">
                    <a:solidFill>
                      <a:srgbClr val="DCE6F1"/>
                    </a:solidFill>
                  </a:tcPr>
                </a:tc>
                <a:tc>
                  <a:txBody>
                    <a:bodyPr wrap="square"/>
                    <a:lstStyle/>
                    <a:p>
                      <a:r>
                        <a:rPr sz="1600" b="1">
                          <a:solidFill>
                            <a:srgbClr val="1F1F1F"/>
                          </a:solidFill>
                          <a:latin typeface="Noto Sans CJK JP"/>
                        </a:rPr>
                        <a:t>位置</a:t>
                      </a:r>
                    </a:p>
                  </a:txBody>
                  <a:tcPr marL="54864" marR="54864" marT="27432" marB="27432">
                    <a:solidFill>
                      <a:srgbClr val="DCE6F1"/>
                    </a:solidFill>
                  </a:tcPr>
                </a:tc>
                <a:tc>
                  <a:txBody>
                    <a:bodyPr wrap="square"/>
                    <a:lstStyle/>
                    <a:p>
                      <a:r>
                        <a:rPr sz="1600" b="1">
                          <a:solidFill>
                            <a:srgbClr val="1F1F1F"/>
                          </a:solidFill>
                          <a:latin typeface="DejaVu Sans"/>
                        </a:rPr>
                        <a:t>X</a:t>
                      </a:r>
                    </a:p>
                  </a:txBody>
                  <a:tcPr marL="54864" marR="54864" marT="27432" marB="27432">
                    <a:solidFill>
                      <a:srgbClr val="DCE6F1"/>
                    </a:solidFill>
                  </a:tcPr>
                </a:tc>
                <a:tc>
                  <a:txBody>
                    <a:bodyPr wrap="square"/>
                    <a:lstStyle/>
                    <a:p>
                      <a:r>
                        <a:rPr sz="1600" b="1">
                          <a:solidFill>
                            <a:srgbClr val="1F1F1F"/>
                          </a:solidFill>
                          <a:latin typeface="DejaVu Sans"/>
                        </a:rPr>
                        <a:t>Y</a:t>
                      </a:r>
                    </a:p>
                  </a:txBody>
                  <a:tcPr marL="54864" marR="54864" marT="27432" marB="27432">
                    <a:solidFill>
                      <a:srgbClr val="DCE6F1"/>
                    </a:solidFill>
                  </a:tcPr>
                </a:tc>
                <a:tc>
                  <a:txBody>
                    <a:bodyPr wrap="square"/>
                    <a:lstStyle/>
                    <a:p>
                      <a:r>
                        <a:rPr sz="1600" b="1">
                          <a:solidFill>
                            <a:srgbClr val="1F1F1F"/>
                          </a:solidFill>
                          <a:latin typeface="Noto Sans CJK JP"/>
                        </a:rPr>
                        <a:t>方向角の範囲</a:t>
                      </a:r>
                    </a:p>
                  </a:txBody>
                  <a:tcPr marL="54864" marR="54864" marT="27432" marB="27432">
                    <a:solidFill>
                      <a:srgbClr val="DCE6F1"/>
                    </a:solidFill>
                  </a:tcPr>
                </a:tc>
              </a:tr>
              <a:tr h="406400">
                <a:tc>
                  <a:txBody>
                    <a:bodyPr wrap="square"/>
                    <a:lstStyle/>
                    <a:p>
                      <a:r>
                        <a:rPr sz="1600" b="0">
                          <a:latin typeface="Noto Sans CJK JP"/>
                        </a:rPr>
                        <a:t>第1</a:t>
                      </a:r>
                    </a:p>
                  </a:txBody>
                  <a:tcPr marL="54864" marR="54864" marT="27432" marB="27432">
                    <a:solidFill>
                      <a:srgbClr val="FFFFFF"/>
                    </a:solidFill>
                  </a:tcPr>
                </a:tc>
                <a:tc>
                  <a:txBody>
                    <a:bodyPr wrap="square"/>
                    <a:lstStyle/>
                    <a:p>
                      <a:r>
                        <a:rPr sz="1600" b="0">
                          <a:latin typeface="Noto Sans CJK JP"/>
                        </a:rPr>
                        <a:t>北東</a:t>
                      </a:r>
                    </a:p>
                  </a:txBody>
                  <a:tcPr marL="54864" marR="54864" marT="27432" marB="27432">
                    <a:solidFill>
                      <a:srgbClr val="FFFFFF"/>
                    </a:solidFill>
                  </a:tcPr>
                </a:tc>
                <a:tc>
                  <a:txBody>
                    <a:bodyPr wrap="square"/>
                    <a:lstStyle/>
                    <a:p>
                      <a:r>
                        <a:rPr sz="1600" b="0">
                          <a:latin typeface="Noto Sans CJK JP"/>
                        </a:rPr>
                        <a:t>＋</a:t>
                      </a:r>
                    </a:p>
                  </a:txBody>
                  <a:tcPr marL="54864" marR="54864" marT="27432" marB="27432">
                    <a:solidFill>
                      <a:srgbClr val="FFFFFF"/>
                    </a:solidFill>
                  </a:tcPr>
                </a:tc>
                <a:tc>
                  <a:txBody>
                    <a:bodyPr wrap="square"/>
                    <a:lstStyle/>
                    <a:p>
                      <a:r>
                        <a:rPr sz="1600" b="0">
                          <a:latin typeface="Noto Sans CJK JP"/>
                        </a:rPr>
                        <a:t>＋</a:t>
                      </a:r>
                    </a:p>
                  </a:txBody>
                  <a:tcPr marL="54864" marR="54864" marT="27432" marB="27432">
                    <a:solidFill>
                      <a:srgbClr val="FFFFFF"/>
                    </a:solidFill>
                  </a:tcPr>
                </a:tc>
                <a:tc>
                  <a:txBody>
                    <a:bodyPr wrap="square"/>
                    <a:lstStyle/>
                    <a:p>
                      <a:r>
                        <a:rPr sz="1600" b="0">
                          <a:latin typeface="Noto Sans CJK JP"/>
                        </a:rPr>
                        <a:t>0°〜90°</a:t>
                      </a:r>
                    </a:p>
                  </a:txBody>
                  <a:tcPr marL="54864" marR="54864" marT="27432" marB="27432">
                    <a:solidFill>
                      <a:srgbClr val="FFFFFF"/>
                    </a:solidFill>
                  </a:tcPr>
                </a:tc>
              </a:tr>
              <a:tr h="406400">
                <a:tc>
                  <a:txBody>
                    <a:bodyPr wrap="square"/>
                    <a:lstStyle/>
                    <a:p>
                      <a:r>
                        <a:rPr sz="1600" b="0">
                          <a:latin typeface="Noto Sans CJK JP"/>
                        </a:rPr>
                        <a:t>第2</a:t>
                      </a:r>
                    </a:p>
                  </a:txBody>
                  <a:tcPr marL="54864" marR="54864" marT="27432" marB="27432">
                    <a:solidFill>
                      <a:srgbClr val="F5F7FA"/>
                    </a:solidFill>
                  </a:tcPr>
                </a:tc>
                <a:tc>
                  <a:txBody>
                    <a:bodyPr wrap="square"/>
                    <a:lstStyle/>
                    <a:p>
                      <a:r>
                        <a:rPr sz="1600" b="0">
                          <a:latin typeface="Noto Sans CJK JP"/>
                        </a:rPr>
                        <a:t>南東</a:t>
                      </a:r>
                    </a:p>
                  </a:txBody>
                  <a:tcPr marL="54864" marR="54864" marT="27432" marB="27432">
                    <a:solidFill>
                      <a:srgbClr val="F5F7FA"/>
                    </a:solidFill>
                  </a:tcPr>
                </a:tc>
                <a:tc>
                  <a:txBody>
                    <a:bodyPr wrap="square"/>
                    <a:lstStyle/>
                    <a:p>
                      <a:r>
                        <a:rPr sz="1600" b="0">
                          <a:latin typeface="Noto Sans CJK JP"/>
                        </a:rPr>
                        <a:t>−</a:t>
                      </a:r>
                    </a:p>
                  </a:txBody>
                  <a:tcPr marL="54864" marR="54864" marT="27432" marB="27432">
                    <a:solidFill>
                      <a:srgbClr val="F5F7FA"/>
                    </a:solidFill>
                  </a:tcPr>
                </a:tc>
                <a:tc>
                  <a:txBody>
                    <a:bodyPr wrap="square"/>
                    <a:lstStyle/>
                    <a:p>
                      <a:r>
                        <a:rPr sz="1600" b="0">
                          <a:latin typeface="Noto Sans CJK JP"/>
                        </a:rPr>
                        <a:t>＋</a:t>
                      </a:r>
                    </a:p>
                  </a:txBody>
                  <a:tcPr marL="54864" marR="54864" marT="27432" marB="27432">
                    <a:solidFill>
                      <a:srgbClr val="F5F7FA"/>
                    </a:solidFill>
                  </a:tcPr>
                </a:tc>
                <a:tc>
                  <a:txBody>
                    <a:bodyPr wrap="square"/>
                    <a:lstStyle/>
                    <a:p>
                      <a:r>
                        <a:rPr sz="1600" b="0">
                          <a:latin typeface="Noto Sans CJK JP"/>
                        </a:rPr>
                        <a:t>90°〜180°</a:t>
                      </a:r>
                    </a:p>
                  </a:txBody>
                  <a:tcPr marL="54864" marR="54864" marT="27432" marB="27432">
                    <a:solidFill>
                      <a:srgbClr val="F5F7FA"/>
                    </a:solidFill>
                  </a:tcPr>
                </a:tc>
              </a:tr>
              <a:tr h="406400">
                <a:tc>
                  <a:txBody>
                    <a:bodyPr wrap="square"/>
                    <a:lstStyle/>
                    <a:p>
                      <a:r>
                        <a:rPr sz="1600" b="0">
                          <a:latin typeface="Noto Sans CJK JP"/>
                        </a:rPr>
                        <a:t>第3</a:t>
                      </a:r>
                    </a:p>
                  </a:txBody>
                  <a:tcPr marL="54864" marR="54864" marT="27432" marB="27432">
                    <a:solidFill>
                      <a:srgbClr val="FFFFFF"/>
                    </a:solidFill>
                  </a:tcPr>
                </a:tc>
                <a:tc>
                  <a:txBody>
                    <a:bodyPr wrap="square"/>
                    <a:lstStyle/>
                    <a:p>
                      <a:r>
                        <a:rPr sz="1600" b="0">
                          <a:latin typeface="Noto Sans CJK JP"/>
                        </a:rPr>
                        <a:t>南西</a:t>
                      </a:r>
                    </a:p>
                  </a:txBody>
                  <a:tcPr marL="54864" marR="54864" marT="27432" marB="27432">
                    <a:solidFill>
                      <a:srgbClr val="FFFFFF"/>
                    </a:solidFill>
                  </a:tcPr>
                </a:tc>
                <a:tc>
                  <a:txBody>
                    <a:bodyPr wrap="square"/>
                    <a:lstStyle/>
                    <a:p>
                      <a:r>
                        <a:rPr sz="1600" b="0">
                          <a:latin typeface="Noto Sans CJK JP"/>
                        </a:rPr>
                        <a:t>−</a:t>
                      </a:r>
                    </a:p>
                  </a:txBody>
                  <a:tcPr marL="54864" marR="54864" marT="27432" marB="27432">
                    <a:solidFill>
                      <a:srgbClr val="FFFFFF"/>
                    </a:solidFill>
                  </a:tcPr>
                </a:tc>
                <a:tc>
                  <a:txBody>
                    <a:bodyPr wrap="square"/>
                    <a:lstStyle/>
                    <a:p>
                      <a:r>
                        <a:rPr sz="1600" b="0">
                          <a:latin typeface="Noto Sans CJK JP"/>
                        </a:rPr>
                        <a:t>−</a:t>
                      </a:r>
                    </a:p>
                  </a:txBody>
                  <a:tcPr marL="54864" marR="54864" marT="27432" marB="27432">
                    <a:solidFill>
                      <a:srgbClr val="FFFFFF"/>
                    </a:solidFill>
                  </a:tcPr>
                </a:tc>
                <a:tc>
                  <a:txBody>
                    <a:bodyPr wrap="square"/>
                    <a:lstStyle/>
                    <a:p>
                      <a:r>
                        <a:rPr sz="1600" b="0">
                          <a:latin typeface="Noto Sans CJK JP"/>
                        </a:rPr>
                        <a:t>180°〜270°</a:t>
                      </a:r>
                    </a:p>
                  </a:txBody>
                  <a:tcPr marL="54864" marR="54864" marT="27432" marB="27432">
                    <a:solidFill>
                      <a:srgbClr val="FFFFFF"/>
                    </a:solidFill>
                  </a:tcPr>
                </a:tc>
              </a:tr>
              <a:tr h="406400">
                <a:tc>
                  <a:txBody>
                    <a:bodyPr wrap="square"/>
                    <a:lstStyle/>
                    <a:p>
                      <a:r>
                        <a:rPr sz="1600" b="0">
                          <a:latin typeface="Noto Sans CJK JP"/>
                        </a:rPr>
                        <a:t>第4</a:t>
                      </a:r>
                    </a:p>
                  </a:txBody>
                  <a:tcPr marL="54864" marR="54864" marT="27432" marB="27432">
                    <a:solidFill>
                      <a:srgbClr val="F5F7FA"/>
                    </a:solidFill>
                  </a:tcPr>
                </a:tc>
                <a:tc>
                  <a:txBody>
                    <a:bodyPr wrap="square"/>
                    <a:lstStyle/>
                    <a:p>
                      <a:r>
                        <a:rPr sz="1600" b="0">
                          <a:latin typeface="Noto Sans CJK JP"/>
                        </a:rPr>
                        <a:t>北西</a:t>
                      </a:r>
                    </a:p>
                  </a:txBody>
                  <a:tcPr marL="54864" marR="54864" marT="27432" marB="27432">
                    <a:solidFill>
                      <a:srgbClr val="F5F7FA"/>
                    </a:solidFill>
                  </a:tcPr>
                </a:tc>
                <a:tc>
                  <a:txBody>
                    <a:bodyPr wrap="square"/>
                    <a:lstStyle/>
                    <a:p>
                      <a:r>
                        <a:rPr sz="1600" b="0">
                          <a:latin typeface="Noto Sans CJK JP"/>
                        </a:rPr>
                        <a:t>＋</a:t>
                      </a:r>
                    </a:p>
                  </a:txBody>
                  <a:tcPr marL="54864" marR="54864" marT="27432" marB="27432">
                    <a:solidFill>
                      <a:srgbClr val="F5F7FA"/>
                    </a:solidFill>
                  </a:tcPr>
                </a:tc>
                <a:tc>
                  <a:txBody>
                    <a:bodyPr wrap="square"/>
                    <a:lstStyle/>
                    <a:p>
                      <a:r>
                        <a:rPr sz="1600" b="0">
                          <a:latin typeface="Noto Sans CJK JP"/>
                        </a:rPr>
                        <a:t>−</a:t>
                      </a:r>
                    </a:p>
                  </a:txBody>
                  <a:tcPr marL="54864" marR="54864" marT="27432" marB="27432">
                    <a:solidFill>
                      <a:srgbClr val="F5F7FA"/>
                    </a:solidFill>
                  </a:tcPr>
                </a:tc>
                <a:tc>
                  <a:txBody>
                    <a:bodyPr wrap="square"/>
                    <a:lstStyle/>
                    <a:p>
                      <a:r>
                        <a:rPr sz="1600" b="0">
                          <a:latin typeface="Noto Sans CJK JP"/>
                        </a:rPr>
                        <a:t>270°〜360°</a:t>
                      </a:r>
                    </a:p>
                  </a:txBody>
                  <a:tcPr marL="54864" marR="54864" marT="27432" marB="27432">
                    <a:solidFill>
                      <a:srgbClr val="F5F7FA"/>
                    </a:solidFill>
                  </a:tcPr>
                </a:tc>
              </a:tr>
            </a:tbl>
          </a:graphicData>
        </a:graphic>
      </p:graphicFrame>
      <p:sp>
        <p:nvSpPr>
          <p:cNvPr id="5" name="TextBox 4"/>
          <p:cNvSpPr txBox="1"/>
          <p:nvPr/>
        </p:nvSpPr>
        <p:spPr>
          <a:xfrm>
            <a:off x="548640" y="3540760"/>
            <a:ext cx="11094415" cy="5308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象限は X 軸から右回りに数える（数学とは順番が違う）。</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北海道の系と本学の位置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6256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系</a:t>
                      </a:r>
                    </a:p>
                  </a:txBody>
                  <a:tcPr marL="54864" marR="54864" marT="27432" marB="27432">
                    <a:solidFill>
                      <a:srgbClr val="DCE6F1"/>
                    </a:solidFill>
                  </a:tcPr>
                </a:tc>
                <a:tc>
                  <a:txBody>
                    <a:bodyPr wrap="square"/>
                    <a:lstStyle/>
                    <a:p>
                      <a:r>
                        <a:rPr sz="1600" b="1">
                          <a:solidFill>
                            <a:srgbClr val="1F1F1F"/>
                          </a:solidFill>
                          <a:latin typeface="Noto Sans CJK JP"/>
                        </a:rPr>
                        <a:t>原点</a:t>
                      </a:r>
                    </a:p>
                  </a:txBody>
                  <a:tcPr marL="54864" marR="54864" marT="27432" marB="27432">
                    <a:solidFill>
                      <a:srgbClr val="DCE6F1"/>
                    </a:solidFill>
                  </a:tcPr>
                </a:tc>
                <a:tc>
                  <a:txBody>
                    <a:bodyPr wrap="square"/>
                    <a:lstStyle/>
                    <a:p>
                      <a:r>
                        <a:rPr sz="1600" b="1">
                          <a:solidFill>
                            <a:srgbClr val="1F1F1F"/>
                          </a:solidFill>
                          <a:latin typeface="Noto Sans CJK JP"/>
                        </a:rPr>
                        <a:t>主な適用地域</a:t>
                      </a:r>
                    </a:p>
                  </a:txBody>
                  <a:tcPr marL="54864" marR="54864" marT="27432" marB="27432">
                    <a:solidFill>
                      <a:srgbClr val="DCE6F1"/>
                    </a:solidFill>
                  </a:tcPr>
                </a:tc>
              </a:tr>
              <a:tr h="406400">
                <a:tc>
                  <a:txBody>
                    <a:bodyPr wrap="square"/>
                    <a:lstStyle/>
                    <a:p>
                      <a:r>
                        <a:rPr sz="1600" b="0">
                          <a:latin typeface="Noto Sans CJK JP"/>
                        </a:rPr>
                        <a:t>XI</a:t>
                      </a:r>
                    </a:p>
                  </a:txBody>
                  <a:tcPr marL="54864" marR="54864" marT="27432" marB="27432">
                    <a:solidFill>
                      <a:srgbClr val="FFFFFF"/>
                    </a:solidFill>
                  </a:tcPr>
                </a:tc>
                <a:tc>
                  <a:txBody>
                    <a:bodyPr wrap="square"/>
                    <a:lstStyle/>
                    <a:p>
                      <a:r>
                        <a:rPr sz="1600" b="0">
                          <a:latin typeface="Noto Sans CJK JP"/>
                        </a:rPr>
                        <a:t>北緯 44°、東経 140°15′</a:t>
                      </a:r>
                    </a:p>
                  </a:txBody>
                  <a:tcPr marL="54864" marR="54864" marT="27432" marB="27432">
                    <a:solidFill>
                      <a:srgbClr val="FFFFFF"/>
                    </a:solidFill>
                  </a:tcPr>
                </a:tc>
                <a:tc>
                  <a:txBody>
                    <a:bodyPr wrap="square"/>
                    <a:lstStyle/>
                    <a:p>
                      <a:r>
                        <a:rPr sz="1600" b="0">
                          <a:latin typeface="Noto Sans CJK JP"/>
                        </a:rPr>
                        <a:t>道南西部（函館・小樽など）</a:t>
                      </a:r>
                    </a:p>
                  </a:txBody>
                  <a:tcPr marL="54864" marR="54864" marT="27432" marB="27432">
                    <a:solidFill>
                      <a:srgbClr val="FFFFFF"/>
                    </a:solidFill>
                  </a:tcPr>
                </a:tc>
              </a:tr>
              <a:tr h="406400">
                <a:tc>
                  <a:txBody>
                    <a:bodyPr wrap="square"/>
                    <a:lstStyle/>
                    <a:p>
                      <a:r>
                        <a:rPr sz="1600" b="0">
                          <a:latin typeface="Noto Sans CJK JP"/>
                        </a:rPr>
                        <a:t>XII</a:t>
                      </a:r>
                    </a:p>
                  </a:txBody>
                  <a:tcPr marL="54864" marR="54864" marT="27432" marB="27432">
                    <a:solidFill>
                      <a:srgbClr val="F5F7FA"/>
                    </a:solidFill>
                  </a:tcPr>
                </a:tc>
                <a:tc>
                  <a:txBody>
                    <a:bodyPr wrap="square"/>
                    <a:lstStyle/>
                    <a:p>
                      <a:r>
                        <a:rPr sz="1600" b="0">
                          <a:latin typeface="Noto Sans CJK JP"/>
                        </a:rPr>
                        <a:t>北緯 44°、東経 142°15′</a:t>
                      </a:r>
                    </a:p>
                  </a:txBody>
                  <a:tcPr marL="54864" marR="54864" marT="27432" marB="27432">
                    <a:solidFill>
                      <a:srgbClr val="F5F7FA"/>
                    </a:solidFill>
                  </a:tcPr>
                </a:tc>
                <a:tc>
                  <a:txBody>
                    <a:bodyPr wrap="square"/>
                    <a:lstStyle/>
                    <a:p>
                      <a:r>
                        <a:rPr sz="1600" b="0">
                          <a:latin typeface="Noto Sans CJK JP"/>
                        </a:rPr>
                        <a:t>道央（札幌・旭川など）</a:t>
                      </a:r>
                    </a:p>
                  </a:txBody>
                  <a:tcPr marL="54864" marR="54864" marT="27432" marB="27432">
                    <a:solidFill>
                      <a:srgbClr val="F5F7FA"/>
                    </a:solidFill>
                  </a:tcPr>
                </a:tc>
              </a:tr>
              <a:tr h="406400">
                <a:tc>
                  <a:txBody>
                    <a:bodyPr wrap="square"/>
                    <a:lstStyle/>
                    <a:p>
                      <a:r>
                        <a:rPr sz="1600" b="0">
                          <a:latin typeface="Noto Sans CJK JP"/>
                        </a:rPr>
                        <a:t>XIII</a:t>
                      </a:r>
                    </a:p>
                  </a:txBody>
                  <a:tcPr marL="54864" marR="54864" marT="27432" marB="27432">
                    <a:solidFill>
                      <a:srgbClr val="FFFFFF"/>
                    </a:solidFill>
                  </a:tcPr>
                </a:tc>
                <a:tc>
                  <a:txBody>
                    <a:bodyPr wrap="square"/>
                    <a:lstStyle/>
                    <a:p>
                      <a:r>
                        <a:rPr sz="1600" b="0">
                          <a:latin typeface="Noto Sans CJK JP"/>
                        </a:rPr>
                        <a:t>北緯 44°、東経 144°15′</a:t>
                      </a:r>
                    </a:p>
                  </a:txBody>
                  <a:tcPr marL="54864" marR="54864" marT="27432" marB="27432">
                    <a:solidFill>
                      <a:srgbClr val="FFFFFF"/>
                    </a:solidFill>
                  </a:tcPr>
                </a:tc>
                <a:tc>
                  <a:txBody>
                    <a:bodyPr wrap="square"/>
                    <a:lstStyle/>
                    <a:p>
                      <a:r>
                        <a:rPr sz="1600" b="0">
                          <a:latin typeface="Noto Sans CJK JP"/>
                        </a:rPr>
                        <a:t>道東（帯広・釧路・北見・網走・根室など）</a:t>
                      </a:r>
                    </a:p>
                  </a:txBody>
                  <a:tcPr marL="54864" marR="54864" marT="27432" marB="27432">
                    <a:solidFill>
                      <a:srgbClr val="FFFFFF"/>
                    </a:solidFill>
                  </a:tcPr>
                </a:tc>
              </a:tr>
            </a:tbl>
          </a:graphicData>
        </a:graphic>
      </p:graphicFrame>
      <p:sp>
        <p:nvSpPr>
          <p:cNvPr id="5" name="TextBox 4"/>
          <p:cNvSpPr txBox="1"/>
          <p:nvPr/>
        </p:nvSpPr>
        <p:spPr>
          <a:xfrm>
            <a:off x="548640" y="3134360"/>
            <a:ext cx="11094415" cy="13182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帯広市は </a:t>
            </a:r>
            <a:r>
              <a:rPr sz="2000" b="1">
                <a:latin typeface="Noto Sans CJK JP"/>
              </a:rPr>
              <a:t>第 XIII 系</a:t>
            </a:r>
            <a:r>
              <a:rPr sz="2000" b="0">
                <a:latin typeface="Noto Sans CJK JP"/>
              </a:rPr>
              <a:t>。原点（北緯 44°、東経 144°15′）の南西にあるので、</a:t>
            </a:r>
            <a:r>
              <a:rPr sz="2000" b="0">
                <a:latin typeface="DejaVu Sans"/>
              </a:rPr>
              <a:t>X&lt;0</a:t>
            </a:r>
            <a:r>
              <a:rPr sz="2000" b="0">
                <a:latin typeface="Noto Sans CJK JP"/>
              </a:rPr>
              <a:t>、</a:t>
            </a:r>
            <a:r>
              <a:rPr sz="2000" b="0">
                <a:latin typeface="DejaVu Sans"/>
              </a:rPr>
              <a:t>Y&lt;0</a:t>
            </a:r>
            <a:r>
              <a:rPr sz="2000" b="0">
                <a:latin typeface="Noto Sans CJK JP"/>
              </a:rPr>
              <a:t>（市中心部で </a:t>
            </a:r>
            <a:r>
              <a:rPr sz="2000" b="0">
                <a:latin typeface="DejaVu Sans"/>
              </a:rPr>
              <a:t>X≈-120</a:t>
            </a:r>
            <a:r>
              <a:rPr sz="2000" b="0">
                <a:latin typeface="Noto Sans CJK JP"/>
              </a:rPr>
              <a:t> km、</a:t>
            </a:r>
            <a:r>
              <a:rPr sz="2000" b="0">
                <a:latin typeface="DejaVu Sans"/>
              </a:rPr>
              <a:t>Y≈-85</a:t>
            </a:r>
            <a:r>
              <a:rPr sz="2000" b="0">
                <a:latin typeface="Noto Sans CJK JP"/>
              </a:rPr>
              <a:t> km）。</a:t>
            </a:r>
          </a:p>
          <a:p>
            <a:pPr>
              <a:spcAft>
                <a:spcPts val="400"/>
              </a:spcAft>
            </a:pPr>
            <a:r>
              <a:rPr sz="2000" b="0">
                <a:latin typeface="Noto Sans CJK JP"/>
              </a:rPr>
              <a:t>• </a:t>
            </a:r>
            <a:r>
              <a:rPr sz="2000" b="0">
                <a:latin typeface="Noto Sans CJK JP"/>
              </a:rPr>
              <a:t>系をまたぐ現場では、系を統一してから計算する。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縮尺係数：中央で縮め、端で伸ばす</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20015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Noto Sans CJK JP"/>
              </a:rPr>
              <a:t>原点で </a:t>
            </a:r>
            <a:r>
              <a:rPr sz="1800" b="0">
                <a:latin typeface="DejaVu Sans"/>
              </a:rPr>
              <a:t>m</a:t>
            </a:r>
            <a:r>
              <a:rPr sz="1800" b="0" baseline="-25000">
                <a:latin typeface="DejaVu Sans"/>
              </a:rPr>
              <a:t>0</a:t>
            </a:r>
            <a:r>
              <a:rPr sz="1800" b="0">
                <a:latin typeface="DejaVu Sans"/>
              </a:rPr>
              <a:t>=0.9999</a:t>
            </a:r>
            <a:r>
              <a:rPr sz="1800" b="0">
                <a:latin typeface="Noto Sans CJK JP"/>
              </a:rPr>
              <a:t>（1 万分の 1 だけ短く）。原点から東西に約 90 km で </a:t>
            </a:r>
            <a:r>
              <a:rPr sz="1800" b="0">
                <a:latin typeface="DejaVu Sans"/>
              </a:rPr>
              <a:t>m=1.0000</a:t>
            </a:r>
            <a:r>
              <a:rPr sz="1800" b="0">
                <a:latin typeface="Noto Sans CJK JP"/>
              </a:rPr>
              <a:t>、約 130 km で </a:t>
            </a:r>
            <a:r>
              <a:rPr sz="1800" b="0">
                <a:latin typeface="DejaVu Sans"/>
              </a:rPr>
              <a:t>m=1.0001</a:t>
            </a:r>
            <a:r>
              <a:rPr sz="1800" b="0">
                <a:latin typeface="Noto Sans CJK JP"/>
              </a:rPr>
              <a:t>。</a:t>
            </a:r>
          </a:p>
          <a:p>
            <a:pPr>
              <a:spcAft>
                <a:spcPts val="400"/>
              </a:spcAft>
            </a:pPr>
            <a:r>
              <a:rPr sz="1800" b="0">
                <a:latin typeface="Noto Sans CJK JP"/>
              </a:rPr>
              <a:t>• </a:t>
            </a:r>
            <a:r>
              <a:rPr sz="1800" b="0">
                <a:latin typeface="DejaVu Sans"/>
              </a:rPr>
              <a:t>m</a:t>
            </a:r>
            <a:r>
              <a:rPr sz="1800" b="0">
                <a:latin typeface="Noto Sans CJK JP"/>
              </a:rPr>
              <a:t> は Y（東西方向の距離）だけで決まり、X にはよらない。近似式と数値例：</a:t>
            </a:r>
          </a:p>
        </p:txBody>
      </p:sp>
      <p:pic>
        <p:nvPicPr>
          <p:cNvPr id="5" name="Picture 4" descr="eq_15b3a4c40383.png"/>
          <p:cNvPicPr>
            <a:picLocks noChangeAspect="1"/>
          </p:cNvPicPr>
          <p:nvPr/>
        </p:nvPicPr>
        <p:blipFill>
          <a:blip r:embed="rId2"/>
          <a:stretch>
            <a:fillRect/>
          </a:stretch>
        </p:blipFill>
        <p:spPr>
          <a:xfrm>
            <a:off x="826000" y="2644902"/>
            <a:ext cx="10539694" cy="364745"/>
          </a:xfrm>
          <a:prstGeom prst="rect">
            <a:avLst/>
          </a:prstGeom>
        </p:spPr>
      </p:pic>
      <p:pic>
        <p:nvPicPr>
          <p:cNvPr id="6" name="Picture 5" descr="Y 方向の縮尺係数の曲線"/>
          <p:cNvPicPr>
            <a:picLocks noChangeAspect="1"/>
          </p:cNvPicPr>
          <p:nvPr/>
        </p:nvPicPr>
        <p:blipFill>
          <a:blip r:embed="rId3"/>
          <a:stretch>
            <a:fillRect/>
          </a:stretch>
        </p:blipFill>
        <p:spPr>
          <a:xfrm>
            <a:off x="1092170" y="3429000"/>
            <a:ext cx="10004611" cy="2834639"/>
          </a:xfrm>
          <a:prstGeom prst="rect">
            <a:avLst/>
          </a:prstGeom>
        </p:spPr>
      </p:pic>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距離の4段階</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7119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① 斜距離 </a:t>
            </a:r>
            <a:r>
              <a:rPr sz="2000" b="0">
                <a:latin typeface="DejaVu Sans"/>
              </a:rPr>
              <a:t>L</a:t>
            </a:r>
            <a:r>
              <a:rPr sz="2000" b="0">
                <a:latin typeface="Noto Sans CJK JP"/>
              </a:rPr>
              <a:t>：TS や巻尺で直接測る。</a:t>
            </a:r>
          </a:p>
          <a:p>
            <a:pPr>
              <a:spcAft>
                <a:spcPts val="400"/>
              </a:spcAft>
            </a:pPr>
            <a:r>
              <a:rPr sz="2000" b="0">
                <a:latin typeface="Noto Sans CJK JP"/>
              </a:rPr>
              <a:t>• </a:t>
            </a:r>
            <a:r>
              <a:rPr sz="2000" b="0">
                <a:latin typeface="Noto Sans CJK JP"/>
              </a:rPr>
              <a:t>② 水平距離 </a:t>
            </a:r>
            <a:r>
              <a:rPr sz="2000" b="0">
                <a:latin typeface="DejaVu Sans"/>
              </a:rPr>
              <a:t>S</a:t>
            </a:r>
            <a:r>
              <a:rPr sz="2000" b="0">
                <a:latin typeface="Noto Sans CJK JP"/>
              </a:rPr>
              <a:t>：高度角または高低差で水平に直す。</a:t>
            </a:r>
          </a:p>
          <a:p>
            <a:pPr>
              <a:spcAft>
                <a:spcPts val="400"/>
              </a:spcAft>
            </a:pPr>
            <a:r>
              <a:rPr sz="2000" b="0">
                <a:latin typeface="Noto Sans CJK JP"/>
              </a:rPr>
              <a:t>• </a:t>
            </a:r>
            <a:r>
              <a:rPr sz="2000" b="0">
                <a:latin typeface="Noto Sans CJK JP"/>
              </a:rPr>
              <a:t>③ 基準面上の距離 </a:t>
            </a:r>
            <a:r>
              <a:rPr sz="2000" b="0">
                <a:latin typeface="DejaVu Sans"/>
              </a:rPr>
              <a:t>S</a:t>
            </a:r>
            <a:r>
              <a:rPr sz="2000" b="0" baseline="-25000">
                <a:latin typeface="DejaVu Sans"/>
              </a:rPr>
              <a:t>0</a:t>
            </a:r>
            <a:r>
              <a:rPr sz="2000" b="0">
                <a:latin typeface="Noto Sans CJK JP"/>
              </a:rPr>
              <a:t>：標高 </a:t>
            </a:r>
            <a:r>
              <a:rPr sz="2000" b="0">
                <a:latin typeface="DejaVu Sans"/>
              </a:rPr>
              <a:t>H</a:t>
            </a:r>
            <a:r>
              <a:rPr sz="2000" b="0">
                <a:latin typeface="Noto Sans CJK JP"/>
              </a:rPr>
              <a:t> の分だけ楕円体面に下ろす。</a:t>
            </a:r>
          </a:p>
          <a:p>
            <a:pPr>
              <a:spcAft>
                <a:spcPts val="400"/>
              </a:spcAft>
            </a:pPr>
            <a:r>
              <a:rPr sz="2000" b="0">
                <a:latin typeface="Noto Sans CJK JP"/>
              </a:rPr>
              <a:t>• </a:t>
            </a:r>
            <a:r>
              <a:rPr sz="2000" b="0">
                <a:latin typeface="Noto Sans CJK JP"/>
              </a:rPr>
              <a:t>④ 平面直角座標上の距離 </a:t>
            </a:r>
            <a:r>
              <a:rPr sz="2000" b="0">
                <a:latin typeface="DejaVu Sans"/>
              </a:rPr>
              <a:t>s</a:t>
            </a:r>
            <a:r>
              <a:rPr sz="2000" b="0">
                <a:latin typeface="Noto Sans CJK JP"/>
              </a:rPr>
              <a:t>：縮尺係数 </a:t>
            </a:r>
            <a:r>
              <a:rPr sz="2000" b="0">
                <a:latin typeface="DejaVu Sans"/>
              </a:rPr>
              <a:t>m</a:t>
            </a:r>
            <a:r>
              <a:rPr sz="2000" b="0">
                <a:latin typeface="Noto Sans CJK JP"/>
              </a:rPr>
              <a:t> を掛ける。</a:t>
            </a:r>
          </a:p>
        </p:txBody>
      </p:sp>
      <p:pic>
        <p:nvPicPr>
          <p:cNvPr id="5" name="Picture 4" descr="斜距離から平面距離までの階段図"/>
          <p:cNvPicPr>
            <a:picLocks noChangeAspect="1"/>
          </p:cNvPicPr>
          <p:nvPr/>
        </p:nvPicPr>
        <p:blipFill>
          <a:blip r:embed="rId2"/>
          <a:stretch>
            <a:fillRect/>
          </a:stretch>
        </p:blipFill>
        <p:spPr>
          <a:xfrm>
            <a:off x="779526" y="3429000"/>
            <a:ext cx="10629899"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① → ② → ③：水平距離、そして基準面へ</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4865a1b1d400.png"/>
          <p:cNvPicPr>
            <a:picLocks noChangeAspect="1"/>
          </p:cNvPicPr>
          <p:nvPr/>
        </p:nvPicPr>
        <p:blipFill>
          <a:blip r:embed="rId2"/>
          <a:stretch>
            <a:fillRect/>
          </a:stretch>
        </p:blipFill>
        <p:spPr>
          <a:xfrm>
            <a:off x="2472233" y="1444752"/>
            <a:ext cx="7247229" cy="511149"/>
          </a:xfrm>
          <a:prstGeom prst="rect">
            <a:avLst/>
          </a:prstGeom>
        </p:spPr>
      </p:pic>
      <p:sp>
        <p:nvSpPr>
          <p:cNvPr id="5" name="TextBox 4"/>
          <p:cNvSpPr txBox="1"/>
          <p:nvPr/>
        </p:nvSpPr>
        <p:spPr>
          <a:xfrm>
            <a:off x="548640" y="2111349"/>
            <a:ext cx="11094415" cy="1200150"/>
          </a:xfrm>
          <a:prstGeom prst="rect">
            <a:avLst/>
          </a:prstGeom>
          <a:noFill/>
        </p:spPr>
        <p:txBody>
          <a:bodyPr wrap="square" lIns="45720" rIns="45720" tIns="18288" bIns="18288">
            <a:spAutoFit/>
          </a:bodyPr>
          <a:lstStyle/>
          <a:p>
            <a:pPr>
              <a:spcAft>
                <a:spcPts val="400"/>
              </a:spcAft>
            </a:pPr>
            <a:r>
              <a:rPr sz="1800" b="0">
                <a:latin typeface="Noto Sans CJK JP"/>
              </a:rPr>
              <a:t>• </a:t>
            </a:r>
            <a:r>
              <a:rPr sz="1800" b="0">
                <a:latin typeface="DejaVu Sans"/>
              </a:rPr>
              <a:t>θ</a:t>
            </a:r>
            <a:r>
              <a:rPr sz="1800" b="0">
                <a:latin typeface="Noto Sans CJK JP"/>
              </a:rPr>
              <a:t>：高度角、</a:t>
            </a:r>
            <a:r>
              <a:rPr sz="1800" b="0">
                <a:latin typeface="DejaVu Sans"/>
              </a:rPr>
              <a:t>Δ h</a:t>
            </a:r>
            <a:r>
              <a:rPr sz="1800" b="0">
                <a:latin typeface="Noto Sans CJK JP"/>
              </a:rPr>
              <a:t>：高低差、</a:t>
            </a:r>
            <a:r>
              <a:rPr sz="1800" b="0">
                <a:latin typeface="DejaVu Sans"/>
              </a:rPr>
              <a:t>R≈6370</a:t>
            </a:r>
            <a:r>
              <a:rPr sz="1800" b="0">
                <a:latin typeface="Noto Sans CJK JP"/>
              </a:rPr>
              <a:t> km、</a:t>
            </a:r>
            <a:r>
              <a:rPr sz="1800" b="0">
                <a:latin typeface="DejaVu Sans"/>
              </a:rPr>
              <a:t>H</a:t>
            </a:r>
            <a:r>
              <a:rPr sz="1800" b="0">
                <a:latin typeface="Noto Sans CJK JP"/>
              </a:rPr>
              <a:t>：区間の平均標高。</a:t>
            </a:r>
          </a:p>
          <a:p>
            <a:pPr>
              <a:spcAft>
                <a:spcPts val="400"/>
              </a:spcAft>
            </a:pPr>
            <a:r>
              <a:rPr sz="1800" b="0">
                <a:latin typeface="Noto Sans CJK JP"/>
              </a:rPr>
              <a:t>• </a:t>
            </a:r>
            <a:r>
              <a:rPr sz="1800" b="0">
                <a:latin typeface="Noto Sans CJK JP"/>
              </a:rPr>
              <a:t>例：</a:t>
            </a:r>
            <a:r>
              <a:rPr sz="1800" b="0">
                <a:latin typeface="DejaVu Sans"/>
              </a:rPr>
              <a:t>L=1000.049</a:t>
            </a:r>
            <a:r>
              <a:rPr sz="1800" b="0">
                <a:latin typeface="Noto Sans CJK JP"/>
              </a:rPr>
              <a:t> m、</a:t>
            </a:r>
            <a:r>
              <a:rPr sz="1800" b="0">
                <a:latin typeface="DejaVu Sans"/>
              </a:rPr>
              <a:t>Δ h=9.900</a:t>
            </a:r>
            <a:r>
              <a:rPr sz="1800" b="0">
                <a:latin typeface="Noto Sans CJK JP"/>
              </a:rPr>
              <a:t> m → </a:t>
            </a:r>
            <a:r>
              <a:rPr sz="1800" b="0">
                <a:latin typeface="DejaVu Sans"/>
              </a:rPr>
              <a:t>S=1000.000</a:t>
            </a:r>
            <a:r>
              <a:rPr sz="1800" b="0">
                <a:latin typeface="Noto Sans CJK JP"/>
              </a:rPr>
              <a:t> m。高い所で測った距離は、基準面では</a:t>
            </a:r>
            <a:r>
              <a:rPr sz="1800" b="1">
                <a:latin typeface="Noto Sans CJK JP"/>
              </a:rPr>
              <a:t>必ず短く</a:t>
            </a:r>
            <a:r>
              <a:rPr sz="1800" b="0">
                <a:latin typeface="Noto Sans CJK JP"/>
              </a:rPr>
              <a:t>なる（標高 100 m で 1 km あたり約 1.6 cm）。</a:t>
            </a:r>
          </a:p>
        </p:txBody>
      </p:sp>
      <p:pic>
        <p:nvPicPr>
          <p:cNvPr id="6" name="Picture 5" descr="同心円の弧で見る標高補正"/>
          <p:cNvPicPr>
            <a:picLocks noChangeAspect="1"/>
          </p:cNvPicPr>
          <p:nvPr/>
        </p:nvPicPr>
        <p:blipFill>
          <a:blip r:embed="rId3"/>
          <a:stretch>
            <a:fillRect/>
          </a:stretch>
        </p:blipFill>
        <p:spPr>
          <a:xfrm>
            <a:off x="1092170" y="3429000"/>
            <a:ext cx="10004611" cy="2834639"/>
          </a:xfrm>
          <a:prstGeom prst="rect">
            <a:avLst/>
          </a:prstGeom>
        </p:spPr>
      </p:pic>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③ → ④：縮尺係数を掛ける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e9ce0c86e424.png"/>
          <p:cNvPicPr>
            <a:picLocks noChangeAspect="1"/>
          </p:cNvPicPr>
          <p:nvPr/>
        </p:nvPicPr>
        <p:blipFill>
          <a:blip r:embed="rId2"/>
          <a:stretch>
            <a:fillRect/>
          </a:stretch>
        </p:blipFill>
        <p:spPr>
          <a:xfrm>
            <a:off x="5337048" y="1444752"/>
            <a:ext cx="1517599" cy="344728"/>
          </a:xfrm>
          <a:prstGeom prst="rect">
            <a:avLst/>
          </a:prstGeom>
        </p:spPr>
      </p:pic>
      <p:sp>
        <p:nvSpPr>
          <p:cNvPr id="5" name="TextBox 4"/>
          <p:cNvSpPr txBox="1"/>
          <p:nvPr/>
        </p:nvSpPr>
        <p:spPr>
          <a:xfrm>
            <a:off x="548640" y="1944928"/>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原点付近（</a:t>
            </a:r>
            <a:r>
              <a:rPr sz="2200" b="0">
                <a:latin typeface="DejaVu Sans"/>
              </a:rPr>
              <a:t>m&lt;1</a:t>
            </a:r>
            <a:r>
              <a:rPr sz="2200" b="0">
                <a:latin typeface="Noto Sans CJK JP"/>
              </a:rPr>
              <a:t>）では短く、原点から約 90 km 以上離れると（</a:t>
            </a:r>
            <a:r>
              <a:rPr sz="2200" b="0">
                <a:latin typeface="DejaVu Sans"/>
              </a:rPr>
              <a:t>m&gt;1</a:t>
            </a:r>
            <a:r>
              <a:rPr sz="2200" b="0">
                <a:latin typeface="Noto Sans CJK JP"/>
              </a:rPr>
              <a:t>）長くなる。</a:t>
            </a:r>
          </a:p>
          <a:p>
            <a:pPr>
              <a:spcAft>
                <a:spcPts val="400"/>
              </a:spcAft>
            </a:pPr>
            <a:r>
              <a:rPr sz="2200" b="0">
                <a:latin typeface="Noto Sans CJK JP"/>
              </a:rPr>
              <a:t>• </a:t>
            </a:r>
            <a:r>
              <a:rPr sz="2200" b="0">
                <a:latin typeface="Noto Sans CJK JP"/>
              </a:rPr>
              <a:t>標高補正と縮尺係数補正は別の理由による別の補正。両方行う。</a:t>
            </a:r>
          </a:p>
          <a:p>
            <a:pPr>
              <a:spcAft>
                <a:spcPts val="400"/>
              </a:spcAft>
            </a:pPr>
            <a:r>
              <a:rPr sz="2200" b="0">
                <a:latin typeface="Noto Sans CJK JP"/>
              </a:rPr>
              <a:t>• </a:t>
            </a:r>
            <a:r>
              <a:rPr sz="2200" b="0">
                <a:latin typeface="Noto Sans CJK JP"/>
              </a:rPr>
              <a:t>逆向き（座標 → 現地）：</a:t>
            </a:r>
            <a:r>
              <a:rPr sz="2200" b="0">
                <a:latin typeface="DejaVu Sans"/>
              </a:rPr>
              <a:t>S = s/m·(R+H)/R</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数値例：4段階を通して計算する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30860"/>
          </a:xfrm>
          <a:prstGeom prst="rect">
            <a:avLst/>
          </a:prstGeom>
          <a:noFill/>
        </p:spPr>
        <p:txBody>
          <a:bodyPr wrap="square" lIns="45720" rIns="45720" tIns="18288" bIns="18288">
            <a:spAutoFit/>
          </a:bodyPr>
          <a:lstStyle/>
          <a:p>
            <a:pPr>
              <a:spcAft>
                <a:spcPts val="600"/>
              </a:spcAft>
            </a:pPr>
            <a:r>
              <a:rPr sz="2000" b="0">
                <a:latin typeface="Noto Sans CJK JP"/>
              </a:rPr>
              <a:t>条件：</a:t>
            </a:r>
            <a:r>
              <a:rPr sz="2000" b="0">
                <a:latin typeface="DejaVu Sans"/>
              </a:rPr>
              <a:t>L=1000.049</a:t>
            </a:r>
            <a:r>
              <a:rPr sz="2000" b="0">
                <a:latin typeface="Noto Sans CJK JP"/>
              </a:rPr>
              <a:t> m、</a:t>
            </a:r>
            <a:r>
              <a:rPr sz="2000" b="0">
                <a:latin typeface="DejaVu Sans"/>
              </a:rPr>
              <a:t>Δ h=9.900</a:t>
            </a:r>
            <a:r>
              <a:rPr sz="2000" b="0">
                <a:latin typeface="Noto Sans CJK JP"/>
              </a:rPr>
              <a:t> m、</a:t>
            </a:r>
            <a:r>
              <a:rPr sz="2000" b="0">
                <a:latin typeface="DejaVu Sans"/>
              </a:rPr>
              <a:t>H=100</a:t>
            </a:r>
            <a:r>
              <a:rPr sz="2000" b="0">
                <a:latin typeface="Noto Sans CJK JP"/>
              </a:rPr>
              <a:t> m、</a:t>
            </a:r>
            <a:r>
              <a:rPr sz="2000" b="0">
                <a:latin typeface="DejaVu Sans"/>
              </a:rPr>
              <a:t>m=0.9999</a:t>
            </a:r>
          </a:p>
        </p:txBody>
      </p:sp>
      <p:graphicFrame>
        <p:nvGraphicFramePr>
          <p:cNvPr id="5" name="Table 4"/>
          <p:cNvGraphicFramePr>
            <a:graphicFrameLocks noGrp="1"/>
          </p:cNvGraphicFramePr>
          <p:nvPr/>
        </p:nvGraphicFramePr>
        <p:xfrm>
          <a:off x="548640" y="1902460"/>
          <a:ext cx="11094415" cy="16256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段階</a:t>
                      </a:r>
                    </a:p>
                  </a:txBody>
                  <a:tcPr marL="54864" marR="54864" marT="27432" marB="27432">
                    <a:solidFill>
                      <a:srgbClr val="DCE6F1"/>
                    </a:solidFill>
                  </a:tcPr>
                </a:tc>
                <a:tc>
                  <a:txBody>
                    <a:bodyPr wrap="square"/>
                    <a:lstStyle/>
                    <a:p>
                      <a:r>
                        <a:rPr sz="1600" b="1">
                          <a:solidFill>
                            <a:srgbClr val="1F1F1F"/>
                          </a:solidFill>
                          <a:latin typeface="Noto Sans CJK JP"/>
                        </a:rPr>
                        <a:t>式</a:t>
                      </a:r>
                    </a:p>
                  </a:txBody>
                  <a:tcPr marL="54864" marR="54864" marT="27432" marB="27432">
                    <a:solidFill>
                      <a:srgbClr val="DCE6F1"/>
                    </a:solidFill>
                  </a:tcPr>
                </a:tc>
                <a:tc>
                  <a:txBody>
                    <a:bodyPr wrap="square"/>
                    <a:lstStyle/>
                    <a:p>
                      <a:r>
                        <a:rPr sz="1600" b="1">
                          <a:solidFill>
                            <a:srgbClr val="1F1F1F"/>
                          </a:solidFill>
                          <a:latin typeface="Noto Sans CJK JP"/>
                        </a:rPr>
                        <a:t>値</a:t>
                      </a:r>
                    </a:p>
                  </a:txBody>
                  <a:tcPr marL="54864" marR="54864" marT="27432" marB="27432">
                    <a:solidFill>
                      <a:srgbClr val="DCE6F1"/>
                    </a:solidFill>
                  </a:tcPr>
                </a:tc>
              </a:tr>
              <a:tr h="406400">
                <a:tc>
                  <a:txBody>
                    <a:bodyPr wrap="square"/>
                    <a:lstStyle/>
                    <a:p>
                      <a:r>
                        <a:rPr sz="1600" b="0">
                          <a:latin typeface="Noto Sans CJK JP"/>
                        </a:rPr>
                        <a:t>② 水平距離</a:t>
                      </a:r>
                    </a:p>
                  </a:txBody>
                  <a:tcPr marL="54864" marR="54864" marT="27432" marB="27432">
                    <a:solidFill>
                      <a:srgbClr val="FFFFFF"/>
                    </a:solidFill>
                  </a:tcPr>
                </a:tc>
                <a:tc>
                  <a:txBody>
                    <a:bodyPr wrap="square"/>
                    <a:lstStyle/>
                    <a:p>
                      <a:r>
                        <a:rPr sz="1600" b="0">
                          <a:latin typeface="DejaVu Sans"/>
                        </a:rPr>
                        <a:t>S=√(L</a:t>
                      </a:r>
                      <a:r>
                        <a:rPr sz="1600" b="0" baseline="30000">
                          <a:latin typeface="DejaVu Sans"/>
                        </a:rPr>
                        <a:t>2</a:t>
                      </a:r>
                      <a:r>
                        <a:rPr sz="1600" b="0">
                          <a:latin typeface="DejaVu Sans"/>
                        </a:rPr>
                        <a:t>-Δ h</a:t>
                      </a:r>
                      <a:r>
                        <a:rPr sz="1600" b="0" baseline="30000">
                          <a:latin typeface="DejaVu Sans"/>
                        </a:rPr>
                        <a:t>2</a:t>
                      </a:r>
                      <a:r>
                        <a:rPr sz="1600" b="0">
                          <a:latin typeface="DejaVu Sans"/>
                        </a:rPr>
                        <a:t>)</a:t>
                      </a:r>
                    </a:p>
                  </a:txBody>
                  <a:tcPr marL="54864" marR="54864" marT="27432" marB="27432">
                    <a:solidFill>
                      <a:srgbClr val="FFFFFF"/>
                    </a:solidFill>
                  </a:tcPr>
                </a:tc>
                <a:tc>
                  <a:txBody>
                    <a:bodyPr wrap="square"/>
                    <a:lstStyle/>
                    <a:p>
                      <a:r>
                        <a:rPr sz="1600" b="0">
                          <a:latin typeface="Noto Sans CJK JP"/>
                        </a:rPr>
                        <a:t>1000.000 m</a:t>
                      </a:r>
                    </a:p>
                  </a:txBody>
                  <a:tcPr marL="54864" marR="54864" marT="27432" marB="27432">
                    <a:solidFill>
                      <a:srgbClr val="FFFFFF"/>
                    </a:solidFill>
                  </a:tcPr>
                </a:tc>
              </a:tr>
              <a:tr h="406400">
                <a:tc>
                  <a:txBody>
                    <a:bodyPr wrap="square"/>
                    <a:lstStyle/>
                    <a:p>
                      <a:r>
                        <a:rPr sz="1600" b="0">
                          <a:latin typeface="Noto Sans CJK JP"/>
                        </a:rPr>
                        <a:t>③ 基準面距離</a:t>
                      </a:r>
                    </a:p>
                  </a:txBody>
                  <a:tcPr marL="54864" marR="54864" marT="27432" marB="27432">
                    <a:solidFill>
                      <a:srgbClr val="F5F7FA"/>
                    </a:solidFill>
                  </a:tcPr>
                </a:tc>
                <a:tc>
                  <a:txBody>
                    <a:bodyPr wrap="square"/>
                    <a:lstStyle/>
                    <a:p>
                      <a:r>
                        <a:rPr sz="1600" b="0">
                          <a:latin typeface="DejaVu Sans"/>
                        </a:rPr>
                        <a:t>S</a:t>
                      </a:r>
                      <a:r>
                        <a:rPr sz="1600" b="0" baseline="-25000">
                          <a:latin typeface="DejaVu Sans"/>
                        </a:rPr>
                        <a:t>0</a:t>
                      </a:r>
                      <a:r>
                        <a:rPr sz="1600" b="0">
                          <a:latin typeface="DejaVu Sans"/>
                        </a:rPr>
                        <a:t>=S×6370000/6370100</a:t>
                      </a:r>
                    </a:p>
                  </a:txBody>
                  <a:tcPr marL="54864" marR="54864" marT="27432" marB="27432">
                    <a:solidFill>
                      <a:srgbClr val="F5F7FA"/>
                    </a:solidFill>
                  </a:tcPr>
                </a:tc>
                <a:tc>
                  <a:txBody>
                    <a:bodyPr wrap="square"/>
                    <a:lstStyle/>
                    <a:p>
                      <a:r>
                        <a:rPr sz="1600" b="0">
                          <a:latin typeface="Noto Sans CJK JP"/>
                        </a:rPr>
                        <a:t>999.984 m</a:t>
                      </a:r>
                    </a:p>
                  </a:txBody>
                  <a:tcPr marL="54864" marR="54864" marT="27432" marB="27432">
                    <a:solidFill>
                      <a:srgbClr val="F5F7FA"/>
                    </a:solidFill>
                  </a:tcPr>
                </a:tc>
              </a:tr>
              <a:tr h="406400">
                <a:tc>
                  <a:txBody>
                    <a:bodyPr wrap="square"/>
                    <a:lstStyle/>
                    <a:p>
                      <a:r>
                        <a:rPr sz="1600" b="0">
                          <a:latin typeface="Noto Sans CJK JP"/>
                        </a:rPr>
                        <a:t>④ 平面距離</a:t>
                      </a:r>
                    </a:p>
                  </a:txBody>
                  <a:tcPr marL="54864" marR="54864" marT="27432" marB="27432">
                    <a:solidFill>
                      <a:srgbClr val="FFFFFF"/>
                    </a:solidFill>
                  </a:tcPr>
                </a:tc>
                <a:tc>
                  <a:txBody>
                    <a:bodyPr wrap="square"/>
                    <a:lstStyle/>
                    <a:p>
                      <a:r>
                        <a:rPr sz="1600" b="0">
                          <a:latin typeface="DejaVu Sans"/>
                        </a:rPr>
                        <a:t>s=0.9999× S</a:t>
                      </a:r>
                      <a:r>
                        <a:rPr sz="1600" b="0" baseline="-25000">
                          <a:latin typeface="DejaVu Sans"/>
                        </a:rPr>
                        <a:t>0</a:t>
                      </a:r>
                    </a:p>
                  </a:txBody>
                  <a:tcPr marL="54864" marR="54864" marT="27432" marB="27432">
                    <a:solidFill>
                      <a:srgbClr val="FFFFFF"/>
                    </a:solidFill>
                  </a:tcPr>
                </a:tc>
                <a:tc>
                  <a:txBody>
                    <a:bodyPr wrap="square"/>
                    <a:lstStyle/>
                    <a:p>
                      <a:r>
                        <a:rPr sz="1600" b="0">
                          <a:latin typeface="Noto Sans CJK JP"/>
                        </a:rPr>
                        <a:t>999.884 m</a:t>
                      </a:r>
                    </a:p>
                  </a:txBody>
                  <a:tcPr marL="54864" marR="54864" marT="27432" marB="27432">
                    <a:solidFill>
                      <a:srgbClr val="FFFFFF"/>
                    </a:solidFill>
                  </a:tcPr>
                </a:tc>
              </a:tr>
            </a:tbl>
          </a:graphicData>
        </a:graphic>
      </p:graphicFrame>
      <p:sp>
        <p:nvSpPr>
          <p:cNvPr id="6" name="TextBox 5"/>
          <p:cNvSpPr txBox="1"/>
          <p:nvPr/>
        </p:nvSpPr>
        <p:spPr>
          <a:xfrm>
            <a:off x="548640" y="3665220"/>
            <a:ext cx="11094415" cy="5308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標高補正 −0.016 m、縮尺係数補正 −0.100 m。合計 −0.116 m。</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逆向きの換算：設計図の距離を現地に戻す</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設計図・座標から計算した距離は</a:t>
            </a:r>
            <a:r>
              <a:rPr sz="2200" b="1">
                <a:latin typeface="Noto Sans CJK JP"/>
              </a:rPr>
              <a:t>平面距離 </a:t>
            </a:r>
            <a:r>
              <a:rPr sz="2200" b="1">
                <a:latin typeface="DejaVu Sans"/>
              </a:rPr>
              <a:t>s</a:t>
            </a:r>
            <a:r>
              <a:rPr sz="2200" b="0">
                <a:latin typeface="Noto Sans CJK JP"/>
              </a:rPr>
              <a:t>。</a:t>
            </a:r>
          </a:p>
          <a:p>
            <a:pPr>
              <a:spcAft>
                <a:spcPts val="400"/>
              </a:spcAft>
            </a:pPr>
            <a:r>
              <a:rPr sz="2200" b="0">
                <a:latin typeface="Noto Sans CJK JP"/>
              </a:rPr>
              <a:t>• </a:t>
            </a:r>
            <a:r>
              <a:rPr sz="2200" b="0">
                <a:latin typeface="Noto Sans CJK JP"/>
              </a:rPr>
              <a:t>現地で巻尺や TS で測って杭を打つのは</a:t>
            </a:r>
            <a:r>
              <a:rPr sz="2200" b="1">
                <a:latin typeface="Noto Sans CJK JP"/>
              </a:rPr>
              <a:t>水平距離 </a:t>
            </a:r>
            <a:r>
              <a:rPr sz="2200" b="1">
                <a:latin typeface="DejaVu Sans"/>
              </a:rPr>
              <a:t>S</a:t>
            </a:r>
            <a:r>
              <a:rPr sz="2200" b="0">
                <a:latin typeface="Noto Sans CJK JP"/>
              </a:rPr>
              <a:t>。</a:t>
            </a:r>
          </a:p>
        </p:txBody>
      </p:sp>
      <p:pic>
        <p:nvPicPr>
          <p:cNvPr id="5" name="Picture 4" descr="eq_96567aad8759.png"/>
          <p:cNvPicPr>
            <a:picLocks noChangeAspect="1"/>
          </p:cNvPicPr>
          <p:nvPr/>
        </p:nvPicPr>
        <p:blipFill>
          <a:blip r:embed="rId2"/>
          <a:stretch>
            <a:fillRect/>
          </a:stretch>
        </p:blipFill>
        <p:spPr>
          <a:xfrm>
            <a:off x="5115153" y="2448052"/>
            <a:ext cx="1961388" cy="495300"/>
          </a:xfrm>
          <a:prstGeom prst="rect">
            <a:avLst/>
          </a:prstGeom>
        </p:spPr>
      </p:pic>
      <p:sp>
        <p:nvSpPr>
          <p:cNvPr id="6" name="TextBox 5"/>
          <p:cNvSpPr txBox="1"/>
          <p:nvPr/>
        </p:nvSpPr>
        <p:spPr>
          <a:xfrm>
            <a:off x="548640" y="3098800"/>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例：</a:t>
            </a:r>
            <a:r>
              <a:rPr sz="2200" b="0">
                <a:latin typeface="DejaVu Sans"/>
              </a:rPr>
              <a:t>s=300.000</a:t>
            </a:r>
            <a:r>
              <a:rPr sz="2200" b="0">
                <a:latin typeface="Noto Sans CJK JP"/>
              </a:rPr>
              <a:t> m、</a:t>
            </a:r>
            <a:r>
              <a:rPr sz="2200" b="0">
                <a:latin typeface="DejaVu Sans"/>
              </a:rPr>
              <a:t>H=200</a:t>
            </a:r>
            <a:r>
              <a:rPr sz="2200" b="0">
                <a:latin typeface="Noto Sans CJK JP"/>
              </a:rPr>
              <a:t> m、</a:t>
            </a:r>
            <a:r>
              <a:rPr sz="2200" b="0">
                <a:latin typeface="DejaVu Sans"/>
              </a:rPr>
              <a:t>m=0.9999</a:t>
            </a:r>
            <a:r>
              <a:rPr sz="2200" b="0">
                <a:latin typeface="Noto Sans CJK JP"/>
              </a:rPr>
              <a:t> → </a:t>
            </a:r>
            <a:r>
              <a:rPr sz="2200" b="0">
                <a:latin typeface="DejaVu Sans"/>
              </a:rPr>
              <a:t>S=300.039</a:t>
            </a:r>
            <a:r>
              <a:rPr sz="2200" b="0">
                <a:latin typeface="Noto Sans CJK JP"/>
              </a:rPr>
              <a:t> m（現地では約 4 cm 長く）。</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ここまでの確認②</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DejaVu Sans"/>
              </a:rPr>
              <a:t>X=-200</a:t>
            </a:r>
            <a:r>
              <a:rPr sz="2200" b="0">
                <a:latin typeface="Noto Sans CJK JP"/>
              </a:rPr>
              <a:t> m、</a:t>
            </a:r>
            <a:r>
              <a:rPr sz="2200" b="0">
                <a:latin typeface="DejaVu Sans"/>
              </a:rPr>
              <a:t>Y=+300</a:t>
            </a:r>
            <a:r>
              <a:rPr sz="2200" b="0">
                <a:latin typeface="Noto Sans CJK JP"/>
              </a:rPr>
              <a:t> m の点は、原点から見てどの方角か？</a:t>
            </a:r>
          </a:p>
          <a:p>
            <a:pPr>
              <a:spcAft>
                <a:spcPts val="400"/>
              </a:spcAft>
            </a:pPr>
            <a:r>
              <a:rPr sz="2200" b="0">
                <a:latin typeface="Noto Sans CJK JP"/>
              </a:rPr>
              <a:t>• </a:t>
            </a:r>
            <a:r>
              <a:rPr sz="2200" b="0">
                <a:latin typeface="Noto Sans CJK JP"/>
              </a:rPr>
              <a:t>標高 500 m の地点で水平距離 2000 m を基準面に下ろすと、補正量はいくらか？（</a:t>
            </a:r>
            <a:r>
              <a:rPr sz="2200" b="0">
                <a:latin typeface="DejaVu Sans"/>
              </a:rPr>
              <a:t>R=6370</a:t>
            </a:r>
            <a:r>
              <a:rPr sz="2200" b="0">
                <a:latin typeface="Noto Sans CJK JP"/>
              </a:rPr>
              <a:t> km）</a:t>
            </a:r>
          </a:p>
          <a:p>
            <a:pPr>
              <a:spcAft>
                <a:spcPts val="400"/>
              </a:spcAft>
            </a:pPr>
            <a:r>
              <a:rPr sz="2200" b="0">
                <a:latin typeface="Noto Sans CJK JP"/>
              </a:rPr>
              <a:t>• </a:t>
            </a:r>
            <a:r>
              <a:rPr sz="2200" b="0">
                <a:latin typeface="Noto Sans CJK JP"/>
              </a:rPr>
              <a:t>原点から東へ 90 km の地点の縮尺係数はいくらか？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3-4 試験で問われる型（平面直角座標系）</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286000"/>
        </p:xfrm>
        <a:graphic>
          <a:graphicData uri="http://schemas.openxmlformats.org/drawingml/2006/table">
            <a:tbl>
              <a:tblPr firstRow="1" bandRow="1">
                <a:tableStyleId>{5C22544A-7EE6-4342-B048-85BDC9FD1C3A}</a:tableStyleId>
              </a:tblPr>
              <a:tblGrid>
                <a:gridCol w="5547207"/>
                <a:gridCol w="5547208"/>
              </a:tblGrid>
              <a:tr h="457200">
                <a:tc>
                  <a:txBody>
                    <a:bodyPr wrap="square"/>
                    <a:lstStyle/>
                    <a:p>
                      <a:r>
                        <a:rPr sz="1800" b="1">
                          <a:solidFill>
                            <a:srgbClr val="1F1F1F"/>
                          </a:solidFill>
                          <a:latin typeface="Noto Sans CJK JP"/>
                        </a:rPr>
                        <a:t>型</a:t>
                      </a:r>
                    </a:p>
                  </a:txBody>
                  <a:tcPr marL="54864" marR="54864" marT="27432" marB="27432">
                    <a:solidFill>
                      <a:srgbClr val="DCE6F1"/>
                    </a:solidFill>
                  </a:tcPr>
                </a:tc>
                <a:tc>
                  <a:txBody>
                    <a:bodyPr wrap="square"/>
                    <a:lstStyle/>
                    <a:p>
                      <a:r>
                        <a:rPr sz="1800" b="1">
                          <a:solidFill>
                            <a:srgbClr val="1F1F1F"/>
                          </a:solidFill>
                          <a:latin typeface="Noto Sans CJK JP"/>
                        </a:rPr>
                        <a:t>着眼点</a:t>
                      </a:r>
                    </a:p>
                  </a:txBody>
                  <a:tcPr marL="54864" marR="54864" marT="27432" marB="27432">
                    <a:solidFill>
                      <a:srgbClr val="DCE6F1"/>
                    </a:solidFill>
                  </a:tcPr>
                </a:tc>
              </a:tr>
              <a:tr h="457200">
                <a:tc>
                  <a:txBody>
                    <a:bodyPr wrap="square"/>
                    <a:lstStyle/>
                    <a:p>
                      <a:r>
                        <a:rPr sz="1800" b="0">
                          <a:latin typeface="Noto Sans CJK JP"/>
                        </a:rPr>
                        <a:t>座標系の正誤</a:t>
                      </a:r>
                    </a:p>
                  </a:txBody>
                  <a:tcPr marL="54864" marR="54864" marT="27432" marB="27432">
                    <a:solidFill>
                      <a:srgbClr val="FFFFFF"/>
                    </a:solidFill>
                  </a:tcPr>
                </a:tc>
                <a:tc>
                  <a:txBody>
                    <a:bodyPr wrap="square"/>
                    <a:lstStyle/>
                    <a:p>
                      <a:r>
                        <a:rPr sz="1800" b="0">
                          <a:latin typeface="Noto Sans CJK JP"/>
                        </a:rPr>
                        <a:t>X が北・Y が東、19 系、原点 (0, 0)、原点の縮尺係数 0.9999</a:t>
                      </a:r>
                    </a:p>
                  </a:txBody>
                  <a:tcPr marL="54864" marR="54864" marT="27432" marB="27432">
                    <a:solidFill>
                      <a:srgbClr val="FFFFFF"/>
                    </a:solidFill>
                  </a:tcPr>
                </a:tc>
              </a:tr>
              <a:tr h="457200">
                <a:tc>
                  <a:txBody>
                    <a:bodyPr wrap="square"/>
                    <a:lstStyle/>
                    <a:p>
                      <a:r>
                        <a:rPr sz="1800" b="0">
                          <a:latin typeface="Noto Sans CJK JP"/>
                        </a:rPr>
                        <a:t>標高補正の計算</a:t>
                      </a:r>
                    </a:p>
                  </a:txBody>
                  <a:tcPr marL="54864" marR="54864" marT="27432" marB="27432">
                    <a:solidFill>
                      <a:srgbClr val="F5F7FA"/>
                    </a:solidFill>
                  </a:tcPr>
                </a:tc>
                <a:tc>
                  <a:txBody>
                    <a:bodyPr wrap="square"/>
                    <a:lstStyle/>
                    <a:p>
                      <a:r>
                        <a:rPr sz="1800" b="0">
                          <a:latin typeface="DejaVu Sans"/>
                        </a:rPr>
                        <a:t>S× H/R</a:t>
                      </a:r>
                      <a:r>
                        <a:rPr sz="1800" b="0">
                          <a:latin typeface="Noto Sans CJK JP"/>
                        </a:rPr>
                        <a:t>、</a:t>
                      </a:r>
                      <a:r>
                        <a:rPr sz="1800" b="0">
                          <a:latin typeface="DejaVu Sans"/>
                        </a:rPr>
                        <a:t>R=6370</a:t>
                      </a:r>
                      <a:r>
                        <a:rPr sz="1800" b="0">
                          <a:latin typeface="Noto Sans CJK JP"/>
                        </a:rPr>
                        <a:t> km が与えられる。向きは必ず短く</a:t>
                      </a:r>
                    </a:p>
                  </a:txBody>
                  <a:tcPr marL="54864" marR="54864" marT="27432" marB="27432">
                    <a:solidFill>
                      <a:srgbClr val="F5F7FA"/>
                    </a:solidFill>
                  </a:tcPr>
                </a:tc>
              </a:tr>
              <a:tr h="457200">
                <a:tc>
                  <a:txBody>
                    <a:bodyPr wrap="square"/>
                    <a:lstStyle/>
                    <a:p>
                      <a:r>
                        <a:rPr sz="1800" b="0">
                          <a:latin typeface="Noto Sans CJK JP"/>
                        </a:rPr>
                        <a:t>縮尺係数の計算</a:t>
                      </a:r>
                    </a:p>
                  </a:txBody>
                  <a:tcPr marL="54864" marR="54864" marT="27432" marB="27432">
                    <a:solidFill>
                      <a:srgbClr val="FFFFFF"/>
                    </a:solidFill>
                  </a:tcPr>
                </a:tc>
                <a:tc>
                  <a:txBody>
                    <a:bodyPr wrap="square"/>
                    <a:lstStyle/>
                    <a:p>
                      <a:r>
                        <a:rPr sz="1800" b="0">
                          <a:latin typeface="DejaVu Sans"/>
                        </a:rPr>
                        <a:t>s=mS</a:t>
                      </a:r>
                      <a:r>
                        <a:rPr sz="1800" b="0" baseline="-25000">
                          <a:latin typeface="DejaVu Sans"/>
                        </a:rPr>
                        <a:t>0</a:t>
                      </a:r>
                      <a:r>
                        <a:rPr sz="1800" b="0">
                          <a:latin typeface="Noto Sans CJK JP"/>
                        </a:rPr>
                        <a:t>。</a:t>
                      </a:r>
                      <a:r>
                        <a:rPr sz="1800" b="0">
                          <a:latin typeface="DejaVu Sans"/>
                        </a:rPr>
                        <a:t>m</a:t>
                      </a:r>
                      <a:r>
                        <a:rPr sz="1800" b="0">
                          <a:latin typeface="Noto Sans CJK JP"/>
                        </a:rPr>
                        <a:t> の範囲 0.9999〜1.0001</a:t>
                      </a:r>
                    </a:p>
                  </a:txBody>
                  <a:tcPr marL="54864" marR="54864" marT="27432" marB="27432">
                    <a:solidFill>
                      <a:srgbClr val="FFFFFF"/>
                    </a:solidFill>
                  </a:tcPr>
                </a:tc>
              </a:tr>
              <a:tr h="457200">
                <a:tc>
                  <a:txBody>
                    <a:bodyPr wrap="square"/>
                    <a:lstStyle/>
                    <a:p>
                      <a:r>
                        <a:rPr sz="1800" b="0">
                          <a:latin typeface="Noto Sans CJK JP"/>
                        </a:rPr>
                        <a:t>系の選択</a:t>
                      </a:r>
                    </a:p>
                  </a:txBody>
                  <a:tcPr marL="54864" marR="54864" marT="27432" marB="27432">
                    <a:solidFill>
                      <a:srgbClr val="F5F7FA"/>
                    </a:solidFill>
                  </a:tcPr>
                </a:tc>
                <a:tc>
                  <a:txBody>
                    <a:bodyPr wrap="square"/>
                    <a:lstStyle/>
                    <a:p>
                      <a:r>
                        <a:rPr sz="1800" b="0">
                          <a:latin typeface="Noto Sans CJK JP"/>
                        </a:rPr>
                        <a:t>現場の系を告示の別表で確認し、混用しない</a:t>
                      </a:r>
                    </a:p>
                  </a:txBody>
                  <a:tcPr marL="54864" marR="54864" marT="27432" marB="27432">
                    <a:solidFill>
                      <a:srgbClr val="F5F7FA"/>
                    </a:solidFill>
                  </a:tcPr>
                </a:tc>
              </a:tr>
            </a:tbl>
          </a:graphicData>
        </a:graphic>
      </p:graphicFrame>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3 種類の北と、方向角・方位角・磁針方位</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200150"/>
          </a:xfrm>
          <a:prstGeom prst="rect">
            <a:avLst/>
          </a:prstGeom>
          <a:noFill/>
        </p:spPr>
        <p:txBody>
          <a:bodyPr wrap="square" lIns="45720" rIns="45720" tIns="18288" bIns="18288">
            <a:spAutoFit/>
          </a:bodyPr>
          <a:lstStyle/>
          <a:p>
            <a:pPr>
              <a:spcAft>
                <a:spcPts val="400"/>
              </a:spcAft>
            </a:pPr>
            <a:r>
              <a:rPr sz="1800" b="0">
                <a:latin typeface="Noto Sans CJK JP"/>
              </a:rPr>
              <a:t>• </a:t>
            </a:r>
            <a:r>
              <a:rPr sz="1800" b="1">
                <a:latin typeface="Noto Sans CJK JP"/>
              </a:rPr>
              <a:t>真北</a:t>
            </a:r>
            <a:r>
              <a:rPr sz="1800" b="0">
                <a:latin typeface="Noto Sans CJK JP"/>
              </a:rPr>
              <a:t>（子午線の方向）から右回りに測った角＝</a:t>
            </a:r>
            <a:r>
              <a:rPr sz="1800" b="1">
                <a:latin typeface="Noto Sans CJK JP"/>
              </a:rPr>
              <a:t>方位角 </a:t>
            </a:r>
            <a:r>
              <a:rPr sz="1800" b="1">
                <a:latin typeface="DejaVu Sans"/>
              </a:rPr>
              <a:t>α</a:t>
            </a:r>
            <a:r>
              <a:rPr sz="1800" b="0">
                <a:latin typeface="Noto Sans CJK JP"/>
              </a:rPr>
              <a:t>。</a:t>
            </a:r>
          </a:p>
          <a:p>
            <a:pPr>
              <a:spcAft>
                <a:spcPts val="400"/>
              </a:spcAft>
            </a:pPr>
            <a:r>
              <a:rPr sz="1800" b="0">
                <a:latin typeface="Noto Sans CJK JP"/>
              </a:rPr>
              <a:t>• </a:t>
            </a:r>
            <a:r>
              <a:rPr sz="1800" b="1">
                <a:latin typeface="Noto Sans CJK JP"/>
              </a:rPr>
              <a:t>座標北</a:t>
            </a:r>
            <a:r>
              <a:rPr sz="1800" b="0">
                <a:latin typeface="Noto Sans CJK JP"/>
              </a:rPr>
              <a:t>（X 軸の正の方向）から右回りに測った角＝</a:t>
            </a:r>
            <a:r>
              <a:rPr sz="1800" b="1">
                <a:latin typeface="Noto Sans CJK JP"/>
              </a:rPr>
              <a:t>方向角 </a:t>
            </a:r>
            <a:r>
              <a:rPr sz="1800" b="1">
                <a:latin typeface="DejaVu Sans"/>
              </a:rPr>
              <a:t>T</a:t>
            </a:r>
            <a:r>
              <a:rPr sz="1800" b="0">
                <a:latin typeface="Noto Sans CJK JP"/>
              </a:rPr>
              <a:t>。0°〜360°。座標計算で使うのはこれ。</a:t>
            </a:r>
          </a:p>
          <a:p>
            <a:pPr>
              <a:spcAft>
                <a:spcPts val="400"/>
              </a:spcAft>
            </a:pPr>
            <a:r>
              <a:rPr sz="1800" b="0">
                <a:latin typeface="Noto Sans CJK JP"/>
              </a:rPr>
              <a:t>• </a:t>
            </a:r>
            <a:r>
              <a:rPr sz="1800" b="1">
                <a:latin typeface="Noto Sans CJK JP"/>
              </a:rPr>
              <a:t>磁北</a:t>
            </a:r>
            <a:r>
              <a:rPr sz="1800" b="0">
                <a:latin typeface="Noto Sans CJK JP"/>
              </a:rPr>
              <a:t>（磁針の方向。北海道では真北から西へ約 9°、年々変わる）から測った角＝</a:t>
            </a:r>
            <a:r>
              <a:rPr sz="1800" b="1">
                <a:latin typeface="Noto Sans CJK JP"/>
              </a:rPr>
              <a:t>磁針方位</a:t>
            </a:r>
            <a:r>
              <a:rPr sz="1800" b="0">
                <a:latin typeface="Noto Sans CJK JP"/>
              </a:rPr>
              <a:t>。</a:t>
            </a:r>
          </a:p>
        </p:txBody>
      </p:sp>
      <p:pic>
        <p:nvPicPr>
          <p:cNvPr id="5" name="Picture 4" descr="1点から見た3つの北と視準線"/>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真北方向角</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97180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座標北と真北のずれの角を</a:t>
            </a:r>
            <a:r>
              <a:rPr sz="2000" b="1">
                <a:latin typeface="Noto Sans CJK JP"/>
              </a:rPr>
              <a:t>真北方向角 </a:t>
            </a:r>
            <a:r>
              <a:rPr sz="2000" b="1">
                <a:latin typeface="DejaVu Sans"/>
              </a:rPr>
              <a:t>γ</a:t>
            </a:r>
            <a:r>
              <a:rPr sz="2000" b="0">
                <a:latin typeface="Noto Sans CJK JP"/>
              </a:rPr>
              <a:t>という（子午線収差角）。</a:t>
            </a:r>
          </a:p>
          <a:p>
            <a:pPr>
              <a:spcAft>
                <a:spcPts val="400"/>
              </a:spcAft>
            </a:pPr>
            <a:r>
              <a:rPr sz="2000" b="0">
                <a:latin typeface="Noto Sans CJK JP"/>
              </a:rPr>
              <a:t>• </a:t>
            </a:r>
            <a:r>
              <a:rPr sz="2000" b="0">
                <a:latin typeface="Noto Sans CJK JP"/>
              </a:rPr>
              <a:t>原点の子午線上では 0°。原点から東西に離れるほど大きくなる（最大で 1° 程度）。</a:t>
            </a:r>
          </a:p>
          <a:p>
            <a:pPr>
              <a:spcAft>
                <a:spcPts val="400"/>
              </a:spcAft>
            </a:pPr>
            <a:r>
              <a:rPr sz="2000" b="0">
                <a:latin typeface="Noto Sans CJK JP"/>
              </a:rPr>
              <a:t>• </a:t>
            </a:r>
            <a:r>
              <a:rPr sz="2000" b="0">
                <a:latin typeface="Noto Sans CJK JP"/>
              </a:rPr>
              <a:t>符号：座標北から真北へ</a:t>
            </a:r>
            <a:r>
              <a:rPr sz="2000" b="1">
                <a:latin typeface="Noto Sans CJK JP"/>
              </a:rPr>
              <a:t>右回りを正</a:t>
            </a:r>
            <a:r>
              <a:rPr sz="2000" b="0">
                <a:latin typeface="Noto Sans CJK JP"/>
              </a:rPr>
              <a:t>。原点より東（</a:t>
            </a:r>
            <a:r>
              <a:rPr sz="2000" b="0">
                <a:latin typeface="DejaVu Sans"/>
              </a:rPr>
              <a:t>Y&gt;0</a:t>
            </a:r>
            <a:r>
              <a:rPr sz="2000" b="0">
                <a:latin typeface="Noto Sans CJK JP"/>
              </a:rPr>
              <a:t>）では負、西（</a:t>
            </a:r>
            <a:r>
              <a:rPr sz="2000" b="0">
                <a:latin typeface="DejaVu Sans"/>
              </a:rPr>
              <a:t>Y&lt;0</a:t>
            </a:r>
            <a:r>
              <a:rPr sz="2000" b="0">
                <a:latin typeface="Noto Sans CJK JP"/>
              </a:rPr>
              <a:t>）では正。</a:t>
            </a:r>
          </a:p>
          <a:p>
            <a:pPr algn="ctr"/>
            <a:r>
              <a:rPr sz="2200" b="0">
                <a:latin typeface="DejaVu Sans"/>
              </a:rPr>
              <a:t>α = T - γ    (方位角=方向角-真北方向角)</a:t>
            </a:r>
            <a:br/>
          </a:p>
          <a:p>
            <a:pPr>
              <a:spcAft>
                <a:spcPts val="400"/>
              </a:spcAft>
            </a:pPr>
            <a:r>
              <a:rPr sz="2000" b="0">
                <a:latin typeface="Noto Sans CJK JP"/>
              </a:rPr>
              <a:t>• </a:t>
            </a:r>
            <a:r>
              <a:rPr sz="2000" b="0">
                <a:latin typeface="Noto Sans CJK JP"/>
              </a:rPr>
              <a:t>帯広付近（第 XIII 系、</a:t>
            </a:r>
            <a:r>
              <a:rPr sz="2000" b="0">
                <a:latin typeface="DejaVu Sans"/>
              </a:rPr>
              <a:t>Y≈-85</a:t>
            </a:r>
            <a:r>
              <a:rPr sz="2000" b="0">
                <a:latin typeface="Noto Sans CJK JP"/>
              </a:rPr>
              <a:t> km）では </a:t>
            </a:r>
            <a:r>
              <a:rPr sz="2000" b="0">
                <a:latin typeface="DejaVu Sans"/>
              </a:rPr>
              <a:t>γ≈+0°43′</a:t>
            </a:r>
            <a:r>
              <a:rPr sz="2000" b="0">
                <a:latin typeface="Noto Sans CJK JP"/>
              </a:rPr>
              <a:t>。計算サービスで緯度経度から求める。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方位（N 30° E など）と方向角の換算</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0320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象限</a:t>
                      </a:r>
                    </a:p>
                  </a:txBody>
                  <a:tcPr marL="54864" marR="54864" marT="27432" marB="27432">
                    <a:solidFill>
                      <a:srgbClr val="DCE6F1"/>
                    </a:solidFill>
                  </a:tcPr>
                </a:tc>
                <a:tc>
                  <a:txBody>
                    <a:bodyPr wrap="square"/>
                    <a:lstStyle/>
                    <a:p>
                      <a:r>
                        <a:rPr sz="1600" b="1">
                          <a:solidFill>
                            <a:srgbClr val="1F1F1F"/>
                          </a:solidFill>
                          <a:latin typeface="Noto Sans CJK JP"/>
                        </a:rPr>
                        <a:t>方位の書き方</a:t>
                      </a:r>
                    </a:p>
                  </a:txBody>
                  <a:tcPr marL="54864" marR="54864" marT="27432" marB="27432">
                    <a:solidFill>
                      <a:srgbClr val="DCE6F1"/>
                    </a:solidFill>
                  </a:tcPr>
                </a:tc>
                <a:tc>
                  <a:txBody>
                    <a:bodyPr wrap="square"/>
                    <a:lstStyle/>
                    <a:p>
                      <a:r>
                        <a:rPr sz="1600" b="1">
                          <a:solidFill>
                            <a:srgbClr val="1F1F1F"/>
                          </a:solidFill>
                          <a:latin typeface="Noto Sans CJK JP"/>
                        </a:rPr>
                        <a:t>方向角 </a:t>
                      </a:r>
                      <a:r>
                        <a:rPr sz="1600" b="1">
                          <a:solidFill>
                            <a:srgbClr val="1F1F1F"/>
                          </a:solidFill>
                          <a:latin typeface="DejaVu Sans"/>
                        </a:rPr>
                        <a:t>T</a:t>
                      </a:r>
                    </a:p>
                  </a:txBody>
                  <a:tcPr marL="54864" marR="54864" marT="27432" marB="27432">
                    <a:solidFill>
                      <a:srgbClr val="DCE6F1"/>
                    </a:solidFill>
                  </a:tcPr>
                </a:tc>
              </a:tr>
              <a:tr h="406400">
                <a:tc>
                  <a:txBody>
                    <a:bodyPr wrap="square"/>
                    <a:lstStyle/>
                    <a:p>
                      <a:r>
                        <a:rPr sz="1600" b="0">
                          <a:latin typeface="Noto Sans CJK JP"/>
                        </a:rPr>
                        <a:t>北東</a:t>
                      </a:r>
                    </a:p>
                  </a:txBody>
                  <a:tcPr marL="54864" marR="54864" marT="27432" marB="27432">
                    <a:solidFill>
                      <a:srgbClr val="FFFFFF"/>
                    </a:solidFill>
                  </a:tcPr>
                </a:tc>
                <a:tc>
                  <a:txBody>
                    <a:bodyPr wrap="square"/>
                    <a:lstStyle/>
                    <a:p>
                      <a:r>
                        <a:rPr sz="1600" b="0">
                          <a:latin typeface="Noto Sans CJK JP"/>
                        </a:rPr>
                        <a:t>N </a:t>
                      </a:r>
                      <a:r>
                        <a:rPr sz="1600" b="0">
                          <a:latin typeface="DejaVu Sans"/>
                        </a:rPr>
                        <a:t>β</a:t>
                      </a:r>
                      <a:r>
                        <a:rPr sz="1600" b="0">
                          <a:latin typeface="Noto Sans CJK JP"/>
                        </a:rPr>
                        <a:t> E</a:t>
                      </a:r>
                    </a:p>
                  </a:txBody>
                  <a:tcPr marL="54864" marR="54864" marT="27432" marB="27432">
                    <a:solidFill>
                      <a:srgbClr val="FFFFFF"/>
                    </a:solidFill>
                  </a:tcPr>
                </a:tc>
                <a:tc>
                  <a:txBody>
                    <a:bodyPr wrap="square"/>
                    <a:lstStyle/>
                    <a:p>
                      <a:r>
                        <a:rPr sz="1600" b="0">
                          <a:latin typeface="DejaVu Sans"/>
                        </a:rPr>
                        <a:t>T=β</a:t>
                      </a:r>
                    </a:p>
                  </a:txBody>
                  <a:tcPr marL="54864" marR="54864" marT="27432" marB="27432">
                    <a:solidFill>
                      <a:srgbClr val="FFFFFF"/>
                    </a:solidFill>
                  </a:tcPr>
                </a:tc>
              </a:tr>
              <a:tr h="406400">
                <a:tc>
                  <a:txBody>
                    <a:bodyPr wrap="square"/>
                    <a:lstStyle/>
                    <a:p>
                      <a:r>
                        <a:rPr sz="1600" b="0">
                          <a:latin typeface="Noto Sans CJK JP"/>
                        </a:rPr>
                        <a:t>南東</a:t>
                      </a:r>
                    </a:p>
                  </a:txBody>
                  <a:tcPr marL="54864" marR="54864" marT="27432" marB="27432">
                    <a:solidFill>
                      <a:srgbClr val="F5F7FA"/>
                    </a:solidFill>
                  </a:tcPr>
                </a:tc>
                <a:tc>
                  <a:txBody>
                    <a:bodyPr wrap="square"/>
                    <a:lstStyle/>
                    <a:p>
                      <a:r>
                        <a:rPr sz="1600" b="0">
                          <a:latin typeface="Noto Sans CJK JP"/>
                        </a:rPr>
                        <a:t>S </a:t>
                      </a:r>
                      <a:r>
                        <a:rPr sz="1600" b="0">
                          <a:latin typeface="DejaVu Sans"/>
                        </a:rPr>
                        <a:t>β</a:t>
                      </a:r>
                      <a:r>
                        <a:rPr sz="1600" b="0">
                          <a:latin typeface="Noto Sans CJK JP"/>
                        </a:rPr>
                        <a:t> E</a:t>
                      </a:r>
                    </a:p>
                  </a:txBody>
                  <a:tcPr marL="54864" marR="54864" marT="27432" marB="27432">
                    <a:solidFill>
                      <a:srgbClr val="F5F7FA"/>
                    </a:solidFill>
                  </a:tcPr>
                </a:tc>
                <a:tc>
                  <a:txBody>
                    <a:bodyPr wrap="square"/>
                    <a:lstStyle/>
                    <a:p>
                      <a:r>
                        <a:rPr sz="1600" b="0">
                          <a:latin typeface="DejaVu Sans"/>
                        </a:rPr>
                        <a:t>T=180°-β</a:t>
                      </a:r>
                    </a:p>
                  </a:txBody>
                  <a:tcPr marL="54864" marR="54864" marT="27432" marB="27432">
                    <a:solidFill>
                      <a:srgbClr val="F5F7FA"/>
                    </a:solidFill>
                  </a:tcPr>
                </a:tc>
              </a:tr>
              <a:tr h="406400">
                <a:tc>
                  <a:txBody>
                    <a:bodyPr wrap="square"/>
                    <a:lstStyle/>
                    <a:p>
                      <a:r>
                        <a:rPr sz="1600" b="0">
                          <a:latin typeface="Noto Sans CJK JP"/>
                        </a:rPr>
                        <a:t>南西</a:t>
                      </a:r>
                    </a:p>
                  </a:txBody>
                  <a:tcPr marL="54864" marR="54864" marT="27432" marB="27432">
                    <a:solidFill>
                      <a:srgbClr val="FFFFFF"/>
                    </a:solidFill>
                  </a:tcPr>
                </a:tc>
                <a:tc>
                  <a:txBody>
                    <a:bodyPr wrap="square"/>
                    <a:lstStyle/>
                    <a:p>
                      <a:r>
                        <a:rPr sz="1600" b="0">
                          <a:latin typeface="Noto Sans CJK JP"/>
                        </a:rPr>
                        <a:t>S </a:t>
                      </a:r>
                      <a:r>
                        <a:rPr sz="1600" b="0">
                          <a:latin typeface="DejaVu Sans"/>
                        </a:rPr>
                        <a:t>β</a:t>
                      </a:r>
                      <a:r>
                        <a:rPr sz="1600" b="0">
                          <a:latin typeface="Noto Sans CJK JP"/>
                        </a:rPr>
                        <a:t> W</a:t>
                      </a:r>
                    </a:p>
                  </a:txBody>
                  <a:tcPr marL="54864" marR="54864" marT="27432" marB="27432">
                    <a:solidFill>
                      <a:srgbClr val="FFFFFF"/>
                    </a:solidFill>
                  </a:tcPr>
                </a:tc>
                <a:tc>
                  <a:txBody>
                    <a:bodyPr wrap="square"/>
                    <a:lstStyle/>
                    <a:p>
                      <a:r>
                        <a:rPr sz="1600" b="0">
                          <a:latin typeface="DejaVu Sans"/>
                        </a:rPr>
                        <a:t>T=180°+β</a:t>
                      </a:r>
                    </a:p>
                  </a:txBody>
                  <a:tcPr marL="54864" marR="54864" marT="27432" marB="27432">
                    <a:solidFill>
                      <a:srgbClr val="FFFFFF"/>
                    </a:solidFill>
                  </a:tcPr>
                </a:tc>
              </a:tr>
              <a:tr h="406400">
                <a:tc>
                  <a:txBody>
                    <a:bodyPr wrap="square"/>
                    <a:lstStyle/>
                    <a:p>
                      <a:r>
                        <a:rPr sz="1600" b="0">
                          <a:latin typeface="Noto Sans CJK JP"/>
                        </a:rPr>
                        <a:t>北西</a:t>
                      </a:r>
                    </a:p>
                  </a:txBody>
                  <a:tcPr marL="54864" marR="54864" marT="27432" marB="27432">
                    <a:solidFill>
                      <a:srgbClr val="F5F7FA"/>
                    </a:solidFill>
                  </a:tcPr>
                </a:tc>
                <a:tc>
                  <a:txBody>
                    <a:bodyPr wrap="square"/>
                    <a:lstStyle/>
                    <a:p>
                      <a:r>
                        <a:rPr sz="1600" b="0">
                          <a:latin typeface="Noto Sans CJK JP"/>
                        </a:rPr>
                        <a:t>N </a:t>
                      </a:r>
                      <a:r>
                        <a:rPr sz="1600" b="0">
                          <a:latin typeface="DejaVu Sans"/>
                        </a:rPr>
                        <a:t>β</a:t>
                      </a:r>
                      <a:r>
                        <a:rPr sz="1600" b="0">
                          <a:latin typeface="Noto Sans CJK JP"/>
                        </a:rPr>
                        <a:t> W</a:t>
                      </a:r>
                    </a:p>
                  </a:txBody>
                  <a:tcPr marL="54864" marR="54864" marT="27432" marB="27432">
                    <a:solidFill>
                      <a:srgbClr val="F5F7FA"/>
                    </a:solidFill>
                  </a:tcPr>
                </a:tc>
                <a:tc>
                  <a:txBody>
                    <a:bodyPr wrap="square"/>
                    <a:lstStyle/>
                    <a:p>
                      <a:r>
                        <a:rPr sz="1600" b="0">
                          <a:latin typeface="DejaVu Sans"/>
                        </a:rPr>
                        <a:t>T=360°-β</a:t>
                      </a:r>
                    </a:p>
                  </a:txBody>
                  <a:tcPr marL="54864" marR="54864" marT="27432" marB="27432">
                    <a:solidFill>
                      <a:srgbClr val="F5F7FA"/>
                    </a:solidFill>
                  </a:tcPr>
                </a:tc>
              </a:tr>
            </a:tbl>
          </a:graphicData>
        </a:graphic>
      </p:graphicFrame>
      <p:sp>
        <p:nvSpPr>
          <p:cNvPr id="5" name="TextBox 4"/>
          <p:cNvSpPr txBox="1"/>
          <p:nvPr/>
        </p:nvSpPr>
        <p:spPr>
          <a:xfrm>
            <a:off x="548640" y="3540760"/>
            <a:ext cx="11094415" cy="5308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例：S 30° E → </a:t>
            </a:r>
            <a:r>
              <a:rPr sz="2000" b="0">
                <a:latin typeface="DejaVu Sans"/>
              </a:rPr>
              <a:t>T=150°</a:t>
            </a:r>
            <a:r>
              <a:rPr sz="2000" b="0">
                <a:latin typeface="Noto Sans CJK JP"/>
              </a:rPr>
              <a:t>、N 40° W → </a:t>
            </a:r>
            <a:r>
              <a:rPr sz="2000" b="0">
                <a:latin typeface="DejaVu Sans"/>
              </a:rPr>
              <a:t>T=320°</a:t>
            </a:r>
            <a:r>
              <a:rPr sz="2000" b="0">
                <a:latin typeface="Noto Sans CJK JP"/>
              </a:rPr>
              <a:t>。</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順計算：既知点から新点の座標</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845820"/>
          </a:xfrm>
          <a:prstGeom prst="rect">
            <a:avLst/>
          </a:prstGeom>
          <a:noFill/>
        </p:spPr>
        <p:txBody>
          <a:bodyPr wrap="square" lIns="45720" rIns="45720" tIns="18288" bIns="18288">
            <a:spAutoFit/>
          </a:bodyPr>
          <a:lstStyle/>
          <a:p>
            <a:pPr>
              <a:spcAft>
                <a:spcPts val="600"/>
              </a:spcAft>
            </a:pPr>
            <a:r>
              <a:rPr sz="1800" b="0">
                <a:latin typeface="Noto Sans CJK JP"/>
              </a:rPr>
              <a:t>既知点 A</a:t>
            </a:r>
            <a:r>
              <a:rPr sz="1800" b="0">
                <a:latin typeface="DejaVu Sans"/>
              </a:rPr>
              <a:t>(X</a:t>
            </a:r>
            <a:r>
              <a:rPr sz="1800" b="0" baseline="-25000">
                <a:latin typeface="DejaVu Sans"/>
              </a:rPr>
              <a:t>A</a:t>
            </a:r>
            <a:r>
              <a:rPr sz="1800" b="0">
                <a:latin typeface="DejaVu Sans"/>
              </a:rPr>
              <a:t>, Y</a:t>
            </a:r>
            <a:r>
              <a:rPr sz="1800" b="0" baseline="-25000">
                <a:latin typeface="DejaVu Sans"/>
              </a:rPr>
              <a:t>A</a:t>
            </a:r>
            <a:r>
              <a:rPr sz="1800" b="0">
                <a:latin typeface="DejaVu Sans"/>
              </a:rPr>
              <a:t>)</a:t>
            </a:r>
            <a:r>
              <a:rPr sz="1800" b="0">
                <a:latin typeface="Noto Sans CJK JP"/>
              </a:rPr>
              <a:t>、方向角 </a:t>
            </a:r>
            <a:r>
              <a:rPr sz="1800" b="0">
                <a:latin typeface="DejaVu Sans"/>
              </a:rPr>
              <a:t>T</a:t>
            </a:r>
            <a:r>
              <a:rPr sz="1800" b="0">
                <a:latin typeface="Noto Sans CJK JP"/>
              </a:rPr>
              <a:t>、平面距離 </a:t>
            </a:r>
            <a:r>
              <a:rPr sz="1800" b="0">
                <a:latin typeface="DejaVu Sans"/>
              </a:rPr>
              <a:t>S</a:t>
            </a:r>
            <a:r>
              <a:rPr sz="1800" b="0">
                <a:latin typeface="Noto Sans CJK JP"/>
              </a:rPr>
              <a:t> のとき：</a:t>
            </a:r>
          </a:p>
          <a:p>
            <a:pPr>
              <a:spcAft>
                <a:spcPts val="400"/>
              </a:spcAft>
            </a:pPr>
            <a:r>
              <a:rPr sz="1800" b="0">
                <a:latin typeface="Noto Sans CJK JP"/>
              </a:rPr>
              <a:t>• </a:t>
            </a:r>
            <a:r>
              <a:rPr sz="1800" b="0">
                <a:latin typeface="Noto Sans CJK JP"/>
              </a:rPr>
              <a:t>緯距 </a:t>
            </a:r>
            <a:r>
              <a:rPr sz="1800" b="0">
                <a:latin typeface="DejaVu Sans"/>
              </a:rPr>
              <a:t>Δ X = Scos T</a:t>
            </a:r>
            <a:r>
              <a:rPr sz="1800" b="0">
                <a:latin typeface="Noto Sans CJK JP"/>
              </a:rPr>
              <a:t>（南北の差）、経距 </a:t>
            </a:r>
            <a:r>
              <a:rPr sz="1800" b="0">
                <a:latin typeface="DejaVu Sans"/>
              </a:rPr>
              <a:t>Δ Y = Ssin T</a:t>
            </a:r>
            <a:r>
              <a:rPr sz="1800" b="0">
                <a:latin typeface="Noto Sans CJK JP"/>
              </a:rPr>
              <a:t>（東西の差）。</a:t>
            </a:r>
          </a:p>
        </p:txBody>
      </p:sp>
      <p:pic>
        <p:nvPicPr>
          <p:cNvPr id="5" name="Picture 4" descr="eq_824d068a819f.png"/>
          <p:cNvPicPr>
            <a:picLocks noChangeAspect="1"/>
          </p:cNvPicPr>
          <p:nvPr/>
        </p:nvPicPr>
        <p:blipFill>
          <a:blip r:embed="rId2"/>
          <a:stretch>
            <a:fillRect/>
          </a:stretch>
        </p:blipFill>
        <p:spPr>
          <a:xfrm>
            <a:off x="3431133" y="2290572"/>
            <a:ext cx="5329428" cy="277368"/>
          </a:xfrm>
          <a:prstGeom prst="rect">
            <a:avLst/>
          </a:prstGeom>
        </p:spPr>
      </p:pic>
      <p:pic>
        <p:nvPicPr>
          <p:cNvPr id="6" name="Picture 5" descr="緯距・経距の直角三角形"/>
          <p:cNvPicPr>
            <a:picLocks noChangeAspect="1"/>
          </p:cNvPicPr>
          <p:nvPr/>
        </p:nvPicPr>
        <p:blipFill>
          <a:blip r:embed="rId3"/>
          <a:stretch>
            <a:fillRect/>
          </a:stretch>
        </p:blipFill>
        <p:spPr>
          <a:xfrm>
            <a:off x="1092170" y="3429000"/>
            <a:ext cx="10004611" cy="2834639"/>
          </a:xfrm>
          <a:prstGeom prst="rect">
            <a:avLst/>
          </a:prstGeom>
        </p:spPr>
      </p:pic>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数値例：順計算</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30860"/>
          </a:xfrm>
          <a:prstGeom prst="rect">
            <a:avLst/>
          </a:prstGeom>
          <a:noFill/>
        </p:spPr>
        <p:txBody>
          <a:bodyPr wrap="square" lIns="45720" rIns="45720" tIns="18288" bIns="18288">
            <a:spAutoFit/>
          </a:bodyPr>
          <a:lstStyle/>
          <a:p>
            <a:pPr>
              <a:spcAft>
                <a:spcPts val="600"/>
              </a:spcAft>
            </a:pPr>
            <a:r>
              <a:rPr sz="2000" b="0">
                <a:latin typeface="Noto Sans CJK JP"/>
              </a:rPr>
              <a:t>A</a:t>
            </a:r>
            <a:r>
              <a:rPr sz="2000" b="0">
                <a:latin typeface="DejaVu Sans"/>
              </a:rPr>
              <a:t>(1000.000, 2000.000)</a:t>
            </a:r>
            <a:r>
              <a:rPr sz="2000" b="0">
                <a:latin typeface="Noto Sans CJK JP"/>
              </a:rPr>
              <a:t>、</a:t>
            </a:r>
            <a:r>
              <a:rPr sz="2000" b="0">
                <a:latin typeface="DejaVu Sans"/>
              </a:rPr>
              <a:t>T=120°00′00″</a:t>
            </a:r>
            <a:r>
              <a:rPr sz="2000" b="0">
                <a:latin typeface="Noto Sans CJK JP"/>
              </a:rPr>
              <a:t>、</a:t>
            </a:r>
            <a:r>
              <a:rPr sz="2000" b="0">
                <a:latin typeface="DejaVu Sans"/>
              </a:rPr>
              <a:t>S=150.000</a:t>
            </a:r>
            <a:r>
              <a:rPr sz="2000" b="0">
                <a:latin typeface="Noto Sans CJK JP"/>
              </a:rPr>
              <a:t> m</a:t>
            </a:r>
          </a:p>
        </p:txBody>
      </p:sp>
      <p:pic>
        <p:nvPicPr>
          <p:cNvPr id="5" name="Picture 4" descr="eq_4dae49c28a1c.png"/>
          <p:cNvPicPr>
            <a:picLocks noChangeAspect="1"/>
          </p:cNvPicPr>
          <p:nvPr/>
        </p:nvPicPr>
        <p:blipFill>
          <a:blip r:embed="rId2"/>
          <a:stretch>
            <a:fillRect/>
          </a:stretch>
        </p:blipFill>
        <p:spPr>
          <a:xfrm>
            <a:off x="1531163" y="1975612"/>
            <a:ext cx="9129369" cy="313029"/>
          </a:xfrm>
          <a:prstGeom prst="rect">
            <a:avLst/>
          </a:prstGeom>
        </p:spPr>
      </p:pic>
      <p:pic>
        <p:nvPicPr>
          <p:cNvPr id="6" name="Picture 5" descr="eq_d3ff62421501.png"/>
          <p:cNvPicPr>
            <a:picLocks noChangeAspect="1"/>
          </p:cNvPicPr>
          <p:nvPr/>
        </p:nvPicPr>
        <p:blipFill>
          <a:blip r:embed="rId3"/>
          <a:stretch>
            <a:fillRect/>
          </a:stretch>
        </p:blipFill>
        <p:spPr>
          <a:xfrm>
            <a:off x="1226058" y="2517241"/>
            <a:ext cx="9739579" cy="277368"/>
          </a:xfrm>
          <a:prstGeom prst="rect">
            <a:avLst/>
          </a:prstGeom>
        </p:spPr>
      </p:pic>
      <p:pic>
        <p:nvPicPr>
          <p:cNvPr id="7" name="Picture 6" descr="eq_ea4c1051c475.png"/>
          <p:cNvPicPr>
            <a:picLocks noChangeAspect="1"/>
          </p:cNvPicPr>
          <p:nvPr/>
        </p:nvPicPr>
        <p:blipFill>
          <a:blip r:embed="rId4"/>
          <a:stretch>
            <a:fillRect/>
          </a:stretch>
        </p:blipFill>
        <p:spPr>
          <a:xfrm>
            <a:off x="826000" y="3023209"/>
            <a:ext cx="10539694" cy="261588"/>
          </a:xfrm>
          <a:prstGeom prst="rect">
            <a:avLst/>
          </a:prstGeom>
        </p:spPr>
      </p:pic>
      <p:sp>
        <p:nvSpPr>
          <p:cNvPr id="8" name="TextBox 7"/>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9" name="TextBox 8"/>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逆計算：2点の座標から距離と方向角</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q_bb99f69307c9.png"/>
          <p:cNvPicPr>
            <a:picLocks noChangeAspect="1"/>
          </p:cNvPicPr>
          <p:nvPr/>
        </p:nvPicPr>
        <p:blipFill>
          <a:blip r:embed="rId2"/>
          <a:stretch>
            <a:fillRect/>
          </a:stretch>
        </p:blipFill>
        <p:spPr>
          <a:xfrm>
            <a:off x="3371697" y="1444752"/>
            <a:ext cx="5448300" cy="610209"/>
          </a:xfrm>
          <a:prstGeom prst="rect">
            <a:avLst/>
          </a:prstGeom>
        </p:spPr>
      </p:pic>
      <p:sp>
        <p:nvSpPr>
          <p:cNvPr id="5" name="TextBox 4"/>
          <p:cNvSpPr txBox="1"/>
          <p:nvPr/>
        </p:nvSpPr>
        <p:spPr>
          <a:xfrm>
            <a:off x="548640" y="2210409"/>
            <a:ext cx="11094415" cy="186944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DejaVu Sans"/>
              </a:rPr>
              <a:t>Δ X = X</a:t>
            </a:r>
            <a:r>
              <a:rPr sz="2200" b="0" baseline="-25000">
                <a:latin typeface="DejaVu Sans"/>
              </a:rPr>
              <a:t>B</a:t>
            </a:r>
            <a:r>
              <a:rPr sz="2200" b="0">
                <a:latin typeface="DejaVu Sans"/>
              </a:rPr>
              <a:t>-X</a:t>
            </a:r>
            <a:r>
              <a:rPr sz="2200" b="0" baseline="-25000">
                <a:latin typeface="DejaVu Sans"/>
              </a:rPr>
              <a:t>A</a:t>
            </a:r>
            <a:r>
              <a:rPr sz="2200" b="0">
                <a:latin typeface="Noto Sans CJK JP"/>
              </a:rPr>
              <a:t>、</a:t>
            </a:r>
            <a:r>
              <a:rPr sz="2200" b="0">
                <a:latin typeface="DejaVu Sans"/>
              </a:rPr>
              <a:t>Δ Y = Y</a:t>
            </a:r>
            <a:r>
              <a:rPr sz="2200" b="0" baseline="-25000">
                <a:latin typeface="DejaVu Sans"/>
              </a:rPr>
              <a:t>B</a:t>
            </a:r>
            <a:r>
              <a:rPr sz="2200" b="0">
                <a:latin typeface="DejaVu Sans"/>
              </a:rPr>
              <a:t>-Y</a:t>
            </a:r>
            <a:r>
              <a:rPr sz="2200" b="0" baseline="-25000">
                <a:latin typeface="DejaVu Sans"/>
              </a:rPr>
              <a:t>A</a:t>
            </a:r>
            <a:r>
              <a:rPr sz="2200" b="0">
                <a:latin typeface="Noto Sans CJK JP"/>
              </a:rPr>
              <a:t>（「終点 − 始点」）。</a:t>
            </a:r>
          </a:p>
          <a:p>
            <a:pPr>
              <a:spcAft>
                <a:spcPts val="400"/>
              </a:spcAft>
            </a:pPr>
            <a:r>
              <a:rPr sz="2200" b="0">
                <a:latin typeface="Noto Sans CJK JP"/>
              </a:rPr>
              <a:t>• </a:t>
            </a:r>
            <a:r>
              <a:rPr sz="2200" b="0">
                <a:latin typeface="DejaVu Sans"/>
              </a:rPr>
              <a:t>arctan</a:t>
            </a:r>
            <a:r>
              <a:rPr sz="2200" b="0">
                <a:latin typeface="Noto Sans CJK JP"/>
              </a:rPr>
              <a:t> は </a:t>
            </a:r>
            <a:r>
              <a:rPr sz="2200" b="0">
                <a:latin typeface="DejaVu Sans"/>
              </a:rPr>
              <a:t>-90°</a:t>
            </a:r>
            <a:r>
              <a:rPr sz="2200" b="0">
                <a:latin typeface="Noto Sans CJK JP"/>
              </a:rPr>
              <a:t>〜</a:t>
            </a:r>
            <a:r>
              <a:rPr sz="2200" b="0">
                <a:latin typeface="DejaVu Sans"/>
              </a:rPr>
              <a:t>+90°</a:t>
            </a:r>
            <a:r>
              <a:rPr sz="2200" b="0">
                <a:latin typeface="Noto Sans CJK JP"/>
              </a:rPr>
              <a:t> しか返さない → </a:t>
            </a:r>
            <a:r>
              <a:rPr sz="2200" b="1">
                <a:latin typeface="Noto Sans CJK JP"/>
              </a:rPr>
              <a:t>象限で補正</a:t>
            </a:r>
            <a:r>
              <a:rPr sz="2200" b="0">
                <a:latin typeface="Noto Sans CJK JP"/>
              </a:rPr>
              <a:t>する。</a:t>
            </a:r>
          </a:p>
          <a:p>
            <a:pPr>
              <a:spcAft>
                <a:spcPts val="400"/>
              </a:spcAft>
            </a:pPr>
            <a:r>
              <a:rPr sz="2200" b="0">
                <a:latin typeface="Noto Sans CJK JP"/>
              </a:rPr>
              <a:t>• </a:t>
            </a:r>
            <a:r>
              <a:rPr sz="2200" b="0">
                <a:latin typeface="Noto Sans CJK JP"/>
              </a:rPr>
              <a:t>電卓の極座標変換（Pol）は </a:t>
            </a:r>
            <a:r>
              <a:rPr sz="2200" b="0">
                <a:latin typeface="DejaVu Sans"/>
              </a:rPr>
              <a:t>(Δ X, Δ Y)</a:t>
            </a:r>
            <a:r>
              <a:rPr sz="2200" b="0">
                <a:latin typeface="Noto Sans CJK JP"/>
              </a:rPr>
              <a:t> の順に入れると </a:t>
            </a:r>
            <a:r>
              <a:rPr sz="2200" b="0">
                <a:latin typeface="DejaVu Sans"/>
              </a:rPr>
              <a:t>S</a:t>
            </a:r>
            <a:r>
              <a:rPr sz="2200" b="0">
                <a:latin typeface="Noto Sans CJK JP"/>
              </a:rPr>
              <a:t> と </a:t>
            </a:r>
            <a:r>
              <a:rPr sz="2200" b="0">
                <a:latin typeface="DejaVu Sans"/>
              </a:rPr>
              <a:t>T</a:t>
            </a:r>
            <a:r>
              <a:rPr sz="2200" b="0">
                <a:latin typeface="Noto Sans CJK JP"/>
              </a:rPr>
              <a:t>（</a:t>
            </a:r>
            <a:r>
              <a:rPr sz="2200" b="0">
                <a:latin typeface="DejaVu Sans"/>
              </a:rPr>
              <a:t>-180°</a:t>
            </a:r>
            <a:r>
              <a:rPr sz="2200" b="0">
                <a:latin typeface="Noto Sans CJK JP"/>
              </a:rPr>
              <a:t>〜</a:t>
            </a:r>
            <a:r>
              <a:rPr sz="2200" b="0">
                <a:latin typeface="DejaVu Sans"/>
              </a:rPr>
              <a:t>180°</a:t>
            </a:r>
            <a:r>
              <a:rPr sz="2200" b="0">
                <a:latin typeface="Noto Sans CJK JP"/>
              </a:rPr>
              <a:t>）が出る。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象限判定：arctan に足す角</a:t>
            </a:r>
          </a:p>
        </p:txBody>
      </p:sp>
      <p:sp>
        <p:nvSpPr>
          <p:cNvPr id="3" name="Rectangle 2"/>
          <p:cNvSpPr/>
          <p:nvPr/>
        </p:nvSpPr>
        <p:spPr>
          <a:xfrm>
            <a:off x="548640" y="1188720"/>
            <a:ext cx="11094415" cy="1828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1778000"/>
        </p:xfrm>
        <a:graphic>
          <a:graphicData uri="http://schemas.openxmlformats.org/drawingml/2006/table">
            <a:tbl>
              <a:tblPr firstRow="1" bandRow="1">
                <a:tableStyleId>{5C22544A-7EE6-4342-B048-85BDC9FD1C3A}</a:tableStyleId>
              </a:tblPr>
              <a:tblGrid>
                <a:gridCol w="2773603"/>
                <a:gridCol w="2773603"/>
                <a:gridCol w="2773603"/>
                <a:gridCol w="2773606"/>
              </a:tblGrid>
              <a:tr h="355600">
                <a:tc>
                  <a:txBody>
                    <a:bodyPr wrap="square"/>
                    <a:lstStyle/>
                    <a:p>
                      <a:r>
                        <a:rPr sz="1400" b="1">
                          <a:solidFill>
                            <a:srgbClr val="1F1F1F"/>
                          </a:solidFill>
                          <a:latin typeface="DejaVu Sans"/>
                        </a:rPr>
                        <a:t>Δ X</a:t>
                      </a:r>
                    </a:p>
                  </a:txBody>
                  <a:tcPr marL="54864" marR="54864" marT="27432" marB="27432">
                    <a:solidFill>
                      <a:srgbClr val="DCE6F1"/>
                    </a:solidFill>
                  </a:tcPr>
                </a:tc>
                <a:tc>
                  <a:txBody>
                    <a:bodyPr wrap="square"/>
                    <a:lstStyle/>
                    <a:p>
                      <a:r>
                        <a:rPr sz="1400" b="1">
                          <a:solidFill>
                            <a:srgbClr val="1F1F1F"/>
                          </a:solidFill>
                          <a:latin typeface="DejaVu Sans"/>
                        </a:rPr>
                        <a:t>Δ Y</a:t>
                      </a:r>
                    </a:p>
                  </a:txBody>
                  <a:tcPr marL="54864" marR="54864" marT="27432" marB="27432">
                    <a:solidFill>
                      <a:srgbClr val="DCE6F1"/>
                    </a:solidFill>
                  </a:tcPr>
                </a:tc>
                <a:tc>
                  <a:txBody>
                    <a:bodyPr wrap="square"/>
                    <a:lstStyle/>
                    <a:p>
                      <a:r>
                        <a:rPr sz="1400" b="1">
                          <a:solidFill>
                            <a:srgbClr val="1F1F1F"/>
                          </a:solidFill>
                          <a:latin typeface="Noto Sans CJK JP"/>
                        </a:rPr>
                        <a:t>象限</a:t>
                      </a:r>
                    </a:p>
                  </a:txBody>
                  <a:tcPr marL="54864" marR="54864" marT="27432" marB="27432">
                    <a:solidFill>
                      <a:srgbClr val="DCE6F1"/>
                    </a:solidFill>
                  </a:tcPr>
                </a:tc>
                <a:tc>
                  <a:txBody>
                    <a:bodyPr wrap="square"/>
                    <a:lstStyle/>
                    <a:p>
                      <a:r>
                        <a:rPr sz="1400" b="1">
                          <a:solidFill>
                            <a:srgbClr val="1F1F1F"/>
                          </a:solidFill>
                          <a:latin typeface="DejaVu Sans"/>
                        </a:rPr>
                        <a:t>T</a:t>
                      </a:r>
                    </a:p>
                  </a:txBody>
                  <a:tcPr marL="54864" marR="54864" marT="27432" marB="27432">
                    <a:solidFill>
                      <a:srgbClr val="DCE6F1"/>
                    </a:solidFill>
                  </a:tcPr>
                </a:tc>
              </a:tr>
              <a:tr h="355600">
                <a:tc>
                  <a:txBody>
                    <a:bodyPr wrap="square"/>
                    <a:lstStyle/>
                    <a:p>
                      <a:r>
                        <a:rPr sz="1400" b="0">
                          <a:latin typeface="Noto Sans CJK JP"/>
                        </a:rPr>
                        <a:t>＋</a:t>
                      </a:r>
                    </a:p>
                  </a:txBody>
                  <a:tcPr marL="54864" marR="54864" marT="27432" marB="27432">
                    <a:solidFill>
                      <a:srgbClr val="FFFFFF"/>
                    </a:solidFill>
                  </a:tcPr>
                </a:tc>
                <a:tc>
                  <a:txBody>
                    <a:bodyPr wrap="square"/>
                    <a:lstStyle/>
                    <a:p>
                      <a:r>
                        <a:rPr sz="1400" b="0">
                          <a:latin typeface="Noto Sans CJK JP"/>
                        </a:rPr>
                        <a:t>＋</a:t>
                      </a:r>
                    </a:p>
                  </a:txBody>
                  <a:tcPr marL="54864" marR="54864" marT="27432" marB="27432">
                    <a:solidFill>
                      <a:srgbClr val="FFFFFF"/>
                    </a:solidFill>
                  </a:tcPr>
                </a:tc>
                <a:tc>
                  <a:txBody>
                    <a:bodyPr wrap="square"/>
                    <a:lstStyle/>
                    <a:p>
                      <a:r>
                        <a:rPr sz="1400" b="0">
                          <a:latin typeface="Noto Sans CJK JP"/>
                        </a:rPr>
                        <a:t>第1（北東）</a:t>
                      </a:r>
                    </a:p>
                  </a:txBody>
                  <a:tcPr marL="54864" marR="54864" marT="27432" marB="27432">
                    <a:solidFill>
                      <a:srgbClr val="FFFFFF"/>
                    </a:solidFill>
                  </a:tcPr>
                </a:tc>
                <a:tc>
                  <a:txBody>
                    <a:bodyPr wrap="square"/>
                    <a:lstStyle/>
                    <a:p>
                      <a:r>
                        <a:rPr sz="1400" b="0">
                          <a:latin typeface="DejaVu Sans"/>
                        </a:rPr>
                        <a:t>arctan(Δ Y/Δ X)</a:t>
                      </a:r>
                    </a:p>
                  </a:txBody>
                  <a:tcPr marL="54864" marR="54864" marT="27432" marB="27432">
                    <a:solidFill>
                      <a:srgbClr val="FFFFFF"/>
                    </a:solidFill>
                  </a:tcPr>
                </a:tc>
              </a:tr>
              <a:tr h="355600">
                <a:tc>
                  <a:txBody>
                    <a:bodyPr wrap="square"/>
                    <a:lstStyle/>
                    <a:p>
                      <a:r>
                        <a:rPr sz="1400" b="0">
                          <a:latin typeface="Noto Sans CJK JP"/>
                        </a:rPr>
                        <a:t>−</a:t>
                      </a:r>
                    </a:p>
                  </a:txBody>
                  <a:tcPr marL="54864" marR="54864" marT="27432" marB="27432">
                    <a:solidFill>
                      <a:srgbClr val="F5F7FA"/>
                    </a:solidFill>
                  </a:tcPr>
                </a:tc>
                <a:tc>
                  <a:txBody>
                    <a:bodyPr wrap="square"/>
                    <a:lstStyle/>
                    <a:p>
                      <a:r>
                        <a:rPr sz="1400" b="0">
                          <a:latin typeface="Noto Sans CJK JP"/>
                        </a:rPr>
                        <a:t>＋</a:t>
                      </a:r>
                    </a:p>
                  </a:txBody>
                  <a:tcPr marL="54864" marR="54864" marT="27432" marB="27432">
                    <a:solidFill>
                      <a:srgbClr val="F5F7FA"/>
                    </a:solidFill>
                  </a:tcPr>
                </a:tc>
                <a:tc>
                  <a:txBody>
                    <a:bodyPr wrap="square"/>
                    <a:lstStyle/>
                    <a:p>
                      <a:r>
                        <a:rPr sz="1400" b="0">
                          <a:latin typeface="Noto Sans CJK JP"/>
                        </a:rPr>
                        <a:t>第2（南東）</a:t>
                      </a:r>
                    </a:p>
                  </a:txBody>
                  <a:tcPr marL="54864" marR="54864" marT="27432" marB="27432">
                    <a:solidFill>
                      <a:srgbClr val="F5F7FA"/>
                    </a:solidFill>
                  </a:tcPr>
                </a:tc>
                <a:tc>
                  <a:txBody>
                    <a:bodyPr wrap="square"/>
                    <a:lstStyle/>
                    <a:p>
                      <a:r>
                        <a:rPr sz="1400" b="0">
                          <a:latin typeface="DejaVu Sans"/>
                        </a:rPr>
                        <a:t>arctan(Δ Y/Δ X)+180°</a:t>
                      </a:r>
                    </a:p>
                  </a:txBody>
                  <a:tcPr marL="54864" marR="54864" marT="27432" marB="27432">
                    <a:solidFill>
                      <a:srgbClr val="F5F7FA"/>
                    </a:solidFill>
                  </a:tcPr>
                </a:tc>
              </a:tr>
              <a:tr h="355600">
                <a:tc>
                  <a:txBody>
                    <a:bodyPr wrap="square"/>
                    <a:lstStyle/>
                    <a:p>
                      <a:r>
                        <a:rPr sz="1400" b="0">
                          <a:latin typeface="Noto Sans CJK JP"/>
                        </a:rPr>
                        <a:t>−</a:t>
                      </a:r>
                    </a:p>
                  </a:txBody>
                  <a:tcPr marL="54864" marR="54864" marT="27432" marB="27432">
                    <a:solidFill>
                      <a:srgbClr val="FFFFFF"/>
                    </a:solidFill>
                  </a:tcPr>
                </a:tc>
                <a:tc>
                  <a:txBody>
                    <a:bodyPr wrap="square"/>
                    <a:lstStyle/>
                    <a:p>
                      <a:r>
                        <a:rPr sz="1400" b="0">
                          <a:latin typeface="Noto Sans CJK JP"/>
                        </a:rPr>
                        <a:t>−</a:t>
                      </a:r>
                    </a:p>
                  </a:txBody>
                  <a:tcPr marL="54864" marR="54864" marT="27432" marB="27432">
                    <a:solidFill>
                      <a:srgbClr val="FFFFFF"/>
                    </a:solidFill>
                  </a:tcPr>
                </a:tc>
                <a:tc>
                  <a:txBody>
                    <a:bodyPr wrap="square"/>
                    <a:lstStyle/>
                    <a:p>
                      <a:r>
                        <a:rPr sz="1400" b="0">
                          <a:latin typeface="Noto Sans CJK JP"/>
                        </a:rPr>
                        <a:t>第3（南西）</a:t>
                      </a:r>
                    </a:p>
                  </a:txBody>
                  <a:tcPr marL="54864" marR="54864" marT="27432" marB="27432">
                    <a:solidFill>
                      <a:srgbClr val="FFFFFF"/>
                    </a:solidFill>
                  </a:tcPr>
                </a:tc>
                <a:tc>
                  <a:txBody>
                    <a:bodyPr wrap="square"/>
                    <a:lstStyle/>
                    <a:p>
                      <a:r>
                        <a:rPr sz="1400" b="0">
                          <a:latin typeface="DejaVu Sans"/>
                        </a:rPr>
                        <a:t>arctan(Δ Y/Δ X)+180°</a:t>
                      </a:r>
                    </a:p>
                  </a:txBody>
                  <a:tcPr marL="54864" marR="54864" marT="27432" marB="27432">
                    <a:solidFill>
                      <a:srgbClr val="FFFFFF"/>
                    </a:solidFill>
                  </a:tcPr>
                </a:tc>
              </a:tr>
              <a:tr h="355600">
                <a:tc>
                  <a:txBody>
                    <a:bodyPr wrap="square"/>
                    <a:lstStyle/>
                    <a:p>
                      <a:r>
                        <a:rPr sz="1400" b="0">
                          <a:latin typeface="Noto Sans CJK JP"/>
                        </a:rPr>
                        <a:t>＋</a:t>
                      </a:r>
                    </a:p>
                  </a:txBody>
                  <a:tcPr marL="54864" marR="54864" marT="27432" marB="27432">
                    <a:solidFill>
                      <a:srgbClr val="F5F7FA"/>
                    </a:solidFill>
                  </a:tcPr>
                </a:tc>
                <a:tc>
                  <a:txBody>
                    <a:bodyPr wrap="square"/>
                    <a:lstStyle/>
                    <a:p>
                      <a:r>
                        <a:rPr sz="1400" b="0">
                          <a:latin typeface="Noto Sans CJK JP"/>
                        </a:rPr>
                        <a:t>−</a:t>
                      </a:r>
                    </a:p>
                  </a:txBody>
                  <a:tcPr marL="54864" marR="54864" marT="27432" marB="27432">
                    <a:solidFill>
                      <a:srgbClr val="F5F7FA"/>
                    </a:solidFill>
                  </a:tcPr>
                </a:tc>
                <a:tc>
                  <a:txBody>
                    <a:bodyPr wrap="square"/>
                    <a:lstStyle/>
                    <a:p>
                      <a:r>
                        <a:rPr sz="1400" b="0">
                          <a:latin typeface="Noto Sans CJK JP"/>
                        </a:rPr>
                        <a:t>第4（北西）</a:t>
                      </a:r>
                    </a:p>
                  </a:txBody>
                  <a:tcPr marL="54864" marR="54864" marT="27432" marB="27432">
                    <a:solidFill>
                      <a:srgbClr val="F5F7FA"/>
                    </a:solidFill>
                  </a:tcPr>
                </a:tc>
                <a:tc>
                  <a:txBody>
                    <a:bodyPr wrap="square"/>
                    <a:lstStyle/>
                    <a:p>
                      <a:r>
                        <a:rPr sz="1400" b="0">
                          <a:latin typeface="DejaVu Sans"/>
                        </a:rPr>
                        <a:t>arctan(Δ Y/Δ X)+360°</a:t>
                      </a:r>
                    </a:p>
                  </a:txBody>
                  <a:tcPr marL="54864" marR="54864" marT="27432" marB="27432">
                    <a:solidFill>
                      <a:srgbClr val="F5F7FA"/>
                    </a:solidFill>
                  </a:tcPr>
                </a:tc>
              </a:tr>
            </a:tbl>
          </a:graphicData>
        </a:graphic>
      </p:graphicFrame>
      <p:pic>
        <p:nvPicPr>
          <p:cNvPr id="5" name="Picture 4" descr="逆計算の象限判定"/>
          <p:cNvPicPr>
            <a:picLocks noChangeAspect="1"/>
          </p:cNvPicPr>
          <p:nvPr/>
        </p:nvPicPr>
        <p:blipFill>
          <a:blip r:embed="rId2"/>
          <a:stretch>
            <a:fillRect/>
          </a:stretch>
        </p:blipFill>
        <p:spPr>
          <a:xfrm>
            <a:off x="1092170" y="3429000"/>
            <a:ext cx="10004611" cy="2834639"/>
          </a:xfrm>
          <a:prstGeom prst="rect">
            <a:avLst/>
          </a:prstGeom>
        </p:spPr>
      </p:pic>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数値例：逆計算で検算する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30860"/>
          </a:xfrm>
          <a:prstGeom prst="rect">
            <a:avLst/>
          </a:prstGeom>
          <a:noFill/>
        </p:spPr>
        <p:txBody>
          <a:bodyPr wrap="square" lIns="45720" rIns="45720" tIns="18288" bIns="18288">
            <a:spAutoFit/>
          </a:bodyPr>
          <a:lstStyle/>
          <a:p>
            <a:pPr>
              <a:spcAft>
                <a:spcPts val="600"/>
              </a:spcAft>
            </a:pPr>
            <a:r>
              <a:rPr sz="2000" b="0">
                <a:latin typeface="Noto Sans CJK JP"/>
              </a:rPr>
              <a:t>B</a:t>
            </a:r>
            <a:r>
              <a:rPr sz="2000" b="0">
                <a:latin typeface="DejaVu Sans"/>
              </a:rPr>
              <a:t>(925.000, 2129.904)</a:t>
            </a:r>
            <a:r>
              <a:rPr sz="2000" b="0">
                <a:latin typeface="Noto Sans CJK JP"/>
              </a:rPr>
              <a:t> から A</a:t>
            </a:r>
            <a:r>
              <a:rPr sz="2000" b="0">
                <a:latin typeface="DejaVu Sans"/>
              </a:rPr>
              <a:t>(1000.000, 2000.000)</a:t>
            </a:r>
            <a:r>
              <a:rPr sz="2000" b="0">
                <a:latin typeface="Noto Sans CJK JP"/>
              </a:rPr>
              <a:t> を引く：</a:t>
            </a:r>
          </a:p>
        </p:txBody>
      </p:sp>
      <p:pic>
        <p:nvPicPr>
          <p:cNvPr id="5" name="Picture 4" descr="eq_84c2344c924f.png"/>
          <p:cNvPicPr>
            <a:picLocks noChangeAspect="1"/>
          </p:cNvPicPr>
          <p:nvPr/>
        </p:nvPicPr>
        <p:blipFill>
          <a:blip r:embed="rId2"/>
          <a:stretch>
            <a:fillRect/>
          </a:stretch>
        </p:blipFill>
        <p:spPr>
          <a:xfrm>
            <a:off x="826000" y="1975612"/>
            <a:ext cx="10539694" cy="399805"/>
          </a:xfrm>
          <a:prstGeom prst="rect">
            <a:avLst/>
          </a:prstGeom>
        </p:spPr>
      </p:pic>
      <p:sp>
        <p:nvSpPr>
          <p:cNvPr id="6" name="TextBox 5"/>
          <p:cNvSpPr txBox="1"/>
          <p:nvPr/>
        </p:nvSpPr>
        <p:spPr>
          <a:xfrm>
            <a:off x="548640" y="2530865"/>
            <a:ext cx="11094415" cy="2184400"/>
          </a:xfrm>
          <a:prstGeom prst="rect">
            <a:avLst/>
          </a:prstGeom>
          <a:noFill/>
        </p:spPr>
        <p:txBody>
          <a:bodyPr wrap="square" lIns="45720" rIns="45720" tIns="18288" bIns="18288">
            <a:spAutoFit/>
          </a:bodyPr>
          <a:lstStyle/>
          <a:p>
            <a:pPr algn="ctr"/>
            <a:r>
              <a:rPr sz="2200" b="0">
                <a:latin typeface="DejaVu Sans"/>
              </a:rPr>
              <a:t>arctan(129.904)/(-75.000) = -60°00′00″ → Δ X&lt;0 なので +180° → T=120°00′00″</a:t>
            </a:r>
            <a:br/>
          </a:p>
          <a:p>
            <a:pPr>
              <a:spcAft>
                <a:spcPts val="400"/>
              </a:spcAft>
            </a:pPr>
            <a:r>
              <a:rPr sz="2000" b="0">
                <a:latin typeface="Noto Sans CJK JP"/>
              </a:rPr>
              <a:t>• </a:t>
            </a:r>
            <a:r>
              <a:rPr sz="2000" b="0">
                <a:latin typeface="Noto Sans CJK JP"/>
              </a:rPr>
              <a:t>順計算の結果が逆計算で元に戻る → 検算完了。</a:t>
            </a:r>
            <a:r>
              <a:rPr sz="2000" b="0">
                <a:latin typeface="DejaVu Sans"/>
              </a:rPr>
              <a:t>Δ X</a:t>
            </a:r>
            <a:r>
              <a:rPr sz="2000" b="0" baseline="30000">
                <a:latin typeface="DejaVu Sans"/>
              </a:rPr>
              <a:t>2</a:t>
            </a:r>
            <a:r>
              <a:rPr sz="2000" b="0">
                <a:latin typeface="DejaVu Sans"/>
              </a:rPr>
              <a:t>+Δ Y</a:t>
            </a:r>
            <a:r>
              <a:rPr sz="2000" b="0" baseline="30000">
                <a:latin typeface="DejaVu Sans"/>
              </a:rPr>
              <a:t>2</a:t>
            </a:r>
            <a:r>
              <a:rPr sz="2000" b="0">
                <a:latin typeface="DejaVu Sans"/>
              </a:rPr>
              <a:t>=S</a:t>
            </a:r>
            <a:r>
              <a:rPr sz="2000" b="0" baseline="30000">
                <a:latin typeface="DejaVu Sans"/>
              </a:rPr>
              <a:t>2</a:t>
            </a:r>
            <a:r>
              <a:rPr sz="2000" b="0">
                <a:latin typeface="Noto Sans CJK JP"/>
              </a:rPr>
              <a:t> も確かめる。</a:t>
            </a:r>
          </a:p>
          <a:p>
            <a:pPr>
              <a:spcAft>
                <a:spcPts val="400"/>
              </a:spcAft>
            </a:pPr>
            <a:r>
              <a:rPr sz="2000" b="0">
                <a:latin typeface="Noto Sans CJK JP"/>
              </a:rPr>
              <a:t>• </a:t>
            </a:r>
            <a:r>
              <a:rPr sz="2000" b="0">
                <a:latin typeface="Noto Sans CJK JP"/>
              </a:rPr>
              <a:t>座標は mm（小数第3位）、角は秒まで。三角関数の値は途中で丸めない。</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士補形式の例題：三角関数表で計算</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924560"/>
          </a:xfrm>
          <a:prstGeom prst="rect">
            <a:avLst/>
          </a:prstGeom>
          <a:noFill/>
        </p:spPr>
        <p:txBody>
          <a:bodyPr wrap="square" lIns="45720" rIns="45720" tIns="18288" bIns="18288">
            <a:spAutoFit/>
          </a:bodyPr>
          <a:lstStyle/>
          <a:p>
            <a:pPr>
              <a:spcAft>
                <a:spcPts val="600"/>
              </a:spcAft>
            </a:pPr>
            <a:r>
              <a:rPr sz="2000" b="0">
                <a:latin typeface="Noto Sans CJK JP"/>
              </a:rPr>
              <a:t>既知点 A</a:t>
            </a:r>
            <a:r>
              <a:rPr sz="2000" b="0">
                <a:latin typeface="DejaVu Sans"/>
              </a:rPr>
              <a:t>(X=+150.00, Y=+250.00)</a:t>
            </a:r>
            <a:r>
              <a:rPr sz="2000" b="0">
                <a:latin typeface="Noto Sans CJK JP"/>
              </a:rPr>
              <a:t> から、方向角 </a:t>
            </a:r>
            <a:r>
              <a:rPr sz="2000" b="0">
                <a:latin typeface="DejaVu Sans"/>
              </a:rPr>
              <a:t>60°</a:t>
            </a:r>
            <a:r>
              <a:rPr sz="2000" b="0">
                <a:latin typeface="Noto Sans CJK JP"/>
              </a:rPr>
              <a:t>、距離 </a:t>
            </a:r>
            <a:r>
              <a:rPr sz="2000" b="0">
                <a:latin typeface="DejaVu Sans"/>
              </a:rPr>
              <a:t>200.00</a:t>
            </a:r>
            <a:r>
              <a:rPr sz="2000" b="0">
                <a:latin typeface="Noto Sans CJK JP"/>
              </a:rPr>
              <a:t> m の点 B の座標を求めよ。</a:t>
            </a:r>
          </a:p>
        </p:txBody>
      </p:sp>
      <p:graphicFrame>
        <p:nvGraphicFramePr>
          <p:cNvPr id="5" name="Table 4"/>
          <p:cNvGraphicFramePr>
            <a:graphicFrameLocks noGrp="1"/>
          </p:cNvGraphicFramePr>
          <p:nvPr/>
        </p:nvGraphicFramePr>
        <p:xfrm>
          <a:off x="548640" y="2296160"/>
          <a:ext cx="11094415" cy="12192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角</a:t>
                      </a:r>
                    </a:p>
                  </a:txBody>
                  <a:tcPr marL="54864" marR="54864" marT="27432" marB="27432">
                    <a:solidFill>
                      <a:srgbClr val="DCE6F1"/>
                    </a:solidFill>
                  </a:tcPr>
                </a:tc>
                <a:tc>
                  <a:txBody>
                    <a:bodyPr wrap="square"/>
                    <a:lstStyle/>
                    <a:p>
                      <a:r>
                        <a:rPr sz="1600" b="1">
                          <a:solidFill>
                            <a:srgbClr val="1F1F1F"/>
                          </a:solidFill>
                          <a:latin typeface="DejaVu Sans"/>
                        </a:rPr>
                        <a:t>sin</a:t>
                      </a:r>
                    </a:p>
                  </a:txBody>
                  <a:tcPr marL="54864" marR="54864" marT="27432" marB="27432">
                    <a:solidFill>
                      <a:srgbClr val="DCE6F1"/>
                    </a:solidFill>
                  </a:tcPr>
                </a:tc>
                <a:tc>
                  <a:txBody>
                    <a:bodyPr wrap="square"/>
                    <a:lstStyle/>
                    <a:p>
                      <a:r>
                        <a:rPr sz="1600" b="1">
                          <a:solidFill>
                            <a:srgbClr val="1F1F1F"/>
                          </a:solidFill>
                          <a:latin typeface="DejaVu Sans"/>
                        </a:rPr>
                        <a:t>cos</a:t>
                      </a:r>
                    </a:p>
                  </a:txBody>
                  <a:tcPr marL="54864" marR="54864" marT="27432" marB="27432">
                    <a:solidFill>
                      <a:srgbClr val="DCE6F1"/>
                    </a:solidFill>
                  </a:tcPr>
                </a:tc>
              </a:tr>
              <a:tr h="406400">
                <a:tc>
                  <a:txBody>
                    <a:bodyPr wrap="square"/>
                    <a:lstStyle/>
                    <a:p>
                      <a:r>
                        <a:rPr sz="1600" b="0">
                          <a:latin typeface="Noto Sans CJK JP"/>
                        </a:rPr>
                        <a:t>30°</a:t>
                      </a:r>
                    </a:p>
                  </a:txBody>
                  <a:tcPr marL="54864" marR="54864" marT="27432" marB="27432">
                    <a:solidFill>
                      <a:srgbClr val="FFFFFF"/>
                    </a:solidFill>
                  </a:tcPr>
                </a:tc>
                <a:tc>
                  <a:txBody>
                    <a:bodyPr wrap="square"/>
                    <a:lstStyle/>
                    <a:p>
                      <a:r>
                        <a:rPr sz="1600" b="0">
                          <a:latin typeface="Noto Sans CJK JP"/>
                        </a:rPr>
                        <a:t>0.50000</a:t>
                      </a:r>
                    </a:p>
                  </a:txBody>
                  <a:tcPr marL="54864" marR="54864" marT="27432" marB="27432">
                    <a:solidFill>
                      <a:srgbClr val="FFFFFF"/>
                    </a:solidFill>
                  </a:tcPr>
                </a:tc>
                <a:tc>
                  <a:txBody>
                    <a:bodyPr wrap="square"/>
                    <a:lstStyle/>
                    <a:p>
                      <a:r>
                        <a:rPr sz="1600" b="0">
                          <a:latin typeface="Noto Sans CJK JP"/>
                        </a:rPr>
                        <a:t>0.86603</a:t>
                      </a:r>
                    </a:p>
                  </a:txBody>
                  <a:tcPr marL="54864" marR="54864" marT="27432" marB="27432">
                    <a:solidFill>
                      <a:srgbClr val="FFFFFF"/>
                    </a:solidFill>
                  </a:tcPr>
                </a:tc>
              </a:tr>
              <a:tr h="406400">
                <a:tc>
                  <a:txBody>
                    <a:bodyPr wrap="square"/>
                    <a:lstStyle/>
                    <a:p>
                      <a:r>
                        <a:rPr sz="1600" b="0">
                          <a:latin typeface="Noto Sans CJK JP"/>
                        </a:rPr>
                        <a:t>60°</a:t>
                      </a:r>
                    </a:p>
                  </a:txBody>
                  <a:tcPr marL="54864" marR="54864" marT="27432" marB="27432">
                    <a:solidFill>
                      <a:srgbClr val="F5F7FA"/>
                    </a:solidFill>
                  </a:tcPr>
                </a:tc>
                <a:tc>
                  <a:txBody>
                    <a:bodyPr wrap="square"/>
                    <a:lstStyle/>
                    <a:p>
                      <a:r>
                        <a:rPr sz="1600" b="0">
                          <a:latin typeface="Noto Sans CJK JP"/>
                        </a:rPr>
                        <a:t>0.86603</a:t>
                      </a:r>
                    </a:p>
                  </a:txBody>
                  <a:tcPr marL="54864" marR="54864" marT="27432" marB="27432">
                    <a:solidFill>
                      <a:srgbClr val="F5F7FA"/>
                    </a:solidFill>
                  </a:tcPr>
                </a:tc>
                <a:tc>
                  <a:txBody>
                    <a:bodyPr wrap="square"/>
                    <a:lstStyle/>
                    <a:p>
                      <a:r>
                        <a:rPr sz="1600" b="0">
                          <a:latin typeface="Noto Sans CJK JP"/>
                        </a:rPr>
                        <a:t>0.50000</a:t>
                      </a:r>
                    </a:p>
                  </a:txBody>
                  <a:tcPr marL="54864" marR="54864" marT="27432" marB="27432">
                    <a:solidFill>
                      <a:srgbClr val="F5F7FA"/>
                    </a:solidFill>
                  </a:tcPr>
                </a:tc>
              </a:tr>
            </a:tbl>
          </a:graphicData>
        </a:graphic>
      </p:graphicFrame>
      <p:pic>
        <p:nvPicPr>
          <p:cNvPr id="6" name="Picture 5" descr="eq_dfbeebb1dd61.png"/>
          <p:cNvPicPr>
            <a:picLocks noChangeAspect="1"/>
          </p:cNvPicPr>
          <p:nvPr/>
        </p:nvPicPr>
        <p:blipFill>
          <a:blip r:embed="rId2"/>
          <a:stretch>
            <a:fillRect/>
          </a:stretch>
        </p:blipFill>
        <p:spPr>
          <a:xfrm>
            <a:off x="826000" y="3725672"/>
            <a:ext cx="10539694" cy="228119"/>
          </a:xfrm>
          <a:prstGeom prst="rect">
            <a:avLst/>
          </a:prstGeom>
        </p:spPr>
      </p:pic>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ここまでの確認③</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143637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DejaVu Sans"/>
              </a:rPr>
              <a:t>Δ X=-100</a:t>
            </a:r>
            <a:r>
              <a:rPr sz="2200" b="0">
                <a:latin typeface="Noto Sans CJK JP"/>
              </a:rPr>
              <a:t> m、</a:t>
            </a:r>
            <a:r>
              <a:rPr sz="2200" b="0">
                <a:latin typeface="DejaVu Sans"/>
              </a:rPr>
              <a:t>Δ Y=-100</a:t>
            </a:r>
            <a:r>
              <a:rPr sz="2200" b="0">
                <a:latin typeface="Noto Sans CJK JP"/>
              </a:rPr>
              <a:t> m のとき、方向角は？</a:t>
            </a:r>
          </a:p>
          <a:p>
            <a:pPr>
              <a:spcAft>
                <a:spcPts val="400"/>
              </a:spcAft>
            </a:pPr>
            <a:r>
              <a:rPr sz="2200" b="0">
                <a:latin typeface="Noto Sans CJK JP"/>
              </a:rPr>
              <a:t>• </a:t>
            </a:r>
            <a:r>
              <a:rPr sz="2200" b="0">
                <a:latin typeface="Noto Sans CJK JP"/>
              </a:rPr>
              <a:t>方向角 </a:t>
            </a:r>
            <a:r>
              <a:rPr sz="2200" b="0">
                <a:latin typeface="DejaVu Sans"/>
              </a:rPr>
              <a:t>150°</a:t>
            </a:r>
            <a:r>
              <a:rPr sz="2200" b="0">
                <a:latin typeface="Noto Sans CJK JP"/>
              </a:rPr>
              <a:t> を方位で書くと？</a:t>
            </a:r>
          </a:p>
          <a:p>
            <a:pPr>
              <a:spcAft>
                <a:spcPts val="400"/>
              </a:spcAft>
            </a:pPr>
            <a:r>
              <a:rPr sz="2200" b="0">
                <a:latin typeface="Noto Sans CJK JP"/>
              </a:rPr>
              <a:t>• </a:t>
            </a:r>
            <a:r>
              <a:rPr sz="2200" b="0">
                <a:latin typeface="Noto Sans CJK JP"/>
              </a:rPr>
              <a:t>方向角と方位角の違いは何を基準にした角か？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3-5 試験で問われる型（方向角と座標計算）</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032000"/>
        </p:xfrm>
        <a:graphic>
          <a:graphicData uri="http://schemas.openxmlformats.org/drawingml/2006/table">
            <a:tbl>
              <a:tblPr firstRow="1" bandRow="1">
                <a:tableStyleId>{5C22544A-7EE6-4342-B048-85BDC9FD1C3A}</a:tableStyleId>
              </a:tblPr>
              <a:tblGrid>
                <a:gridCol w="5547207"/>
                <a:gridCol w="5547208"/>
              </a:tblGrid>
              <a:tr h="406400">
                <a:tc>
                  <a:txBody>
                    <a:bodyPr wrap="square"/>
                    <a:lstStyle/>
                    <a:p>
                      <a:r>
                        <a:rPr sz="1600" b="1">
                          <a:solidFill>
                            <a:srgbClr val="1F1F1F"/>
                          </a:solidFill>
                          <a:latin typeface="Noto Sans CJK JP"/>
                        </a:rPr>
                        <a:t>型</a:t>
                      </a:r>
                    </a:p>
                  </a:txBody>
                  <a:tcPr marL="54864" marR="54864" marT="27432" marB="27432">
                    <a:solidFill>
                      <a:srgbClr val="DCE6F1"/>
                    </a:solidFill>
                  </a:tcPr>
                </a:tc>
                <a:tc>
                  <a:txBody>
                    <a:bodyPr wrap="square"/>
                    <a:lstStyle/>
                    <a:p>
                      <a:r>
                        <a:rPr sz="1600" b="1">
                          <a:solidFill>
                            <a:srgbClr val="1F1F1F"/>
                          </a:solidFill>
                          <a:latin typeface="Noto Sans CJK JP"/>
                        </a:rPr>
                        <a:t>着眼点</a:t>
                      </a:r>
                    </a:p>
                  </a:txBody>
                  <a:tcPr marL="54864" marR="54864" marT="27432" marB="27432">
                    <a:solidFill>
                      <a:srgbClr val="DCE6F1"/>
                    </a:solidFill>
                  </a:tcPr>
                </a:tc>
              </a:tr>
              <a:tr h="406400">
                <a:tc>
                  <a:txBody>
                    <a:bodyPr wrap="square"/>
                    <a:lstStyle/>
                    <a:p>
                      <a:r>
                        <a:rPr sz="1600" b="0">
                          <a:latin typeface="Noto Sans CJK JP"/>
                        </a:rPr>
                        <a:t>座標計算（表付き）</a:t>
                      </a:r>
                    </a:p>
                  </a:txBody>
                  <a:tcPr marL="54864" marR="54864" marT="27432" marB="27432">
                    <a:solidFill>
                      <a:srgbClr val="FFFFFF"/>
                    </a:solidFill>
                  </a:tcPr>
                </a:tc>
                <a:tc>
                  <a:txBody>
                    <a:bodyPr wrap="square"/>
                    <a:lstStyle/>
                    <a:p>
                      <a:r>
                        <a:rPr sz="1600" b="0">
                          <a:latin typeface="DejaVu Sans"/>
                        </a:rPr>
                        <a:t>X</a:t>
                      </a:r>
                      <a:r>
                        <a:rPr sz="1600" b="0">
                          <a:latin typeface="Noto Sans CJK JP"/>
                        </a:rPr>
                        <a:t> に </a:t>
                      </a:r>
                      <a:r>
                        <a:rPr sz="1600" b="0">
                          <a:latin typeface="DejaVu Sans"/>
                        </a:rPr>
                        <a:t>cos</a:t>
                      </a:r>
                      <a:r>
                        <a:rPr sz="1600" b="0">
                          <a:latin typeface="Noto Sans CJK JP"/>
                        </a:rPr>
                        <a:t>、</a:t>
                      </a:r>
                      <a:r>
                        <a:rPr sz="1600" b="0">
                          <a:latin typeface="DejaVu Sans"/>
                        </a:rPr>
                        <a:t>Y</a:t>
                      </a:r>
                      <a:r>
                        <a:rPr sz="1600" b="0">
                          <a:latin typeface="Noto Sans CJK JP"/>
                        </a:rPr>
                        <a:t> に </a:t>
                      </a:r>
                      <a:r>
                        <a:rPr sz="1600" b="0">
                          <a:latin typeface="DejaVu Sans"/>
                        </a:rPr>
                        <a:t>sin</a:t>
                      </a:r>
                      <a:r>
                        <a:rPr sz="1600" b="0">
                          <a:latin typeface="Noto Sans CJK JP"/>
                        </a:rPr>
                        <a:t>。符号は象限で</a:t>
                      </a:r>
                    </a:p>
                  </a:txBody>
                  <a:tcPr marL="54864" marR="54864" marT="27432" marB="27432">
                    <a:solidFill>
                      <a:srgbClr val="FFFFFF"/>
                    </a:solidFill>
                  </a:tcPr>
                </a:tc>
              </a:tr>
              <a:tr h="406400">
                <a:tc>
                  <a:txBody>
                    <a:bodyPr wrap="square"/>
                    <a:lstStyle/>
                    <a:p>
                      <a:r>
                        <a:rPr sz="1600" b="0">
                          <a:latin typeface="Noto Sans CJK JP"/>
                        </a:rPr>
                        <a:t>方向角の象限</a:t>
                      </a:r>
                    </a:p>
                  </a:txBody>
                  <a:tcPr marL="54864" marR="54864" marT="27432" marB="27432">
                    <a:solidFill>
                      <a:srgbClr val="F5F7FA"/>
                    </a:solidFill>
                  </a:tcPr>
                </a:tc>
                <a:tc>
                  <a:txBody>
                    <a:bodyPr wrap="square"/>
                    <a:lstStyle/>
                    <a:p>
                      <a:r>
                        <a:rPr sz="1600" b="0">
                          <a:latin typeface="DejaVu Sans"/>
                        </a:rPr>
                        <a:t>arctan</a:t>
                      </a:r>
                      <a:r>
                        <a:rPr sz="1600" b="0">
                          <a:latin typeface="Noto Sans CJK JP"/>
                        </a:rPr>
                        <a:t> に 180° または 360° を足す</a:t>
                      </a:r>
                    </a:p>
                  </a:txBody>
                  <a:tcPr marL="54864" marR="54864" marT="27432" marB="27432">
                    <a:solidFill>
                      <a:srgbClr val="F5F7FA"/>
                    </a:solidFill>
                  </a:tcPr>
                </a:tc>
              </a:tr>
              <a:tr h="406400">
                <a:tc>
                  <a:txBody>
                    <a:bodyPr wrap="square"/>
                    <a:lstStyle/>
                    <a:p>
                      <a:r>
                        <a:rPr sz="1600" b="0">
                          <a:latin typeface="Noto Sans CJK JP"/>
                        </a:rPr>
                        <a:t>方位との換算</a:t>
                      </a:r>
                    </a:p>
                  </a:txBody>
                  <a:tcPr marL="54864" marR="54864" marT="27432" marB="27432">
                    <a:solidFill>
                      <a:srgbClr val="FFFFFF"/>
                    </a:solidFill>
                  </a:tcPr>
                </a:tc>
                <a:tc>
                  <a:txBody>
                    <a:bodyPr wrap="square"/>
                    <a:lstStyle/>
                    <a:p>
                      <a:r>
                        <a:rPr sz="1600" b="0">
                          <a:latin typeface="Noto Sans CJK JP"/>
                        </a:rPr>
                        <a:t>N/S と E/W の組合せで式を選ぶ</a:t>
                      </a:r>
                    </a:p>
                  </a:txBody>
                  <a:tcPr marL="54864" marR="54864" marT="27432" marB="27432">
                    <a:solidFill>
                      <a:srgbClr val="FFFFFF"/>
                    </a:solidFill>
                  </a:tcPr>
                </a:tc>
              </a:tr>
              <a:tr h="406400">
                <a:tc>
                  <a:txBody>
                    <a:bodyPr wrap="square"/>
                    <a:lstStyle/>
                    <a:p>
                      <a:r>
                        <a:rPr sz="1600" b="0">
                          <a:latin typeface="Noto Sans CJK JP"/>
                        </a:rPr>
                        <a:t>真北方向角</a:t>
                      </a:r>
                    </a:p>
                  </a:txBody>
                  <a:tcPr marL="54864" marR="54864" marT="27432" marB="27432">
                    <a:solidFill>
                      <a:srgbClr val="F5F7FA"/>
                    </a:solidFill>
                  </a:tcPr>
                </a:tc>
                <a:tc>
                  <a:txBody>
                    <a:bodyPr wrap="square"/>
                    <a:lstStyle/>
                    <a:p>
                      <a:r>
                        <a:rPr sz="1600" b="0">
                          <a:latin typeface="Noto Sans CJK JP"/>
                        </a:rPr>
                        <a:t>方位角＝方向角−真北方向角。原点の子午線上で 0</a:t>
                      </a:r>
                    </a:p>
                  </a:txBody>
                  <a:tcPr marL="54864" marR="54864" marT="27432" marB="27432">
                    <a:solidFill>
                      <a:srgbClr val="F5F7FA"/>
                    </a:solidFill>
                  </a:tcPr>
                </a:tc>
              </a:tr>
            </a:tbl>
          </a:graphicData>
        </a:graphic>
      </p:graphicFrame>
      <p:sp>
        <p:nvSpPr>
          <p:cNvPr id="5" name="TextBox 4"/>
          <p:cNvSpPr txBox="1"/>
          <p:nvPr/>
        </p:nvSpPr>
        <p:spPr>
          <a:xfrm>
            <a:off x="548640" y="3540760"/>
            <a:ext cx="11094415" cy="5308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第5回（トラバース）では、交角から方向角を順に計算する型に発展する。</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3-6 GNSS の座標はどう平面直角座標になるか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032000"/>
        </p:xfrm>
        <a:graphic>
          <a:graphicData uri="http://schemas.openxmlformats.org/drawingml/2006/table">
            <a:tbl>
              <a:tblPr firstRow="1" bandRow="1">
                <a:tableStyleId>{5C22544A-7EE6-4342-B048-85BDC9FD1C3A}</a:tableStyleId>
              </a:tblPr>
              <a:tblGrid>
                <a:gridCol w="3698138"/>
                <a:gridCol w="3698138"/>
                <a:gridCol w="3698139"/>
              </a:tblGrid>
              <a:tr h="406400">
                <a:tc>
                  <a:txBody>
                    <a:bodyPr wrap="square"/>
                    <a:lstStyle/>
                    <a:p>
                      <a:r>
                        <a:rPr sz="1600" b="1">
                          <a:solidFill>
                            <a:srgbClr val="1F1F1F"/>
                          </a:solidFill>
                          <a:latin typeface="Noto Sans CJK JP"/>
                        </a:rPr>
                        <a:t>段階</a:t>
                      </a:r>
                    </a:p>
                  </a:txBody>
                  <a:tcPr marL="54864" marR="54864" marT="27432" marB="27432">
                    <a:solidFill>
                      <a:srgbClr val="DCE6F1"/>
                    </a:solidFill>
                  </a:tcPr>
                </a:tc>
                <a:tc>
                  <a:txBody>
                    <a:bodyPr wrap="square"/>
                    <a:lstStyle/>
                    <a:p>
                      <a:r>
                        <a:rPr sz="1600" b="1">
                          <a:solidFill>
                            <a:srgbClr val="1F1F1F"/>
                          </a:solidFill>
                          <a:latin typeface="Noto Sans CJK JP"/>
                        </a:rPr>
                        <a:t>座標</a:t>
                      </a:r>
                    </a:p>
                  </a:txBody>
                  <a:tcPr marL="54864" marR="54864" marT="27432" marB="27432">
                    <a:solidFill>
                      <a:srgbClr val="DCE6F1"/>
                    </a:solidFill>
                  </a:tcPr>
                </a:tc>
                <a:tc>
                  <a:txBody>
                    <a:bodyPr wrap="square"/>
                    <a:lstStyle/>
                    <a:p>
                      <a:r>
                        <a:rPr sz="1600" b="1">
                          <a:solidFill>
                            <a:srgbClr val="1F1F1F"/>
                          </a:solidFill>
                          <a:latin typeface="Noto Sans CJK JP"/>
                        </a:rPr>
                        <a:t>誰が計算するか</a:t>
                      </a:r>
                    </a:p>
                  </a:txBody>
                  <a:tcPr marL="54864" marR="54864" marT="27432" marB="27432">
                    <a:solidFill>
                      <a:srgbClr val="DCE6F1"/>
                    </a:solidFill>
                  </a:tcPr>
                </a:tc>
              </a:tr>
              <a:tr h="406400">
                <a:tc>
                  <a:txBody>
                    <a:bodyPr wrap="square"/>
                    <a:lstStyle/>
                    <a:p>
                      <a:r>
                        <a:rPr sz="1600" b="0">
                          <a:latin typeface="Noto Sans CJK JP"/>
                        </a:rPr>
                        <a:t>① 衛星からの距離</a:t>
                      </a:r>
                    </a:p>
                  </a:txBody>
                  <a:tcPr marL="54864" marR="54864" marT="27432" marB="27432">
                    <a:solidFill>
                      <a:srgbClr val="FFFFFF"/>
                    </a:solidFill>
                  </a:tcPr>
                </a:tc>
                <a:tc>
                  <a:txBody>
                    <a:bodyPr wrap="square"/>
                    <a:lstStyle/>
                    <a:p>
                      <a:r>
                        <a:rPr sz="1600" b="0">
                          <a:latin typeface="Noto Sans CJK JP"/>
                        </a:rPr>
                        <a:t>地心直交座標 </a:t>
                      </a:r>
                      <a:r>
                        <a:rPr sz="1600" b="0">
                          <a:latin typeface="DejaVu Sans"/>
                        </a:rPr>
                        <a:t>(X, Y, Z)</a:t>
                      </a:r>
                    </a:p>
                  </a:txBody>
                  <a:tcPr marL="54864" marR="54864" marT="27432" marB="27432">
                    <a:solidFill>
                      <a:srgbClr val="FFFFFF"/>
                    </a:solidFill>
                  </a:tcPr>
                </a:tc>
                <a:tc>
                  <a:txBody>
                    <a:bodyPr wrap="square"/>
                    <a:lstStyle/>
                    <a:p>
                      <a:r>
                        <a:rPr sz="1600" b="0">
                          <a:latin typeface="Noto Sans CJK JP"/>
                        </a:rPr>
                        <a:t>受信機</a:t>
                      </a:r>
                    </a:p>
                  </a:txBody>
                  <a:tcPr marL="54864" marR="54864" marT="27432" marB="27432">
                    <a:solidFill>
                      <a:srgbClr val="FFFFFF"/>
                    </a:solidFill>
                  </a:tcPr>
                </a:tc>
              </a:tr>
              <a:tr h="406400">
                <a:tc>
                  <a:txBody>
                    <a:bodyPr wrap="square"/>
                    <a:lstStyle/>
                    <a:p>
                      <a:r>
                        <a:rPr sz="1600" b="0">
                          <a:latin typeface="Noto Sans CJK JP"/>
                        </a:rPr>
                        <a:t>② 楕円体に投影</a:t>
                      </a:r>
                    </a:p>
                  </a:txBody>
                  <a:tcPr marL="54864" marR="54864" marT="27432" marB="27432">
                    <a:solidFill>
                      <a:srgbClr val="F5F7FA"/>
                    </a:solidFill>
                  </a:tcPr>
                </a:tc>
                <a:tc>
                  <a:txBody>
                    <a:bodyPr wrap="square"/>
                    <a:lstStyle/>
                    <a:p>
                      <a:r>
                        <a:rPr sz="1600" b="0">
                          <a:latin typeface="Noto Sans CJK JP"/>
                        </a:rPr>
                        <a:t>緯度・経度・楕円体高 (φ, λ, h)</a:t>
                      </a:r>
                    </a:p>
                  </a:txBody>
                  <a:tcPr marL="54864" marR="54864" marT="27432" marB="27432">
                    <a:solidFill>
                      <a:srgbClr val="F5F7FA"/>
                    </a:solidFill>
                  </a:tcPr>
                </a:tc>
                <a:tc>
                  <a:txBody>
                    <a:bodyPr wrap="square"/>
                    <a:lstStyle/>
                    <a:p>
                      <a:r>
                        <a:rPr sz="1600" b="0">
                          <a:latin typeface="Noto Sans CJK JP"/>
                        </a:rPr>
                        <a:t>受信機</a:t>
                      </a:r>
                    </a:p>
                  </a:txBody>
                  <a:tcPr marL="54864" marR="54864" marT="27432" marB="27432">
                    <a:solidFill>
                      <a:srgbClr val="F5F7FA"/>
                    </a:solidFill>
                  </a:tcPr>
                </a:tc>
              </a:tr>
              <a:tr h="406400">
                <a:tc>
                  <a:txBody>
                    <a:bodyPr wrap="square"/>
                    <a:lstStyle/>
                    <a:p>
                      <a:r>
                        <a:rPr sz="1600" b="0">
                          <a:latin typeface="Noto Sans CJK JP"/>
                        </a:rPr>
                        <a:t>③ 平面に投影</a:t>
                      </a:r>
                    </a:p>
                  </a:txBody>
                  <a:tcPr marL="54864" marR="54864" marT="27432" marB="27432">
                    <a:solidFill>
                      <a:srgbClr val="FFFFFF"/>
                    </a:solidFill>
                  </a:tcPr>
                </a:tc>
                <a:tc>
                  <a:txBody>
                    <a:bodyPr wrap="square"/>
                    <a:lstStyle/>
                    <a:p>
                      <a:r>
                        <a:rPr sz="1600" b="0">
                          <a:latin typeface="Noto Sans CJK JP"/>
                        </a:rPr>
                        <a:t>平面直角座標 </a:t>
                      </a:r>
                      <a:r>
                        <a:rPr sz="1600" b="0">
                          <a:latin typeface="DejaVu Sans"/>
                        </a:rPr>
                        <a:t>(X, Y)</a:t>
                      </a:r>
                      <a:r>
                        <a:rPr sz="1600" b="0">
                          <a:latin typeface="Noto Sans CJK JP"/>
                        </a:rPr>
                        <a:t>（系を指定）</a:t>
                      </a:r>
                    </a:p>
                  </a:txBody>
                  <a:tcPr marL="54864" marR="54864" marT="27432" marB="27432">
                    <a:solidFill>
                      <a:srgbClr val="FFFFFF"/>
                    </a:solidFill>
                  </a:tcPr>
                </a:tc>
                <a:tc>
                  <a:txBody>
                    <a:bodyPr wrap="square"/>
                    <a:lstStyle/>
                    <a:p>
                      <a:r>
                        <a:rPr sz="1600" b="0">
                          <a:latin typeface="Noto Sans CJK JP"/>
                        </a:rPr>
                        <a:t>受信機・後処理ソフト</a:t>
                      </a:r>
                    </a:p>
                  </a:txBody>
                  <a:tcPr marL="54864" marR="54864" marT="27432" marB="27432">
                    <a:solidFill>
                      <a:srgbClr val="FFFFFF"/>
                    </a:solidFill>
                  </a:tcPr>
                </a:tc>
              </a:tr>
              <a:tr h="406400">
                <a:tc>
                  <a:txBody>
                    <a:bodyPr wrap="square"/>
                    <a:lstStyle/>
                    <a:p>
                      <a:r>
                        <a:rPr sz="1600" b="0">
                          <a:latin typeface="Noto Sans CJK JP"/>
                        </a:rPr>
                        <a:t>④ ジオイド補正</a:t>
                      </a:r>
                    </a:p>
                  </a:txBody>
                  <a:tcPr marL="54864" marR="54864" marT="27432" marB="27432">
                    <a:solidFill>
                      <a:srgbClr val="F5F7FA"/>
                    </a:solidFill>
                  </a:tcPr>
                </a:tc>
                <a:tc>
                  <a:txBody>
                    <a:bodyPr wrap="square"/>
                    <a:lstStyle/>
                    <a:p>
                      <a:r>
                        <a:rPr sz="1600" b="0">
                          <a:latin typeface="Noto Sans CJK JP"/>
                        </a:rPr>
                        <a:t>標高 </a:t>
                      </a:r>
                      <a:r>
                        <a:rPr sz="1600" b="0">
                          <a:latin typeface="DejaVu Sans"/>
                        </a:rPr>
                        <a:t>H=h-N</a:t>
                      </a:r>
                      <a:r>
                        <a:rPr sz="1600" b="0">
                          <a:latin typeface="Noto Sans CJK JP"/>
                        </a:rPr>
                        <a:t>（ジオイド2024）</a:t>
                      </a:r>
                    </a:p>
                  </a:txBody>
                  <a:tcPr marL="54864" marR="54864" marT="27432" marB="27432">
                    <a:solidFill>
                      <a:srgbClr val="F5F7FA"/>
                    </a:solidFill>
                  </a:tcPr>
                </a:tc>
                <a:tc>
                  <a:txBody>
                    <a:bodyPr wrap="square"/>
                    <a:lstStyle/>
                    <a:p>
                      <a:r>
                        <a:rPr sz="1600" b="0">
                          <a:latin typeface="Noto Sans CJK JP"/>
                        </a:rPr>
                        <a:t>受信機・後処理ソフト</a:t>
                      </a:r>
                    </a:p>
                  </a:txBody>
                  <a:tcPr marL="54864" marR="54864" marT="27432" marB="27432">
                    <a:solidFill>
                      <a:srgbClr val="F5F7FA"/>
                    </a:solidFill>
                  </a:tcPr>
                </a:tc>
              </a:tr>
            </a:tbl>
          </a:graphicData>
        </a:graphic>
      </p:graphicFrame>
      <p:sp>
        <p:nvSpPr>
          <p:cNvPr id="5" name="TextBox 4"/>
          <p:cNvSpPr txBox="1"/>
          <p:nvPr/>
        </p:nvSpPr>
        <p:spPr>
          <a:xfrm>
            <a:off x="548640" y="3540760"/>
            <a:ext cx="11094415" cy="9245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RTK の画面で「測地系」「系」「ジオイドモデル」の設定を確認する。3-1 の座標の階層そのもの。</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3-6 TS の座標観測は今日の式そのもの</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73558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入力：器械点の座標 </a:t>
            </a:r>
            <a:r>
              <a:rPr sz="2200" b="0">
                <a:latin typeface="DejaVu Sans"/>
              </a:rPr>
              <a:t>(X</a:t>
            </a:r>
            <a:r>
              <a:rPr sz="2200" b="0" baseline="-25000">
                <a:latin typeface="DejaVu Sans"/>
              </a:rPr>
              <a:t>A</a:t>
            </a:r>
            <a:r>
              <a:rPr sz="2200" b="0">
                <a:latin typeface="DejaVu Sans"/>
              </a:rPr>
              <a:t>, Y</a:t>
            </a:r>
            <a:r>
              <a:rPr sz="2200" b="0" baseline="-25000">
                <a:latin typeface="DejaVu Sans"/>
              </a:rPr>
              <a:t>A</a:t>
            </a:r>
            <a:r>
              <a:rPr sz="2200" b="0">
                <a:latin typeface="DejaVu Sans"/>
              </a:rPr>
              <a:t>, H</a:t>
            </a:r>
            <a:r>
              <a:rPr sz="2200" b="0" baseline="-25000">
                <a:latin typeface="DejaVu Sans"/>
              </a:rPr>
              <a:t>A</a:t>
            </a:r>
            <a:r>
              <a:rPr sz="2200" b="0">
                <a:latin typeface="DejaVu Sans"/>
              </a:rPr>
              <a:t>)</a:t>
            </a:r>
            <a:r>
              <a:rPr sz="2200" b="0">
                <a:latin typeface="Noto Sans CJK JP"/>
              </a:rPr>
              <a:t>、後視点への方向角 </a:t>
            </a:r>
            <a:r>
              <a:rPr sz="2200" b="0">
                <a:latin typeface="DejaVu Sans"/>
              </a:rPr>
              <a:t>T</a:t>
            </a:r>
            <a:r>
              <a:rPr sz="2200" b="0" baseline="-25000">
                <a:latin typeface="DejaVu Sans"/>
              </a:rPr>
              <a:t>0</a:t>
            </a:r>
            <a:r>
              <a:rPr sz="2200" b="0">
                <a:latin typeface="Noto Sans CJK JP"/>
              </a:rPr>
              <a:t>、器械高・目標高。</a:t>
            </a:r>
          </a:p>
          <a:p>
            <a:pPr>
              <a:spcAft>
                <a:spcPts val="400"/>
              </a:spcAft>
            </a:pPr>
            <a:r>
              <a:rPr sz="2200" b="0">
                <a:latin typeface="Noto Sans CJK JP"/>
              </a:rPr>
              <a:t>• </a:t>
            </a:r>
            <a:r>
              <a:rPr sz="2200" b="0">
                <a:latin typeface="Noto Sans CJK JP"/>
              </a:rPr>
              <a:t>観測：水平角 </a:t>
            </a:r>
            <a:r>
              <a:rPr sz="2200" b="0">
                <a:latin typeface="DejaVu Sans"/>
              </a:rPr>
              <a:t>β</a:t>
            </a:r>
            <a:r>
              <a:rPr sz="2200" b="0">
                <a:latin typeface="Noto Sans CJK JP"/>
              </a:rPr>
              <a:t>、鉛直角、斜距離 </a:t>
            </a:r>
            <a:r>
              <a:rPr sz="2200" b="0">
                <a:latin typeface="DejaVu Sans"/>
              </a:rPr>
              <a:t>L</a:t>
            </a:r>
            <a:r>
              <a:rPr sz="2200" b="0">
                <a:latin typeface="Noto Sans CJK JP"/>
              </a:rPr>
              <a:t>。</a:t>
            </a:r>
          </a:p>
          <a:p>
            <a:pPr>
              <a:spcAft>
                <a:spcPts val="400"/>
              </a:spcAft>
            </a:pPr>
            <a:r>
              <a:rPr sz="2200" b="0">
                <a:latin typeface="Noto Sans CJK JP"/>
              </a:rPr>
              <a:t>• </a:t>
            </a:r>
            <a:r>
              <a:rPr sz="2200" b="0">
                <a:latin typeface="Noto Sans CJK JP"/>
              </a:rPr>
              <a:t>計算：</a:t>
            </a:r>
            <a:r>
              <a:rPr sz="2200" b="0">
                <a:latin typeface="DejaVu Sans"/>
              </a:rPr>
              <a:t>T=T</a:t>
            </a:r>
            <a:r>
              <a:rPr sz="2200" b="0" baseline="-25000">
                <a:latin typeface="DejaVu Sans"/>
              </a:rPr>
              <a:t>0</a:t>
            </a:r>
            <a:r>
              <a:rPr sz="2200" b="0">
                <a:latin typeface="DejaVu Sans"/>
              </a:rPr>
              <a:t>+β</a:t>
            </a:r>
            <a:r>
              <a:rPr sz="2200" b="0">
                <a:latin typeface="Noto Sans CJK JP"/>
              </a:rPr>
              <a:t> → 水平距離 </a:t>
            </a:r>
            <a:r>
              <a:rPr sz="2200" b="0">
                <a:latin typeface="DejaVu Sans"/>
              </a:rPr>
              <a:t>S=Lcosθ</a:t>
            </a:r>
            <a:r>
              <a:rPr sz="2200" b="0">
                <a:latin typeface="Noto Sans CJK JP"/>
              </a:rPr>
              <a:t> → </a:t>
            </a:r>
            <a:r>
              <a:rPr sz="2200" b="0">
                <a:latin typeface="DejaVu Sans"/>
              </a:rPr>
              <a:t>X=X</a:t>
            </a:r>
            <a:r>
              <a:rPr sz="2200" b="0" baseline="-25000">
                <a:latin typeface="DejaVu Sans"/>
              </a:rPr>
              <a:t>A</a:t>
            </a:r>
            <a:r>
              <a:rPr sz="2200" b="0">
                <a:latin typeface="DejaVu Sans"/>
              </a:rPr>
              <a:t>+Scos T</a:t>
            </a:r>
            <a:r>
              <a:rPr sz="2200" b="0">
                <a:latin typeface="Noto Sans CJK JP"/>
              </a:rPr>
              <a:t>、</a:t>
            </a:r>
            <a:r>
              <a:rPr sz="2200" b="0">
                <a:latin typeface="DejaVu Sans"/>
              </a:rPr>
              <a:t>Y=Y</a:t>
            </a:r>
            <a:r>
              <a:rPr sz="2200" b="0" baseline="-25000">
                <a:latin typeface="DejaVu Sans"/>
              </a:rPr>
              <a:t>A</a:t>
            </a:r>
            <a:r>
              <a:rPr sz="2200" b="0">
                <a:latin typeface="DejaVu Sans"/>
              </a:rPr>
              <a:t>+Ssin T</a:t>
            </a:r>
            <a:r>
              <a:rPr sz="2200" b="0">
                <a:latin typeface="Noto Sans CJK JP"/>
              </a:rPr>
              <a:t>。</a:t>
            </a:r>
          </a:p>
          <a:p>
            <a:pPr>
              <a:spcAft>
                <a:spcPts val="400"/>
              </a:spcAft>
            </a:pPr>
            <a:r>
              <a:rPr sz="2200" b="0">
                <a:latin typeface="Noto Sans CJK JP"/>
              </a:rPr>
              <a:t>• </a:t>
            </a:r>
            <a:r>
              <a:rPr sz="2200" b="0">
                <a:latin typeface="Noto Sans CJK JP"/>
              </a:rPr>
              <a:t>標高補正・縮尺係数は設定で自動化できるが、何をしているかは今日の式。</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3-7 手計算テスト：問1 座標の逆計算と順計算（5点）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570230"/>
          </a:xfrm>
          <a:prstGeom prst="rect">
            <a:avLst/>
          </a:prstGeom>
          <a:noFill/>
        </p:spPr>
        <p:txBody>
          <a:bodyPr wrap="square" lIns="45720" rIns="45720" tIns="18288" bIns="18288">
            <a:spAutoFit/>
          </a:bodyPr>
          <a:lstStyle/>
          <a:p>
            <a:pPr>
              <a:spcAft>
                <a:spcPts val="600"/>
              </a:spcAft>
            </a:pPr>
            <a:r>
              <a:rPr sz="2200" b="0">
                <a:latin typeface="Noto Sans CJK JP"/>
              </a:rPr>
              <a:t>18分・10点満点。関数電卓使用可。</a:t>
            </a:r>
            <a:r>
              <a:rPr sz="2200" b="0">
                <a:latin typeface="DejaVu Sans"/>
              </a:rPr>
              <a:t>R=6370</a:t>
            </a:r>
            <a:r>
              <a:rPr sz="2200" b="0">
                <a:latin typeface="Noto Sans CJK JP"/>
              </a:rPr>
              <a:t> km。</a:t>
            </a:r>
          </a:p>
        </p:txBody>
      </p:sp>
      <p:graphicFrame>
        <p:nvGraphicFramePr>
          <p:cNvPr id="5" name="Table 4"/>
          <p:cNvGraphicFramePr>
            <a:graphicFrameLocks noGrp="1"/>
          </p:cNvGraphicFramePr>
          <p:nvPr/>
        </p:nvGraphicFramePr>
        <p:xfrm>
          <a:off x="548640" y="1941830"/>
          <a:ext cx="11094415" cy="1371600"/>
        </p:xfrm>
        <a:graphic>
          <a:graphicData uri="http://schemas.openxmlformats.org/drawingml/2006/table">
            <a:tbl>
              <a:tblPr firstRow="1" bandRow="1">
                <a:tableStyleId>{5C22544A-7EE6-4342-B048-85BDC9FD1C3A}</a:tableStyleId>
              </a:tblPr>
              <a:tblGrid>
                <a:gridCol w="3698138"/>
                <a:gridCol w="3698138"/>
                <a:gridCol w="3698139"/>
              </a:tblGrid>
              <a:tr h="457200">
                <a:tc>
                  <a:txBody>
                    <a:bodyPr wrap="square"/>
                    <a:lstStyle/>
                    <a:p>
                      <a:r>
                        <a:rPr sz="1800" b="1">
                          <a:solidFill>
                            <a:srgbClr val="1F1F1F"/>
                          </a:solidFill>
                          <a:latin typeface="Noto Sans CJK JP"/>
                        </a:rPr>
                        <a:t>点</a:t>
                      </a:r>
                    </a:p>
                  </a:txBody>
                  <a:tcPr marL="54864" marR="54864" marT="27432" marB="27432">
                    <a:solidFill>
                      <a:srgbClr val="DCE6F1"/>
                    </a:solidFill>
                  </a:tcPr>
                </a:tc>
                <a:tc>
                  <a:txBody>
                    <a:bodyPr wrap="square"/>
                    <a:lstStyle/>
                    <a:p>
                      <a:r>
                        <a:rPr sz="1800" b="1">
                          <a:solidFill>
                            <a:srgbClr val="1F1F1F"/>
                          </a:solidFill>
                          <a:latin typeface="DejaVu Sans"/>
                        </a:rPr>
                        <a:t>X</a:t>
                      </a:r>
                      <a:r>
                        <a:rPr sz="1800" b="1">
                          <a:solidFill>
                            <a:srgbClr val="1F1F1F"/>
                          </a:solidFill>
                          <a:latin typeface="Noto Sans CJK JP"/>
                        </a:rPr>
                        <a:t>（m）</a:t>
                      </a:r>
                    </a:p>
                  </a:txBody>
                  <a:tcPr marL="54864" marR="54864" marT="27432" marB="27432">
                    <a:solidFill>
                      <a:srgbClr val="DCE6F1"/>
                    </a:solidFill>
                  </a:tcPr>
                </a:tc>
                <a:tc>
                  <a:txBody>
                    <a:bodyPr wrap="square"/>
                    <a:lstStyle/>
                    <a:p>
                      <a:r>
                        <a:rPr sz="1800" b="1">
                          <a:solidFill>
                            <a:srgbClr val="1F1F1F"/>
                          </a:solidFill>
                          <a:latin typeface="DejaVu Sans"/>
                        </a:rPr>
                        <a:t>Y</a:t>
                      </a:r>
                      <a:r>
                        <a:rPr sz="1800" b="1">
                          <a:solidFill>
                            <a:srgbClr val="1F1F1F"/>
                          </a:solidFill>
                          <a:latin typeface="Noto Sans CJK JP"/>
                        </a:rPr>
                        <a:t>（m）</a:t>
                      </a:r>
                    </a:p>
                  </a:txBody>
                  <a:tcPr marL="54864" marR="54864" marT="27432" marB="27432">
                    <a:solidFill>
                      <a:srgbClr val="DCE6F1"/>
                    </a:solidFill>
                  </a:tcPr>
                </a:tc>
              </a:tr>
              <a:tr h="457200">
                <a:tc>
                  <a:txBody>
                    <a:bodyPr wrap="square"/>
                    <a:lstStyle/>
                    <a:p>
                      <a:r>
                        <a:rPr sz="1800" b="0">
                          <a:latin typeface="Noto Sans CJK JP"/>
                        </a:rPr>
                        <a:t>A</a:t>
                      </a:r>
                    </a:p>
                  </a:txBody>
                  <a:tcPr marL="54864" marR="54864" marT="27432" marB="27432">
                    <a:solidFill>
                      <a:srgbClr val="FFFFFF"/>
                    </a:solidFill>
                  </a:tcPr>
                </a:tc>
                <a:tc>
                  <a:txBody>
                    <a:bodyPr wrap="square"/>
                    <a:lstStyle/>
                    <a:p>
                      <a:r>
                        <a:rPr sz="1800" b="0">
                          <a:latin typeface="Noto Sans CJK JP"/>
                        </a:rPr>
                        <a:t>+1200.000</a:t>
                      </a:r>
                    </a:p>
                  </a:txBody>
                  <a:tcPr marL="54864" marR="54864" marT="27432" marB="27432">
                    <a:solidFill>
                      <a:srgbClr val="FFFFFF"/>
                    </a:solidFill>
                  </a:tcPr>
                </a:tc>
                <a:tc>
                  <a:txBody>
                    <a:bodyPr wrap="square"/>
                    <a:lstStyle/>
                    <a:p>
                      <a:r>
                        <a:rPr sz="1800" b="0">
                          <a:latin typeface="Noto Sans CJK JP"/>
                        </a:rPr>
                        <a:t>+800.000</a:t>
                      </a:r>
                    </a:p>
                  </a:txBody>
                  <a:tcPr marL="54864" marR="54864" marT="27432" marB="27432">
                    <a:solidFill>
                      <a:srgbClr val="FFFFFF"/>
                    </a:solidFill>
                  </a:tcPr>
                </a:tc>
              </a:tr>
              <a:tr h="457200">
                <a:tc>
                  <a:txBody>
                    <a:bodyPr wrap="square"/>
                    <a:lstStyle/>
                    <a:p>
                      <a:r>
                        <a:rPr sz="1800" b="0">
                          <a:latin typeface="Noto Sans CJK JP"/>
                        </a:rPr>
                        <a:t>B</a:t>
                      </a:r>
                    </a:p>
                  </a:txBody>
                  <a:tcPr marL="54864" marR="54864" marT="27432" marB="27432">
                    <a:solidFill>
                      <a:srgbClr val="F5F7FA"/>
                    </a:solidFill>
                  </a:tcPr>
                </a:tc>
                <a:tc>
                  <a:txBody>
                    <a:bodyPr wrap="square"/>
                    <a:lstStyle/>
                    <a:p>
                      <a:r>
                        <a:rPr sz="1800" b="0">
                          <a:latin typeface="Noto Sans CJK JP"/>
                        </a:rPr>
                        <a:t>+1050.000</a:t>
                      </a:r>
                    </a:p>
                  </a:txBody>
                  <a:tcPr marL="54864" marR="54864" marT="27432" marB="27432">
                    <a:solidFill>
                      <a:srgbClr val="F5F7FA"/>
                    </a:solidFill>
                  </a:tcPr>
                </a:tc>
                <a:tc>
                  <a:txBody>
                    <a:bodyPr wrap="square"/>
                    <a:lstStyle/>
                    <a:p>
                      <a:r>
                        <a:rPr sz="1800" b="0">
                          <a:latin typeface="Noto Sans CJK JP"/>
                        </a:rPr>
                        <a:t>+600.000</a:t>
                      </a:r>
                    </a:p>
                  </a:txBody>
                  <a:tcPr marL="54864" marR="54864" marT="27432" marB="27432">
                    <a:solidFill>
                      <a:srgbClr val="F5F7FA"/>
                    </a:solidFill>
                  </a:tcPr>
                </a:tc>
              </a:tr>
            </a:tbl>
          </a:graphicData>
        </a:graphic>
      </p:graphicFrame>
      <p:sp>
        <p:nvSpPr>
          <p:cNvPr id="6" name="TextBox 5"/>
          <p:cNvSpPr txBox="1"/>
          <p:nvPr/>
        </p:nvSpPr>
        <p:spPr>
          <a:xfrm>
            <a:off x="548640" y="3450590"/>
            <a:ext cx="11094415" cy="100330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(1) </a:t>
            </a:r>
            <a:r>
              <a:rPr sz="2200" b="0">
                <a:latin typeface="DejaVu Sans"/>
              </a:rPr>
              <a:t>S</a:t>
            </a:r>
            <a:r>
              <a:rPr sz="2200" b="0" baseline="-25000">
                <a:latin typeface="DejaVu Sans"/>
              </a:rPr>
              <a:t>AB</a:t>
            </a:r>
            <a:r>
              <a:rPr sz="2200" b="0">
                <a:latin typeface="Noto Sans CJK JP"/>
              </a:rPr>
              <a:t> と </a:t>
            </a:r>
            <a:r>
              <a:rPr sz="2200" b="0">
                <a:latin typeface="DejaVu Sans"/>
              </a:rPr>
              <a:t>T</a:t>
            </a:r>
            <a:r>
              <a:rPr sz="2200" b="0" baseline="-25000">
                <a:latin typeface="DejaVu Sans"/>
              </a:rPr>
              <a:t>AB</a:t>
            </a:r>
            <a:r>
              <a:rPr sz="2200" b="0">
                <a:latin typeface="Noto Sans CJK JP"/>
              </a:rPr>
              <a:t> を求める（象限判定を書く）（3点）。</a:t>
            </a:r>
          </a:p>
          <a:p>
            <a:pPr>
              <a:spcAft>
                <a:spcPts val="400"/>
              </a:spcAft>
            </a:pPr>
            <a:r>
              <a:rPr sz="2200" b="0">
                <a:latin typeface="Noto Sans CJK JP"/>
              </a:rPr>
              <a:t>• </a:t>
            </a:r>
            <a:r>
              <a:rPr sz="2200" b="0">
                <a:latin typeface="Noto Sans CJK JP"/>
              </a:rPr>
              <a:t>(2) A から </a:t>
            </a:r>
            <a:r>
              <a:rPr sz="2200" b="0">
                <a:latin typeface="DejaVu Sans"/>
              </a:rPr>
              <a:t>T</a:t>
            </a:r>
            <a:r>
              <a:rPr sz="2200" b="0" baseline="-25000">
                <a:latin typeface="DejaVu Sans"/>
              </a:rPr>
              <a:t>AC</a:t>
            </a:r>
            <a:r>
              <a:rPr sz="2200" b="0">
                <a:latin typeface="DejaVu Sans"/>
              </a:rPr>
              <a:t>=30°00′00″</a:t>
            </a:r>
            <a:r>
              <a:rPr sz="2200" b="0">
                <a:latin typeface="Noto Sans CJK JP"/>
              </a:rPr>
              <a:t>、</a:t>
            </a:r>
            <a:r>
              <a:rPr sz="2200" b="0">
                <a:latin typeface="DejaVu Sans"/>
              </a:rPr>
              <a:t>S</a:t>
            </a:r>
            <a:r>
              <a:rPr sz="2200" b="0" baseline="-25000">
                <a:latin typeface="DejaVu Sans"/>
              </a:rPr>
              <a:t>AC</a:t>
            </a:r>
            <a:r>
              <a:rPr sz="2200" b="0">
                <a:latin typeface="DejaVu Sans"/>
              </a:rPr>
              <a:t>=200.000</a:t>
            </a:r>
            <a:r>
              <a:rPr sz="2200" b="0">
                <a:latin typeface="Noto Sans CJK JP"/>
              </a:rPr>
              <a:t> m の新点 C の座標（2点）。</a:t>
            </a:r>
          </a:p>
        </p:txBody>
      </p:sp>
      <p:sp>
        <p:nvSpPr>
          <p:cNvPr id="7" name="TextBox 6"/>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8" name="TextBox 7"/>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3-7 手計算テスト：問2 距離の換算（5点）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168650"/>
          </a:xfrm>
          <a:prstGeom prst="rect">
            <a:avLst/>
          </a:prstGeom>
          <a:noFill/>
        </p:spPr>
        <p:txBody>
          <a:bodyPr wrap="square" lIns="45720" rIns="45720" tIns="18288" bIns="18288">
            <a:spAutoFit/>
          </a:bodyPr>
          <a:lstStyle/>
          <a:p>
            <a:pPr>
              <a:spcAft>
                <a:spcPts val="600"/>
              </a:spcAft>
            </a:pPr>
            <a:r>
              <a:rPr sz="2200" b="0">
                <a:latin typeface="Noto Sans CJK JP"/>
              </a:rPr>
              <a:t>標高 </a:t>
            </a:r>
            <a:r>
              <a:rPr sz="2200" b="0">
                <a:latin typeface="DejaVu Sans"/>
              </a:rPr>
              <a:t>H=200</a:t>
            </a:r>
            <a:r>
              <a:rPr sz="2200" b="0">
                <a:latin typeface="Noto Sans CJK JP"/>
              </a:rPr>
              <a:t> m 付近で、斜距離 </a:t>
            </a:r>
            <a:r>
              <a:rPr sz="2200" b="0">
                <a:latin typeface="DejaVu Sans"/>
              </a:rPr>
              <a:t>L=500.020</a:t>
            </a:r>
            <a:r>
              <a:rPr sz="2200" b="0">
                <a:latin typeface="Noto Sans CJK JP"/>
              </a:rPr>
              <a:t> m、高低差 </a:t>
            </a:r>
            <a:r>
              <a:rPr sz="2200" b="0">
                <a:latin typeface="DejaVu Sans"/>
              </a:rPr>
              <a:t>Δ h=4.500</a:t>
            </a:r>
            <a:r>
              <a:rPr sz="2200" b="0">
                <a:latin typeface="Noto Sans CJK JP"/>
              </a:rPr>
              <a:t> m を観測した。縮尺係数 </a:t>
            </a:r>
            <a:r>
              <a:rPr sz="2200" b="0">
                <a:latin typeface="DejaVu Sans"/>
              </a:rPr>
              <a:t>m=0.9999</a:t>
            </a:r>
            <a:r>
              <a:rPr sz="2200" b="0">
                <a:latin typeface="Noto Sans CJK JP"/>
              </a:rPr>
              <a:t>。</a:t>
            </a:r>
          </a:p>
          <a:p>
            <a:pPr>
              <a:spcAft>
                <a:spcPts val="400"/>
              </a:spcAft>
            </a:pPr>
            <a:r>
              <a:rPr sz="2200" b="0">
                <a:latin typeface="Noto Sans CJK JP"/>
              </a:rPr>
              <a:t>• </a:t>
            </a:r>
            <a:r>
              <a:rPr sz="2200" b="0">
                <a:latin typeface="Noto Sans CJK JP"/>
              </a:rPr>
              <a:t>(1) 水平距離 </a:t>
            </a:r>
            <a:r>
              <a:rPr sz="2200" b="0">
                <a:latin typeface="DejaVu Sans"/>
              </a:rPr>
              <a:t>S</a:t>
            </a:r>
            <a:r>
              <a:rPr sz="2200" b="0">
                <a:latin typeface="Noto Sans CJK JP"/>
              </a:rPr>
              <a:t>（1点）</a:t>
            </a:r>
          </a:p>
          <a:p>
            <a:pPr>
              <a:spcAft>
                <a:spcPts val="400"/>
              </a:spcAft>
            </a:pPr>
            <a:r>
              <a:rPr sz="2200" b="0">
                <a:latin typeface="Noto Sans CJK JP"/>
              </a:rPr>
              <a:t>• </a:t>
            </a:r>
            <a:r>
              <a:rPr sz="2200" b="0">
                <a:latin typeface="Noto Sans CJK JP"/>
              </a:rPr>
              <a:t>(2) 基準面上の距離 </a:t>
            </a:r>
            <a:r>
              <a:rPr sz="2200" b="0">
                <a:latin typeface="DejaVu Sans"/>
              </a:rPr>
              <a:t>S</a:t>
            </a:r>
            <a:r>
              <a:rPr sz="2200" b="0" baseline="-25000">
                <a:latin typeface="DejaVu Sans"/>
              </a:rPr>
              <a:t>0</a:t>
            </a:r>
            <a:r>
              <a:rPr sz="2200" b="0">
                <a:latin typeface="Noto Sans CJK JP"/>
              </a:rPr>
              <a:t>（1.5点）</a:t>
            </a:r>
          </a:p>
          <a:p>
            <a:pPr>
              <a:spcAft>
                <a:spcPts val="400"/>
              </a:spcAft>
            </a:pPr>
            <a:r>
              <a:rPr sz="2200" b="0">
                <a:latin typeface="Noto Sans CJK JP"/>
              </a:rPr>
              <a:t>• </a:t>
            </a:r>
            <a:r>
              <a:rPr sz="2200" b="0">
                <a:latin typeface="Noto Sans CJK JP"/>
              </a:rPr>
              <a:t>(3) 平面直角座標上の距離 </a:t>
            </a:r>
            <a:r>
              <a:rPr sz="2200" b="0">
                <a:latin typeface="DejaVu Sans"/>
              </a:rPr>
              <a:t>s</a:t>
            </a:r>
            <a:r>
              <a:rPr sz="2200" b="0">
                <a:latin typeface="Noto Sans CJK JP"/>
              </a:rPr>
              <a:t>（1.5点）</a:t>
            </a:r>
          </a:p>
          <a:p>
            <a:pPr>
              <a:spcAft>
                <a:spcPts val="400"/>
              </a:spcAft>
            </a:pPr>
            <a:r>
              <a:rPr sz="2200" b="0">
                <a:latin typeface="Noto Sans CJK JP"/>
              </a:rPr>
              <a:t>• </a:t>
            </a:r>
            <a:r>
              <a:rPr sz="2200" b="0">
                <a:latin typeface="Noto Sans CJK JP"/>
              </a:rPr>
              <a:t>(4) (2)(3) の補正は距離を長くするか短くするか。理由を1行ずつ（1点）</a:t>
            </a:r>
          </a:p>
          <a:p>
            <a:pPr>
              <a:spcAft>
                <a:spcPts val="400"/>
              </a:spcAft>
            </a:pPr>
            <a:r>
              <a:rPr sz="2200" b="0">
                <a:latin typeface="Noto Sans CJK JP"/>
              </a:rPr>
              <a:t>• </a:t>
            </a:r>
            <a:r>
              <a:rPr sz="2200" b="0">
                <a:latin typeface="Noto Sans CJK JP"/>
              </a:rPr>
              <a:t>発展（加点なし）：設計の平面距離 300.000 m を現地で測る水平距離に戻す。</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3-7 計算手順と記入規則</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逆計算：</a:t>
            </a:r>
            <a:r>
              <a:rPr sz="2200" b="0">
                <a:latin typeface="DejaVu Sans"/>
              </a:rPr>
              <a:t>Δ X</a:t>
            </a:r>
            <a:r>
              <a:rPr sz="2200" b="0">
                <a:latin typeface="Noto Sans CJK JP"/>
              </a:rPr>
              <a:t>・</a:t>
            </a:r>
            <a:r>
              <a:rPr sz="2200" b="0">
                <a:latin typeface="DejaVu Sans"/>
              </a:rPr>
              <a:t>Δ Y</a:t>
            </a:r>
            <a:r>
              <a:rPr sz="2200" b="0">
                <a:latin typeface="Noto Sans CJK JP"/>
              </a:rPr>
              <a:t> の符号 → 象限 → </a:t>
            </a:r>
            <a:r>
              <a:rPr sz="2200" b="0">
                <a:latin typeface="DejaVu Sans"/>
              </a:rPr>
              <a:t>S</a:t>
            </a:r>
            <a:r>
              <a:rPr sz="2200" b="0">
                <a:latin typeface="Noto Sans CJK JP"/>
              </a:rPr>
              <a:t> → </a:t>
            </a:r>
            <a:r>
              <a:rPr sz="2200" b="0">
                <a:latin typeface="DejaVu Sans"/>
              </a:rPr>
              <a:t>arctan</a:t>
            </a:r>
            <a:r>
              <a:rPr sz="2200" b="0">
                <a:latin typeface="Noto Sans CJK JP"/>
              </a:rPr>
              <a:t> → 加える角。</a:t>
            </a:r>
          </a:p>
          <a:p>
            <a:pPr>
              <a:spcAft>
                <a:spcPts val="400"/>
              </a:spcAft>
            </a:pPr>
            <a:r>
              <a:rPr sz="2200" b="0">
                <a:latin typeface="Noto Sans CJK JP"/>
              </a:rPr>
              <a:t>• </a:t>
            </a:r>
            <a:r>
              <a:rPr sz="2200" b="0">
                <a:latin typeface="Noto Sans CJK JP"/>
              </a:rPr>
              <a:t>順計算：</a:t>
            </a:r>
            <a:r>
              <a:rPr sz="2200" b="0">
                <a:latin typeface="DejaVu Sans"/>
              </a:rPr>
              <a:t>X</a:t>
            </a:r>
            <a:r>
              <a:rPr sz="2200" b="0">
                <a:latin typeface="Noto Sans CJK JP"/>
              </a:rPr>
              <a:t> に </a:t>
            </a:r>
            <a:r>
              <a:rPr sz="2200" b="0">
                <a:latin typeface="DejaVu Sans"/>
              </a:rPr>
              <a:t>cos</a:t>
            </a:r>
            <a:r>
              <a:rPr sz="2200" b="0">
                <a:latin typeface="Noto Sans CJK JP"/>
              </a:rPr>
              <a:t>、</a:t>
            </a:r>
            <a:r>
              <a:rPr sz="2200" b="0">
                <a:latin typeface="DejaVu Sans"/>
              </a:rPr>
              <a:t>Y</a:t>
            </a:r>
            <a:r>
              <a:rPr sz="2200" b="0">
                <a:latin typeface="Noto Sans CJK JP"/>
              </a:rPr>
              <a:t> に </a:t>
            </a:r>
            <a:r>
              <a:rPr sz="2200" b="0">
                <a:latin typeface="DejaVu Sans"/>
              </a:rPr>
              <a:t>sin</a:t>
            </a:r>
            <a:r>
              <a:rPr sz="2200" b="0">
                <a:latin typeface="Noto Sans CJK JP"/>
              </a:rPr>
              <a:t>。</a:t>
            </a:r>
          </a:p>
          <a:p>
            <a:pPr>
              <a:spcAft>
                <a:spcPts val="400"/>
              </a:spcAft>
            </a:pPr>
            <a:r>
              <a:rPr sz="2200" b="0">
                <a:latin typeface="Noto Sans CJK JP"/>
              </a:rPr>
              <a:t>• </a:t>
            </a:r>
            <a:r>
              <a:rPr sz="2200" b="0">
                <a:latin typeface="Noto Sans CJK JP"/>
              </a:rPr>
              <a:t>距離換算：水平 → 基準面 → 平面の順。符号を文で書く。</a:t>
            </a:r>
          </a:p>
          <a:p>
            <a:pPr>
              <a:spcAft>
                <a:spcPts val="400"/>
              </a:spcAft>
            </a:pPr>
            <a:r>
              <a:rPr sz="2200" b="0">
                <a:latin typeface="Noto Sans CJK JP"/>
              </a:rPr>
              <a:t>• </a:t>
            </a:r>
            <a:r>
              <a:rPr sz="2200" b="0">
                <a:latin typeface="Noto Sans CJK JP"/>
              </a:rPr>
              <a:t>座標・距離は m で小数第3位、角は秒まで。三角関数は途中で丸めない。</a:t>
            </a:r>
          </a:p>
          <a:p>
            <a:pPr>
              <a:spcAft>
                <a:spcPts val="400"/>
              </a:spcAft>
            </a:pPr>
            <a:r>
              <a:rPr sz="2200" b="0">
                <a:latin typeface="Noto Sans CJK JP"/>
              </a:rPr>
              <a:t>• </a:t>
            </a:r>
            <a:r>
              <a:rPr sz="2200" b="0">
                <a:latin typeface="Noto Sans CJK JP"/>
              </a:rPr>
              <a:t>検算：順計算の結果を逆計算で戻す。</a:t>
            </a:r>
            <a:r>
              <a:rPr sz="2200" b="0">
                <a:latin typeface="DejaVu Sans"/>
              </a:rPr>
              <a:t>Δ X</a:t>
            </a:r>
            <a:r>
              <a:rPr sz="2200" b="0" baseline="30000">
                <a:latin typeface="DejaVu Sans"/>
              </a:rPr>
              <a:t>2</a:t>
            </a:r>
            <a:r>
              <a:rPr sz="2200" b="0">
                <a:latin typeface="DejaVu Sans"/>
              </a:rPr>
              <a:t>+Δ Y</a:t>
            </a:r>
            <a:r>
              <a:rPr sz="2200" b="0" baseline="30000">
                <a:latin typeface="DejaVu Sans"/>
              </a:rPr>
              <a:t>2</a:t>
            </a:r>
            <a:r>
              <a:rPr sz="2200" b="0">
                <a:latin typeface="DejaVu Sans"/>
              </a:rPr>
              <a:t>=S</a:t>
            </a:r>
            <a:r>
              <a:rPr sz="2200" b="0" baseline="30000">
                <a:latin typeface="DejaVu Sans"/>
              </a:rPr>
              <a:t>2</a:t>
            </a:r>
            <a:r>
              <a:rPr sz="2200" b="0">
                <a:latin typeface="Noto Sans CJK JP"/>
              </a:rPr>
              <a:t>。</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3-7 提出方法</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提出用番号は配布紙にのみ記入する。</a:t>
            </a:r>
          </a:p>
          <a:p>
            <a:pPr>
              <a:spcAft>
                <a:spcPts val="400"/>
              </a:spcAft>
            </a:pPr>
            <a:r>
              <a:rPr sz="2200" b="0">
                <a:latin typeface="Noto Sans CJK JP"/>
              </a:rPr>
              <a:t>• </a:t>
            </a:r>
            <a:r>
              <a:rPr sz="2200" b="0">
                <a:latin typeface="Noto Sans CJK JP"/>
              </a:rPr>
              <a:t>冒頭の小テストの用紙と、手計算テスト2ページをまとめて提出する。</a:t>
            </a:r>
          </a:p>
          <a:p>
            <a:pPr>
              <a:spcAft>
                <a:spcPts val="400"/>
              </a:spcAft>
            </a:pPr>
            <a:r>
              <a:rPr sz="2200" b="0">
                <a:latin typeface="Noto Sans CJK JP"/>
              </a:rPr>
              <a:t>• </a:t>
            </a:r>
            <a:r>
              <a:rPr sz="2200" b="0">
                <a:latin typeface="Noto Sans CJK JP"/>
              </a:rPr>
              <a:t>解けなかった箇所も、考えた式や途中計算を残す。</a:t>
            </a:r>
          </a:p>
          <a:p>
            <a:pPr>
              <a:spcAft>
                <a:spcPts val="400"/>
              </a:spcAft>
            </a:pPr>
            <a:r>
              <a:rPr sz="2200" b="0">
                <a:latin typeface="Noto Sans CJK JP"/>
              </a:rPr>
              <a:t>• </a:t>
            </a:r>
            <a:r>
              <a:rPr sz="2200" b="0">
                <a:latin typeface="Noto Sans CJK JP"/>
              </a:rPr>
              <a:t>公開ファイルには個人を特定する情報を記入しない。</a:t>
            </a:r>
          </a:p>
          <a:p>
            <a:pPr>
              <a:spcAft>
                <a:spcPts val="400"/>
              </a:spcAft>
            </a:pPr>
            <a:r>
              <a:rPr sz="2200" b="0">
                <a:latin typeface="Noto Sans CJK JP"/>
              </a:rPr>
              <a:t>• </a:t>
            </a:r>
            <a:r>
              <a:rPr sz="2200" b="0">
                <a:latin typeface="Noto Sans CJK JP"/>
              </a:rPr>
              <a:t>解説は次回冒頭に行う。</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3-8 本日の要点</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6804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座標＝点と数の組の 1 対 1 の約束。測量では測地系・座標の種類・高さの基準の 3 点セット（CRS）を明記する。</a:t>
            </a:r>
          </a:p>
          <a:p>
            <a:pPr>
              <a:spcAft>
                <a:spcPts val="400"/>
              </a:spcAft>
            </a:pPr>
            <a:r>
              <a:rPr sz="2000" b="0">
                <a:latin typeface="Noto Sans CJK JP"/>
              </a:rPr>
              <a:t>• </a:t>
            </a:r>
            <a:r>
              <a:rPr sz="2000" b="0">
                <a:latin typeface="Noto Sans CJK JP"/>
              </a:rPr>
              <a:t>ジオイド＝平均海面を陸の下まで延長した、重力に垂直な面。</a:t>
            </a:r>
            <a:r>
              <a:rPr sz="2000" b="0">
                <a:latin typeface="DejaVu Sans"/>
              </a:rPr>
              <a:t>h=H+N</a:t>
            </a:r>
            <a:r>
              <a:rPr sz="2000" b="0">
                <a:latin typeface="Noto Sans CJK JP"/>
              </a:rPr>
              <a:t>。GNSS は </a:t>
            </a:r>
            <a:r>
              <a:rPr sz="2000" b="0">
                <a:latin typeface="DejaVu Sans"/>
              </a:rPr>
              <a:t>h</a:t>
            </a:r>
            <a:r>
              <a:rPr sz="2000" b="0">
                <a:latin typeface="Noto Sans CJK JP"/>
              </a:rPr>
              <a:t>、水準測量と地形図は </a:t>
            </a:r>
            <a:r>
              <a:rPr sz="2000" b="0">
                <a:latin typeface="DejaVu Sans"/>
              </a:rPr>
              <a:t>H</a:t>
            </a:r>
            <a:r>
              <a:rPr sz="2000" b="0">
                <a:latin typeface="Noto Sans CJK JP"/>
              </a:rPr>
              <a:t>。</a:t>
            </a:r>
          </a:p>
          <a:p>
            <a:pPr>
              <a:spcAft>
                <a:spcPts val="400"/>
              </a:spcAft>
            </a:pPr>
            <a:r>
              <a:rPr sz="2000" b="0">
                <a:latin typeface="Noto Sans CJK JP"/>
              </a:rPr>
              <a:t>• </a:t>
            </a:r>
            <a:r>
              <a:rPr sz="2000" b="0">
                <a:latin typeface="Noto Sans CJK JP"/>
              </a:rPr>
              <a:t>投影：ガウス・クリューゲル（横メルカトル、等角）。UTM は 6° 幅・0.9996、平面直角座標系は 19 系・X が北・Y が東・</a:t>
            </a:r>
            <a:r>
              <a:rPr sz="2000" b="0">
                <a:latin typeface="DejaVu Sans"/>
              </a:rPr>
              <a:t>m</a:t>
            </a:r>
            <a:r>
              <a:rPr sz="2000" b="0" baseline="-25000">
                <a:latin typeface="DejaVu Sans"/>
              </a:rPr>
              <a:t>0</a:t>
            </a:r>
            <a:r>
              <a:rPr sz="2000" b="0">
                <a:latin typeface="DejaVu Sans"/>
              </a:rPr>
              <a:t>=0.9999</a:t>
            </a:r>
            <a:r>
              <a:rPr sz="2000" b="0">
                <a:latin typeface="Noto Sans CJK JP"/>
              </a:rPr>
              <a:t>。</a:t>
            </a:r>
          </a:p>
          <a:p>
            <a:pPr>
              <a:spcAft>
                <a:spcPts val="400"/>
              </a:spcAft>
            </a:pPr>
            <a:r>
              <a:rPr sz="2000" b="0">
                <a:latin typeface="Noto Sans CJK JP"/>
              </a:rPr>
              <a:t>• </a:t>
            </a:r>
            <a:r>
              <a:rPr sz="2000" b="0">
                <a:latin typeface="Noto Sans CJK JP"/>
              </a:rPr>
              <a:t>距離の4段階：</a:t>
            </a:r>
            <a:r>
              <a:rPr sz="2000" b="0">
                <a:latin typeface="DejaVu Sans"/>
              </a:rPr>
              <a:t>L→ S→ S</a:t>
            </a:r>
            <a:r>
              <a:rPr sz="2000" b="0" baseline="-25000">
                <a:latin typeface="DejaVu Sans"/>
              </a:rPr>
              <a:t>0</a:t>
            </a:r>
            <a:r>
              <a:rPr sz="2000" b="0">
                <a:latin typeface="DejaVu Sans"/>
              </a:rPr>
              <a:t>=S R/(R+H)→ s=mS</a:t>
            </a:r>
            <a:r>
              <a:rPr sz="2000" b="0" baseline="-25000">
                <a:latin typeface="DejaVu Sans"/>
              </a:rPr>
              <a:t>0</a:t>
            </a:r>
            <a:r>
              <a:rPr sz="2000" b="0">
                <a:latin typeface="Noto Sans CJK JP"/>
              </a:rPr>
              <a:t>。</a:t>
            </a:r>
          </a:p>
          <a:p>
            <a:pPr>
              <a:spcAft>
                <a:spcPts val="400"/>
              </a:spcAft>
            </a:pPr>
            <a:r>
              <a:rPr sz="2000" b="0">
                <a:latin typeface="Noto Sans CJK JP"/>
              </a:rPr>
              <a:t>• </a:t>
            </a:r>
            <a:r>
              <a:rPr sz="2000" b="0">
                <a:latin typeface="Noto Sans CJK JP"/>
              </a:rPr>
              <a:t>順計算 </a:t>
            </a:r>
            <a:r>
              <a:rPr sz="2000" b="0">
                <a:latin typeface="DejaVu Sans"/>
              </a:rPr>
              <a:t>X</a:t>
            </a:r>
            <a:r>
              <a:rPr sz="2000" b="0" baseline="-25000">
                <a:latin typeface="DejaVu Sans"/>
              </a:rPr>
              <a:t>B</a:t>
            </a:r>
            <a:r>
              <a:rPr sz="2000" b="0">
                <a:latin typeface="DejaVu Sans"/>
              </a:rPr>
              <a:t>=X</a:t>
            </a:r>
            <a:r>
              <a:rPr sz="2000" b="0" baseline="-25000">
                <a:latin typeface="DejaVu Sans"/>
              </a:rPr>
              <a:t>A</a:t>
            </a:r>
            <a:r>
              <a:rPr sz="2000" b="0">
                <a:latin typeface="DejaVu Sans"/>
              </a:rPr>
              <a:t>+Scos T</a:t>
            </a:r>
            <a:r>
              <a:rPr sz="2000" b="0">
                <a:latin typeface="Noto Sans CJK JP"/>
              </a:rPr>
              <a:t>、</a:t>
            </a:r>
            <a:r>
              <a:rPr sz="2000" b="0">
                <a:latin typeface="DejaVu Sans"/>
              </a:rPr>
              <a:t>Y</a:t>
            </a:r>
            <a:r>
              <a:rPr sz="2000" b="0" baseline="-25000">
                <a:latin typeface="DejaVu Sans"/>
              </a:rPr>
              <a:t>B</a:t>
            </a:r>
            <a:r>
              <a:rPr sz="2000" b="0">
                <a:latin typeface="DejaVu Sans"/>
              </a:rPr>
              <a:t>=Y</a:t>
            </a:r>
            <a:r>
              <a:rPr sz="2000" b="0" baseline="-25000">
                <a:latin typeface="DejaVu Sans"/>
              </a:rPr>
              <a:t>A</a:t>
            </a:r>
            <a:r>
              <a:rPr sz="2000" b="0">
                <a:latin typeface="DejaVu Sans"/>
              </a:rPr>
              <a:t>+Ssin T</a:t>
            </a:r>
            <a:r>
              <a:rPr sz="2000" b="0">
                <a:latin typeface="Noto Sans CJK JP"/>
              </a:rPr>
              <a:t>。逆計算 </a:t>
            </a:r>
            <a:r>
              <a:rPr sz="2000" b="0">
                <a:latin typeface="DejaVu Sans"/>
              </a:rPr>
              <a:t>S=√(Δ X</a:t>
            </a:r>
            <a:r>
              <a:rPr sz="2000" b="0" baseline="30000">
                <a:latin typeface="DejaVu Sans"/>
              </a:rPr>
              <a:t>2</a:t>
            </a:r>
            <a:r>
              <a:rPr sz="2000" b="0">
                <a:latin typeface="DejaVu Sans"/>
              </a:rPr>
              <a:t>+Δ Y</a:t>
            </a:r>
            <a:r>
              <a:rPr sz="2000" b="0" baseline="30000">
                <a:latin typeface="DejaVu Sans"/>
              </a:rPr>
              <a:t>2</a:t>
            </a:r>
            <a:r>
              <a:rPr sz="2000" b="0">
                <a:latin typeface="DejaVu Sans"/>
              </a:rPr>
              <a:t>)</a:t>
            </a:r>
            <a:r>
              <a:rPr sz="2000" b="0">
                <a:latin typeface="Noto Sans CJK JP"/>
              </a:rPr>
              <a:t>、</a:t>
            </a:r>
            <a:r>
              <a:rPr sz="2000" b="0">
                <a:latin typeface="DejaVu Sans"/>
              </a:rPr>
              <a:t>T=arctan(Δ Y/Δ X)</a:t>
            </a:r>
            <a:r>
              <a:rPr sz="2000" b="0">
                <a:latin typeface="Noto Sans CJK JP"/>
              </a:rPr>
              <a:t>＋象限の補正。</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3-8 試験で問われる型</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094415" cy="2438400"/>
        </p:xfrm>
        <a:graphic>
          <a:graphicData uri="http://schemas.openxmlformats.org/drawingml/2006/table">
            <a:tbl>
              <a:tblPr firstRow="1" bandRow="1">
                <a:tableStyleId>{5C22544A-7EE6-4342-B048-85BDC9FD1C3A}</a:tableStyleId>
              </a:tblPr>
              <a:tblGrid>
                <a:gridCol w="5547207"/>
                <a:gridCol w="5547208"/>
              </a:tblGrid>
              <a:tr h="406400">
                <a:tc>
                  <a:txBody>
                    <a:bodyPr wrap="square"/>
                    <a:lstStyle/>
                    <a:p>
                      <a:r>
                        <a:rPr sz="1600" b="1">
                          <a:solidFill>
                            <a:srgbClr val="1F1F1F"/>
                          </a:solidFill>
                          <a:latin typeface="Noto Sans CJK JP"/>
                        </a:rPr>
                        <a:t>型</a:t>
                      </a:r>
                    </a:p>
                  </a:txBody>
                  <a:tcPr marL="54864" marR="54864" marT="27432" marB="27432">
                    <a:solidFill>
                      <a:srgbClr val="DCE6F1"/>
                    </a:solidFill>
                  </a:tcPr>
                </a:tc>
                <a:tc>
                  <a:txBody>
                    <a:bodyPr wrap="square"/>
                    <a:lstStyle/>
                    <a:p>
                      <a:r>
                        <a:rPr sz="1600" b="1">
                          <a:solidFill>
                            <a:srgbClr val="1F1F1F"/>
                          </a:solidFill>
                          <a:latin typeface="Noto Sans CJK JP"/>
                        </a:rPr>
                        <a:t>着眼点</a:t>
                      </a:r>
                    </a:p>
                  </a:txBody>
                  <a:tcPr marL="54864" marR="54864" marT="27432" marB="27432">
                    <a:solidFill>
                      <a:srgbClr val="DCE6F1"/>
                    </a:solidFill>
                  </a:tcPr>
                </a:tc>
              </a:tr>
              <a:tr h="406400">
                <a:tc>
                  <a:txBody>
                    <a:bodyPr wrap="square"/>
                    <a:lstStyle/>
                    <a:p>
                      <a:r>
                        <a:rPr sz="1600" b="0">
                          <a:latin typeface="Noto Sans CJK JP"/>
                        </a:rPr>
                        <a:t>ジオイドと高さの関係</a:t>
                      </a:r>
                    </a:p>
                  </a:txBody>
                  <a:tcPr marL="54864" marR="54864" marT="27432" marB="27432">
                    <a:solidFill>
                      <a:srgbClr val="FFFFFF"/>
                    </a:solidFill>
                  </a:tcPr>
                </a:tc>
                <a:tc>
                  <a:txBody>
                    <a:bodyPr wrap="square"/>
                    <a:lstStyle/>
                    <a:p>
                      <a:r>
                        <a:rPr sz="1600" b="0">
                          <a:latin typeface="Noto Sans CJK JP"/>
                        </a:rPr>
                        <a:t>ジオイドの定義、</a:t>
                      </a:r>
                      <a:r>
                        <a:rPr sz="1600" b="0">
                          <a:latin typeface="DejaVu Sans"/>
                        </a:rPr>
                        <a:t>H=h-N</a:t>
                      </a:r>
                      <a:r>
                        <a:rPr sz="1600" b="0">
                          <a:latin typeface="Noto Sans CJK JP"/>
                        </a:rPr>
                        <a:t>、符号</a:t>
                      </a:r>
                    </a:p>
                  </a:txBody>
                  <a:tcPr marL="54864" marR="54864" marT="27432" marB="27432">
                    <a:solidFill>
                      <a:srgbClr val="FFFFFF"/>
                    </a:solidFill>
                  </a:tcPr>
                </a:tc>
              </a:tr>
              <a:tr h="406400">
                <a:tc>
                  <a:txBody>
                    <a:bodyPr wrap="square"/>
                    <a:lstStyle/>
                    <a:p>
                      <a:r>
                        <a:rPr sz="1600" b="0">
                          <a:latin typeface="Noto Sans CJK JP"/>
                        </a:rPr>
                        <a:t>測地系・投影の正誤</a:t>
                      </a:r>
                    </a:p>
                  </a:txBody>
                  <a:tcPr marL="54864" marR="54864" marT="27432" marB="27432">
                    <a:solidFill>
                      <a:srgbClr val="F5F7FA"/>
                    </a:solidFill>
                  </a:tcPr>
                </a:tc>
                <a:tc>
                  <a:txBody>
                    <a:bodyPr wrap="square"/>
                    <a:lstStyle/>
                    <a:p>
                      <a:r>
                        <a:rPr sz="1600" b="0">
                          <a:latin typeface="Noto Sans CJK JP"/>
                        </a:rPr>
                        <a:t>JGD2011・GRS80、世界測地系と旧日本測地系、UTM と平面直角座標系の数値</a:t>
                      </a:r>
                    </a:p>
                  </a:txBody>
                  <a:tcPr marL="54864" marR="54864" marT="27432" marB="27432">
                    <a:solidFill>
                      <a:srgbClr val="F5F7FA"/>
                    </a:solidFill>
                  </a:tcPr>
                </a:tc>
              </a:tr>
              <a:tr h="406400">
                <a:tc>
                  <a:txBody>
                    <a:bodyPr wrap="square"/>
                    <a:lstStyle/>
                    <a:p>
                      <a:r>
                        <a:rPr sz="1600" b="0">
                          <a:latin typeface="Noto Sans CJK JP"/>
                        </a:rPr>
                        <a:t>平面直角座標系の正誤</a:t>
                      </a:r>
                    </a:p>
                  </a:txBody>
                  <a:tcPr marL="54864" marR="54864" marT="27432" marB="27432">
                    <a:solidFill>
                      <a:srgbClr val="FFFFFF"/>
                    </a:solidFill>
                  </a:tcPr>
                </a:tc>
                <a:tc>
                  <a:txBody>
                    <a:bodyPr wrap="square"/>
                    <a:lstStyle/>
                    <a:p>
                      <a:r>
                        <a:rPr sz="1600" b="0">
                          <a:latin typeface="Noto Sans CJK JP"/>
                        </a:rPr>
                        <a:t>軸の向き、19 系、原点の縮尺係数 0.9999</a:t>
                      </a:r>
                    </a:p>
                  </a:txBody>
                  <a:tcPr marL="54864" marR="54864" marT="27432" marB="27432">
                    <a:solidFill>
                      <a:srgbClr val="FFFFFF"/>
                    </a:solidFill>
                  </a:tcPr>
                </a:tc>
              </a:tr>
              <a:tr h="406400">
                <a:tc>
                  <a:txBody>
                    <a:bodyPr wrap="square"/>
                    <a:lstStyle/>
                    <a:p>
                      <a:r>
                        <a:rPr sz="1600" b="0">
                          <a:latin typeface="Noto Sans CJK JP"/>
                        </a:rPr>
                        <a:t>標高補正・縮尺係数</a:t>
                      </a:r>
                    </a:p>
                  </a:txBody>
                  <a:tcPr marL="54864" marR="54864" marT="27432" marB="27432">
                    <a:solidFill>
                      <a:srgbClr val="F5F7FA"/>
                    </a:solidFill>
                  </a:tcPr>
                </a:tc>
                <a:tc>
                  <a:txBody>
                    <a:bodyPr wrap="square"/>
                    <a:lstStyle/>
                    <a:p>
                      <a:r>
                        <a:rPr sz="1600" b="0">
                          <a:latin typeface="Noto Sans CJK JP"/>
                        </a:rPr>
                        <a:t>向き（標高補正は短く）、</a:t>
                      </a:r>
                      <a:r>
                        <a:rPr sz="1600" b="0">
                          <a:latin typeface="DejaVu Sans"/>
                        </a:rPr>
                        <a:t>R=6370</a:t>
                      </a:r>
                      <a:r>
                        <a:rPr sz="1600" b="0">
                          <a:latin typeface="Noto Sans CJK JP"/>
                        </a:rPr>
                        <a:t> km の概算</a:t>
                      </a:r>
                    </a:p>
                  </a:txBody>
                  <a:tcPr marL="54864" marR="54864" marT="27432" marB="27432">
                    <a:solidFill>
                      <a:srgbClr val="F5F7FA"/>
                    </a:solidFill>
                  </a:tcPr>
                </a:tc>
              </a:tr>
              <a:tr h="406400">
                <a:tc>
                  <a:txBody>
                    <a:bodyPr wrap="square"/>
                    <a:lstStyle/>
                    <a:p>
                      <a:r>
                        <a:rPr sz="1600" b="0">
                          <a:latin typeface="Noto Sans CJK JP"/>
                        </a:rPr>
                        <a:t>座標計算（表付き）・方向角の象限</a:t>
                      </a:r>
                    </a:p>
                  </a:txBody>
                  <a:tcPr marL="54864" marR="54864" marT="27432" marB="27432">
                    <a:solidFill>
                      <a:srgbClr val="FFFFFF"/>
                    </a:solidFill>
                  </a:tcPr>
                </a:tc>
                <a:tc>
                  <a:txBody>
                    <a:bodyPr wrap="square"/>
                    <a:lstStyle/>
                    <a:p>
                      <a:r>
                        <a:rPr sz="1600" b="0">
                          <a:latin typeface="DejaVu Sans"/>
                        </a:rPr>
                        <a:t>cos</a:t>
                      </a:r>
                      <a:r>
                        <a:rPr sz="1600" b="0">
                          <a:latin typeface="Noto Sans CJK JP"/>
                        </a:rPr>
                        <a:t> が X、</a:t>
                      </a:r>
                      <a:r>
                        <a:rPr sz="1600" b="0">
                          <a:latin typeface="DejaVu Sans"/>
                        </a:rPr>
                        <a:t>sin</a:t>
                      </a:r>
                      <a:r>
                        <a:rPr sz="1600" b="0">
                          <a:latin typeface="Noto Sans CJK JP"/>
                        </a:rPr>
                        <a:t> が Y、</a:t>
                      </a:r>
                      <a:r>
                        <a:rPr sz="1600" b="0">
                          <a:latin typeface="DejaVu Sans"/>
                        </a:rPr>
                        <a:t>arctan</a:t>
                      </a:r>
                      <a:r>
                        <a:rPr sz="1600" b="0">
                          <a:latin typeface="Noto Sans CJK JP"/>
                        </a:rPr>
                        <a:t> に 180°・360° を足す</a:t>
                      </a:r>
                    </a:p>
                  </a:txBody>
                  <a:tcPr marL="54864" marR="54864" marT="27432" marB="27432">
                    <a:solidFill>
                      <a:srgbClr val="FFFFFF"/>
                    </a:solidFill>
                  </a:tcPr>
                </a:tc>
              </a:tr>
            </a:tbl>
          </a:graphicData>
        </a:graphic>
      </p:graphicFrame>
      <p:sp>
        <p:nvSpPr>
          <p:cNvPr id="5" name="TextBox 4"/>
          <p:cNvSpPr txBox="1"/>
          <p:nvPr/>
        </p:nvSpPr>
        <p:spPr>
          <a:xfrm>
            <a:off x="548640" y="3947160"/>
            <a:ext cx="11094415" cy="530860"/>
          </a:xfrm>
          <a:prstGeom prst="rect">
            <a:avLst/>
          </a:prstGeom>
          <a:noFill/>
        </p:spPr>
        <p:txBody>
          <a:bodyPr wrap="square" lIns="45720" rIns="45720" tIns="18288" bIns="18288">
            <a:spAutoFit/>
          </a:bodyPr>
          <a:lstStyle/>
          <a:p>
            <a:pPr>
              <a:spcAft>
                <a:spcPts val="400"/>
              </a:spcAft>
            </a:pPr>
            <a:r>
              <a:rPr sz="2000" b="0">
                <a:latin typeface="Noto Sans CJK JP"/>
              </a:rPr>
              <a:t>• </a:t>
            </a:r>
            <a:r>
              <a:rPr sz="2000" b="0">
                <a:latin typeface="Noto Sans CJK JP"/>
              </a:rPr>
              <a:t>次回の冒頭小テストは、この表から 5 問出す。</a:t>
            </a:r>
          </a:p>
        </p:txBody>
      </p:sp>
      <p:sp>
        <p:nvSpPr>
          <p:cNvPr id="6" name="TextBox 5"/>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7" name="TextBox 6"/>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3-8 次回：第4回 角測量</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2302510"/>
          </a:xfrm>
          <a:prstGeom prst="rect">
            <a:avLst/>
          </a:prstGeom>
          <a:noFill/>
        </p:spPr>
        <p:txBody>
          <a:bodyPr wrap="square" lIns="45720" rIns="45720" tIns="18288" bIns="18288">
            <a:spAutoFit/>
          </a:bodyPr>
          <a:lstStyle/>
          <a:p>
            <a:pPr>
              <a:spcAft>
                <a:spcPts val="400"/>
              </a:spcAft>
            </a:pPr>
            <a:r>
              <a:rPr sz="2200" b="0">
                <a:latin typeface="Noto Sans CJK JP"/>
              </a:rPr>
              <a:t>• </a:t>
            </a:r>
            <a:r>
              <a:rPr sz="2200" b="0">
                <a:latin typeface="Noto Sans CJK JP"/>
              </a:rPr>
              <a:t>冒頭 5 分：本日の演習の解答確認。冒頭小テスト：第3回範囲から 5 問。</a:t>
            </a:r>
          </a:p>
          <a:p>
            <a:pPr>
              <a:spcAft>
                <a:spcPts val="400"/>
              </a:spcAft>
            </a:pPr>
            <a:r>
              <a:rPr sz="2200" b="0">
                <a:latin typeface="Noto Sans CJK JP"/>
              </a:rPr>
              <a:t>• </a:t>
            </a:r>
            <a:r>
              <a:rPr sz="2200" b="0">
                <a:latin typeface="Noto Sans CJK JP"/>
              </a:rPr>
              <a:t>角の観測法（単測法・倍角法・方向法）と検算。</a:t>
            </a:r>
          </a:p>
          <a:p>
            <a:pPr>
              <a:spcAft>
                <a:spcPts val="400"/>
              </a:spcAft>
            </a:pPr>
            <a:r>
              <a:rPr sz="2200" b="0">
                <a:latin typeface="Noto Sans CJK JP"/>
              </a:rPr>
              <a:t>• </a:t>
            </a:r>
            <a:r>
              <a:rPr sz="2200" b="0">
                <a:latin typeface="Noto Sans CJK JP"/>
              </a:rPr>
              <a:t>偏心観測の補正。TS の自動視準と二軸補正。</a:t>
            </a:r>
          </a:p>
          <a:p>
            <a:pPr>
              <a:spcAft>
                <a:spcPts val="400"/>
              </a:spcAft>
            </a:pPr>
            <a:r>
              <a:rPr sz="2200" b="0">
                <a:latin typeface="Noto Sans CJK JP"/>
              </a:rPr>
              <a:t>• </a:t>
            </a:r>
            <a:r>
              <a:rPr sz="2200" b="0">
                <a:latin typeface="Noto Sans CJK JP"/>
              </a:rPr>
              <a:t>巻尺の補正（尺定数・温度・傾斜）と光波測距の原理も第4回の前半で扱う。</a:t>
            </a:r>
          </a:p>
          <a:p>
            <a:pPr>
              <a:spcAft>
                <a:spcPts val="400"/>
              </a:spcAft>
            </a:pPr>
            <a:r>
              <a:rPr sz="2200" b="0">
                <a:latin typeface="Noto Sans CJK JP"/>
              </a:rPr>
              <a:t>• </a:t>
            </a:r>
            <a:r>
              <a:rPr sz="2200" b="0">
                <a:latin typeface="Noto Sans CJK JP"/>
              </a:rPr>
              <a:t>関数電卓を持参し、本日の順計算・逆計算を復習する。</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94415" cy="914400"/>
          </a:xfrm>
          <a:prstGeom prst="rect">
            <a:avLst/>
          </a:prstGeom>
          <a:noFill/>
        </p:spPr>
        <p:txBody>
          <a:bodyPr wrap="square" lIns="45720" rIns="45720" tIns="18288" bIns="18288" anchor="ctr">
            <a:spAutoFit/>
          </a:bodyPr>
          <a:lstStyle/>
          <a:p>
            <a:r>
              <a:rPr sz="3000" b="1">
                <a:solidFill>
                  <a:srgbClr val="1F4E79"/>
                </a:solidFill>
                <a:latin typeface="Noto Sans CJK JP"/>
              </a:rPr>
              <a:t>付録 出典</a:t>
            </a:r>
          </a:p>
        </p:txBody>
      </p:sp>
      <p:sp>
        <p:nvSpPr>
          <p:cNvPr id="3" name="Rectangle 2"/>
          <p:cNvSpPr/>
          <p:nvPr/>
        </p:nvSpPr>
        <p:spPr>
          <a:xfrm>
            <a:off x="548640" y="1188720"/>
            <a:ext cx="11094415" cy="1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4415" cy="3680460"/>
          </a:xfrm>
          <a:prstGeom prst="rect">
            <a:avLst/>
          </a:prstGeom>
          <a:noFill/>
        </p:spPr>
        <p:txBody>
          <a:bodyPr wrap="square" lIns="45720" rIns="45720" tIns="18288" bIns="18288">
            <a:spAutoFit/>
          </a:bodyPr>
          <a:lstStyle/>
          <a:p>
            <a:pPr>
              <a:spcAft>
                <a:spcPts val="400"/>
              </a:spcAft>
            </a:pPr>
            <a:r>
              <a:rPr sz="1800" b="0">
                <a:latin typeface="Noto Sans CJK JP"/>
              </a:rPr>
              <a:t>• </a:t>
            </a:r>
            <a:r>
              <a:rPr sz="1800" b="1">
                <a:latin typeface="Noto Sans CJK JP"/>
              </a:rPr>
              <a:t>[1] 国土地理院「平面直角座標系（平成十四年国土交通省告示第九号）」</a:t>
            </a:r>
            <a:r>
              <a:rPr sz="1800" b="0">
                <a:latin typeface="Noto Sans CJK JP"/>
              </a:rPr>
              <a:t> — 19 系の原点と適用区域。</a:t>
            </a:r>
          </a:p>
          <a:p>
            <a:pPr>
              <a:spcAft>
                <a:spcPts val="400"/>
              </a:spcAft>
            </a:pPr>
            <a:r>
              <a:rPr sz="1800" b="0">
                <a:latin typeface="Noto Sans CJK JP"/>
              </a:rPr>
              <a:t>• </a:t>
            </a:r>
            <a:r>
              <a:rPr sz="1800" b="1">
                <a:latin typeface="Noto Sans CJK JP"/>
              </a:rPr>
              <a:t>[2] 国土地理院「測地成果 2024」「ジオイド2024日本とその周辺」「日本の測地系」</a:t>
            </a:r>
            <a:r>
              <a:rPr sz="1800" b="0">
                <a:latin typeface="Noto Sans CJK JP"/>
              </a:rPr>
              <a:t> — 標高成果の改定、ジオイドモデル、世界測地系への移行（旧日本測地系との差）。</a:t>
            </a:r>
          </a:p>
          <a:p>
            <a:pPr>
              <a:spcAft>
                <a:spcPts val="400"/>
              </a:spcAft>
            </a:pPr>
            <a:r>
              <a:rPr sz="1800" b="0">
                <a:latin typeface="Noto Sans CJK JP"/>
              </a:rPr>
              <a:t>• </a:t>
            </a:r>
            <a:r>
              <a:rPr sz="1800" b="1">
                <a:latin typeface="Noto Sans CJK JP"/>
              </a:rPr>
              <a:t>[3] 国土地理院「測量士・測量士補試験」受験案内・Q&amp;A・出題区分</a:t>
            </a:r>
            <a:r>
              <a:rPr sz="1800" b="0">
                <a:latin typeface="Noto Sans CJK JP"/>
              </a:rPr>
              <a:t> — 択一28問・700点満点・450点以上で合格、電卓不可、令和7年からの4区分。</a:t>
            </a:r>
          </a:p>
          <a:p>
            <a:pPr>
              <a:spcAft>
                <a:spcPts val="400"/>
              </a:spcAft>
            </a:pPr>
            <a:r>
              <a:rPr sz="1800" b="0">
                <a:latin typeface="Noto Sans CJK JP"/>
              </a:rPr>
              <a:t>• </a:t>
            </a:r>
            <a:r>
              <a:rPr sz="1800" b="1">
                <a:latin typeface="Noto Sans CJK JP"/>
              </a:rPr>
              <a:t>[4] 測量法（昭和二十四年法律第百八十八号）第 11 条、測量法施行令第 2・3 条</a:t>
            </a:r>
            <a:r>
              <a:rPr sz="1800" b="0">
                <a:latin typeface="Noto Sans CJK JP"/>
              </a:rPr>
              <a:t> — 位置の表示方法（経緯度・直角座標・平均海面からの高さ）、日本経緯度原点、楕円体の長半径 6 378 137 m と扁平率 1/298.257222101。</a:t>
            </a:r>
          </a:p>
          <a:p>
            <a:pPr>
              <a:spcAft>
                <a:spcPts val="400"/>
              </a:spcAft>
            </a:pPr>
            <a:r>
              <a:rPr sz="1800" b="0">
                <a:latin typeface="Noto Sans CJK JP"/>
              </a:rPr>
              <a:t>• </a:t>
            </a:r>
            <a:r>
              <a:rPr sz="1800" b="1">
                <a:latin typeface="Noto Sans CJK JP"/>
              </a:rPr>
              <a:t>[5] 国土地理院「UTM 座標系」「地図投影法」解説ページ</a:t>
            </a:r>
            <a:r>
              <a:rPr sz="1800" b="0">
                <a:latin typeface="Noto Sans CJK JP"/>
              </a:rPr>
              <a:t> — UTM の帯・中央子午線・縮尺係数 0.9996、ガウス・クリューゲル投影。</a:t>
            </a:r>
          </a:p>
        </p:txBody>
      </p:sp>
      <p:sp>
        <p:nvSpPr>
          <p:cNvPr id="5" name="TextBox 4"/>
          <p:cNvSpPr txBox="1"/>
          <p:nvPr/>
        </p:nvSpPr>
        <p:spPr>
          <a:xfrm>
            <a:off x="548640" y="6446520"/>
            <a:ext cx="11094415" cy="365760"/>
          </a:xfrm>
          <a:prstGeom prst="rect">
            <a:avLst/>
          </a:prstGeom>
          <a:noFill/>
        </p:spPr>
        <p:txBody>
          <a:bodyPr wrap="square" lIns="45720" rIns="45720" tIns="18288" bIns="18288">
            <a:spAutoFit/>
          </a:bodyPr>
          <a:lstStyle/>
          <a:p>
            <a:r>
              <a:rPr sz="1100" b="0">
                <a:solidFill>
                  <a:srgbClr val="555555"/>
                </a:solidFill>
                <a:latin typeface="Noto Sans CJK JP"/>
              </a:rPr>
              <a:t>測量学 第3回｜測量の座標</a:t>
            </a:r>
          </a:p>
        </p:txBody>
      </p:sp>
      <p:sp>
        <p:nvSpPr>
          <p:cNvPr id="6" name="TextBox 5"/>
          <p:cNvSpPr txBox="1"/>
          <p:nvPr/>
        </p:nvSpPr>
        <p:spPr>
          <a:xfrm>
            <a:off x="10545775" y="6446520"/>
            <a:ext cx="1097280" cy="365760"/>
          </a:xfrm>
          <a:prstGeom prst="rect">
            <a:avLst/>
          </a:prstGeom>
          <a:noFill/>
        </p:spPr>
        <p:txBody>
          <a:bodyPr wrap="square" lIns="45720" rIns="45720" tIns="18288" bIns="18288">
            <a:spAutoFit/>
          </a:bodyPr>
          <a:lstStyle/>
          <a:p>
            <a:pPr algn="r"/>
            <a:r>
              <a:rPr sz="1100" b="0">
                <a:solidFill>
                  <a:srgbClr val="555555"/>
                </a:solidFill>
                <a:latin typeface="Noto Sans CJK JP"/>
              </a:rPr>
              <a:t>75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