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本編と別の補足資料。20〜25分程度。世界の地図史を網羅するのでなく、第3回の投影・座標に関係する事例を選ぶ。『時代の課題→地図の工夫→得たものと限界』を共通の見方とする。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欧州と日本の選択的な系譜。矢印は時系列の案内で、直接の発明継承や単線的な進歩を意味しない。航海用・国土測量用・教育用の地図は現在も併存する。</a:t>
            </a:r>
          </a:p>
          <a:p/>
          <a:p>
            <a:r>
              <a:t>【出典】</a:t>
            </a:r>
          </a:p>
          <a:p>
            <a:r>
              <a:t>[A] 米国議会図書館：Mathematics / Ptolemy’s Geography</a:t>
            </a:r>
          </a:p>
          <a:p>
            <a:r>
              <a:t>https://loc.gov/exhibits/vatican/math.html</a:t>
            </a:r>
          </a:p>
          <a:p>
            <a:r>
              <a:t>[B] 米国議会図書館：Portolan Charts</a:t>
            </a:r>
          </a:p>
          <a:p>
            <a:r>
              <a:t>https://guides.loc.gov/nautical-charts/portolan-charts</a:t>
            </a:r>
          </a:p>
          <a:p>
            <a:r>
              <a:t>[C] University College Oxford：Mercator’s Atlas</a:t>
            </a:r>
          </a:p>
          <a:p>
            <a:r>
              <a:t>https://www.univ.ox.ac.uk/news/mercators-atlas/</a:t>
            </a:r>
          </a:p>
          <a:p>
            <a:r>
              <a:t>[E] IGN France：30 cartes qui racontent l’histoire de la cartographie</a:t>
            </a:r>
          </a:p>
          <a:p>
            <a:r>
              <a:t>https://www.ign.fr/mag/30-cartes-qui-racontent-lhistoire-de-la-cartographie</a:t>
            </a:r>
          </a:p>
          <a:p>
            <a:r>
              <a:t>[F] 国土地理院：伊能大図彩色図について</a:t>
            </a:r>
          </a:p>
          <a:p>
            <a:r>
              <a:t>https://service.gsi.go.jp/kochizu/app/about/inoutaizu_saisyokuzu</a:t>
            </a:r>
          </a:p>
          <a:p>
            <a:r>
              <a:t>[G] USGS：The United States Geological Survey, 1939–1961, Chapter 6</a:t>
            </a:r>
          </a:p>
          <a:p>
            <a:r>
              <a:t>https://pubs.usgs.gov/book/2015/rabbitt-vol4/pdf/vol4_chapter6.pdf</a:t>
            </a:r>
          </a:p>
          <a:p>
            <a:r>
              <a:t>[J] 国土地理院：地理院タイルについて</a:t>
            </a:r>
          </a:p>
          <a:p>
            <a:r>
              <a:t>https://maps.gsi.go.jp/development/siyou.html</a:t>
            </a:r>
          </a:p>
          <a:p>
            <a:r>
              <a:t>[K] USGS：Map Projections（1993、図法比較ポスター）</a:t>
            </a:r>
          </a:p>
          <a:p>
            <a:r>
              <a:t>https://pubs.usgs.gov/gip/70047422/report.pdf</a:t>
            </a:r>
          </a:p>
          <a:p>
            <a:r>
              <a:t>[L] USGS：ISIS Mollweide Class Reference</a:t>
            </a:r>
          </a:p>
          <a:p>
            <a:r>
              <a:t>https://isis.astrogeology.usgs.gov/9.0.0/Object/Programmer/class_isis_1_1_mollweide.html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球面・楕円体を平面へ展開するとひずみが生じる。正角は各点近傍の角を保存する性質で、大陸全体の形の完全保存ではない。正距も一般に特定の点から、または特定の線上の距離に限る。</a:t>
            </a:r>
          </a:p>
          <a:p/>
          <a:p>
            <a:r>
              <a:t>【出典】</a:t>
            </a:r>
          </a:p>
          <a:p>
            <a:r>
              <a:t>[D] USGS：Map projections: A working manual（Snyder, 1987）</a:t>
            </a:r>
          </a:p>
          <a:p>
            <a:r>
              <a:t>https://pubs.usgs.gov/publication/pp1395</a:t>
            </a:r>
          </a:p>
          <a:p>
            <a:r>
              <a:t>[K] USGS：Map Projections（1993、図法比較ポスター）</a:t>
            </a:r>
          </a:p>
          <a:p>
            <a:r>
              <a:t>https://pubs.usgs.gov/gip/70047422/report.pdf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地理学』は先行する知識を集成・検討し、約8,000地点の緯度経度と投影の方法を記した。座標を初めて発明した人物と断定しない。今日伝わる図版には後世の写本・印刷版が含まれる。右図は概念図で古地図の復元ではない。</a:t>
            </a:r>
          </a:p>
          <a:p/>
          <a:p>
            <a:r>
              <a:t>【出典】</a:t>
            </a:r>
          </a:p>
          <a:p>
            <a:r>
              <a:t>[A] 米国議会図書館：Mathematics / Ptolemy’s Geography</a:t>
            </a:r>
          </a:p>
          <a:p>
            <a:r>
              <a:t>https://loc.gov/exhibits/vatican/math.html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港と海岸線を重視し、方位線の網を描いた海図。地中海などの航海実務と結びつく。すべてが船上実用品だったわけではなく、装飾的な作例もある。成立過程を単独発明者の物語にしない。右図は方位線の概念図で、史料画像ではない。</a:t>
            </a:r>
          </a:p>
          <a:p/>
          <a:p>
            <a:r>
              <a:t>【出典】</a:t>
            </a:r>
          </a:p>
          <a:p>
            <a:r>
              <a:t>[B] 米国議会図書館：Portolan Charts</a:t>
            </a:r>
          </a:p>
          <a:p>
            <a:r>
              <a:t>https://guides.loc.gov/nautical-charts/portolan-charts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〜16世紀の欧州の外洋航海の拡大には、交易だけでなく征服・植民地化の文脈もある。1569年世界図は表題に航海への利用を掲げる。本人が船で目的地に行けず苦労したため発明した、という個人的逸話は今回の参照資料では確認できず、採用しない。</a:t>
            </a:r>
          </a:p>
          <a:p/>
          <a:p>
            <a:r>
              <a:t>【出典】</a:t>
            </a:r>
          </a:p>
          <a:p>
            <a:r>
              <a:t>[B] 米国議会図書館：Portolan Charts</a:t>
            </a:r>
          </a:p>
          <a:p>
            <a:r>
              <a:t>https://guides.loc.gov/nautical-charts/portolan-charts</a:t>
            </a:r>
          </a:p>
          <a:p>
            <a:r>
              <a:t>[C] University College Oxford：Mercator’s Atlas</a:t>
            </a:r>
          </a:p>
          <a:p>
            <a:r>
              <a:t>https://www.univ.ox.ac.uk/news/mercators-atlas/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等角航路は各経線と同じ角度で交わる曲線で、メルカトル図上では直線となる。正角は局所的な性質。ここでの方位は真北基準。実際の操船では磁気偏角、風・潮流などを別途考慮する。等角航路は一般に最短経路ではなく、経線・赤道など例外はある。</a:t>
            </a:r>
          </a:p>
          <a:p/>
          <a:p>
            <a:r>
              <a:t>【出典】</a:t>
            </a:r>
          </a:p>
          <a:p>
            <a:r>
              <a:t>[C] University College Oxford：Mercator’s Atlas</a:t>
            </a:r>
          </a:p>
          <a:p>
            <a:r>
              <a:t>https://www.univ.ox.ac.uk/news/mercators-atlas/</a:t>
            </a:r>
          </a:p>
          <a:p>
            <a:r>
              <a:t>[D] USGS：Map projections: A working manual（Snyder, 1987）</a:t>
            </a:r>
          </a:p>
          <a:p>
            <a:r>
              <a:t>https://pubs.usgs.gov/publication/pp1395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球面の理想化したメルカトルで、赤道の縮尺を1とすれば局所長さ倍率は1/cosφ、面積倍率は1/cos²φ。緯度60度では長さ2倍、面積4倍。図の小円は有限サイズなので厳密なティソーの指示楕円ではない。全球の等角性を『すべての地点への方位が正しい』と説明しない。</a:t>
            </a:r>
          </a:p>
          <a:p/>
          <a:p>
            <a:r>
              <a:t>【出典】</a:t>
            </a:r>
          </a:p>
          <a:p>
            <a:r>
              <a:t>[D] USGS：Map projections: A working manual（Snyder, 1987）</a:t>
            </a:r>
          </a:p>
          <a:p>
            <a:r>
              <a:t>https://pubs.usgs.gov/publication/pp1395</a:t>
            </a:r>
          </a:p>
          <a:p>
            <a:r>
              <a:t>[L] USGS：ISIS Mollweide Class Reference</a:t>
            </a:r>
          </a:p>
          <a:p>
            <a:r>
              <a:t>https://isis.astrogeology.usgs.gov/9.0.0/Object/Programmer/class_isis_1_1_mollweide.html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の解説によると、1668年にコルベールが科学アカデミーへより正確なフランス地図の作成法を求めた。カッシーニ家の世代をまたぐ三角測量を経て、1749年から図葉が刊行された。三角測量は投影法ではなく位置を求める観測・計算の方法。右図は架空の測量網。</a:t>
            </a:r>
          </a:p>
          <a:p/>
          <a:p>
            <a:r>
              <a:t>【出典】</a:t>
            </a:r>
          </a:p>
          <a:p>
            <a:r>
              <a:t>[E] IGN France：30 cartes qui racontent l’histoire de la cartographie</a:t>
            </a:r>
          </a:p>
          <a:p>
            <a:r>
              <a:t>https://www.ign.fr/mag/30-cartes-qui-racontent-lhistoire-de-la-cartographie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ランベルトは1772年に複数の投影法を発表。ここでは正角円錐図法を取り上げる。中緯度で東西に広い地域に適し、後世の地形図や航空図に利用されるが、航空需要が発明の理由だったと説明しない。図は標準緯線30度・60度の球面モデル。円錐に光を当てれば厳密に得られるという意味でもない。</a:t>
            </a:r>
          </a:p>
          <a:p/>
          <a:p>
            <a:r>
              <a:t>【出典】</a:t>
            </a:r>
          </a:p>
          <a:p>
            <a:r>
              <a:t>[D] USGS：Map projections: A working manual（Snyder, 1987）</a:t>
            </a:r>
          </a:p>
          <a:p>
            <a:r>
              <a:t>https://pubs.usgs.gov/publication/pp1395</a:t>
            </a:r>
          </a:p>
          <a:p>
            <a:r>
              <a:t>[K] USGS：Map Projections（1993、図法比較ポスター）</a:t>
            </a:r>
          </a:p>
          <a:p>
            <a:r>
              <a:t>https://pubs.usgs.gov/gip/70047422/report.pdf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ルワイデ図法は1805年発表。世界を楕円形に表す正積擬円筒図法。ここでは面積比較の必要性と性質を結びつけて説明するが、特定の社会運動や個人的体験が発明動機だったと断定しない。農地・森林の世界分布は現代の授業上の応用例。</a:t>
            </a:r>
          </a:p>
          <a:p/>
          <a:p>
            <a:r>
              <a:t>【出典】</a:t>
            </a:r>
          </a:p>
          <a:p>
            <a:r>
              <a:t>[L] USGS：ISIS Mollweide Class Reference</a:t>
            </a:r>
          </a:p>
          <a:p>
            <a:r>
              <a:t>https://isis.astrogeology.usgs.gov/9.0.0/Object/Programmer/class_isis_1_1_mollweide.html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伊能忠敬は暦学上の緯度1度の距離の問題に関心を持ち、蝦夷地への測量をはじめとして全国測量を行った。海岸や街道の測量と天体観測を結び付けた。本人は1818年に没し、1821年に幕府天文方の手で大日本沿海輿地全図が完成した。伊能図を現代の全国三角網やGNSS測量と同一視しない。</a:t>
            </a:r>
          </a:p>
          <a:p/>
          <a:p>
            <a:r>
              <a:t>【出典】</a:t>
            </a:r>
          </a:p>
          <a:p>
            <a:r>
              <a:t>[F] 国土地理院：伊能大図彩色図について</a:t>
            </a:r>
          </a:p>
          <a:p>
            <a:r>
              <a:t>https://service.gsi.go.jp/kochizu/app/about/inoutaizu_saisyokuzu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横メルカトルは中央経線付近の狭い帯でひずみを抑える投影。UTMはその投影にゾーン分割などの規則を組み合わせた座標系で、図法そのものの別名ではない。USGSの歴史資料は戦後のアラスカ地図整備で、カナダの図葉との調整などを理由にUTM採用を記す。発明者一人や1947年だけを唯一の起源としない。原則6度幅・60ゾーン。通常の範囲は南緯80度〜北緯84度で極域には別方式を用いる。</a:t>
            </a:r>
          </a:p>
          <a:p/>
          <a:p>
            <a:r>
              <a:t>【出典】</a:t>
            </a:r>
          </a:p>
          <a:p>
            <a:r>
              <a:t>[D] USGS：Map projections: A working manual（Snyder, 1987）</a:t>
            </a:r>
          </a:p>
          <a:p>
            <a:r>
              <a:t>https://pubs.usgs.gov/publication/pp1395</a:t>
            </a:r>
          </a:p>
          <a:p>
            <a:r>
              <a:t>[G] USGS：The United States Geological Survey, 1939–1961, Chapter 6</a:t>
            </a:r>
          </a:p>
          <a:p>
            <a:r>
              <a:t>https://pubs.usgs.gov/book/2015/rabbitt-vol4/pdf/vol4_chapter6.pdf</a:t>
            </a:r>
          </a:p>
          <a:p>
            <a:r>
              <a:t>[H] USGS：How are UTM coordinates measured on USGS topographic maps?</a:t>
            </a:r>
          </a:p>
          <a:p>
            <a:r>
              <a:t>https://www.usgs.gov/faqs/how-are-utm-coordinates-measured-usgs-topographic-maps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現在の制度を歴史の到達点として紹介するもので、制定史の詳細は扱わない。全国19系のガウス・クリューゲルの等角投影。Xは北、Yは東、原点縮尺係数0.9999。UTMと共通する横メルカトル系統の考え方だが、ゾーン・原点・係数などの規則は同じではない。地上距離をそのまま平面上で使えるとは限らず、本編の距離補正につなぐ。</a:t>
            </a:r>
          </a:p>
          <a:p/>
          <a:p>
            <a:r>
              <a:t>【出典】</a:t>
            </a:r>
          </a:p>
          <a:p>
            <a:r>
              <a:t>[I] 国土地理院：わかりやすい平面直角座標系</a:t>
            </a:r>
          </a:p>
          <a:p>
            <a:r>
              <a:t>https://www.gsi.go.jp/sokuchikijun/jpc.html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理院タイルはメルカトルの数式を用い、約南北85.0511度の範囲を正方形へ変換する。拡大に応じてタイルを分割する設計。『配りやすい』は仕様から読み取れる機能上の利点を要約したもので、単独の発明動機を立証する表現ではない。Web Mercatorは楕円体上の厳密な正角性をそのまま持つわけではない。表示上の長さ・面積を現地値と混同しない。</a:t>
            </a:r>
          </a:p>
          <a:p/>
          <a:p>
            <a:r>
              <a:t>【出典】</a:t>
            </a:r>
          </a:p>
          <a:p>
            <a:r>
              <a:t>[J] 国土地理院：地理院タイルについて</a:t>
            </a:r>
          </a:p>
          <a:p>
            <a:r>
              <a:t>https://maps.gsi.go.jp/development/siyou.html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この表は授業用の整理。ランベルトの航空図利用や正積図法の主題図利用など、考案当初と後の利用を混同しない。ポルトラノは海図の種類、他の行は投影法または座標系であり分類が異なる。</a:t>
            </a:r>
          </a:p>
          <a:p/>
          <a:p>
            <a:r>
              <a:t>【出典】</a:t>
            </a:r>
          </a:p>
          <a:p>
            <a:r>
              <a:t>[B] 米国議会図書館：Portolan Charts</a:t>
            </a:r>
          </a:p>
          <a:p>
            <a:r>
              <a:t>https://guides.loc.gov/nautical-charts/portolan-charts</a:t>
            </a:r>
          </a:p>
          <a:p>
            <a:r>
              <a:t>[C] University College Oxford：Mercator’s Atlas</a:t>
            </a:r>
          </a:p>
          <a:p>
            <a:r>
              <a:t>https://www.univ.ox.ac.uk/news/mercators-atlas/</a:t>
            </a:r>
          </a:p>
          <a:p>
            <a:r>
              <a:t>[D] USGS：Map projections: A working manual（Snyder, 1987）</a:t>
            </a:r>
          </a:p>
          <a:p>
            <a:r>
              <a:t>https://pubs.usgs.gov/publication/pp1395</a:t>
            </a:r>
          </a:p>
          <a:p>
            <a:r>
              <a:t>[K] USGS：Map Projections（1993、図法比較ポスター）</a:t>
            </a:r>
          </a:p>
          <a:p>
            <a:r>
              <a:t>https://pubs.usgs.gov/gip/70047422/report.pdf</a:t>
            </a:r>
          </a:p>
          <a:p>
            <a:r>
              <a:t>[L] USGS：ISIS Mollweide Class Reference</a:t>
            </a:r>
          </a:p>
          <a:p>
            <a:r>
              <a:t>https://isis.astrogeology.usgs.gov/9.0.0/Object/Programmer/class_isis_1_1_mollweide.html</a:t>
            </a:r>
          </a:p>
          <a:p>
            <a:r>
              <a:t>[I] 国土地理院：わかりやすい平面直角座標系</a:t>
            </a:r>
          </a:p>
          <a:p>
            <a:r>
              <a:t>https://www.gsi.go.jp/sokuchikijun/jpc.html</a:t>
            </a:r>
          </a:p>
          <a:p>
            <a:r>
              <a:t>[J] 国土地理院：地理院タイルについて</a:t>
            </a:r>
          </a:p>
          <a:p>
            <a:r>
              <a:t>https://maps.gsi.go.jp/development/siyou.html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答例：①メルカトル図法は一定方位の等角航路を直線で表せるため。ただし最短経路とは限らない。②面積の見かけに偏りが出ない正積図法（モルワイデ等）。③測地系・平面直角座標系の系番号・軸や単位を確認し、必要な距離補正を行う。史実と用途のつながりを自分の言葉で説明さ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は機関の解説・公的技術文書を中心に確認した。個人の心情や失敗経験は、その事実を示す出典がなければ創作しない。すべての地図の誕生を単一の社会的要因に還元しない。古代・中世の地図作成には本資料で扱わない地域・伝統もある。確認日2026-10-20。</a:t>
            </a:r>
          </a:p>
          <a:p/>
          <a:p>
            <a:r>
              <a:t>【出典】</a:t>
            </a:r>
          </a:p>
          <a:p>
            <a:r>
              <a:t>[A] 米国議会図書館：Mathematics / Ptolemy’s Geography</a:t>
            </a:r>
          </a:p>
          <a:p>
            <a:r>
              <a:t>https://loc.gov/exhibits/vatican/math.html</a:t>
            </a:r>
          </a:p>
          <a:p>
            <a:r>
              <a:t>[C] University College Oxford：Mercator’s Atlas</a:t>
            </a:r>
          </a:p>
          <a:p>
            <a:r>
              <a:t>https://www.univ.ox.ac.uk/news/mercators-atlas/</a:t>
            </a:r>
          </a:p>
          <a:p>
            <a:r>
              <a:t>[D] USGS：Map projections: A working manual（Snyder, 1987）</a:t>
            </a:r>
          </a:p>
          <a:p>
            <a:r>
              <a:t>https://pubs.usgs.gov/publication/pp1395</a:t>
            </a:r>
          </a:p>
          <a:p>
            <a:r>
              <a:t>[E] IGN France：30 cartes qui racontent l’histoire de la cartographie</a:t>
            </a:r>
          </a:p>
          <a:p>
            <a:r>
              <a:t>https://www.ign.fr/mag/30-cartes-qui-racontent-lhistoire-de-la-cartographie</a:t>
            </a:r>
          </a:p>
          <a:p>
            <a:r>
              <a:t>[F] 国土地理院：伊能大図彩色図について</a:t>
            </a:r>
          </a:p>
          <a:p>
            <a:r>
              <a:t>https://service.gsi.go.jp/kochizu/app/about/inoutaizu_saisyokuzu</a:t>
            </a:r>
          </a:p>
          <a:p>
            <a:r>
              <a:t>[L] USGS：ISIS Mollweide Class Reference</a:t>
            </a:r>
          </a:p>
          <a:p>
            <a:r>
              <a:t>https://isis.astrogeology.usgs.gov/9.0.0/Object/Programmer/class_isis_1_1_mollweide.html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本文下部の出典記号に対応。各リンクをクリックすると参照先へ移動する。解説ページと技術文書を区別して利用。URLの詳細と対応する事実はREADMEおよび講師用原稿にも保存。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本文下部の出典記号に対応。各リンクをクリックすると参照先へ移動する。解説ページと技術文書を区別して利用。URLの詳細と対応する事実はREADMEおよび講師用原稿にも保存。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loc.gov/exhibits/vatican/math.html" TargetMode="External"/><Relationship Id="rId4" Type="http://schemas.openxmlformats.org/officeDocument/2006/relationships/hyperlink" Target="https://guides.loc.gov/nautical-charts/portolan-charts" TargetMode="External"/><Relationship Id="rId5" Type="http://schemas.openxmlformats.org/officeDocument/2006/relationships/hyperlink" Target="https://www.univ.ox.ac.uk/news/mercators-atlas/" TargetMode="External"/><Relationship Id="rId6" Type="http://schemas.openxmlformats.org/officeDocument/2006/relationships/hyperlink" Target="https://pubs.usgs.gov/publication/pp1395" TargetMode="External"/><Relationship Id="rId7" Type="http://schemas.openxmlformats.org/officeDocument/2006/relationships/hyperlink" Target="https://www.ign.fr/mag/30-cartes-qui-racontent-lhistoire-de-la-cartographie" TargetMode="External"/><Relationship Id="rId8" Type="http://schemas.openxmlformats.org/officeDocument/2006/relationships/hyperlink" Target="https://service.gsi.go.jp/kochizu/app/about/inoutaizu_saisyokuzu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pubs.usgs.gov/book/2015/rabbitt-vol4/pdf/vol4_chapter6.pdf" TargetMode="External"/><Relationship Id="rId4" Type="http://schemas.openxmlformats.org/officeDocument/2006/relationships/hyperlink" Target="https://www.usgs.gov/faqs/how-are-utm-coordinates-measured-usgs-topographic-maps" TargetMode="External"/><Relationship Id="rId5" Type="http://schemas.openxmlformats.org/officeDocument/2006/relationships/hyperlink" Target="https://www.gsi.go.jp/sokuchikijun/jpc.html" TargetMode="External"/><Relationship Id="rId6" Type="http://schemas.openxmlformats.org/officeDocument/2006/relationships/hyperlink" Target="https://maps.gsi.go.jp/development/siyou.html" TargetMode="External"/><Relationship Id="rId7" Type="http://schemas.openxmlformats.org/officeDocument/2006/relationships/hyperlink" Target="https://pubs.usgs.gov/gip/70047422/report.pdf" TargetMode="External"/><Relationship Id="rId8" Type="http://schemas.openxmlformats.org/officeDocument/2006/relationships/hyperlink" Target="https://isis.astrogeology.usgs.gov/9.0.0/Object/Programmer/class_isis_1_1_mollweide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地図・図法の歴史｜測量学 第3回「測量の座標」独立補足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地図は、時代の課題に応えてきた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測量学 第3回 補足資料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667512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航海、国土の測量、世界の比較。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人は地図に何を求めてきたのか。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86200"/>
            <a:ext cx="658368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0">
                <a:solidFill>
                  <a:srgbClr val="203E4C"/>
                </a:solidFill>
                <a:latin typeface="Noto Sans CJK JP"/>
              </a:defRPr>
            </a:pPr>
            <a:r>
              <a:t>古代の座標 → 大航海時代 → 近代測量 → Web地図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874519"/>
            <a:ext cx="2286000" cy="777240"/>
          </a:xfrm>
          <a:prstGeom prst="round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011680"/>
            <a:ext cx="13716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500" b="1">
                <a:solidFill>
                  <a:srgbClr val="FFFFFF"/>
                </a:solidFill>
                <a:latin typeface="Noto Sans CJK JP"/>
              </a:defRPr>
            </a:pPr>
            <a:r>
              <a:t>方角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926079"/>
            <a:ext cx="2286000" cy="777240"/>
          </a:xfrm>
          <a:prstGeom prst="roundRect">
            <a:avLst/>
          </a:prstGeom>
          <a:solidFill>
            <a:srgbClr val="C5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3063240"/>
            <a:ext cx="13716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500" b="1">
                <a:solidFill>
                  <a:srgbClr val="FFFFFF"/>
                </a:solidFill>
                <a:latin typeface="Noto Sans CJK JP"/>
              </a:defRPr>
            </a:pPr>
            <a:r>
              <a:t>面積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977639"/>
            <a:ext cx="2286000" cy="777240"/>
          </a:xfrm>
          <a:prstGeom prst="roundRect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4114800"/>
            <a:ext cx="13716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500" b="1">
                <a:solidFill>
                  <a:srgbClr val="FFFFFF"/>
                </a:solidFill>
                <a:latin typeface="Noto Sans CJK JP"/>
              </a:defRPr>
            </a:pPr>
            <a:r>
              <a:t>位置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図法を学ぶ前に、その地図が必要とされた理由を考える。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歴史の見取り図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必要が変わると、地図も変わる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[A], [B], [C], [E], [F], [G], [J], [K], [L]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65376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2世紀頃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22576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1">
                <a:solidFill>
                  <a:srgbClr val="173C4D"/>
                </a:solidFill>
                <a:latin typeface="Noto Sans CJK JP"/>
              </a:defRPr>
            </a:pPr>
            <a:r>
              <a:t>世界の知識を整理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88920"/>
            <a:ext cx="32004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65767C"/>
                </a:solidFill>
                <a:latin typeface="Noto Sans CJK JP"/>
              </a:defRPr>
            </a:pPr>
            <a:r>
              <a:t>プトレマイオス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65376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13世紀末〜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22576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1">
                <a:solidFill>
                  <a:srgbClr val="173C4D"/>
                </a:solidFill>
                <a:latin typeface="Noto Sans CJK JP"/>
              </a:defRPr>
            </a:pPr>
            <a:r>
              <a:t>港から港へ航海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788920"/>
            <a:ext cx="32004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65767C"/>
                </a:solidFill>
                <a:latin typeface="Noto Sans CJK JP"/>
              </a:defRPr>
            </a:pPr>
            <a:r>
              <a:t>ポルトラノ海図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737360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865376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1569年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322576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1">
                <a:solidFill>
                  <a:srgbClr val="173C4D"/>
                </a:solidFill>
                <a:latin typeface="Noto Sans CJK JP"/>
              </a:defRPr>
            </a:pPr>
            <a:r>
              <a:t>外洋の針路を描く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788920"/>
            <a:ext cx="32004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65767C"/>
                </a:solidFill>
                <a:latin typeface="Noto Sans CJK JP"/>
              </a:defRPr>
            </a:pPr>
            <a:r>
              <a:t>メルカトル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456432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584448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17〜19世紀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041648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1">
                <a:solidFill>
                  <a:srgbClr val="173C4D"/>
                </a:solidFill>
                <a:latin typeface="Noto Sans CJK JP"/>
              </a:defRPr>
            </a:pPr>
            <a:r>
              <a:t>国土を実測する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507992"/>
            <a:ext cx="32004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65767C"/>
                </a:solidFill>
                <a:latin typeface="Noto Sans CJK JP"/>
              </a:defRPr>
            </a:pPr>
            <a:r>
              <a:t>カッシーニ・伊能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456432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584448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18〜20世紀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041648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1">
                <a:solidFill>
                  <a:srgbClr val="173C4D"/>
                </a:solidFill>
                <a:latin typeface="Noto Sans CJK JP"/>
              </a:defRPr>
            </a:pPr>
            <a:r>
              <a:t>目的に合う投影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507992"/>
            <a:ext cx="32004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65767C"/>
                </a:solidFill>
                <a:latin typeface="Noto Sans CJK JP"/>
              </a:defRPr>
            </a:pPr>
            <a:r>
              <a:t>正角・正積・UTM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3456432"/>
            <a:ext cx="35661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3584448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2000年代〜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4041648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1">
                <a:solidFill>
                  <a:srgbClr val="173C4D"/>
                </a:solidFill>
                <a:latin typeface="Noto Sans CJK JP"/>
              </a:defRPr>
            </a:pPr>
            <a:r>
              <a:t>画面で地図を配信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4507992"/>
            <a:ext cx="32004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65767C"/>
                </a:solidFill>
                <a:latin typeface="Noto Sans CJK JP"/>
              </a:defRPr>
            </a:pPr>
            <a:r>
              <a:t>Webメルカトル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これは代表例の系譜。世界の地図史全体を網羅する年表ではない。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まず押さえる原理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平らな地図では、すべてを同時に保てない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[D], [K]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3566160" cy="54864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角を保つ｜正角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小さな範囲の角や形を保つ。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航海・測量に役立つ。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566160" cy="54864"/>
          </a:xfrm>
          <a:prstGeom prst="rect">
            <a:avLst/>
          </a:prstGeom>
          <a:solidFill>
            <a:srgbClr val="C5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C5793C"/>
                </a:solidFill>
                <a:latin typeface="Noto Sans CJK JP"/>
              </a:defRPr>
            </a:pPr>
            <a:r>
              <a:t>面積比を保つ｜正積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土地の広がりを比較する。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分布図や世界比較に役立つ。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1828800"/>
            <a:ext cx="3566160" cy="54864"/>
          </a:xfrm>
          <a:prstGeom prst="rect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73C4D"/>
                </a:solidFill>
                <a:latin typeface="Noto Sans CJK JP"/>
              </a:defRPr>
            </a:pPr>
            <a:r>
              <a:t>距離を保つ｜条件付き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特定の点からの距離など。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すべての2点間ではない。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「正確な地図」は、何について正確かを添えて説明する。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2世紀頃｜ローマ帝国期の学知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プトレマイオス：世界の知識を座標で整理する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[A]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943600" cy="3200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背景：広域の地理知識を整理したい。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工夫：地点を緯度・経度の数値で示す。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意義：同じ規則で地図を描き直せる。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限界：座標があっても観測の誤りは残る。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1828800"/>
            <a:ext cx="0" cy="2926080"/>
          </a:xfrm>
          <a:prstGeom prst="line">
            <a:avLst/>
          </a:prstGeom>
          <a:ln w="12700">
            <a:solidFill>
              <a:srgbClr val="BBC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1828800"/>
            <a:ext cx="2926080" cy="0"/>
          </a:xfrm>
          <a:prstGeom prst="line">
            <a:avLst/>
          </a:prstGeom>
          <a:ln w="12700">
            <a:solidFill>
              <a:srgbClr val="BBC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46720" y="1828800"/>
            <a:ext cx="0" cy="2926080"/>
          </a:xfrm>
          <a:prstGeom prst="line">
            <a:avLst/>
          </a:prstGeom>
          <a:ln w="12700">
            <a:solidFill>
              <a:srgbClr val="BBC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560320"/>
            <a:ext cx="2926080" cy="0"/>
          </a:xfrm>
          <a:prstGeom prst="line">
            <a:avLst/>
          </a:prstGeom>
          <a:ln w="12700">
            <a:solidFill>
              <a:srgbClr val="BBC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1828800"/>
            <a:ext cx="0" cy="2926080"/>
          </a:xfrm>
          <a:prstGeom prst="line">
            <a:avLst/>
          </a:prstGeom>
          <a:ln w="12700">
            <a:solidFill>
              <a:srgbClr val="BBC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3291840"/>
            <a:ext cx="2926080" cy="0"/>
          </a:xfrm>
          <a:prstGeom prst="line">
            <a:avLst/>
          </a:prstGeom>
          <a:ln w="12700">
            <a:solidFill>
              <a:srgbClr val="BBC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1828800"/>
            <a:ext cx="0" cy="2926080"/>
          </a:xfrm>
          <a:prstGeom prst="line">
            <a:avLst/>
          </a:prstGeom>
          <a:ln w="12700">
            <a:solidFill>
              <a:srgbClr val="BBC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4023360"/>
            <a:ext cx="2926080" cy="0"/>
          </a:xfrm>
          <a:prstGeom prst="line">
            <a:avLst/>
          </a:prstGeom>
          <a:ln w="12700">
            <a:solidFill>
              <a:srgbClr val="BBC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41280" y="1828800"/>
            <a:ext cx="0" cy="2926080"/>
          </a:xfrm>
          <a:prstGeom prst="line">
            <a:avLst/>
          </a:prstGeom>
          <a:ln w="12700">
            <a:solidFill>
              <a:srgbClr val="BBC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15200" y="4754880"/>
            <a:ext cx="2926080" cy="0"/>
          </a:xfrm>
          <a:prstGeom prst="line">
            <a:avLst/>
          </a:prstGeom>
          <a:ln w="12700">
            <a:solidFill>
              <a:srgbClr val="BBC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686800" y="3200400"/>
            <a:ext cx="164592" cy="164592"/>
          </a:xfrm>
          <a:prstGeom prst="ellipse">
            <a:avLst/>
          </a:prstGeom>
          <a:solidFill>
            <a:srgbClr val="C5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999232"/>
            <a:ext cx="246888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 b="1">
                <a:solidFill>
                  <a:srgbClr val="117E7A"/>
                </a:solidFill>
                <a:latin typeface="Noto Sans CJK JP"/>
              </a:defRPr>
            </a:pPr>
            <a:r>
              <a:t>地点を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000" b="1">
                <a:solidFill>
                  <a:srgbClr val="117E7A"/>
                </a:solidFill>
                <a:latin typeface="Noto Sans CJK JP"/>
              </a:defRPr>
            </a:pPr>
            <a:r>
              <a:t>数の組で共有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983480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概念図：実際の古代座標ではない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第3回への接続：位置を伝えるには、座標と共通の約束が必要。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13世紀末〜｜港・海岸・羅針盤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ポルトラノ海図：地中海交易の航路を支える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[B]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943600" cy="33832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背景：港から港へ、人や商品を運ぶ。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工夫：海岸線・港名・方位線を重視。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得たもの：進む方向を計画しやすい。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限界：全球を統一的に表すには課題。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0" y="3246120"/>
            <a:ext cx="1554480" cy="0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3246120"/>
            <a:ext cx="1436152" cy="594873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3246120"/>
            <a:ext cx="1099183" cy="1099183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3246120"/>
            <a:ext cx="594873" cy="1436152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3246120"/>
            <a:ext cx="0" cy="1554480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549126" y="3246120"/>
            <a:ext cx="594874" cy="1436152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044816" y="3246120"/>
            <a:ext cx="1099184" cy="1099183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707847" y="3246120"/>
            <a:ext cx="1436153" cy="594873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589520" y="3246120"/>
            <a:ext cx="1554480" cy="0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7707847" y="2651246"/>
            <a:ext cx="1436153" cy="594874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8044816" y="2146936"/>
            <a:ext cx="1099184" cy="1099184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8549126" y="1809967"/>
            <a:ext cx="594874" cy="1436153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144000" y="1691639"/>
            <a:ext cx="0" cy="1554481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144000" y="1809967"/>
            <a:ext cx="594873" cy="1436153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144000" y="2146936"/>
            <a:ext cx="1099183" cy="1099184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144000" y="2651246"/>
            <a:ext cx="1436152" cy="594874"/>
          </a:xfrm>
          <a:prstGeom prst="line">
            <a:avLst/>
          </a:prstGeom>
          <a:ln w="12700">
            <a:solidFill>
              <a:srgbClr val="BAC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034272" y="3136392"/>
            <a:ext cx="219456" cy="219456"/>
          </a:xfrm>
          <a:prstGeom prst="ellipse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983480"/>
            <a:ext cx="4023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方位線の概念図（海岸線省略）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内陸の詳しさよりも、海岸と港のつながりが重要だった。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1569年｜大航海時代の交易・探検・海外進出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メルカトル：外洋で使える針路の地図へ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[B], [C]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3566160" cy="54864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時代の課題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外洋を長く進むとき、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地図上で針路を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どう扱うか。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566160" cy="54864"/>
          </a:xfrm>
          <a:prstGeom prst="rect">
            <a:avLst/>
          </a:prstGeom>
          <a:solidFill>
            <a:srgbClr val="C5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C5793C"/>
                </a:solidFill>
                <a:latin typeface="Noto Sans CJK JP"/>
              </a:defRPr>
            </a:pPr>
            <a:r>
              <a:t>1569年の工夫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一定の方位で進む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「等角航路」を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直線として描く。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1828800"/>
            <a:ext cx="3566160" cy="54864"/>
          </a:xfrm>
          <a:prstGeom prst="rect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73C4D"/>
                </a:solidFill>
                <a:latin typeface="Noto Sans CJK JP"/>
              </a:defRPr>
            </a:pPr>
            <a:r>
              <a:t>史料で確認できること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世界図の表題自体が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「航海への利用」を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掲げている。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考証：社会的な航海需要と、本人の体験談は分けて扱う。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航海のための性質を図で見る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メルカトル図法の直線は「一定の方位」を表す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[C], [D]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07</a:t>
            </a:r>
          </a:p>
        </p:txBody>
      </p:sp>
      <p:pic>
        <p:nvPicPr>
          <p:cNvPr id="8" name="Picture 7" descr="mercator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537960" cy="35972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920240"/>
            <a:ext cx="4114800" cy="33832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経線は平行な直線。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緯線の間隔は高緯度ほど広い。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経線と一定角度で交わる航路を、直線で描ける。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直線の航路 ＝ 一定の方位。一般に最短距離の航路とは一致しない。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図法のひずみを比較する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角を保つ代わりに、高緯度の面積が大きくなる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[D], [L]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08</a:t>
            </a:r>
          </a:p>
        </p:txBody>
      </p:sp>
      <p:pic>
        <p:nvPicPr>
          <p:cNvPr id="8" name="Picture 7" descr="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554480"/>
            <a:ext cx="8366760" cy="3895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球面モデルでは緯度60°の局所面積倍率は4倍（赤道を基準）。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17〜18世紀｜フランス国家による地図整備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カッシーニの地図：国土を一つの測量網で結ぶ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[E]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943600" cy="33832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背景：国土全体を正確に把握したい。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方法：基線と角から三角形をつなぐ。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成果：地域ごとの図を共通の骨格へ。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1749年から地図の図葉が刊行される。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0" y="4480560"/>
            <a:ext cx="1554480" cy="182880"/>
          </a:xfrm>
          <a:prstGeom prst="line">
            <a:avLst/>
          </a:prstGeom>
          <a:ln w="25400">
            <a:solidFill>
              <a:srgbClr val="117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406640" y="3108960"/>
            <a:ext cx="1005840" cy="1371600"/>
          </a:xfrm>
          <a:prstGeom prst="line">
            <a:avLst/>
          </a:prstGeom>
          <a:ln w="25400">
            <a:solidFill>
              <a:srgbClr val="117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8412480" y="3108960"/>
            <a:ext cx="548640" cy="1554480"/>
          </a:xfrm>
          <a:prstGeom prst="line">
            <a:avLst/>
          </a:prstGeom>
          <a:ln w="25400">
            <a:solidFill>
              <a:srgbClr val="117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961120" y="3383280"/>
            <a:ext cx="1097280" cy="1280160"/>
          </a:xfrm>
          <a:prstGeom prst="line">
            <a:avLst/>
          </a:prstGeom>
          <a:ln w="25400">
            <a:solidFill>
              <a:srgbClr val="117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12480" y="3108960"/>
            <a:ext cx="1645920" cy="274320"/>
          </a:xfrm>
          <a:prstGeom prst="line">
            <a:avLst/>
          </a:prstGeom>
          <a:ln w="25400">
            <a:solidFill>
              <a:srgbClr val="117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412480" y="1920240"/>
            <a:ext cx="1188720" cy="1188720"/>
          </a:xfrm>
          <a:prstGeom prst="line">
            <a:avLst/>
          </a:prstGeom>
          <a:ln w="25400">
            <a:solidFill>
              <a:srgbClr val="117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9601200" y="1920240"/>
            <a:ext cx="457200" cy="1463040"/>
          </a:xfrm>
          <a:prstGeom prst="line">
            <a:avLst/>
          </a:prstGeom>
          <a:ln w="25400">
            <a:solidFill>
              <a:srgbClr val="117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058400" y="2194560"/>
            <a:ext cx="914400" cy="1188720"/>
          </a:xfrm>
          <a:prstGeom prst="line">
            <a:avLst/>
          </a:prstGeom>
          <a:ln w="25400">
            <a:solidFill>
              <a:srgbClr val="117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01200" y="1920240"/>
            <a:ext cx="1371600" cy="274320"/>
          </a:xfrm>
          <a:prstGeom prst="line">
            <a:avLst/>
          </a:prstGeom>
          <a:ln w="25400">
            <a:solidFill>
              <a:srgbClr val="117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4480560"/>
            <a:ext cx="1554480" cy="182880"/>
          </a:xfrm>
          <a:prstGeom prst="line">
            <a:avLst/>
          </a:prstGeom>
          <a:ln w="63500">
            <a:solidFill>
              <a:srgbClr val="C57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351775" y="4425696"/>
            <a:ext cx="109728" cy="109728"/>
          </a:xfrm>
          <a:prstGeom prst="ellipse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06256" y="4608576"/>
            <a:ext cx="109728" cy="109728"/>
          </a:xfrm>
          <a:prstGeom prst="ellipse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57615" y="3054096"/>
            <a:ext cx="109728" cy="109728"/>
          </a:xfrm>
          <a:prstGeom prst="ellipse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03536" y="3328416"/>
            <a:ext cx="109728" cy="109728"/>
          </a:xfrm>
          <a:prstGeom prst="ellipse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46336" y="1865376"/>
            <a:ext cx="109728" cy="109728"/>
          </a:xfrm>
          <a:prstGeom prst="ellipse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17936" y="2139696"/>
            <a:ext cx="109728" cy="109728"/>
          </a:xfrm>
          <a:prstGeom prst="ellipse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4983480"/>
            <a:ext cx="39319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概念図：基線から測量網を広げる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地図の進歩には、投影の工夫だけでなく、実測データの整備も必要。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1772年｜投影法の理論化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ランベルト：図法を数学的に設計する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[D], [K]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486400" cy="33375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0">
                <a:solidFill>
                  <a:srgbClr val="203E4C"/>
                </a:solidFill>
                <a:latin typeface="Noto Sans CJK JP"/>
              </a:defRPr>
            </a:pPr>
            <a:r>
              <a:t>背景：球面を平面へ写す数学の発展。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200" b="0">
                <a:solidFill>
                  <a:srgbClr val="203E4C"/>
                </a:solidFill>
                <a:latin typeface="Noto Sans CJK JP"/>
              </a:defRPr>
            </a:pPr>
            <a:r>
              <a:t>工夫：角を保つ円錐型の投影を設計。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200" b="0">
                <a:solidFill>
                  <a:srgbClr val="203E4C"/>
                </a:solidFill>
                <a:latin typeface="Noto Sans CJK JP"/>
              </a:defRPr>
            </a:pPr>
            <a:r>
              <a:t>特徴：中緯度・東西に広い地域に適する。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200" b="0">
                <a:solidFill>
                  <a:srgbClr val="203E4C"/>
                </a:solidFill>
                <a:latin typeface="Noto Sans CJK JP"/>
              </a:defRPr>
            </a:pPr>
            <a:r>
              <a:t>後の用途：地形図・航空図など。</a:t>
            </a:r>
          </a:p>
        </p:txBody>
      </p:sp>
      <p:pic>
        <p:nvPicPr>
          <p:cNvPr id="9" name="Picture 8" descr="lam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212080" cy="2648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1772年の考案と、20世紀の航空図への利用は別の出来事。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1805年｜正積の世界図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モルワイデ：世界の面積比を保って描く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[L]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3566160" cy="54864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地図に求めるもの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地域の広さを、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同じ基準で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比べたい。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566160" cy="54864"/>
          </a:xfrm>
          <a:prstGeom prst="rect">
            <a:avLst/>
          </a:prstGeom>
          <a:solidFill>
            <a:srgbClr val="C5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C5793C"/>
                </a:solidFill>
                <a:latin typeface="Noto Sans CJK JP"/>
              </a:defRPr>
            </a:pPr>
            <a:r>
              <a:t>1805年の工夫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地球上の面積比を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地図の上でも保つ。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世界全体は楕円形。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1828800"/>
            <a:ext cx="3566160" cy="54864"/>
          </a:xfrm>
          <a:prstGeom prst="rect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73C4D"/>
                </a:solidFill>
                <a:latin typeface="Noto Sans CJK JP"/>
              </a:defRPr>
            </a:pPr>
            <a:r>
              <a:t>利用例と限界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農地・森林などの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世界分布の比較。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角や形にはひずみ。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用途から性質を理解する。ただし、用途だけで発明動機を断定しない。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1800〜1816年の測量 → 1821年の完成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伊能図：歩く測量と天体観測で日本を描く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[F]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400800" cy="3200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背景：地球の大きさへの科学的関心と、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　　　日本の地理を詳しく把握する仕事。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方法：距離・方位の実測と天体観測。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成果：沿岸の形を全国規模で描く。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2004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17E7A"/>
                </a:solidFill>
                <a:latin typeface="Noto Sans CJK JP"/>
              </a:defRPr>
            </a:pPr>
            <a:r>
              <a:t>1800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313432"/>
            <a:ext cx="329184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 b="0">
                <a:solidFill>
                  <a:srgbClr val="203E4C"/>
                </a:solidFill>
                <a:latin typeface="Noto Sans CJK JP"/>
              </a:defRPr>
            </a:pPr>
            <a:r>
              <a:t>蝦夷地へ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852928"/>
            <a:ext cx="32004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17E7A"/>
                </a:solidFill>
                <a:latin typeface="Noto Sans CJK JP"/>
              </a:defRPr>
            </a:pPr>
            <a:r>
              <a:t>1816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337560"/>
            <a:ext cx="329184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 b="0">
                <a:solidFill>
                  <a:srgbClr val="203E4C"/>
                </a:solidFill>
                <a:latin typeface="Noto Sans CJK JP"/>
              </a:defRPr>
            </a:pPr>
            <a:r>
              <a:t>測量を終える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877056"/>
            <a:ext cx="32004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17E7A"/>
                </a:solidFill>
                <a:latin typeface="Noto Sans CJK JP"/>
              </a:defRPr>
            </a:pPr>
            <a:r>
              <a:t>1821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361688"/>
            <a:ext cx="329184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000" b="0">
                <a:solidFill>
                  <a:srgbClr val="203E4C"/>
                </a:solidFill>
                <a:latin typeface="Noto Sans CJK JP"/>
              </a:defRPr>
            </a:pPr>
            <a:r>
              <a:t>没後に完成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「一人の天才の地図」だけでなく、測量隊と継承者の仕事として見る。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20世紀｜軍用地図・戦後の地形図整備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横メルカトルとUTM：広域の位置を共通に扱う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[D], [G], [H]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852160" cy="3291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背景：広域の図葉や位置情報をそろえる。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工夫：地球を細い南北の帯に分ける。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UTM：原則6°幅、60ゾーン。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各ゾーンでメートル単位の座標を使う。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011680"/>
            <a:ext cx="667512" cy="2651760"/>
          </a:xfrm>
          <a:prstGeom prst="rect">
            <a:avLst/>
          </a:prstGeom>
          <a:solidFill>
            <a:srgbClr val="EDF1EB"/>
          </a:solidFill>
          <a:ln>
            <a:solidFill>
              <a:srgbClr val="B9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648956" y="2011680"/>
            <a:ext cx="0" cy="2651760"/>
          </a:xfrm>
          <a:prstGeom prst="line">
            <a:avLst/>
          </a:prstGeom>
          <a:ln w="12700">
            <a:solidFill>
              <a:srgbClr val="B9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092440" y="2011680"/>
            <a:ext cx="667512" cy="2651760"/>
          </a:xfrm>
          <a:prstGeom prst="rect">
            <a:avLst/>
          </a:prstGeom>
          <a:solidFill>
            <a:srgbClr val="EDF1EB"/>
          </a:solidFill>
          <a:ln>
            <a:solidFill>
              <a:srgbClr val="B9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426196" y="2011680"/>
            <a:ext cx="0" cy="2651760"/>
          </a:xfrm>
          <a:prstGeom prst="line">
            <a:avLst/>
          </a:prstGeom>
          <a:ln w="12700">
            <a:solidFill>
              <a:srgbClr val="B9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869680" y="2011680"/>
            <a:ext cx="667512" cy="2651760"/>
          </a:xfrm>
          <a:prstGeom prst="rect">
            <a:avLst/>
          </a:prstGeom>
          <a:solidFill>
            <a:srgbClr val="D7E9E2"/>
          </a:solidFill>
          <a:ln>
            <a:solidFill>
              <a:srgbClr val="B9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203436" y="2011680"/>
            <a:ext cx="0" cy="2651760"/>
          </a:xfrm>
          <a:prstGeom prst="line">
            <a:avLst/>
          </a:prstGeom>
          <a:ln w="12700">
            <a:solidFill>
              <a:srgbClr val="117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646920" y="2011680"/>
            <a:ext cx="667512" cy="2651760"/>
          </a:xfrm>
          <a:prstGeom prst="rect">
            <a:avLst/>
          </a:prstGeom>
          <a:solidFill>
            <a:srgbClr val="EDF1EB"/>
          </a:solidFill>
          <a:ln>
            <a:solidFill>
              <a:srgbClr val="B9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980676" y="2011680"/>
            <a:ext cx="0" cy="2651760"/>
          </a:xfrm>
          <a:prstGeom prst="line">
            <a:avLst/>
          </a:prstGeom>
          <a:ln w="12700">
            <a:solidFill>
              <a:srgbClr val="B9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424160" y="2011680"/>
            <a:ext cx="667512" cy="2651760"/>
          </a:xfrm>
          <a:prstGeom prst="rect">
            <a:avLst/>
          </a:prstGeom>
          <a:solidFill>
            <a:srgbClr val="EDF1EB"/>
          </a:solidFill>
          <a:ln>
            <a:solidFill>
              <a:srgbClr val="B9C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757916" y="2011680"/>
            <a:ext cx="0" cy="2651760"/>
          </a:xfrm>
          <a:prstGeom prst="line">
            <a:avLst/>
          </a:prstGeom>
          <a:ln w="12700">
            <a:solidFill>
              <a:srgbClr val="B9CF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0" y="4892040"/>
            <a:ext cx="41148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65767C"/>
                </a:solidFill>
                <a:latin typeface="Noto Sans CJK JP"/>
              </a:defRPr>
            </a:pPr>
            <a:r>
              <a:t>隣り合うゾーンの概念図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投影法 ＋ ゾーン・原点などの規則 ＝ 実務で使う座標系。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現代の測量｜第3回の座標につながる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日本の平面直角座標系：地域の測量に合わせる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[I]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3566160" cy="54864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現場での必要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農地・道路・水路の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位置や形を、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平面上で計算したい。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566160" cy="54864"/>
          </a:xfrm>
          <a:prstGeom prst="rect">
            <a:avLst/>
          </a:prstGeom>
          <a:solidFill>
            <a:srgbClr val="C5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C5793C"/>
                </a:solidFill>
                <a:latin typeface="Noto Sans CJK JP"/>
              </a:defRPr>
            </a:pPr>
            <a:r>
              <a:t>日本の選択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全国を19の系に分け、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地域ごとの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投影ひずみを抑える。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182880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1828800"/>
            <a:ext cx="3566160" cy="54864"/>
          </a:xfrm>
          <a:prstGeom prst="rect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057400"/>
            <a:ext cx="32004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73C4D"/>
                </a:solidFill>
                <a:latin typeface="Noto Sans CJK JP"/>
              </a:defRPr>
            </a:pPr>
            <a:r>
              <a:t>座標の約束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2743200"/>
            <a:ext cx="3200400" cy="2057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X：北、Y：東。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原点の縮尺係数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0.9999。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地図の用途と範囲が決まると、必要な座標の約束が見えてくる。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2000年代以降｜スクロール・拡大縮小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Web地図：画面に配りやすい地図へ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[J]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126480" cy="33832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必要：広い範囲を素早く表示したい。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工夫：地図を正方形タイルで配信。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拡大すると、必要な部分を細かく読む。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注意：高緯度の拡大は依然として残る。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560320"/>
            <a:ext cx="1143000" cy="114300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3931920"/>
            <a:ext cx="1371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700" b="1">
                <a:solidFill>
                  <a:srgbClr val="117E7A"/>
                </a:solidFill>
                <a:latin typeface="Noto Sans CJK JP"/>
              </a:defRPr>
            </a:pPr>
            <a:r>
              <a:t>z =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2560320"/>
            <a:ext cx="571500" cy="57150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23960" y="3131820"/>
            <a:ext cx="571500" cy="57150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95460" y="2560320"/>
            <a:ext cx="571500" cy="57150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95460" y="3131820"/>
            <a:ext cx="571500" cy="57150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3931920"/>
            <a:ext cx="1371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700" b="1">
                <a:solidFill>
                  <a:srgbClr val="117E7A"/>
                </a:solidFill>
                <a:latin typeface="Noto Sans CJK JP"/>
              </a:defRPr>
            </a:pPr>
            <a:r>
              <a:t>z 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256032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0" y="284607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313182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1280" y="341757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27030" y="256032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27030" y="284607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27030" y="313182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27030" y="341757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812780" y="256032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12780" y="284607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812780" y="313182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12780" y="341757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098530" y="256032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098530" y="284607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98530" y="313182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098530" y="3417570"/>
            <a:ext cx="285750" cy="285750"/>
          </a:xfrm>
          <a:prstGeom prst="rect">
            <a:avLst/>
          </a:prstGeom>
          <a:solidFill>
            <a:srgbClr val="D7E9E2"/>
          </a:solidFill>
          <a:ln>
            <a:solidFill>
              <a:srgbClr val="8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3931920"/>
            <a:ext cx="1371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700" b="1">
                <a:solidFill>
                  <a:srgbClr val="117E7A"/>
                </a:solidFill>
                <a:latin typeface="Noto Sans CJK JP"/>
              </a:defRPr>
            </a:pPr>
            <a:r>
              <a:t>z =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同じ系統の図法でも、航海とWeb配信では選ばれる理由が異なる。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歴史から図法を選ぶ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背景 → 工夫 → 限界、の順に説明する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[B], [C], [D], [K], [L], [I], [J]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743200" cy="548640"/>
          </a:xfrm>
          <a:prstGeom prst="rect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6060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1">
                <a:solidFill>
                  <a:srgbClr val="FFFFFF"/>
                </a:solidFill>
                <a:latin typeface="Noto Sans CJK JP"/>
              </a:defRPr>
            </a:pPr>
            <a:r>
              <a:t>必要・用途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737360"/>
            <a:ext cx="2834640" cy="548640"/>
          </a:xfrm>
          <a:prstGeom prst="rect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19"/>
            <a:ext cx="269748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1">
                <a:solidFill>
                  <a:srgbClr val="FFFFFF"/>
                </a:solidFill>
                <a:latin typeface="Noto Sans CJK JP"/>
              </a:defRPr>
            </a:pPr>
            <a:r>
              <a:t>代表例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37360"/>
            <a:ext cx="2743200" cy="548640"/>
          </a:xfrm>
          <a:prstGeom prst="rect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19"/>
            <a:ext cx="26060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1">
                <a:solidFill>
                  <a:srgbClr val="FFFFFF"/>
                </a:solidFill>
                <a:latin typeface="Noto Sans CJK JP"/>
              </a:defRPr>
            </a:pPr>
            <a:r>
              <a:t>役立つ性質・仕組み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737360"/>
            <a:ext cx="2926080" cy="548640"/>
          </a:xfrm>
          <a:prstGeom prst="rect">
            <a:avLst/>
          </a:prstGeom>
          <a:solidFill>
            <a:srgbClr val="17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19" y="1874519"/>
            <a:ext cx="2788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1">
                <a:solidFill>
                  <a:srgbClr val="FFFFFF"/>
                </a:solidFill>
                <a:latin typeface="Noto Sans CJK JP"/>
              </a:defRPr>
            </a:pPr>
            <a:r>
              <a:t>気をつけること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86000"/>
            <a:ext cx="2743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32304"/>
            <a:ext cx="257860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1">
                <a:solidFill>
                  <a:srgbClr val="203E4C"/>
                </a:solidFill>
                <a:latin typeface="Noto Sans CJK JP"/>
              </a:defRPr>
            </a:pPr>
            <a:r>
              <a:t>航海の針路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286000"/>
            <a:ext cx="28346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432304"/>
            <a:ext cx="267004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メルカトル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286000"/>
            <a:ext cx="2743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432304"/>
            <a:ext cx="257860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等角航路が直線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286000"/>
            <a:ext cx="29260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19" y="2432304"/>
            <a:ext cx="276148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面積・距離は変わる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52928"/>
            <a:ext cx="2743200" cy="566928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99232"/>
            <a:ext cx="257860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1">
                <a:solidFill>
                  <a:srgbClr val="203E4C"/>
                </a:solidFill>
                <a:latin typeface="Noto Sans CJK JP"/>
              </a:defRPr>
            </a:pPr>
            <a:r>
              <a:t>中緯度の地域図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852928"/>
            <a:ext cx="2834640" cy="566928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2999232"/>
            <a:ext cx="267004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ランベルト正角円錐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852928"/>
            <a:ext cx="2743200" cy="566928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999232"/>
            <a:ext cx="257860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局所の角・形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2852928"/>
            <a:ext cx="2926080" cy="566928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19" y="2999232"/>
            <a:ext cx="276148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全球を一様に描けない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19856"/>
            <a:ext cx="2743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566160"/>
            <a:ext cx="257860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1">
                <a:solidFill>
                  <a:srgbClr val="203E4C"/>
                </a:solidFill>
                <a:latin typeface="Noto Sans CJK JP"/>
              </a:defRPr>
            </a:pPr>
            <a:r>
              <a:t>世界の広さの比較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419856"/>
            <a:ext cx="28346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3566160"/>
            <a:ext cx="267004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モルワイデ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419856"/>
            <a:ext cx="2743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566160"/>
            <a:ext cx="257860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面積比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3419856"/>
            <a:ext cx="29260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19" y="3566160"/>
            <a:ext cx="276148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角・形は変わる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86783"/>
            <a:ext cx="2743200" cy="566928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133087"/>
            <a:ext cx="257860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1">
                <a:solidFill>
                  <a:srgbClr val="203E4C"/>
                </a:solidFill>
                <a:latin typeface="Noto Sans CJK JP"/>
              </a:defRPr>
            </a:pPr>
            <a:r>
              <a:t>地域の測量・位置共有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986783"/>
            <a:ext cx="2834640" cy="566928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4133087"/>
            <a:ext cx="267004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UTM／日本の19系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3986783"/>
            <a:ext cx="2743200" cy="566928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4133087"/>
            <a:ext cx="257860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帯や地域に分けた座標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3986783"/>
            <a:ext cx="2926080" cy="566928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19" y="4133087"/>
            <a:ext cx="276148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範囲・系の確認が必要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53712"/>
            <a:ext cx="2743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700016"/>
            <a:ext cx="257860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1">
                <a:solidFill>
                  <a:srgbClr val="203E4C"/>
                </a:solidFill>
                <a:latin typeface="Noto Sans CJK JP"/>
              </a:defRPr>
            </a:pPr>
            <a:r>
              <a:t>画面での配信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4553712"/>
            <a:ext cx="28346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0" y="4700016"/>
            <a:ext cx="267004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Webメルカトル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553712"/>
            <a:ext cx="2743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4700016"/>
            <a:ext cx="257860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正方形タイル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9680" y="4553712"/>
            <a:ext cx="29260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19" y="4700016"/>
            <a:ext cx="2761488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500" b="0">
                <a:solidFill>
                  <a:srgbClr val="203E4C"/>
                </a:solidFill>
                <a:latin typeface="Noto Sans CJK JP"/>
              </a:defRPr>
            </a:pPr>
            <a:r>
              <a:t>表示面積≠実面積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発明年の暗記から、「この目的には、なぜこの地図か」の説明へ。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確認問題｜発表者ノートに解答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確かめよう：その地図で、何をしたい？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測量学 第3回 補足資料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9144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900" b="1">
                <a:solidFill>
                  <a:srgbClr val="117E7A"/>
                </a:solidFill>
                <a:latin typeface="Noto Sans CJK JP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83080"/>
            <a:ext cx="969264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航海で「一定の方位」を保ちたい。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メルカトル図法が役立つ理由は？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9144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900" b="1">
                <a:solidFill>
                  <a:srgbClr val="117E7A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969264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世界の農地面積の広がりを比べたい。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どの性質を保つ図法を選ぶ？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9144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900" b="1">
                <a:solidFill>
                  <a:srgbClr val="117E7A"/>
                </a:solidFill>
                <a:latin typeface="Noto Sans CJK JP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69080"/>
            <a:ext cx="969264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農地の測量成果を隣の地域と共有したい。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300" b="0">
                <a:solidFill>
                  <a:srgbClr val="203E4C"/>
                </a:solidFill>
                <a:latin typeface="Noto Sans CJK JP"/>
              </a:defRPr>
            </a:pPr>
            <a:r>
              <a:t>座標の数値以外に、何を確認する？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目的 → 必要な性質 → 座標の約束、の順で答える。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教員用補足｜そのまま講義で使う場合の注意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考証メモ：便利な物語と、確認できる史実を分ける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出典 [A], [C], [D], [E], [F], [L]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7432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メルカトル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83080"/>
            <a:ext cx="804672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航海用の1569年世界図は確認できる。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「本人が船旅で困ったから」は未確認。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7432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図法の年と用途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804672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ランベルト1772年、モルワイデ1805年。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後の普及用途を、そのまま発明理由にはしない。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27432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200" b="1">
                <a:solidFill>
                  <a:srgbClr val="117E7A"/>
                </a:solidFill>
                <a:latin typeface="Noto Sans CJK JP"/>
              </a:defRPr>
            </a:pPr>
            <a:r>
              <a:t>図と測量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069080"/>
            <a:ext cx="804672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伊能図・カッシーニの地図は測量成果の例。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2100" b="0">
                <a:solidFill>
                  <a:srgbClr val="203E4C"/>
                </a:solidFill>
                <a:latin typeface="Noto Sans CJK JP"/>
              </a:defRPr>
            </a:pPr>
            <a:r>
              <a:t>投影法そのものの発明とは区別する。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77840"/>
            <a:ext cx="11155680" cy="566928"/>
          </a:xfrm>
          <a:prstGeom prst="rect">
            <a:avLst/>
          </a:prstGeom>
          <a:solidFill>
            <a:srgbClr val="E5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96712"/>
            <a:ext cx="1069848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900" b="1">
                <a:solidFill>
                  <a:srgbClr val="117E7A"/>
                </a:solidFill>
                <a:latin typeface="Noto Sans CJK JP"/>
              </a:defRPr>
            </a:pPr>
            <a:r>
              <a:t>確実な年・目的・性質を骨格にし、個人的な逸話は出典で確かめる。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参照資料｜2026年10月20日確認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出典①｜古代・航海・近代測量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測量学 第3回 補足資料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3"/>
              </a:rPr>
              <a:t>[A] 米国議会図書館：Mathematics / Ptolemy’s Geography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48255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2世紀の『地理学』、約8,000地点の座標、複数の投影法。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4"/>
              </a:rPr>
              <a:t>[B] 米国議会図書館：Portolan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06624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13世紀末からの海図、港・海岸・方位線、地中海などの航海と交易。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54096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5"/>
              </a:rPr>
              <a:t>[C] University College Oxford：Mercator’s Atlas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64991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1569年世界図の航海目的と等角航路。本人の航海失敗談を裏付ける資料ではない。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12464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6"/>
              </a:rPr>
              <a:t>[D] USGS：Map projections: A working manual（Snyder, 1987）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メルカトル・横メルカトル・ランベルト・モルワイデの原理と歴史。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70831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7"/>
              </a:rPr>
              <a:t>[E] IGN France：30 cartes qui racontent l’histoire de la cartographie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81727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1668年の国家的な地図整備の要請、カッシーニ家の三角測量、1749年からの図葉刊行。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8"/>
              </a:rPr>
              <a:t>[F] 国土地理院：伊能大図彩色図について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400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緯度1度の距離への関心、1800〜1816年の測量、没後1821年の完成。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46888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1">
                <a:solidFill>
                  <a:srgbClr val="117E7A"/>
                </a:solidFill>
                <a:latin typeface="Noto Sans CJK JP"/>
              </a:defRPr>
            </a:pPr>
            <a:r>
              <a:t>参照資料｜2026年10月20日確認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58952"/>
            <a:ext cx="1115568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3000" b="1">
                <a:solidFill>
                  <a:srgbClr val="173C4D"/>
                </a:solidFill>
                <a:latin typeface="Noto Sans CJK JP"/>
              </a:defRPr>
            </a:pPr>
            <a:r>
              <a:t>出典②｜投影・座標・Web地図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201400" cy="0"/>
          </a:xfrm>
          <a:prstGeom prst="line">
            <a:avLst/>
          </a:prstGeom>
          <a:ln w="10160">
            <a:solidFill>
              <a:srgbClr val="D4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4241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900" b="0">
                <a:solidFill>
                  <a:srgbClr val="65767C"/>
                </a:solidFill>
                <a:latin typeface="Noto Sans CJK JP"/>
              </a:defRPr>
            </a:pPr>
            <a:r>
              <a:t>測量学 第3回 補足資料  •  出典一覧と発表者ノートにURL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200" b="0">
                <a:solidFill>
                  <a:srgbClr val="65767C"/>
                </a:solidFill>
                <a:latin typeface="Noto Sans CJK JP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3"/>
              </a:rPr>
              <a:t>[G] USGS：The United States Geological Survey, 1939–1961, Chapter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48255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戦後のアラスカ地図整備、カナダの図葉との調整を含むUTM採用の背景。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4"/>
              </a:rPr>
              <a:t>[H] USGS：How are UTM coordinates measured on USGS topographic maps?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06624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原則経度6度幅・60ゾーン、メートル単位の座標格子。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54096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5"/>
              </a:rPr>
              <a:t>[I] 国土地理院：わかりやすい平面直角座標系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64991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全国19系、X北・Y東、原点縮尺係数0.9999。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12464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6"/>
              </a:rPr>
              <a:t>[J] 国土地理院：地理院タイルについて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メルカトルの式、約±85.0511度の範囲、ズームレベルとタイル。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70831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7"/>
              </a:rPr>
              <a:t>[K] USGS：Map Projections（1993、図法比較ポスター）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81727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ランベルト正角円錐図法の1772年発表、図法ごとの保存特性と用途。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97280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600" b="1">
                <a:solidFill>
                  <a:srgbClr val="117E7A"/>
                </a:solidFill>
                <a:latin typeface="Noto Sans CJK JP"/>
              </a:defRPr>
            </a:pPr>
            <a:r>
              <a:rPr>
                <a:hlinkClick r:id="rId8"/>
              </a:rPr>
              <a:t>[L] USGS：ISIS Mollweide Class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40096"/>
            <a:ext cx="1078992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300" b="0">
                <a:solidFill>
                  <a:srgbClr val="65767C"/>
                </a:solidFill>
                <a:latin typeface="Noto Sans CJK JP"/>
              </a:defRPr>
            </a:pPr>
            <a:r>
              <a:t>1805年の発表、正積擬円筒図法の仕様。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