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b3fb27fbad4441f" /><Relationship Type="http://schemas.openxmlformats.org/officeDocument/2006/relationships/extended-properties" Target="/docProps/app.xml" Id="R28d5ca4456ad4bba" /><Relationship Type="http://schemas.openxmlformats.org/officeDocument/2006/relationships/officeDocument" Target="/ppt/presentation.xml" Id="Re034a2338d9d4ac8" /></Relationships>
</file>

<file path=ppt/presentation.xml><?xml version="1.0" encoding="utf-8"?>
<p:presentation xmlns:p="http://schemas.openxmlformats.org/presentationml/2006/main">
  <p:sldMasterIdLst>
    <p:sldMasterId xmlns:r="http://schemas.openxmlformats.org/officeDocument/2006/relationships" id="2147483648" r:id="Rcf214924d68145b2"/>
  </p:sldMasterIdLst>
  <p:notesMasterIdLst>
    <p:notesMasterId xmlns:r="http://schemas.openxmlformats.org/officeDocument/2006/relationships" r:id="R19e83e13d1fa4f0d"/>
  </p:notesMasterIdLst>
  <p:sldIdLst>
    <p:sldId xmlns:r="http://schemas.openxmlformats.org/officeDocument/2006/relationships" id="256" r:id="R853782d568794cc2"/>
    <p:sldId xmlns:r="http://schemas.openxmlformats.org/officeDocument/2006/relationships" id="257" r:id="R1b6abc6d995349a1"/>
    <p:sldId xmlns:r="http://schemas.openxmlformats.org/officeDocument/2006/relationships" id="258" r:id="Ref45703e965f4289"/>
    <p:sldId xmlns:r="http://schemas.openxmlformats.org/officeDocument/2006/relationships" id="259" r:id="R0264c9549c8d4b19"/>
    <p:sldId xmlns:r="http://schemas.openxmlformats.org/officeDocument/2006/relationships" id="260" r:id="Rfd47ae72dd064df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348e60593a5440f" /><Relationship Type="http://schemas.openxmlformats.org/officeDocument/2006/relationships/slideMaster" Target="/ppt/slideMasters/slideMaster1.xml" Id="Rcf214924d68145b2" /><Relationship Type="http://schemas.openxmlformats.org/officeDocument/2006/relationships/notesMaster" Target="/ppt/notesMasters/notesMaster1.xml" Id="R19e83e13d1fa4f0d" /><Relationship Type="http://schemas.openxmlformats.org/officeDocument/2006/relationships/presProps" Target="/ppt/presProps.xml" Id="Rf26dc6ab5d5e4b10" /><Relationship Type="http://schemas.openxmlformats.org/officeDocument/2006/relationships/tableStyles" Target="/ppt/tableStyles.xml" Id="R355baa01fea04789" /><Relationship Type="http://schemas.openxmlformats.org/officeDocument/2006/relationships/slide" Target="/ppt/slides/slide1.xml" Id="R853782d568794cc2" /><Relationship Type="http://schemas.openxmlformats.org/officeDocument/2006/relationships/slide" Target="/ppt/slides/slide2.xml" Id="R1b6abc6d995349a1" /><Relationship Type="http://schemas.openxmlformats.org/officeDocument/2006/relationships/slide" Target="/ppt/slides/slide3.xml" Id="Ref45703e965f4289" /><Relationship Type="http://schemas.openxmlformats.org/officeDocument/2006/relationships/slide" Target="/ppt/slides/slide4.xml" Id="R0264c9549c8d4b19" /><Relationship Type="http://schemas.openxmlformats.org/officeDocument/2006/relationships/slide" Target="/ppt/slides/slide5.xml" Id="Rfd47ae72dd064df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7a87fd648414d4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b909aa4e0ec4fbf" /><Relationship Type="http://schemas.openxmlformats.org/officeDocument/2006/relationships/notesMaster" Target="/ppt/notesMasters/notesMaster1.xml" Id="R8a930ab641cd4d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6c035c5cbd6c4c94" /><Relationship Type="http://schemas.openxmlformats.org/officeDocument/2006/relationships/notesMaster" Target="/ppt/notesMasters/notesMaster1.xml" Id="Re64b129f5277496e" /></Relationships>
</file>

<file path=ppt/notesSlides/_rels/notesSlide3.xml.rels>&#65279;<?xml version="1.0" encoding="utf-8"?><Relationships xmlns="http://schemas.openxmlformats.org/package/2006/relationships"><Relationship Type="http://schemas.openxmlformats.org/officeDocument/2006/relationships/slide" Target="/ppt/slides/slide3.xml" Id="Red872981176a488c" /><Relationship Type="http://schemas.openxmlformats.org/officeDocument/2006/relationships/notesMaster" Target="/ppt/notesMasters/notesMaster1.xml" Id="Rbf47ef54a05d45bd"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1fcf8370e648b1" /><Relationship Type="http://schemas.openxmlformats.org/officeDocument/2006/relationships/notesMaster" Target="/ppt/notesMasters/notesMaster1.xml" Id="Rf74bf7efcebe46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6f89637cab41c7" /><Relationship Type="http://schemas.openxmlformats.org/officeDocument/2006/relationships/notesMaster" Target="/ppt/notesMasters/notesMaster1.xml" Id="R479c5eda55114c9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ここでのeᵢは観測前には値が定まらない確率変数として扱う。EはExpectationの記号であり、誤差eとは別の役割を持つ。E[eᵢ]=0は、プラスとマイナスがあるだけで自動的に成り立つ性質ではなく、偏りのない観測モデルの仮定である。有限回の実測誤差の平均が必ず0になるという意味でも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期待値は、取りうる値にそれぞれの確率を掛けて足したもの。4つの等確率な場合を−2、0、0、＋2 mmと並べた平均でも同じ数値になる。E[eᵢ²]=2 mm²だが、E[eᵢ]²=0 mm²であり、二乗と平均の順番は交換できない。これは全事象と確率を定めた仮想モデルで、実測の4回分を示しているわけではない。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τ²はこの観測モデルの母分散、τは母標準偏差であり、観測データから推定するσとは区別する。分散の定義そのものは二乗偏差の期待値で、二乗する方法が数学的に唯一のばらつきの測り方という意味ではない。絶対偏差という別の指標もあるが、分散は和や定数倍の計算を扱いやすい。ここではE[eᵢ²]が有限であることを仮定し、単位はτ²がmm²、τがmmとな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ᵢ−μₑ)²=eᵢ²−2μₑeᵢ+μₑ²を展開してから期待値を取る。期待値の線形性によりE[A+B]=E[A]+E[B]、定数cに対してE[cA]=cE[A]、E[c]=cを使い、さらにE[eᵢ]=μₑを代入する。独立性は複数の誤差の分散を足し合わせるときに別途使う条件で、ここで1つの誤差の分散を表すためには必要ない。正規性・分布の対称性・各回の同精度も、この恒等式には不要であ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E[eᵢ²]=1×1/4+9×1/2+25×1/4=11 mm²。真値からの誤差の二乗平均は、平均まわりのばらつき2 mm²と偏りの二乗9 mm²を含む。一般には√E[eᵢ²]は二乗平均平方根誤差（RMSE）であり、偏りが0のときに母標準偏差τと一致する。真値が未知の実データではeᵢを直接計算できないので残差から母分散を推定するが、そのn−1の導出は別の段階であ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7cf10ea407407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a4e640fec5841f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dedb8088ef749f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aaa1cc65c5a4de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432927e75704cf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20f0169d5a2453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9784F85-962E-48C6-8B00-03AAC2BBDA7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55CB5DD-8DD7-4913-9955-D644A04084F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BEB2F1F-CF25-4092-802A-DA306DA9BFB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549F444-7B07-429C-89EA-24BB86F2701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4CB538F-9D96-4D7F-B938-CD97E8747A2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79E96F7-2AC5-4347-BB95-AD398E355C0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84ABBBF-884E-4C74-A888-F7C00DBBECA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4BD01F3-DDAA-453A-8839-64566B6106C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A8D89BD-C378-48F1-91C0-BAE3FB658EC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3489D29-8D4F-4F1B-928B-F36FAF21CB6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5368bf164ae41a6" /><Relationship Type="http://schemas.openxmlformats.org/officeDocument/2006/relationships/slideLayout" Target="/ppt/slideLayouts/slideLayout1.xml" Id="Rff89476002604ab1" /><Relationship Type="http://schemas.openxmlformats.org/officeDocument/2006/relationships/slideLayout" Target="/ppt/slideLayouts/slideLayout2.xml" Id="Rb4f1cbcaf54f4b14" /><Relationship Type="http://schemas.openxmlformats.org/officeDocument/2006/relationships/slideLayout" Target="/ppt/slideLayouts/slideLayout3.xml" Id="Rca7915b1d167416a" /><Relationship Type="http://schemas.openxmlformats.org/officeDocument/2006/relationships/slideLayout" Target="/ppt/slideLayouts/slideLayout4.xml" Id="R9a203d4478b94912" /><Relationship Type="http://schemas.openxmlformats.org/officeDocument/2006/relationships/slideLayout" Target="/ppt/slideLayouts/slideLayout5.xml" Id="R1fd0197f79874050" /><Relationship Type="http://schemas.openxmlformats.org/officeDocument/2006/relationships/slideLayout" Target="/ppt/slideLayouts/slideLayout6.xml" Id="R239da4aafc3b430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89476002604ab1"/>
    <p:sldLayoutId xmlns:r="http://schemas.openxmlformats.org/officeDocument/2006/relationships" id="2147483650" r:id="Rb4f1cbcaf54f4b14"/>
    <p:sldLayoutId xmlns:r="http://schemas.openxmlformats.org/officeDocument/2006/relationships" id="2147483651" r:id="Rca7915b1d167416a"/>
    <p:sldLayoutId xmlns:r="http://schemas.openxmlformats.org/officeDocument/2006/relationships" id="2147483652" r:id="R9a203d4478b94912"/>
    <p:sldLayoutId xmlns:r="http://schemas.openxmlformats.org/officeDocument/2006/relationships" id="2147483653" r:id="R1fd0197f79874050"/>
    <p:sldLayoutId xmlns:r="http://schemas.openxmlformats.org/officeDocument/2006/relationships" id="2147483654" r:id="R239da4aafc3b430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5f2addd64b24b38" /><Relationship Type="http://schemas.openxmlformats.org/officeDocument/2006/relationships/notesSlide" Target="/ppt/notesSlides/notesSlide1.xml" Id="Rc8c1d3d8941843b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a63ebbbb21642d7" /><Relationship Type="http://schemas.openxmlformats.org/officeDocument/2006/relationships/notesSlide" Target="/ppt/notesSlides/notesSlide2.xml" Id="R86ac3e52dbc6479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588a6b2a35a4458" /><Relationship Type="http://schemas.openxmlformats.org/officeDocument/2006/relationships/notesSlide" Target="/ppt/notesSlides/notesSlide3.xml" Id="R66d2f0a2171e4b4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fef8cfef160421d" /><Relationship Type="http://schemas.openxmlformats.org/officeDocument/2006/relationships/notesSlide" Target="/ppt/notesSlides/notesSlide4.xml" Id="R5ba14eecac5a4ce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cb8ddec9d914368" /><Relationship Type="http://schemas.openxmlformats.org/officeDocument/2006/relationships/notesSlide" Target="/ppt/notesSlides/notesSlide5.xml" Id="Ra51769300e294fed" /></Relationships>
</file>

<file path=ppt/slides/slide1.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9" name="補足05-1 誤差の e と、期待値の E">
            <a:extLst xmlns:a="http://schemas.openxmlformats.org/drawingml/2006/main">
              <a:ext uri="{FF2B5EF4-FFF2-40B4-BE49-F238E27FC236}">
                <a16:creationId xmlns:a16="http://schemas.microsoft.com/office/drawing/2014/main" id="{525C1341-7C21-4729-8E70-00B559664E5D}"/>
              </a:ext>
            </a:extLst>
          </p:cNvPr>
          <p:cNvSpPr>
            <a:spLocks xmlns:a="http://schemas.openxmlformats.org/drawingml/2006/main" noGrp="1"/>
          </p:cNvSpPr>
          <p:nvPr/>
        </p:nvSpPr>
        <p:spPr>
          <a:xfrm xmlns:a="http://schemas.openxmlformats.org/drawingml/2006/main">
            <a:off x="685800" y="4191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183E50"/>
                </a:solidFill>
                <a:latin typeface="Meiryo"/>
                <a:ea typeface="Meiryo"/>
                <a:cs typeface="Meiryo"/>
              </a:defRPr>
            </a:defPPr>
          </a:lstStyle>
          <a:p xmlns:a="http://schemas.openxmlformats.org/drawingml/2006/main">
            <a:pPr algn="l">
              <a:defRPr sz="2850" b="1">
                <a:solidFill>
                  <a:srgbClr val="183E50"/>
                </a:solidFill>
                <a:latin typeface="Meiryo"/>
                <a:ea typeface="Meiryo"/>
                <a:cs typeface="Meiryo"/>
              </a:defRPr>
            </a:pPr>
            <a:r>
              <a:rPr sz="2850" b="1">
                <a:solidFill>
                  <a:srgbClr val="183E50"/>
                </a:solidFill>
                <a:latin typeface="Meiryo"/>
                <a:ea typeface="Meiryo"/>
                <a:cs typeface="Meiryo"/>
              </a:rPr>
              <a:t>補足05-1 誤差の e と、期待値の E</a:t>
            </a:r>
          </a:p>
        </p:txBody>
      </p:sp>
      <p:sp>
        <p:nvSpPr>
          <p:cNvPr id="2" name="1 / 5">
            <a:extLst xmlns:a="http://schemas.openxmlformats.org/drawingml/2006/main">
              <a:ext uri="{FF2B5EF4-FFF2-40B4-BE49-F238E27FC236}">
                <a16:creationId xmlns:a16="http://schemas.microsoft.com/office/drawing/2014/main" id="{7B79185B-1480-43C7-9270-E3480FC70DF1}"/>
              </a:ext>
            </a:extLst>
          </p:cNvPr>
          <p:cNvSpPr>
            <a:spLocks xmlns:a="http://schemas.openxmlformats.org/drawingml/2006/main" noGrp="1"/>
          </p:cNvSpPr>
          <p:nvPr/>
        </p:nvSpPr>
        <p:spPr>
          <a:xfrm xmlns:a="http://schemas.openxmlformats.org/drawingml/2006/main">
            <a:off x="10763250" y="6448425"/>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200" b="0">
                <a:solidFill>
                  <a:srgbClr val="64757D"/>
                </a:solidFill>
                <a:latin typeface="Meiryo"/>
                <a:ea typeface="Meiryo"/>
                <a:cs typeface="Meiryo"/>
              </a:defRPr>
            </a:defPPr>
          </a:lstStyle>
          <a:p xmlns:a="http://schemas.openxmlformats.org/drawingml/2006/main">
            <a:pPr algn="l">
              <a:defRPr sz="1200" b="0">
                <a:solidFill>
                  <a:srgbClr val="64757D"/>
                </a:solidFill>
                <a:latin typeface="Meiryo"/>
                <a:ea typeface="Meiryo"/>
                <a:cs typeface="Meiryo"/>
              </a:defRPr>
            </a:pPr>
            <a:r>
              <a:rPr sz="1200" b="0">
                <a:solidFill>
                  <a:srgbClr val="64757D"/>
                </a:solidFill>
                <a:latin typeface="Meiryo"/>
                <a:ea typeface="Meiryo"/>
                <a:cs typeface="Meiryo"/>
              </a:rPr>
              <a:t>1 / 5</a:t>
            </a:r>
          </a:p>
        </p:txBody>
      </p:sp>
      <p:sp>
        <p:nvSpPr>
          <p:cNvPr id="3" name="同じ量を繰り返し測る。真値 X は固定し、観測値は毎回変わる。">
            <a:extLst xmlns:a="http://schemas.openxmlformats.org/drawingml/2006/main">
              <a:ext uri="{FF2B5EF4-FFF2-40B4-BE49-F238E27FC236}">
                <a16:creationId xmlns:a16="http://schemas.microsoft.com/office/drawing/2014/main" id="{7B2D94D4-B4C6-4AF1-8977-0D7449039730}"/>
              </a:ext>
            </a:extLst>
          </p:cNvPr>
          <p:cNvSpPr>
            <a:spLocks xmlns:a="http://schemas.openxmlformats.org/drawingml/2006/main" noGrp="1"/>
          </p:cNvSpPr>
          <p:nvPr/>
        </p:nvSpPr>
        <p:spPr>
          <a:xfrm xmlns:a="http://schemas.openxmlformats.org/drawingml/2006/main">
            <a:off x="762000" y="13906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243C48"/>
                </a:solidFill>
                <a:latin typeface="Meiryo"/>
                <a:ea typeface="Meiryo"/>
                <a:cs typeface="Meiryo"/>
              </a:defRPr>
            </a:defPPr>
          </a:lstStyle>
          <a:p xmlns:a="http://schemas.openxmlformats.org/drawingml/2006/main">
            <a:pPr algn="l">
              <a:defRPr sz="1950" b="0">
                <a:solidFill>
                  <a:srgbClr val="243C48"/>
                </a:solidFill>
                <a:latin typeface="Meiryo"/>
                <a:ea typeface="Meiryo"/>
                <a:cs typeface="Meiryo"/>
              </a:defRPr>
            </a:pPr>
            <a:r>
              <a:rPr sz="1950" b="0">
                <a:solidFill>
                  <a:srgbClr val="243C48"/>
                </a:solidFill>
                <a:latin typeface="Meiryo"/>
                <a:ea typeface="Meiryo"/>
                <a:cs typeface="Meiryo"/>
              </a:rPr>
              <a:t>同じ量を繰り返し測る。真値 X は固定し、観測値は毎回変わる。</a:t>
            </a:r>
          </a:p>
        </p:txBody>
      </p:sp>
      <mc:AlternateContent xmlns:mc="http://schemas.openxmlformats.org/markup-compatibility/2006" xmlns:a14="http://schemas.microsoft.com/office/drawing/2010/main">
        <mc:Choice Requires="a14">
          <p:sp>
            <p:nvSpPr>
              <p:cNvPr id="4" name="EQM00000">
                <a:extLst xmlns:a="http://schemas.openxmlformats.org/drawingml/2006/main">
                  <a:ext uri="{FF2B5EF4-FFF2-40B4-BE49-F238E27FC236}">
                    <a16:creationId xmlns:a16="http://schemas.microsoft.com/office/drawing/2014/main" id="{BC5DEBF5-5FE1-42AC-97AB-8D64F4A05CE7}"/>
                  </a:ext>
                </a:extLst>
              </p:cNvPr>
              <p:cNvSpPr>
                <a:spLocks xmlns:a="http://schemas.openxmlformats.org/drawingml/2006/main" noGrp="1"/>
              </p:cNvSpPr>
              <p:nvPr/>
            </p:nvSpPr>
            <p:spPr>
              <a:xfrm xmlns:a="http://schemas.openxmlformats.org/drawingml/2006/main">
                <a:off x="762000" y="2197894"/>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14:m xmlns:m="http://schemas.openxmlformats.org/officeDocument/2006/math">
                  <m:oMathPara>
                    <m:oMathParaPr>
                      <m:jc m:val="centerGroup"/>
                    </m:oMathParaPr>
                    <m:oMath xmlns:mml="http://www.w3.org/1998/Math/MathML">
                      <m:sSub>
                        <m:e>
                          <m:r>
                            <a:rPr sz="2775" b="0" lang="en-US">
                              <a:solidFill>
                                <a:srgbClr val="183E50"/>
                              </a:solidFill>
                              <a:latin typeface="Cambria Math"/>
                              <a:ea typeface="Meiryo"/>
                            </a:rPr>
                            <m:t>x</m:t>
                          </m:r>
                        </m:e>
                        <m:sub>
                          <m:r>
                            <a:rPr sz="2775" b="0" lang="en-US">
                              <a:solidFill>
                                <a:srgbClr val="183E50"/>
                              </a:solidFill>
                              <a:latin typeface="Cambria Math"/>
                              <a:ea typeface="Meiryo"/>
                            </a:rPr>
                            <m:t>i</m:t>
                          </m:r>
                        </m:sub>
                      </m:sSub>
                      <m:r>
                        <a:rPr sz="2775" b="0" lang="en-US">
                          <a:solidFill>
                            <a:srgbClr val="183E50"/>
                          </a:solidFill>
                          <a:latin typeface="Cambria Math"/>
                          <a:ea typeface="Meiryo"/>
                        </a:rPr>
                        <m:t>=X+</m:t>
                      </m:r>
                      <m:sSub>
                        <m:e>
                          <m:r>
                            <a:rPr sz="2775" b="0" lang="en-US">
                              <a:solidFill>
                                <a:srgbClr val="183E50"/>
                              </a:solidFill>
                              <a:latin typeface="Cambria Math"/>
                              <a:ea typeface="Meiryo"/>
                            </a:rPr>
                            <m:t>e</m:t>
                          </m:r>
                        </m:e>
                        <m:sub>
                          <m:r>
                            <a:rPr sz="2775" b="0" lang="en-US">
                              <a:solidFill>
                                <a:srgbClr val="183E50"/>
                              </a:solidFill>
                              <a:latin typeface="Cambria Math"/>
                              <a:ea typeface="Meiryo"/>
                            </a:rPr>
                            <m:t>i</m:t>
                          </m:r>
                        </m:sub>
                      </m:sSub>
                      <m:r>
                        <a:rPr sz="2775" b="0" lang="en-US">
                          <a:solidFill>
                            <a:srgbClr val="183E50"/>
                          </a:solidFill>
                          <a:latin typeface="Cambria Math"/>
                          <a:ea typeface="Meiryo"/>
                        </a:rPr>
                        <m:t>,</m:t>
                      </m:r>
                      <m:r>
                        <m:rPr>
                          <m:nor/>
                        </m:rPr>
                        <a:rPr sz="2775" b="0" lang="en-US">
                          <a:solidFill>
                            <a:srgbClr val="183E50"/>
                          </a:solidFill>
                          <a:latin typeface="Cambria Math"/>
                          <a:ea typeface="Meiryo"/>
                        </a:rPr>
                        <m:t>  </m:t>
                      </m:r>
                      <m:sSub>
                        <m:e>
                          <m:r>
                            <a:rPr sz="2775" b="0" lang="en-US">
                              <a:solidFill>
                                <a:srgbClr val="183E50"/>
                              </a:solidFill>
                              <a:latin typeface="Cambria Math"/>
                              <a:ea typeface="Meiryo"/>
                            </a:rPr>
                            <m:t>e</m:t>
                          </m:r>
                        </m:e>
                        <m:sub>
                          <m:r>
                            <a:rPr sz="2775" b="0" lang="en-US">
                              <a:solidFill>
                                <a:srgbClr val="183E50"/>
                              </a:solidFill>
                              <a:latin typeface="Cambria Math"/>
                              <a:ea typeface="Meiryo"/>
                            </a:rPr>
                            <m:t>i</m:t>
                          </m:r>
                        </m:sub>
                      </m:sSub>
                      <m:r>
                        <a:rPr sz="2775" b="0" lang="en-US">
                          <a:solidFill>
                            <a:srgbClr val="183E50"/>
                          </a:solidFill>
                          <a:latin typeface="Cambria Math"/>
                          <a:ea typeface="Meiryo"/>
                        </a:rPr>
                        <m:t>=</m:t>
                      </m:r>
                      <m:sSub>
                        <m:e>
                          <m:r>
                            <a:rPr sz="2775" b="0" lang="en-US">
                              <a:solidFill>
                                <a:srgbClr val="183E50"/>
                              </a:solidFill>
                              <a:latin typeface="Cambria Math"/>
                              <a:ea typeface="Meiryo"/>
                            </a:rPr>
                            <m:t>x</m:t>
                          </m:r>
                        </m:e>
                        <m:sub>
                          <m:r>
                            <a:rPr sz="2775" b="0" lang="en-US">
                              <a:solidFill>
                                <a:srgbClr val="183E50"/>
                              </a:solidFill>
                              <a:latin typeface="Cambria Math"/>
                              <a:ea typeface="Meiryo"/>
                            </a:rPr>
                            <m:t>i</m:t>
                          </m:r>
                        </m:sub>
                      </m:sSub>
                      <m:r>
                        <a:rPr sz="2775" b="0" lang="en-US">
                          <a:solidFill>
                            <a:srgbClr val="183E50"/>
                          </a:solidFill>
                          <a:latin typeface="Cambria Math"/>
                          <a:ea typeface="Meiryo"/>
                        </a:rPr>
                        <m:t>−X</m:t>
                      </m:r>
                    </m:oMath>
                  </m:oMathPara>
                </a14:m>
              </a:p>
            </p:txBody>
          </p:sp>
        </mc:Choice>
        <mc:Fallback>
          <p:sp>
            <p:nvSpPr>
              <p:cNvPr id="4" name="EQM00000">
                <a:extLst xmlns:a="http://schemas.openxmlformats.org/drawingml/2006/main">
                  <a:ext uri="{FF2B5EF4-FFF2-40B4-BE49-F238E27FC236}">
                    <a16:creationId xmlns:a16="http://schemas.microsoft.com/office/drawing/2014/main" id="{BC5DEBF5-5FE1-42AC-97AB-8D64F4A05CE7}"/>
                  </a:ext>
                </a:extLst>
              </p:cNvPr>
              <p:cNvSpPr>
                <a:spLocks xmlns:a="http://schemas.openxmlformats.org/drawingml/2006/main" noGrp="1"/>
              </p:cNvSpPr>
              <p:nvPr/>
            </p:nvSpPr>
            <p:spPr>
              <a:xfrm xmlns:a="http://schemas.openxmlformats.org/drawingml/2006/main">
                <a:off x="762000" y="2197894"/>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r>
                  <a:rPr sz="2775" b="0">
                    <a:solidFill>
                      <a:srgbClr val="183E50"/>
                    </a:solidFill>
                    <a:latin typeface="Cambria Math"/>
                    <a:ea typeface="Cambria Math"/>
                    <a:cs typeface="Cambria Math"/>
                  </a:rPr>
                  <a:t>x_i=X+e_i,\qquad e_i=x_i-X</a:t>
                </a:r>
              </a:p>
            </p:txBody>
          </p:sp>
        </mc:Fallback>
      </mc:AlternateContent>
      <p:sp>
        <p:nvSpPr>
          <p:cNvPr id="5" name="小文字の eᵢ は誤差。大文字の E[ ] は「中の量の理論上の平均」。">
            <a:extLst xmlns:a="http://schemas.openxmlformats.org/drawingml/2006/main">
              <a:ext uri="{FF2B5EF4-FFF2-40B4-BE49-F238E27FC236}">
                <a16:creationId xmlns:a16="http://schemas.microsoft.com/office/drawing/2014/main" id="{830DDDCA-A36E-4FB5-9542-8E9531EF0CF5}"/>
              </a:ext>
            </a:extLst>
          </p:cNvPr>
          <p:cNvSpPr>
            <a:spLocks xmlns:a="http://schemas.openxmlformats.org/drawingml/2006/main" noGrp="1"/>
          </p:cNvSpPr>
          <p:nvPr/>
        </p:nvSpPr>
        <p:spPr>
          <a:xfrm xmlns:a="http://schemas.openxmlformats.org/drawingml/2006/main">
            <a:off x="762000" y="3319463"/>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243C48"/>
                </a:solidFill>
                <a:latin typeface="Meiryo"/>
                <a:ea typeface="Meiryo"/>
                <a:cs typeface="Meiryo"/>
              </a:defRPr>
            </a:defPPr>
          </a:lstStyle>
          <a:p xmlns:a="http://schemas.openxmlformats.org/drawingml/2006/main">
            <a:pPr algn="l">
              <a:defRPr sz="1950" b="0">
                <a:solidFill>
                  <a:srgbClr val="243C48"/>
                </a:solidFill>
                <a:latin typeface="Meiryo"/>
                <a:ea typeface="Meiryo"/>
                <a:cs typeface="Meiryo"/>
              </a:defRPr>
            </a:pPr>
            <a:r>
              <a:rPr sz="1950" b="0">
                <a:solidFill>
                  <a:srgbClr val="243C48"/>
                </a:solidFill>
                <a:latin typeface="Meiryo"/>
                <a:ea typeface="Meiryo"/>
                <a:cs typeface="Meiryo"/>
              </a:rPr>
              <a:t>小文字の eᵢ は誤差。大文字の E[ ] は「中の量の理論上の平均」。</a:t>
            </a:r>
          </a:p>
        </p:txBody>
      </p:sp>
      <p:sp>
        <p:nvSpPr>
          <p:cNvPr id="6" name="ここでは系統的な偏りを補正し、次の仮定を置く。">
            <a:extLst xmlns:a="http://schemas.openxmlformats.org/drawingml/2006/main">
              <a:ext uri="{FF2B5EF4-FFF2-40B4-BE49-F238E27FC236}">
                <a16:creationId xmlns:a16="http://schemas.microsoft.com/office/drawing/2014/main" id="{4B54B1CD-4795-4C31-BF48-5AD2EE30B4D1}"/>
              </a:ext>
            </a:extLst>
          </p:cNvPr>
          <p:cNvSpPr>
            <a:spLocks xmlns:a="http://schemas.openxmlformats.org/drawingml/2006/main" noGrp="1"/>
          </p:cNvSpPr>
          <p:nvPr/>
        </p:nvSpPr>
        <p:spPr>
          <a:xfrm xmlns:a="http://schemas.openxmlformats.org/drawingml/2006/main">
            <a:off x="762000" y="4126706"/>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243C48"/>
                </a:solidFill>
                <a:latin typeface="Meiryo"/>
                <a:ea typeface="Meiryo"/>
                <a:cs typeface="Meiryo"/>
              </a:defRPr>
            </a:defPPr>
          </a:lstStyle>
          <a:p xmlns:a="http://schemas.openxmlformats.org/drawingml/2006/main">
            <a:pPr algn="l">
              <a:defRPr sz="1950" b="0">
                <a:solidFill>
                  <a:srgbClr val="243C48"/>
                </a:solidFill>
                <a:latin typeface="Meiryo"/>
                <a:ea typeface="Meiryo"/>
                <a:cs typeface="Meiryo"/>
              </a:defRPr>
            </a:pPr>
            <a:r>
              <a:rPr sz="1950" b="0">
                <a:solidFill>
                  <a:srgbClr val="243C48"/>
                </a:solidFill>
                <a:latin typeface="Meiryo"/>
                <a:ea typeface="Meiryo"/>
                <a:cs typeface="Meiryo"/>
              </a:rPr>
              <a:t>ここでは系統的な偏りを補正し、次の仮定を置く。</a:t>
            </a:r>
          </a:p>
        </p:txBody>
      </p:sp>
      <mc:AlternateContent xmlns:mc="http://schemas.openxmlformats.org/markup-compatibility/2006" xmlns:a14="http://schemas.microsoft.com/office/drawing/2010/main">
        <mc:Choice Requires="a14">
          <p:sp>
            <p:nvSpPr>
              <p:cNvPr id="7" name="EQM00001">
                <a:extLst xmlns:a="http://schemas.openxmlformats.org/drawingml/2006/main">
                  <a:ext uri="{FF2B5EF4-FFF2-40B4-BE49-F238E27FC236}">
                    <a16:creationId xmlns:a16="http://schemas.microsoft.com/office/drawing/2014/main" id="{A4CAF5A5-E59F-4758-9154-566B4CB76D65}"/>
                  </a:ext>
                </a:extLst>
              </p:cNvPr>
              <p:cNvSpPr>
                <a:spLocks xmlns:a="http://schemas.openxmlformats.org/drawingml/2006/main" noGrp="1"/>
              </p:cNvSpPr>
              <p:nvPr/>
            </p:nvSpPr>
            <p:spPr>
              <a:xfrm xmlns:a="http://schemas.openxmlformats.org/drawingml/2006/main">
                <a:off x="762000" y="49339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14:m xmlns:m="http://schemas.openxmlformats.org/officeDocument/2006/math">
                  <m:oMathPara>
                    <m:oMathParaPr>
                      <m:jc m:val="centerGroup"/>
                    </m:oMathParaPr>
                    <m:oMath xmlns:mml="http://www.w3.org/1998/Math/MathML">
                      <m:r>
                        <m:rPr>
                          <m:sty m:val="p"/>
                        </m:rPr>
                        <a:rPr sz="2775" b="0" lang="en-US">
                          <a:solidFill>
                            <a:srgbClr val="183E50"/>
                          </a:solidFill>
                          <a:latin typeface="Cambria Math"/>
                          <a:ea typeface="Meiryo"/>
                        </a:rPr>
                        <m:t>E</m:t>
                      </m:r>
                      <m:r>
                        <a:rPr sz="2775" b="0" lang="en-US">
                          <a:solidFill>
                            <a:srgbClr val="183E50"/>
                          </a:solidFill>
                          <a:latin typeface="Cambria Math"/>
                          <a:ea typeface="Meiryo"/>
                        </a:rPr>
                        <m:t>[</m:t>
                      </m:r>
                      <m:sSub>
                        <m:e>
                          <m:r>
                            <a:rPr sz="2775" b="0" lang="en-US">
                              <a:solidFill>
                                <a:srgbClr val="183E50"/>
                              </a:solidFill>
                              <a:latin typeface="Cambria Math"/>
                              <a:ea typeface="Meiryo"/>
                            </a:rPr>
                            <m:t>e</m:t>
                          </m:r>
                        </m:e>
                        <m:sub>
                          <m:r>
                            <a:rPr sz="2775" b="0" lang="en-US">
                              <a:solidFill>
                                <a:srgbClr val="183E50"/>
                              </a:solidFill>
                              <a:latin typeface="Cambria Math"/>
                              <a:ea typeface="Meiryo"/>
                            </a:rPr>
                            <m:t>i</m:t>
                          </m:r>
                        </m:sub>
                      </m:sSub>
                      <m:r>
                        <a:rPr sz="2775" b="0" lang="en-US">
                          <a:solidFill>
                            <a:srgbClr val="183E50"/>
                          </a:solidFill>
                          <a:latin typeface="Cambria Math"/>
                          <a:ea typeface="Meiryo"/>
                        </a:rPr>
                        <m:t>]=0</m:t>
                      </m:r>
                    </m:oMath>
                  </m:oMathPara>
                </a14:m>
              </a:p>
            </p:txBody>
          </p:sp>
        </mc:Choice>
        <mc:Fallback>
          <p:sp>
            <p:nvSpPr>
              <p:cNvPr id="7" name="EQM00001">
                <a:extLst xmlns:a="http://schemas.openxmlformats.org/drawingml/2006/main">
                  <a:ext uri="{FF2B5EF4-FFF2-40B4-BE49-F238E27FC236}">
                    <a16:creationId xmlns:a16="http://schemas.microsoft.com/office/drawing/2014/main" id="{A4CAF5A5-E59F-4758-9154-566B4CB76D65}"/>
                  </a:ext>
                </a:extLst>
              </p:cNvPr>
              <p:cNvSpPr>
                <a:spLocks xmlns:a="http://schemas.openxmlformats.org/drawingml/2006/main" noGrp="1"/>
              </p:cNvSpPr>
              <p:nvPr/>
            </p:nvSpPr>
            <p:spPr>
              <a:xfrm xmlns:a="http://schemas.openxmlformats.org/drawingml/2006/main">
                <a:off x="762000" y="49339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r>
                  <a:rPr sz="2775" b="0">
                    <a:solidFill>
                      <a:srgbClr val="183E50"/>
                    </a:solidFill>
                    <a:latin typeface="Cambria Math"/>
                    <a:ea typeface="Cambria Math"/>
                    <a:cs typeface="Cambria Math"/>
                  </a:rPr>
                  <a:t>\mathrm{E}[e_i]=0</a:t>
                </a:r>
              </a:p>
            </p:txBody>
          </p:sp>
        </mc:Fallback>
      </mc:AlternateContent>
      <p:sp>
        <p:nvSpPr>
          <p:cNvPr id="8" name="誤差の平均が0という仮定が、後の式を簡単にする。">
            <a:extLst xmlns:a="http://schemas.openxmlformats.org/drawingml/2006/main">
              <a:ext uri="{FF2B5EF4-FFF2-40B4-BE49-F238E27FC236}">
                <a16:creationId xmlns:a16="http://schemas.microsoft.com/office/drawing/2014/main" id="{E3F9DC36-B1F5-4E74-BDF3-1A89FFA8A936}"/>
              </a:ext>
            </a:extLst>
          </p:cNvPr>
          <p:cNvSpPr>
            <a:spLocks xmlns:a="http://schemas.openxmlformats.org/drawingml/2006/main" noGrp="1"/>
          </p:cNvSpPr>
          <p:nvPr/>
        </p:nvSpPr>
        <p:spPr>
          <a:xfrm xmlns:a="http://schemas.openxmlformats.org/drawingml/2006/main">
            <a:off x="762000" y="5972175"/>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37B78"/>
                </a:solidFill>
                <a:latin typeface="Meiryo"/>
                <a:ea typeface="Meiryo"/>
                <a:cs typeface="Meiryo"/>
              </a:defRPr>
            </a:defPPr>
          </a:lstStyle>
          <a:p xmlns:a="http://schemas.openxmlformats.org/drawingml/2006/main">
            <a:pPr algn="l">
              <a:defRPr sz="1950" b="1">
                <a:solidFill>
                  <a:srgbClr val="137B78"/>
                </a:solidFill>
                <a:latin typeface="Meiryo"/>
                <a:ea typeface="Meiryo"/>
                <a:cs typeface="Meiryo"/>
              </a:defRPr>
            </a:pPr>
            <a:r>
              <a:rPr sz="1950" b="1">
                <a:solidFill>
                  <a:srgbClr val="137B78"/>
                </a:solidFill>
                <a:latin typeface="Meiryo"/>
                <a:ea typeface="Meiryo"/>
                <a:cs typeface="Meiryo"/>
              </a:rPr>
              <a:t>誤差の平均が0という仮定が、後の式を簡単にする。</a:t>
            </a:r>
          </a:p>
        </p:txBody>
      </p:sp>
    </p:spTree>
    <p:extLst>
      <p:ext uri="{BB962C8B-B14F-4D97-AF65-F5344CB8AC3E}">
        <p14:creationId xmlns:p14="http://schemas.microsoft.com/office/powerpoint/2010/main" val="216119689"/>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補足05-2 E は、確率を重みとした平均">
            <a:extLst xmlns:a="http://schemas.openxmlformats.org/drawingml/2006/main">
              <a:ext uri="{FF2B5EF4-FFF2-40B4-BE49-F238E27FC236}">
                <a16:creationId xmlns:a16="http://schemas.microsoft.com/office/drawing/2014/main" id="{F55B9991-CF24-4DDF-BC2E-5A34E501ADFA}"/>
              </a:ext>
            </a:extLst>
          </p:cNvPr>
          <p:cNvSpPr>
            <a:spLocks xmlns:a="http://schemas.openxmlformats.org/drawingml/2006/main" noGrp="1"/>
          </p:cNvSpPr>
          <p:nvPr/>
        </p:nvSpPr>
        <p:spPr>
          <a:xfrm xmlns:a="http://schemas.openxmlformats.org/drawingml/2006/main">
            <a:off x="685800" y="4191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183E50"/>
                </a:solidFill>
                <a:latin typeface="Meiryo"/>
                <a:ea typeface="Meiryo"/>
                <a:cs typeface="Meiryo"/>
              </a:defRPr>
            </a:defPPr>
          </a:lstStyle>
          <a:p xmlns:a="http://schemas.openxmlformats.org/drawingml/2006/main">
            <a:pPr algn="l">
              <a:defRPr sz="2850" b="1">
                <a:solidFill>
                  <a:srgbClr val="183E50"/>
                </a:solidFill>
                <a:latin typeface="Meiryo"/>
                <a:ea typeface="Meiryo"/>
                <a:cs typeface="Meiryo"/>
              </a:defRPr>
            </a:pPr>
            <a:r>
              <a:rPr sz="2850" b="1">
                <a:solidFill>
                  <a:srgbClr val="183E50"/>
                </a:solidFill>
                <a:latin typeface="Meiryo"/>
                <a:ea typeface="Meiryo"/>
                <a:cs typeface="Meiryo"/>
              </a:rPr>
              <a:t>補足05-2 E は、確率を重みとした平均</a:t>
            </a:r>
          </a:p>
        </p:txBody>
      </p:sp>
      <p:sp>
        <p:nvSpPr>
          <p:cNvPr id="2" name="2 / 5">
            <a:extLst xmlns:a="http://schemas.openxmlformats.org/drawingml/2006/main">
              <a:ext uri="{FF2B5EF4-FFF2-40B4-BE49-F238E27FC236}">
                <a16:creationId xmlns:a16="http://schemas.microsoft.com/office/drawing/2014/main" id="{E79887C3-2C40-416F-821B-D7C6680A78F9}"/>
              </a:ext>
            </a:extLst>
          </p:cNvPr>
          <p:cNvSpPr>
            <a:spLocks xmlns:a="http://schemas.openxmlformats.org/drawingml/2006/main" noGrp="1"/>
          </p:cNvSpPr>
          <p:nvPr/>
        </p:nvSpPr>
        <p:spPr>
          <a:xfrm xmlns:a="http://schemas.openxmlformats.org/drawingml/2006/main">
            <a:off x="10763250" y="6448425"/>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200" b="0">
                <a:solidFill>
                  <a:srgbClr val="64757D"/>
                </a:solidFill>
                <a:latin typeface="Meiryo"/>
                <a:ea typeface="Meiryo"/>
                <a:cs typeface="Meiryo"/>
              </a:defRPr>
            </a:defPPr>
          </a:lstStyle>
          <a:p xmlns:a="http://schemas.openxmlformats.org/drawingml/2006/main">
            <a:pPr algn="l">
              <a:defRPr sz="1200" b="0">
                <a:solidFill>
                  <a:srgbClr val="64757D"/>
                </a:solidFill>
                <a:latin typeface="Meiryo"/>
                <a:ea typeface="Meiryo"/>
                <a:cs typeface="Meiryo"/>
              </a:defRPr>
            </a:pPr>
            <a:r>
              <a:rPr sz="1200" b="0">
                <a:solidFill>
                  <a:srgbClr val="64757D"/>
                </a:solidFill>
                <a:latin typeface="Meiryo"/>
                <a:ea typeface="Meiryo"/>
                <a:cs typeface="Meiryo"/>
              </a:rPr>
              <a:t>2 / 5</a:t>
            </a:r>
          </a:p>
        </p:txBody>
      </p:sp>
      <p:sp>
        <p:nvSpPr>
          <p:cNvPr id="3" name="説明用のモデル：誤差が −2、0、＋2 mm のいずれかを取る。">
            <a:extLst xmlns:a="http://schemas.openxmlformats.org/drawingml/2006/main">
              <a:ext uri="{FF2B5EF4-FFF2-40B4-BE49-F238E27FC236}">
                <a16:creationId xmlns:a16="http://schemas.microsoft.com/office/drawing/2014/main" id="{A41B3441-1E86-41A4-B452-CDE206E56CDB}"/>
              </a:ext>
            </a:extLst>
          </p:cNvPr>
          <p:cNvSpPr>
            <a:spLocks xmlns:a="http://schemas.openxmlformats.org/drawingml/2006/main" noGrp="1"/>
          </p:cNvSpPr>
          <p:nvPr/>
        </p:nvSpPr>
        <p:spPr>
          <a:xfrm xmlns:a="http://schemas.openxmlformats.org/drawingml/2006/main">
            <a:off x="762000" y="13906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243C48"/>
                </a:solidFill>
                <a:latin typeface="Meiryo"/>
                <a:ea typeface="Meiryo"/>
                <a:cs typeface="Meiryo"/>
              </a:defRPr>
            </a:defPPr>
          </a:lstStyle>
          <a:p xmlns:a="http://schemas.openxmlformats.org/drawingml/2006/main">
            <a:pPr algn="l">
              <a:defRPr sz="1950" b="0">
                <a:solidFill>
                  <a:srgbClr val="243C48"/>
                </a:solidFill>
                <a:latin typeface="Meiryo"/>
                <a:ea typeface="Meiryo"/>
                <a:cs typeface="Meiryo"/>
              </a:defRPr>
            </a:pPr>
            <a:r>
              <a:rPr sz="1950" b="0">
                <a:solidFill>
                  <a:srgbClr val="243C48"/>
                </a:solidFill>
                <a:latin typeface="Meiryo"/>
                <a:ea typeface="Meiryo"/>
                <a:cs typeface="Meiryo"/>
              </a:rPr>
              <a:t>説明用のモデル：誤差が −2、0、＋2 mm のいずれかを取る。</a:t>
            </a:r>
          </a:p>
        </p:txBody>
      </p:sp>
      <p:graphicFrame>
        <p:nvGraphicFramePr>
          <p:cNvPr id="4" name="">
            <a:extLst xmlns:a="http://schemas.openxmlformats.org/drawingml/2006/main">
              <a:ext uri="{FF2B5EF4-FFF2-40B4-BE49-F238E27FC236}">
                <a16:creationId xmlns:a16="http://schemas.microsoft.com/office/drawing/2014/main" id="{FC87B158-B2B8-4B60-9C75-3F568776D949}"/>
              </a:ext>
            </a:extLst>
          </p:cNvPr>
          <p:cNvGraphicFramePr/>
          <p:nvPr/>
        </p:nvGraphicFramePr>
        <p:xfrm>
          <a:off xmlns:a="http://schemas.openxmlformats.org/drawingml/2006/main" x="762000" y="1955800"/>
          <a:ext xmlns:a="http://schemas.openxmlformats.org/drawingml/2006/main" cx="10668000" cy="1543050"/>
        </p:xfrm>
        <a:graphic xmlns:a="http://schemas.openxmlformats.org/drawingml/2006/main">
          <a:graphicData uri="http://schemas.openxmlformats.org/drawingml/2006/table">
            <a:tbl>
              <a:tblPr/>
              <a:tblGrid>
                <a:gridCol w="4610100"/>
                <a:gridCol w="2019300"/>
                <a:gridCol w="2019300"/>
                <a:gridCol w="2019300"/>
              </a:tblGrid>
              <a:tr h="514350">
                <a:tc>
                  <a:txBody>
                    <a:bodyPr lIns="95250" tIns="95250" rIns="95250" bIns="95250"/>
                    <a:lstStyle/>
                    <a:p>
                      <a:pPr algn="l"/>
                      <a:r>
                        <a:rPr sz="1875" b="1">
                          <a:solidFill>
                            <a:srgbClr val="FFFFFF"/>
                          </a:solidFill>
                          <a:latin typeface="Meiryo"/>
                          <a:ea typeface="Meiryo"/>
                          <a:cs typeface="Meiryo"/>
                        </a:rPr>
                        <a:t>誤差 eᵢ（mm）</a:t>
                      </a:r>
                    </a:p>
                  </a:txBody>
                  <a:tcPr marL="91440" marR="91440" marT="45720" marB="45720" anchor="ctr">
                    <a:lnL w="9525">
                      <a:solidFill>
                        <a:srgbClr val="D9E0DB"/>
                      </a:solidFill>
                      <a:prstDash val="solid"/>
                    </a:lnL>
                    <a:lnR w="9525">
                      <a:solidFill>
                        <a:srgbClr val="D9E0DB"/>
                      </a:solidFill>
                      <a:prstDash val="solid"/>
                    </a:lnR>
                    <a:lnT w="9525">
                      <a:solidFill>
                        <a:srgbClr val="D9E0DB"/>
                      </a:solidFill>
                      <a:prstDash val="solid"/>
                    </a:lnT>
                    <a:lnB w="9525">
                      <a:solidFill>
                        <a:srgbClr val="D9E0DB"/>
                      </a:solidFill>
                      <a:prstDash val="solid"/>
                    </a:lnB>
                    <a:solidFill>
                      <a:srgbClr val="183E50"/>
                    </a:solidFill>
                  </a:tcPr>
                </a:tc>
                <a:tc>
                  <a:txBody>
                    <a:bodyPr lIns="95250" tIns="95250" rIns="95250" bIns="95250"/>
                    <a:lstStyle/>
                    <a:p>
                      <a:pPr algn="ctr"/>
                      <a:r>
                        <a:rPr sz="1875" b="1">
                          <a:solidFill>
                            <a:srgbClr val="FFFFFF"/>
                          </a:solidFill>
                          <a:latin typeface="Meiryo"/>
                          <a:ea typeface="Meiryo"/>
                          <a:cs typeface="Meiryo"/>
                        </a:rPr>
                        <a:t>−2</a:t>
                      </a:r>
                    </a:p>
                  </a:txBody>
                  <a:tcPr marL="91440" marR="91440" marT="45720" marB="45720" anchor="ctr">
                    <a:lnR w="9525">
                      <a:solidFill>
                        <a:srgbClr val="D9E0DB"/>
                      </a:solidFill>
                      <a:prstDash val="solid"/>
                    </a:lnR>
                    <a:lnT w="9525">
                      <a:solidFill>
                        <a:srgbClr val="D9E0DB"/>
                      </a:solidFill>
                      <a:prstDash val="solid"/>
                    </a:lnT>
                    <a:lnB w="9525">
                      <a:solidFill>
                        <a:srgbClr val="D9E0DB"/>
                      </a:solidFill>
                      <a:prstDash val="solid"/>
                    </a:lnB>
                    <a:solidFill>
                      <a:srgbClr val="183E50"/>
                    </a:solidFill>
                  </a:tcPr>
                </a:tc>
                <a:tc>
                  <a:txBody>
                    <a:bodyPr lIns="95250" tIns="95250" rIns="95250" bIns="95250"/>
                    <a:lstStyle/>
                    <a:p>
                      <a:pPr algn="ctr"/>
                      <a:r>
                        <a:rPr sz="1875" b="1">
                          <a:solidFill>
                            <a:srgbClr val="FFFFFF"/>
                          </a:solidFill>
                          <a:latin typeface="Meiryo"/>
                          <a:ea typeface="Meiryo"/>
                          <a:cs typeface="Meiryo"/>
                        </a:rPr>
                        <a:t>0</a:t>
                      </a:r>
                    </a:p>
                  </a:txBody>
                  <a:tcPr marL="91440" marR="91440" marT="45720" marB="45720" anchor="ctr">
                    <a:lnR w="9525">
                      <a:solidFill>
                        <a:srgbClr val="D9E0DB"/>
                      </a:solidFill>
                      <a:prstDash val="solid"/>
                    </a:lnR>
                    <a:lnT w="9525">
                      <a:solidFill>
                        <a:srgbClr val="D9E0DB"/>
                      </a:solidFill>
                      <a:prstDash val="solid"/>
                    </a:lnT>
                    <a:lnB w="9525">
                      <a:solidFill>
                        <a:srgbClr val="D9E0DB"/>
                      </a:solidFill>
                      <a:prstDash val="solid"/>
                    </a:lnB>
                    <a:solidFill>
                      <a:srgbClr val="183E50"/>
                    </a:solidFill>
                  </a:tcPr>
                </a:tc>
                <a:tc>
                  <a:txBody>
                    <a:bodyPr lIns="95250" tIns="95250" rIns="95250" bIns="95250"/>
                    <a:lstStyle/>
                    <a:p>
                      <a:pPr algn="ctr"/>
                      <a:r>
                        <a:rPr sz="1875" b="1">
                          <a:solidFill>
                            <a:srgbClr val="FFFFFF"/>
                          </a:solidFill>
                          <a:latin typeface="Meiryo"/>
                          <a:ea typeface="Meiryo"/>
                          <a:cs typeface="Meiryo"/>
                        </a:rPr>
                        <a:t>＋2</a:t>
                      </a:r>
                    </a:p>
                  </a:txBody>
                  <a:tcPr marL="91440" marR="91440" marT="45720" marB="45720" anchor="ctr">
                    <a:lnR w="9525">
                      <a:solidFill>
                        <a:srgbClr val="D9E0DB"/>
                      </a:solidFill>
                      <a:prstDash val="solid"/>
                    </a:lnR>
                    <a:lnT w="9525">
                      <a:solidFill>
                        <a:srgbClr val="D9E0DB"/>
                      </a:solidFill>
                      <a:prstDash val="solid"/>
                    </a:lnT>
                    <a:lnB w="9525">
                      <a:solidFill>
                        <a:srgbClr val="D9E0DB"/>
                      </a:solidFill>
                      <a:prstDash val="solid"/>
                    </a:lnB>
                    <a:solidFill>
                      <a:srgbClr val="183E50"/>
                    </a:solidFill>
                  </a:tcPr>
                </a:tc>
              </a:tr>
              <a:tr h="514350">
                <a:tc>
                  <a:txBody>
                    <a:bodyPr lIns="95250" tIns="95250" rIns="95250" bIns="95250"/>
                    <a:lstStyle/>
                    <a:p>
                      <a:pPr algn="l"/>
                      <a:r>
                        <a:rPr sz="1875" b="0">
                          <a:solidFill>
                            <a:srgbClr val="243C48"/>
                          </a:solidFill>
                          <a:latin typeface="Meiryo"/>
                          <a:ea typeface="Meiryo"/>
                          <a:cs typeface="Meiryo"/>
                        </a:rPr>
                        <a:t>起こる確率</a:t>
                      </a:r>
                    </a:p>
                  </a:txBody>
                  <a:tcPr marL="91440" marR="91440" marT="45720" marB="45720" anchor="ctr">
                    <a:lnL w="9525">
                      <a:solidFill>
                        <a:srgbClr val="D9E0DB"/>
                      </a:solidFill>
                      <a:prstDash val="solid"/>
                    </a:lnL>
                    <a:lnR w="9525">
                      <a:solidFill>
                        <a:srgbClr val="D9E0DB"/>
                      </a:solidFill>
                      <a:prstDash val="solid"/>
                    </a:lnR>
                    <a:lnB w="9525">
                      <a:solidFill>
                        <a:srgbClr val="D9E0DB"/>
                      </a:solidFill>
                      <a:prstDash val="solid"/>
                    </a:lnB>
                    <a:solidFill>
                      <a:srgbClr val="FFFFFF"/>
                    </a:solidFill>
                  </a:tcPr>
                </a:tc>
                <a:tc>
                  <a:txBody>
                    <a:bodyPr lIns="95250" tIns="95250" rIns="95250" bIns="95250"/>
                    <a:lstStyle/>
                    <a:p>
                      <a:pPr algn="ctr"/>
                      <a:r>
                        <a:rPr sz="1875" b="0">
                          <a:solidFill>
                            <a:srgbClr val="243C48"/>
                          </a:solidFill>
                          <a:latin typeface="Meiryo"/>
                          <a:ea typeface="Meiryo"/>
                          <a:cs typeface="Meiryo"/>
                        </a:rPr>
                        <a:t>1/4</a:t>
                      </a:r>
                    </a:p>
                  </a:txBody>
                  <a:tcPr marL="91440" marR="91440" marT="45720" marB="45720" anchor="ctr">
                    <a:lnR w="9525">
                      <a:solidFill>
                        <a:srgbClr val="D9E0DB"/>
                      </a:solidFill>
                      <a:prstDash val="solid"/>
                    </a:lnR>
                    <a:lnB w="9525">
                      <a:solidFill>
                        <a:srgbClr val="D9E0DB"/>
                      </a:solidFill>
                      <a:prstDash val="solid"/>
                    </a:lnB>
                    <a:solidFill>
                      <a:srgbClr val="FFFFFF"/>
                    </a:solidFill>
                  </a:tcPr>
                </a:tc>
                <a:tc>
                  <a:txBody>
                    <a:bodyPr lIns="95250" tIns="95250" rIns="95250" bIns="95250"/>
                    <a:lstStyle/>
                    <a:p>
                      <a:pPr algn="ctr"/>
                      <a:r>
                        <a:rPr sz="1875" b="0">
                          <a:solidFill>
                            <a:srgbClr val="243C48"/>
                          </a:solidFill>
                          <a:latin typeface="Meiryo"/>
                          <a:ea typeface="Meiryo"/>
                          <a:cs typeface="Meiryo"/>
                        </a:rPr>
                        <a:t>1/2</a:t>
                      </a:r>
                    </a:p>
                  </a:txBody>
                  <a:tcPr marL="91440" marR="91440" marT="45720" marB="45720" anchor="ctr">
                    <a:lnR w="9525">
                      <a:solidFill>
                        <a:srgbClr val="D9E0DB"/>
                      </a:solidFill>
                      <a:prstDash val="solid"/>
                    </a:lnR>
                    <a:lnB w="9525">
                      <a:solidFill>
                        <a:srgbClr val="D9E0DB"/>
                      </a:solidFill>
                      <a:prstDash val="solid"/>
                    </a:lnB>
                    <a:solidFill>
                      <a:srgbClr val="FFFFFF"/>
                    </a:solidFill>
                  </a:tcPr>
                </a:tc>
                <a:tc>
                  <a:txBody>
                    <a:bodyPr lIns="95250" tIns="95250" rIns="95250" bIns="95250"/>
                    <a:lstStyle/>
                    <a:p>
                      <a:pPr algn="ctr"/>
                      <a:r>
                        <a:rPr sz="1875" b="0">
                          <a:solidFill>
                            <a:srgbClr val="243C48"/>
                          </a:solidFill>
                          <a:latin typeface="Meiryo"/>
                          <a:ea typeface="Meiryo"/>
                          <a:cs typeface="Meiryo"/>
                        </a:rPr>
                        <a:t>1/4</a:t>
                      </a:r>
                    </a:p>
                  </a:txBody>
                  <a:tcPr marL="91440" marR="91440" marT="45720" marB="45720" anchor="ctr">
                    <a:lnR w="9525">
                      <a:solidFill>
                        <a:srgbClr val="D9E0DB"/>
                      </a:solidFill>
                      <a:prstDash val="solid"/>
                    </a:lnR>
                    <a:lnB w="9525">
                      <a:solidFill>
                        <a:srgbClr val="D9E0DB"/>
                      </a:solidFill>
                      <a:prstDash val="solid"/>
                    </a:lnB>
                    <a:solidFill>
                      <a:srgbClr val="FFFFFF"/>
                    </a:solidFill>
                  </a:tcPr>
                </a:tc>
              </a:tr>
              <a:tr h="514350">
                <a:tc>
                  <a:txBody>
                    <a:bodyPr lIns="95250" tIns="95250" rIns="95250" bIns="95250"/>
                    <a:lstStyle/>
                    <a:p>
                      <a:pPr algn="l"/>
                      <a:r>
                        <a:rPr sz="1875" b="0">
                          <a:solidFill>
                            <a:srgbClr val="243C48"/>
                          </a:solidFill>
                          <a:latin typeface="Meiryo"/>
                          <a:ea typeface="Meiryo"/>
                          <a:cs typeface="Meiryo"/>
                        </a:rPr>
                        <a:t>誤差の二乗（mm²）</a:t>
                      </a:r>
                    </a:p>
                  </a:txBody>
                  <a:tcPr marL="91440" marR="91440" marT="45720" marB="45720" anchor="ctr">
                    <a:lnL w="9525">
                      <a:solidFill>
                        <a:srgbClr val="D9E0DB"/>
                      </a:solidFill>
                      <a:prstDash val="solid"/>
                    </a:lnL>
                    <a:lnR w="9525">
                      <a:solidFill>
                        <a:srgbClr val="D9E0DB"/>
                      </a:solidFill>
                      <a:prstDash val="solid"/>
                    </a:lnR>
                    <a:lnB w="9525">
                      <a:solidFill>
                        <a:srgbClr val="D9E0DB"/>
                      </a:solidFill>
                      <a:prstDash val="solid"/>
                    </a:lnB>
                    <a:solidFill>
                      <a:srgbClr val="F0F3EF"/>
                    </a:solidFill>
                  </a:tcPr>
                </a:tc>
                <a:tc>
                  <a:txBody>
                    <a:bodyPr lIns="95250" tIns="95250" rIns="95250" bIns="95250"/>
                    <a:lstStyle/>
                    <a:p>
                      <a:pPr algn="ctr"/>
                      <a:r>
                        <a:rPr sz="1875" b="0">
                          <a:solidFill>
                            <a:srgbClr val="243C48"/>
                          </a:solidFill>
                          <a:latin typeface="Meiryo"/>
                          <a:ea typeface="Meiryo"/>
                          <a:cs typeface="Meiryo"/>
                        </a:rPr>
                        <a:t>4</a:t>
                      </a:r>
                    </a:p>
                  </a:txBody>
                  <a:tcPr marL="91440" marR="91440" marT="45720" marB="45720" anchor="ctr">
                    <a:lnR w="9525">
                      <a:solidFill>
                        <a:srgbClr val="D9E0DB"/>
                      </a:solidFill>
                      <a:prstDash val="solid"/>
                    </a:lnR>
                    <a:lnB w="9525">
                      <a:solidFill>
                        <a:srgbClr val="D9E0DB"/>
                      </a:solidFill>
                      <a:prstDash val="solid"/>
                    </a:lnB>
                    <a:solidFill>
                      <a:srgbClr val="F0F3EF"/>
                    </a:solidFill>
                  </a:tcPr>
                </a:tc>
                <a:tc>
                  <a:txBody>
                    <a:bodyPr lIns="95250" tIns="95250" rIns="95250" bIns="95250"/>
                    <a:lstStyle/>
                    <a:p>
                      <a:pPr algn="ctr"/>
                      <a:r>
                        <a:rPr sz="1875" b="0">
                          <a:solidFill>
                            <a:srgbClr val="243C48"/>
                          </a:solidFill>
                          <a:latin typeface="Meiryo"/>
                          <a:ea typeface="Meiryo"/>
                          <a:cs typeface="Meiryo"/>
                        </a:rPr>
                        <a:t>0</a:t>
                      </a:r>
                    </a:p>
                  </a:txBody>
                  <a:tcPr marL="91440" marR="91440" marT="45720" marB="45720" anchor="ctr">
                    <a:lnR w="9525">
                      <a:solidFill>
                        <a:srgbClr val="D9E0DB"/>
                      </a:solidFill>
                      <a:prstDash val="solid"/>
                    </a:lnR>
                    <a:lnB w="9525">
                      <a:solidFill>
                        <a:srgbClr val="D9E0DB"/>
                      </a:solidFill>
                      <a:prstDash val="solid"/>
                    </a:lnB>
                    <a:solidFill>
                      <a:srgbClr val="F0F3EF"/>
                    </a:solidFill>
                  </a:tcPr>
                </a:tc>
                <a:tc>
                  <a:txBody>
                    <a:bodyPr lIns="95250" tIns="95250" rIns="95250" bIns="95250"/>
                    <a:lstStyle/>
                    <a:p>
                      <a:pPr algn="ctr"/>
                      <a:r>
                        <a:rPr sz="1875" b="0">
                          <a:solidFill>
                            <a:srgbClr val="243C48"/>
                          </a:solidFill>
                          <a:latin typeface="Meiryo"/>
                          <a:ea typeface="Meiryo"/>
                          <a:cs typeface="Meiryo"/>
                        </a:rPr>
                        <a:t>4</a:t>
                      </a:r>
                    </a:p>
                  </a:txBody>
                  <a:tcPr marL="91440" marR="91440" marT="45720" marB="45720" anchor="ctr">
                    <a:lnR w="9525">
                      <a:solidFill>
                        <a:srgbClr val="D9E0DB"/>
                      </a:solidFill>
                      <a:prstDash val="solid"/>
                    </a:lnR>
                    <a:lnB w="9525">
                      <a:solidFill>
                        <a:srgbClr val="D9E0DB"/>
                      </a:solidFill>
                      <a:prstDash val="solid"/>
                    </a:lnB>
                    <a:solidFill>
                      <a:srgbClr val="F0F3EF"/>
                    </a:solidFill>
                  </a:tcPr>
                </a:tc>
              </a:tr>
            </a:tbl>
          </a:graphicData>
        </a:graphic>
      </p:graphicFrame>
      <mc:AlternateContent xmlns:mc="http://schemas.openxmlformats.org/markup-compatibility/2006" xmlns:a14="http://schemas.microsoft.com/office/drawing/2010/main">
        <mc:Choice Requires="a14">
          <p:sp>
            <p:nvSpPr>
              <p:cNvPr id="5" name="EQM00002">
                <a:extLst xmlns:a="http://schemas.openxmlformats.org/drawingml/2006/main">
                  <a:ext uri="{FF2B5EF4-FFF2-40B4-BE49-F238E27FC236}">
                    <a16:creationId xmlns:a16="http://schemas.microsoft.com/office/drawing/2014/main" id="{51716E32-5402-4927-92F0-5D2813C861D4}"/>
                  </a:ext>
                </a:extLst>
              </p:cNvPr>
              <p:cNvSpPr>
                <a:spLocks xmlns:a="http://schemas.openxmlformats.org/drawingml/2006/main" noGrp="1"/>
              </p:cNvSpPr>
              <p:nvPr/>
            </p:nvSpPr>
            <p:spPr>
              <a:xfrm xmlns:a="http://schemas.openxmlformats.org/drawingml/2006/main">
                <a:off x="762000" y="36353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14:m xmlns:m="http://schemas.openxmlformats.org/officeDocument/2006/math">
                  <m:oMathPara>
                    <m:oMathParaPr>
                      <m:jc m:val="centerGroup"/>
                    </m:oMathParaPr>
                    <m:oMath xmlns:mml="http://www.w3.org/1998/Math/MathML">
                      <m:r>
                        <m:rPr>
                          <m:sty m:val="p"/>
                        </m:rPr>
                        <a:rPr sz="2775" b="0" lang="en-US">
                          <a:solidFill>
                            <a:srgbClr val="183E50"/>
                          </a:solidFill>
                          <a:latin typeface="Cambria Math"/>
                          <a:ea typeface="Meiryo"/>
                        </a:rPr>
                        <m:t>E</m:t>
                      </m:r>
                      <m:r>
                        <a:rPr sz="2775" b="0" lang="en-US">
                          <a:solidFill>
                            <a:srgbClr val="183E50"/>
                          </a:solidFill>
                          <a:latin typeface="Cambria Math"/>
                          <a:ea typeface="Meiryo"/>
                        </a:rPr>
                        <m:t>[</m:t>
                      </m:r>
                      <m:sSub>
                        <m:e>
                          <m:r>
                            <a:rPr sz="2775" b="0" lang="en-US">
                              <a:solidFill>
                                <a:srgbClr val="183E50"/>
                              </a:solidFill>
                              <a:latin typeface="Cambria Math"/>
                              <a:ea typeface="Meiryo"/>
                            </a:rPr>
                            <m:t>e</m:t>
                          </m:r>
                        </m:e>
                        <m:sub>
                          <m:r>
                            <a:rPr sz="2775" b="0" lang="en-US">
                              <a:solidFill>
                                <a:srgbClr val="183E50"/>
                              </a:solidFill>
                              <a:latin typeface="Cambria Math"/>
                              <a:ea typeface="Meiryo"/>
                            </a:rPr>
                            <m:t>i</m:t>
                          </m:r>
                        </m:sub>
                      </m:sSub>
                      <m:r>
                        <a:rPr sz="2775" b="0" lang="en-US">
                          <a:solidFill>
                            <a:srgbClr val="183E50"/>
                          </a:solidFill>
                          <a:latin typeface="Cambria Math"/>
                          <a:ea typeface="Meiryo"/>
                        </a:rPr>
                        <m:t>]=(−2)⋅</m:t>
                      </m:r>
                      <m:f>
                        <m:fPr>
                          <m:type m:val="bar"/>
                        </m:fPr>
                        <m:num>
                          <m:r>
                            <a:rPr sz="2775" b="0" lang="en-US">
                              <a:solidFill>
                                <a:srgbClr val="183E50"/>
                              </a:solidFill>
                              <a:latin typeface="Cambria Math"/>
                              <a:ea typeface="Meiryo"/>
                            </a:rPr>
                            <m:t>1</m:t>
                          </m:r>
                        </m:num>
                        <m:den>
                          <m:r>
                            <a:rPr sz="2775" b="0" lang="en-US">
                              <a:solidFill>
                                <a:srgbClr val="183E50"/>
                              </a:solidFill>
                              <a:latin typeface="Cambria Math"/>
                              <a:ea typeface="Meiryo"/>
                            </a:rPr>
                            <m:t>4</m:t>
                          </m:r>
                        </m:den>
                      </m:f>
                      <m:r>
                        <a:rPr sz="2775" b="0" lang="en-US">
                          <a:solidFill>
                            <a:srgbClr val="183E50"/>
                          </a:solidFill>
                          <a:latin typeface="Cambria Math"/>
                          <a:ea typeface="Meiryo"/>
                        </a:rPr>
                        <m:t>+0⋅</m:t>
                      </m:r>
                      <m:f>
                        <m:fPr>
                          <m:type m:val="bar"/>
                        </m:fPr>
                        <m:num>
                          <m:r>
                            <a:rPr sz="2775" b="0" lang="en-US">
                              <a:solidFill>
                                <a:srgbClr val="183E50"/>
                              </a:solidFill>
                              <a:latin typeface="Cambria Math"/>
                              <a:ea typeface="Meiryo"/>
                            </a:rPr>
                            <m:t>1</m:t>
                          </m:r>
                        </m:num>
                        <m:den>
                          <m:r>
                            <a:rPr sz="2775" b="0" lang="en-US">
                              <a:solidFill>
                                <a:srgbClr val="183E50"/>
                              </a:solidFill>
                              <a:latin typeface="Cambria Math"/>
                              <a:ea typeface="Meiryo"/>
                            </a:rPr>
                            <m:t>2</m:t>
                          </m:r>
                        </m:den>
                      </m:f>
                      <m:r>
                        <a:rPr sz="2775" b="0" lang="en-US">
                          <a:solidFill>
                            <a:srgbClr val="183E50"/>
                          </a:solidFill>
                          <a:latin typeface="Cambria Math"/>
                          <a:ea typeface="Meiryo"/>
                        </a:rPr>
                        <m:t>+2⋅</m:t>
                      </m:r>
                      <m:f>
                        <m:fPr>
                          <m:type m:val="bar"/>
                        </m:fPr>
                        <m:num>
                          <m:r>
                            <a:rPr sz="2775" b="0" lang="en-US">
                              <a:solidFill>
                                <a:srgbClr val="183E50"/>
                              </a:solidFill>
                              <a:latin typeface="Cambria Math"/>
                              <a:ea typeface="Meiryo"/>
                            </a:rPr>
                            <m:t>1</m:t>
                          </m:r>
                        </m:num>
                        <m:den>
                          <m:r>
                            <a:rPr sz="2775" b="0" lang="en-US">
                              <a:solidFill>
                                <a:srgbClr val="183E50"/>
                              </a:solidFill>
                              <a:latin typeface="Cambria Math"/>
                              <a:ea typeface="Meiryo"/>
                            </a:rPr>
                            <m:t>4</m:t>
                          </m:r>
                        </m:den>
                      </m:f>
                      <m:r>
                        <a:rPr sz="2775" b="0" lang="en-US">
                          <a:solidFill>
                            <a:srgbClr val="183E50"/>
                          </a:solidFill>
                          <a:latin typeface="Cambria Math"/>
                          <a:ea typeface="Meiryo"/>
                        </a:rPr>
                        <m:t>=0</m:t>
                      </m:r>
                      <m:r>
                        <m:rPr>
                          <m:nor/>
                        </m:rPr>
                        <a:rPr sz="2775" b="0" lang="en-US">
                          <a:solidFill>
                            <a:srgbClr val="183E50"/>
                          </a:solidFill>
                          <a:latin typeface="Cambria Math"/>
                          <a:ea typeface="Meiryo"/>
                        </a:rPr>
                        <m:t> </m:t>
                      </m:r>
                      <m:r>
                        <m:rPr>
                          <m:sty m:val="p"/>
                        </m:rPr>
                        <a:rPr sz="2775" b="0" lang="en-US">
                          <a:solidFill>
                            <a:srgbClr val="183E50"/>
                          </a:solidFill>
                          <a:latin typeface="Cambria Math"/>
                          <a:ea typeface="Meiryo"/>
                        </a:rPr>
                        <m:t>mm</m:t>
                      </m:r>
                    </m:oMath>
                  </m:oMathPara>
                </a14:m>
              </a:p>
            </p:txBody>
          </p:sp>
        </mc:Choice>
        <mc:Fallback>
          <p:sp>
            <p:nvSpPr>
              <p:cNvPr id="5" name="EQM00002">
                <a:extLst xmlns:a="http://schemas.openxmlformats.org/drawingml/2006/main">
                  <a:ext uri="{FF2B5EF4-FFF2-40B4-BE49-F238E27FC236}">
                    <a16:creationId xmlns:a16="http://schemas.microsoft.com/office/drawing/2014/main" id="{51716E32-5402-4927-92F0-5D2813C861D4}"/>
                  </a:ext>
                </a:extLst>
              </p:cNvPr>
              <p:cNvSpPr>
                <a:spLocks xmlns:a="http://schemas.openxmlformats.org/drawingml/2006/main" noGrp="1"/>
              </p:cNvSpPr>
              <p:nvPr/>
            </p:nvSpPr>
            <p:spPr>
              <a:xfrm xmlns:a="http://schemas.openxmlformats.org/drawingml/2006/main">
                <a:off x="762000" y="363537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r>
                  <a:rPr sz="2775" b="0">
                    <a:solidFill>
                      <a:srgbClr val="183E50"/>
                    </a:solidFill>
                    <a:latin typeface="Cambria Math"/>
                    <a:ea typeface="Cambria Math"/>
                    <a:cs typeface="Cambria Math"/>
                  </a:rPr>
                  <a:t>\mathrm{E}[e_i]=(-2)\cdot\frac14+0\cdot\frac12+2\cdot\frac14=0\,\mathrm{mm}</a:t>
                </a:r>
              </a:p>
            </p:txBody>
          </p:sp>
        </mc:Fallback>
      </mc:AlternateContent>
      <mc:AlternateContent xmlns:mc="http://schemas.openxmlformats.org/markup-compatibility/2006" xmlns:a14="http://schemas.microsoft.com/office/drawing/2010/main">
        <mc:Choice Requires="a14">
          <p:sp>
            <p:nvSpPr>
              <p:cNvPr id="6" name="EQM00003">
                <a:extLst xmlns:a="http://schemas.openxmlformats.org/drawingml/2006/main">
                  <a:ext uri="{FF2B5EF4-FFF2-40B4-BE49-F238E27FC236}">
                    <a16:creationId xmlns:a16="http://schemas.microsoft.com/office/drawing/2014/main" id="{BA5B7D1E-364C-439D-9B0A-49E58B90901D}"/>
                  </a:ext>
                </a:extLst>
              </p:cNvPr>
              <p:cNvSpPr>
                <a:spLocks xmlns:a="http://schemas.openxmlformats.org/drawingml/2006/main" noGrp="1"/>
              </p:cNvSpPr>
              <p:nvPr/>
            </p:nvSpPr>
            <p:spPr>
              <a:xfrm xmlns:a="http://schemas.openxmlformats.org/drawingml/2006/main">
                <a:off x="762000" y="47244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14:m xmlns:m="http://schemas.openxmlformats.org/officeDocument/2006/math">
                  <m:oMathPara>
                    <m:oMathParaPr>
                      <m:jc m:val="centerGroup"/>
                    </m:oMathParaPr>
                    <m:oMath xmlns:mml="http://www.w3.org/1998/Math/MathML">
                      <m:r>
                        <m:rPr>
                          <m:sty m:val="p"/>
                        </m:rPr>
                        <a:rPr sz="2775" b="0" lang="en-US">
                          <a:solidFill>
                            <a:srgbClr val="183E50"/>
                          </a:solidFill>
                          <a:latin typeface="Cambria Math"/>
                          <a:ea typeface="Meiryo"/>
                        </a:rPr>
                        <m:t>E</m:t>
                      </m:r>
                      <m:r>
                        <a:rPr sz="2775" b="0" lang="en-US">
                          <a:solidFill>
                            <a:srgbClr val="183E50"/>
                          </a:solidFill>
                          <a:latin typeface="Cambria Math"/>
                          <a:ea typeface="Meiryo"/>
                        </a:rPr>
                        <m:t>[</m:t>
                      </m:r>
                      <m:sSubSup>
                        <m:e>
                          <m:r>
                            <a:rPr sz="2775" b="0" lang="en-US">
                              <a:solidFill>
                                <a:srgbClr val="183E50"/>
                              </a:solidFill>
                              <a:latin typeface="Cambria Math"/>
                              <a:ea typeface="Meiryo"/>
                            </a:rPr>
                            <m:t>e</m:t>
                          </m:r>
                        </m:e>
                        <m:sub>
                          <m:r>
                            <a:rPr sz="2775" b="0" lang="en-US">
                              <a:solidFill>
                                <a:srgbClr val="183E50"/>
                              </a:solidFill>
                              <a:latin typeface="Cambria Math"/>
                              <a:ea typeface="Meiryo"/>
                            </a:rPr>
                            <m:t>i</m:t>
                          </m:r>
                        </m:sub>
                        <m:sup>
                          <m:r>
                            <a:rPr sz="2775" b="0" lang="en-US">
                              <a:solidFill>
                                <a:srgbClr val="183E50"/>
                              </a:solidFill>
                              <a:latin typeface="Cambria Math"/>
                              <a:ea typeface="Meiryo"/>
                            </a:rPr>
                            <m:t>2</m:t>
                          </m:r>
                        </m:sup>
                      </m:sSubSup>
                      <m:r>
                        <a:rPr sz="2775" b="0" lang="en-US">
                          <a:solidFill>
                            <a:srgbClr val="183E50"/>
                          </a:solidFill>
                          <a:latin typeface="Cambria Math"/>
                          <a:ea typeface="Meiryo"/>
                        </a:rPr>
                        <m:t>]=4⋅</m:t>
                      </m:r>
                      <m:f>
                        <m:fPr>
                          <m:type m:val="bar"/>
                        </m:fPr>
                        <m:num>
                          <m:r>
                            <a:rPr sz="2775" b="0" lang="en-US">
                              <a:solidFill>
                                <a:srgbClr val="183E50"/>
                              </a:solidFill>
                              <a:latin typeface="Cambria Math"/>
                              <a:ea typeface="Meiryo"/>
                            </a:rPr>
                            <m:t>1</m:t>
                          </m:r>
                        </m:num>
                        <m:den>
                          <m:r>
                            <a:rPr sz="2775" b="0" lang="en-US">
                              <a:solidFill>
                                <a:srgbClr val="183E50"/>
                              </a:solidFill>
                              <a:latin typeface="Cambria Math"/>
                              <a:ea typeface="Meiryo"/>
                            </a:rPr>
                            <m:t>4</m:t>
                          </m:r>
                        </m:den>
                      </m:f>
                      <m:r>
                        <a:rPr sz="2775" b="0" lang="en-US">
                          <a:solidFill>
                            <a:srgbClr val="183E50"/>
                          </a:solidFill>
                          <a:latin typeface="Cambria Math"/>
                          <a:ea typeface="Meiryo"/>
                        </a:rPr>
                        <m:t>+0⋅</m:t>
                      </m:r>
                      <m:f>
                        <m:fPr>
                          <m:type m:val="bar"/>
                        </m:fPr>
                        <m:num>
                          <m:r>
                            <a:rPr sz="2775" b="0" lang="en-US">
                              <a:solidFill>
                                <a:srgbClr val="183E50"/>
                              </a:solidFill>
                              <a:latin typeface="Cambria Math"/>
                              <a:ea typeface="Meiryo"/>
                            </a:rPr>
                            <m:t>1</m:t>
                          </m:r>
                        </m:num>
                        <m:den>
                          <m:r>
                            <a:rPr sz="2775" b="0" lang="en-US">
                              <a:solidFill>
                                <a:srgbClr val="183E50"/>
                              </a:solidFill>
                              <a:latin typeface="Cambria Math"/>
                              <a:ea typeface="Meiryo"/>
                            </a:rPr>
                            <m:t>2</m:t>
                          </m:r>
                        </m:den>
                      </m:f>
                      <m:r>
                        <a:rPr sz="2775" b="0" lang="en-US">
                          <a:solidFill>
                            <a:srgbClr val="183E50"/>
                          </a:solidFill>
                          <a:latin typeface="Cambria Math"/>
                          <a:ea typeface="Meiryo"/>
                        </a:rPr>
                        <m:t>+4⋅</m:t>
                      </m:r>
                      <m:f>
                        <m:fPr>
                          <m:type m:val="bar"/>
                        </m:fPr>
                        <m:num>
                          <m:r>
                            <a:rPr sz="2775" b="0" lang="en-US">
                              <a:solidFill>
                                <a:srgbClr val="183E50"/>
                              </a:solidFill>
                              <a:latin typeface="Cambria Math"/>
                              <a:ea typeface="Meiryo"/>
                            </a:rPr>
                            <m:t>1</m:t>
                          </m:r>
                        </m:num>
                        <m:den>
                          <m:r>
                            <a:rPr sz="2775" b="0" lang="en-US">
                              <a:solidFill>
                                <a:srgbClr val="183E50"/>
                              </a:solidFill>
                              <a:latin typeface="Cambria Math"/>
                              <a:ea typeface="Meiryo"/>
                            </a:rPr>
                            <m:t>4</m:t>
                          </m:r>
                        </m:den>
                      </m:f>
                      <m:r>
                        <a:rPr sz="2775" b="0" lang="en-US">
                          <a:solidFill>
                            <a:srgbClr val="183E50"/>
                          </a:solidFill>
                          <a:latin typeface="Cambria Math"/>
                          <a:ea typeface="Meiryo"/>
                        </a:rPr>
                        <m:t>=2</m:t>
                      </m:r>
                      <m:r>
                        <m:rPr>
                          <m:nor/>
                        </m:rPr>
                        <a:rPr sz="2775" b="0" lang="en-US">
                          <a:solidFill>
                            <a:srgbClr val="183E50"/>
                          </a:solidFill>
                          <a:latin typeface="Cambria Math"/>
                          <a:ea typeface="Meiryo"/>
                        </a:rPr>
                        <m:t> </m:t>
                      </m:r>
                      <m:sSup>
                        <m:e>
                          <m:r>
                            <m:rPr>
                              <m:sty m:val="p"/>
                            </m:rPr>
                            <a:rPr sz="2775" b="0" lang="en-US">
                              <a:solidFill>
                                <a:srgbClr val="183E50"/>
                              </a:solidFill>
                              <a:latin typeface="Cambria Math"/>
                              <a:ea typeface="Meiryo"/>
                            </a:rPr>
                            <m:t>mm</m:t>
                          </m:r>
                        </m:e>
                        <m:sup>
                          <m:r>
                            <a:rPr sz="2775" b="0" lang="en-US">
                              <a:solidFill>
                                <a:srgbClr val="183E50"/>
                              </a:solidFill>
                              <a:latin typeface="Cambria Math"/>
                              <a:ea typeface="Meiryo"/>
                            </a:rPr>
                            <m:t>2</m:t>
                          </m:r>
                        </m:sup>
                      </m:sSup>
                    </m:oMath>
                  </m:oMathPara>
                </a14:m>
              </a:p>
            </p:txBody>
          </p:sp>
        </mc:Choice>
        <mc:Fallback>
          <p:sp>
            <p:nvSpPr>
              <p:cNvPr id="6" name="EQM00003">
                <a:extLst xmlns:a="http://schemas.openxmlformats.org/drawingml/2006/main">
                  <a:ext uri="{FF2B5EF4-FFF2-40B4-BE49-F238E27FC236}">
                    <a16:creationId xmlns:a16="http://schemas.microsoft.com/office/drawing/2014/main" id="{BA5B7D1E-364C-439D-9B0A-49E58B90901D}"/>
                  </a:ext>
                </a:extLst>
              </p:cNvPr>
              <p:cNvSpPr>
                <a:spLocks xmlns:a="http://schemas.openxmlformats.org/drawingml/2006/main" noGrp="1"/>
              </p:cNvSpPr>
              <p:nvPr/>
            </p:nvSpPr>
            <p:spPr>
              <a:xfrm xmlns:a="http://schemas.openxmlformats.org/drawingml/2006/main">
                <a:off x="762000" y="47244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r>
                  <a:rPr sz="2775" b="0">
                    <a:solidFill>
                      <a:srgbClr val="183E50"/>
                    </a:solidFill>
                    <a:latin typeface="Cambria Math"/>
                    <a:ea typeface="Cambria Math"/>
                    <a:cs typeface="Cambria Math"/>
                  </a:rPr>
                  <a:t>\mathrm{E}[e_i^2]=4\cdot\frac14+0\cdot\frac12+4\cdot\frac14=2\,\mathrm{mm}^2</a:t>
                </a:r>
              </a:p>
            </p:txBody>
          </p:sp>
        </mc:Fallback>
      </mc:AlternateContent>
      <p:sp>
        <p:nvSpPr>
          <p:cNvPr id="7" name="E[eᵢ²] は、二乗した誤差の平均。E[eᵢ]² とは異なる。">
            <a:extLst xmlns:a="http://schemas.openxmlformats.org/drawingml/2006/main">
              <a:ext uri="{FF2B5EF4-FFF2-40B4-BE49-F238E27FC236}">
                <a16:creationId xmlns:a16="http://schemas.microsoft.com/office/drawing/2014/main" id="{F38C813B-781B-46E9-BE82-81066C18C499}"/>
              </a:ext>
            </a:extLst>
          </p:cNvPr>
          <p:cNvSpPr>
            <a:spLocks xmlns:a="http://schemas.openxmlformats.org/drawingml/2006/main" noGrp="1"/>
          </p:cNvSpPr>
          <p:nvPr/>
        </p:nvSpPr>
        <p:spPr>
          <a:xfrm xmlns:a="http://schemas.openxmlformats.org/drawingml/2006/main">
            <a:off x="762000" y="5972175"/>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37B78"/>
                </a:solidFill>
                <a:latin typeface="Meiryo"/>
                <a:ea typeface="Meiryo"/>
                <a:cs typeface="Meiryo"/>
              </a:defRPr>
            </a:defPPr>
          </a:lstStyle>
          <a:p xmlns:a="http://schemas.openxmlformats.org/drawingml/2006/main">
            <a:pPr algn="l">
              <a:defRPr sz="1950" b="1">
                <a:solidFill>
                  <a:srgbClr val="137B78"/>
                </a:solidFill>
                <a:latin typeface="Meiryo"/>
                <a:ea typeface="Meiryo"/>
                <a:cs typeface="Meiryo"/>
              </a:defRPr>
            </a:pPr>
            <a:r>
              <a:rPr sz="1950" b="1">
                <a:solidFill>
                  <a:srgbClr val="137B78"/>
                </a:solidFill>
                <a:latin typeface="Meiryo"/>
                <a:ea typeface="Meiryo"/>
                <a:cs typeface="Meiryo"/>
              </a:rPr>
              <a:t>E[eᵢ²] は、二乗した誤差の平均。E[eᵢ]² とは異なる。</a:t>
            </a:r>
          </a:p>
        </p:txBody>
      </p:sp>
    </p:spTree>
    <p:extLst>
      <p:ext uri="{BB962C8B-B14F-4D97-AF65-F5344CB8AC3E}">
        <p14:creationId xmlns:p14="http://schemas.microsoft.com/office/powerpoint/2010/main" val="284857501"/>
      </p:ext>
    </p:extLst>
  </p:cSld>
</p:sld>
</file>

<file path=ppt/slides/slide3.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9" name="補足05-3 分散の定義と、平均0の代入">
            <a:extLst xmlns:a="http://schemas.openxmlformats.org/drawingml/2006/main">
              <a:ext uri="{FF2B5EF4-FFF2-40B4-BE49-F238E27FC236}">
                <a16:creationId xmlns:a16="http://schemas.microsoft.com/office/drawing/2014/main" id="{97D65B0A-155F-46FD-A5C8-F70C0AEFE36D}"/>
              </a:ext>
            </a:extLst>
          </p:cNvPr>
          <p:cNvSpPr>
            <a:spLocks xmlns:a="http://schemas.openxmlformats.org/drawingml/2006/main" noGrp="1"/>
          </p:cNvSpPr>
          <p:nvPr/>
        </p:nvSpPr>
        <p:spPr>
          <a:xfrm xmlns:a="http://schemas.openxmlformats.org/drawingml/2006/main">
            <a:off x="685800" y="4191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183E50"/>
                </a:solidFill>
                <a:latin typeface="Meiryo"/>
                <a:ea typeface="Meiryo"/>
                <a:cs typeface="Meiryo"/>
              </a:defRPr>
            </a:defPPr>
          </a:lstStyle>
          <a:p xmlns:a="http://schemas.openxmlformats.org/drawingml/2006/main">
            <a:pPr algn="l">
              <a:defRPr sz="2850" b="1">
                <a:solidFill>
                  <a:srgbClr val="183E50"/>
                </a:solidFill>
                <a:latin typeface="Meiryo"/>
                <a:ea typeface="Meiryo"/>
                <a:cs typeface="Meiryo"/>
              </a:defRPr>
            </a:pPr>
            <a:r>
              <a:rPr sz="2850" b="1">
                <a:solidFill>
                  <a:srgbClr val="183E50"/>
                </a:solidFill>
                <a:latin typeface="Meiryo"/>
                <a:ea typeface="Meiryo"/>
                <a:cs typeface="Meiryo"/>
              </a:rPr>
              <a:t>補足05-3 分散の定義と、平均0の代入</a:t>
            </a:r>
          </a:p>
        </p:txBody>
      </p:sp>
      <p:sp>
        <p:nvSpPr>
          <p:cNvPr id="2" name="3 / 5">
            <a:extLst xmlns:a="http://schemas.openxmlformats.org/drawingml/2006/main">
              <a:ext uri="{FF2B5EF4-FFF2-40B4-BE49-F238E27FC236}">
                <a16:creationId xmlns:a16="http://schemas.microsoft.com/office/drawing/2014/main" id="{C431BF43-515A-4BF7-9D55-B0DEB9A5331D}"/>
              </a:ext>
            </a:extLst>
          </p:cNvPr>
          <p:cNvSpPr>
            <a:spLocks xmlns:a="http://schemas.openxmlformats.org/drawingml/2006/main" noGrp="1"/>
          </p:cNvSpPr>
          <p:nvPr/>
        </p:nvSpPr>
        <p:spPr>
          <a:xfrm xmlns:a="http://schemas.openxmlformats.org/drawingml/2006/main">
            <a:off x="10763250" y="6448425"/>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200" b="0">
                <a:solidFill>
                  <a:srgbClr val="64757D"/>
                </a:solidFill>
                <a:latin typeface="Meiryo"/>
                <a:ea typeface="Meiryo"/>
                <a:cs typeface="Meiryo"/>
              </a:defRPr>
            </a:defPPr>
          </a:lstStyle>
          <a:p xmlns:a="http://schemas.openxmlformats.org/drawingml/2006/main">
            <a:pPr algn="l">
              <a:defRPr sz="1200" b="0">
                <a:solidFill>
                  <a:srgbClr val="64757D"/>
                </a:solidFill>
                <a:latin typeface="Meiryo"/>
                <a:ea typeface="Meiryo"/>
                <a:cs typeface="Meiryo"/>
              </a:defRPr>
            </a:pPr>
            <a:r>
              <a:rPr sz="1200" b="0">
                <a:solidFill>
                  <a:srgbClr val="64757D"/>
                </a:solidFill>
                <a:latin typeface="Meiryo"/>
                <a:ea typeface="Meiryo"/>
                <a:cs typeface="Meiryo"/>
              </a:rPr>
              <a:t>3 / 5</a:t>
            </a:r>
          </a:p>
        </p:txBody>
      </p:sp>
      <p:sp>
        <p:nvSpPr>
          <p:cNvPr id="3" name="分散は「その量の平均からのずれ」を二乗して平均したもの。">
            <a:extLst xmlns:a="http://schemas.openxmlformats.org/drawingml/2006/main">
              <a:ext uri="{FF2B5EF4-FFF2-40B4-BE49-F238E27FC236}">
                <a16:creationId xmlns:a16="http://schemas.microsoft.com/office/drawing/2014/main" id="{B194F1E9-13FC-4E89-8C99-CB7F5CCBAEC5}"/>
              </a:ext>
            </a:extLst>
          </p:cNvPr>
          <p:cNvSpPr>
            <a:spLocks xmlns:a="http://schemas.openxmlformats.org/drawingml/2006/main" noGrp="1"/>
          </p:cNvSpPr>
          <p:nvPr/>
        </p:nvSpPr>
        <p:spPr>
          <a:xfrm xmlns:a="http://schemas.openxmlformats.org/drawingml/2006/main">
            <a:off x="762000" y="13906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243C48"/>
                </a:solidFill>
                <a:latin typeface="Meiryo"/>
                <a:ea typeface="Meiryo"/>
                <a:cs typeface="Meiryo"/>
              </a:defRPr>
            </a:defPPr>
          </a:lstStyle>
          <a:p xmlns:a="http://schemas.openxmlformats.org/drawingml/2006/main">
            <a:pPr algn="l">
              <a:defRPr sz="1950" b="0">
                <a:solidFill>
                  <a:srgbClr val="243C48"/>
                </a:solidFill>
                <a:latin typeface="Meiryo"/>
                <a:ea typeface="Meiryo"/>
                <a:cs typeface="Meiryo"/>
              </a:defRPr>
            </a:pPr>
            <a:r>
              <a:rPr sz="1950" b="0">
                <a:solidFill>
                  <a:srgbClr val="243C48"/>
                </a:solidFill>
                <a:latin typeface="Meiryo"/>
                <a:ea typeface="Meiryo"/>
                <a:cs typeface="Meiryo"/>
              </a:rPr>
              <a:t>分散は「その量の平均からのずれ」を二乗して平均したもの。</a:t>
            </a:r>
          </a:p>
        </p:txBody>
      </p:sp>
      <mc:AlternateContent xmlns:mc="http://schemas.openxmlformats.org/markup-compatibility/2006" xmlns:a14="http://schemas.microsoft.com/office/drawing/2010/main">
        <mc:Choice Requires="a14">
          <p:sp>
            <p:nvSpPr>
              <p:cNvPr id="4" name="EQM00004">
                <a:extLst xmlns:a="http://schemas.openxmlformats.org/drawingml/2006/main">
                  <a:ext uri="{FF2B5EF4-FFF2-40B4-BE49-F238E27FC236}">
                    <a16:creationId xmlns:a16="http://schemas.microsoft.com/office/drawing/2014/main" id="{94AA988A-7357-4768-96A8-31C24EB1145D}"/>
                  </a:ext>
                </a:extLst>
              </p:cNvPr>
              <p:cNvSpPr>
                <a:spLocks xmlns:a="http://schemas.openxmlformats.org/drawingml/2006/main" noGrp="1"/>
              </p:cNvSpPr>
              <p:nvPr/>
            </p:nvSpPr>
            <p:spPr>
              <a:xfrm xmlns:a="http://schemas.openxmlformats.org/drawingml/2006/main">
                <a:off x="762000" y="206692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14:m xmlns:m="http://schemas.openxmlformats.org/officeDocument/2006/math">
                  <m:oMathPara>
                    <m:oMathParaPr>
                      <m:jc m:val="centerGroup"/>
                    </m:oMathParaPr>
                    <m:oMath xmlns:mml="http://www.w3.org/1998/Math/MathML">
                      <m:sSub>
                        <m:e>
                          <m:r>
                            <a:rPr sz="2775" b="0" lang="en-US">
                              <a:solidFill>
                                <a:srgbClr val="183E50"/>
                              </a:solidFill>
                              <a:latin typeface="Cambria Math"/>
                              <a:ea typeface="Meiryo"/>
                            </a:rPr>
                            <m:t>μ</m:t>
                          </m:r>
                        </m:e>
                        <m:sub>
                          <m:r>
                            <a:rPr sz="2775" b="0" lang="en-US">
                              <a:solidFill>
                                <a:srgbClr val="183E50"/>
                              </a:solidFill>
                              <a:latin typeface="Cambria Math"/>
                              <a:ea typeface="Meiryo"/>
                            </a:rPr>
                            <m:t>e</m:t>
                          </m:r>
                        </m:sub>
                      </m:sSub>
                      <m:r>
                        <a:rPr sz="2775" b="0" lang="en-US">
                          <a:solidFill>
                            <a:srgbClr val="183E50"/>
                          </a:solidFill>
                          <a:latin typeface="Cambria Math"/>
                          <a:ea typeface="Meiryo"/>
                        </a:rPr>
                        <m:t>=</m:t>
                      </m:r>
                      <m:r>
                        <m:rPr>
                          <m:sty m:val="p"/>
                        </m:rPr>
                        <a:rPr sz="2775" b="0" lang="en-US">
                          <a:solidFill>
                            <a:srgbClr val="183E50"/>
                          </a:solidFill>
                          <a:latin typeface="Cambria Math"/>
                          <a:ea typeface="Meiryo"/>
                        </a:rPr>
                        <m:t>E</m:t>
                      </m:r>
                      <m:r>
                        <a:rPr sz="2775" b="0" lang="en-US">
                          <a:solidFill>
                            <a:srgbClr val="183E50"/>
                          </a:solidFill>
                          <a:latin typeface="Cambria Math"/>
                          <a:ea typeface="Meiryo"/>
                        </a:rPr>
                        <m:t>[</m:t>
                      </m:r>
                      <m:sSub>
                        <m:e>
                          <m:r>
                            <a:rPr sz="2775" b="0" lang="en-US">
                              <a:solidFill>
                                <a:srgbClr val="183E50"/>
                              </a:solidFill>
                              <a:latin typeface="Cambria Math"/>
                              <a:ea typeface="Meiryo"/>
                            </a:rPr>
                            <m:t>e</m:t>
                          </m:r>
                        </m:e>
                        <m:sub>
                          <m:r>
                            <a:rPr sz="2775" b="0" lang="en-US">
                              <a:solidFill>
                                <a:srgbClr val="183E50"/>
                              </a:solidFill>
                              <a:latin typeface="Cambria Math"/>
                              <a:ea typeface="Meiryo"/>
                            </a:rPr>
                            <m:t>i</m:t>
                          </m:r>
                        </m:sub>
                      </m:sSub>
                      <m:r>
                        <a:rPr sz="2775" b="0" lang="en-US">
                          <a:solidFill>
                            <a:srgbClr val="183E50"/>
                          </a:solidFill>
                          <a:latin typeface="Cambria Math"/>
                          <a:ea typeface="Meiryo"/>
                        </a:rPr>
                        <m:t>],</m:t>
                      </m:r>
                      <m:r>
                        <m:rPr>
                          <m:nor/>
                        </m:rPr>
                        <a:rPr sz="2775" b="0" lang="en-US">
                          <a:solidFill>
                            <a:srgbClr val="183E50"/>
                          </a:solidFill>
                          <a:latin typeface="Cambria Math"/>
                          <a:ea typeface="Meiryo"/>
                        </a:rPr>
                        <m:t>  </m:t>
                      </m:r>
                      <m:r>
                        <m:rPr>
                          <m:sty m:val="p"/>
                        </m:rPr>
                        <a:rPr sz="2775" b="0" lang="en-US">
                          <a:solidFill>
                            <a:srgbClr val="183E50"/>
                          </a:solidFill>
                          <a:latin typeface="Cambria Math"/>
                          <a:ea typeface="Meiryo"/>
                        </a:rPr>
                        <m:t>Var</m:t>
                      </m:r>
                      <m:r>
                        <a:rPr sz="2775" b="0" lang="en-US">
                          <a:solidFill>
                            <a:srgbClr val="183E50"/>
                          </a:solidFill>
                          <a:latin typeface="Cambria Math"/>
                          <a:ea typeface="Meiryo"/>
                        </a:rPr>
                        <m:t>⁡(</m:t>
                      </m:r>
                      <m:sSub>
                        <m:e>
                          <m:r>
                            <a:rPr sz="2775" b="0" lang="en-US">
                              <a:solidFill>
                                <a:srgbClr val="183E50"/>
                              </a:solidFill>
                              <a:latin typeface="Cambria Math"/>
                              <a:ea typeface="Meiryo"/>
                            </a:rPr>
                            <m:t>e</m:t>
                          </m:r>
                        </m:e>
                        <m:sub>
                          <m:r>
                            <a:rPr sz="2775" b="0" lang="en-US">
                              <a:solidFill>
                                <a:srgbClr val="183E50"/>
                              </a:solidFill>
                              <a:latin typeface="Cambria Math"/>
                              <a:ea typeface="Meiryo"/>
                            </a:rPr>
                            <m:t>i</m:t>
                          </m:r>
                        </m:sub>
                      </m:sSub>
                      <m:r>
                        <a:rPr sz="2775" b="0" lang="en-US">
                          <a:solidFill>
                            <a:srgbClr val="183E50"/>
                          </a:solidFill>
                          <a:latin typeface="Cambria Math"/>
                          <a:ea typeface="Meiryo"/>
                        </a:rPr>
                        <m:t>)=</m:t>
                      </m:r>
                      <m:r>
                        <m:rPr>
                          <m:sty m:val="p"/>
                        </m:rPr>
                        <a:rPr sz="2775" b="0" lang="en-US">
                          <a:solidFill>
                            <a:srgbClr val="183E50"/>
                          </a:solidFill>
                          <a:latin typeface="Cambria Math"/>
                          <a:ea typeface="Meiryo"/>
                        </a:rPr>
                        <m:t>E</m:t>
                      </m:r>
                      <m:r>
                        <a:rPr sz="2775" b="0" lang="en-US">
                          <a:solidFill>
                            <a:srgbClr val="183E50"/>
                          </a:solidFill>
                          <a:latin typeface="Cambria Math"/>
                          <a:ea typeface="Meiryo"/>
                        </a:rPr>
                        <m:t>[(</m:t>
                      </m:r>
                      <m:sSub>
                        <m:e>
                          <m:r>
                            <a:rPr sz="2775" b="0" lang="en-US">
                              <a:solidFill>
                                <a:srgbClr val="183E50"/>
                              </a:solidFill>
                              <a:latin typeface="Cambria Math"/>
                              <a:ea typeface="Meiryo"/>
                            </a:rPr>
                            <m:t>e</m:t>
                          </m:r>
                        </m:e>
                        <m:sub>
                          <m:r>
                            <a:rPr sz="2775" b="0" lang="en-US">
                              <a:solidFill>
                                <a:srgbClr val="183E50"/>
                              </a:solidFill>
                              <a:latin typeface="Cambria Math"/>
                              <a:ea typeface="Meiryo"/>
                            </a:rPr>
                            <m:t>i</m:t>
                          </m:r>
                        </m:sub>
                      </m:sSub>
                      <m:r>
                        <a:rPr sz="2775" b="0" lang="en-US">
                          <a:solidFill>
                            <a:srgbClr val="183E50"/>
                          </a:solidFill>
                          <a:latin typeface="Cambria Math"/>
                          <a:ea typeface="Meiryo"/>
                        </a:rPr>
                        <m:t>−</m:t>
                      </m:r>
                      <m:sSub>
                        <m:e>
                          <m:r>
                            <a:rPr sz="2775" b="0" lang="en-US">
                              <a:solidFill>
                                <a:srgbClr val="183E50"/>
                              </a:solidFill>
                              <a:latin typeface="Cambria Math"/>
                              <a:ea typeface="Meiryo"/>
                            </a:rPr>
                            <m:t>μ</m:t>
                          </m:r>
                        </m:e>
                        <m:sub>
                          <m:r>
                            <a:rPr sz="2775" b="0" lang="en-US">
                              <a:solidFill>
                                <a:srgbClr val="183E50"/>
                              </a:solidFill>
                              <a:latin typeface="Cambria Math"/>
                              <a:ea typeface="Meiryo"/>
                            </a:rPr>
                            <m:t>e</m:t>
                          </m:r>
                        </m:sub>
                      </m:sSub>
                      <m:sSup>
                        <m:e>
                          <m:r>
                            <a:rPr sz="2775" b="0" lang="en-US">
                              <a:solidFill>
                                <a:srgbClr val="183E50"/>
                              </a:solidFill>
                              <a:latin typeface="Cambria Math"/>
                              <a:ea typeface="Meiryo"/>
                            </a:rPr>
                            <m:t>)</m:t>
                          </m:r>
                        </m:e>
                        <m:sup>
                          <m:r>
                            <a:rPr sz="2775" b="0" lang="en-US">
                              <a:solidFill>
                                <a:srgbClr val="183E50"/>
                              </a:solidFill>
                              <a:latin typeface="Cambria Math"/>
                              <a:ea typeface="Meiryo"/>
                            </a:rPr>
                            <m:t>2</m:t>
                          </m:r>
                        </m:sup>
                      </m:sSup>
                      <m:r>
                        <a:rPr sz="2775" b="0" lang="en-US">
                          <a:solidFill>
                            <a:srgbClr val="183E50"/>
                          </a:solidFill>
                          <a:latin typeface="Cambria Math"/>
                          <a:ea typeface="Meiryo"/>
                        </a:rPr>
                        <m:t>]</m:t>
                      </m:r>
                    </m:oMath>
                  </m:oMathPara>
                </a14:m>
              </a:p>
            </p:txBody>
          </p:sp>
        </mc:Choice>
        <mc:Fallback>
          <p:sp>
            <p:nvSpPr>
              <p:cNvPr id="4" name="EQM00004">
                <a:extLst xmlns:a="http://schemas.openxmlformats.org/drawingml/2006/main">
                  <a:ext uri="{FF2B5EF4-FFF2-40B4-BE49-F238E27FC236}">
                    <a16:creationId xmlns:a16="http://schemas.microsoft.com/office/drawing/2014/main" id="{94AA988A-7357-4768-96A8-31C24EB1145D}"/>
                  </a:ext>
                </a:extLst>
              </p:cNvPr>
              <p:cNvSpPr>
                <a:spLocks xmlns:a="http://schemas.openxmlformats.org/drawingml/2006/main" noGrp="1"/>
              </p:cNvSpPr>
              <p:nvPr/>
            </p:nvSpPr>
            <p:spPr>
              <a:xfrm xmlns:a="http://schemas.openxmlformats.org/drawingml/2006/main">
                <a:off x="762000" y="206692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r>
                  <a:rPr sz="2775" b="0">
                    <a:solidFill>
                      <a:srgbClr val="183E50"/>
                    </a:solidFill>
                    <a:latin typeface="Cambria Math"/>
                    <a:ea typeface="Cambria Math"/>
                    <a:cs typeface="Cambria Math"/>
                  </a:rPr>
                  <a:t>\mu_e=\mathrm{E}[e_i],\qquad \operatorname{Var}(e_i)=\mathrm{E}[(e_i-\mu_e)^2]</a:t>
                </a:r>
              </a:p>
            </p:txBody>
          </p:sp>
        </mc:Fallback>
      </mc:AlternateContent>
      <p:sp>
        <p:nvSpPr>
          <p:cNvPr id="5" name="平均0の仮定を代入すると、元のスライドの式になる。">
            <a:extLst xmlns:a="http://schemas.openxmlformats.org/drawingml/2006/main">
              <a:ext uri="{FF2B5EF4-FFF2-40B4-BE49-F238E27FC236}">
                <a16:creationId xmlns:a16="http://schemas.microsoft.com/office/drawing/2014/main" id="{C5BFF83E-1F55-4000-B721-F01445C4C902}"/>
              </a:ext>
            </a:extLst>
          </p:cNvPr>
          <p:cNvSpPr>
            <a:spLocks xmlns:a="http://schemas.openxmlformats.org/drawingml/2006/main" noGrp="1"/>
          </p:cNvSpPr>
          <p:nvPr/>
        </p:nvSpPr>
        <p:spPr>
          <a:xfrm xmlns:a="http://schemas.openxmlformats.org/drawingml/2006/main">
            <a:off x="762000" y="30575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243C48"/>
                </a:solidFill>
                <a:latin typeface="Meiryo"/>
                <a:ea typeface="Meiryo"/>
                <a:cs typeface="Meiryo"/>
              </a:defRPr>
            </a:defPPr>
          </a:lstStyle>
          <a:p xmlns:a="http://schemas.openxmlformats.org/drawingml/2006/main">
            <a:pPr algn="l">
              <a:defRPr sz="1950" b="0">
                <a:solidFill>
                  <a:srgbClr val="243C48"/>
                </a:solidFill>
                <a:latin typeface="Meiryo"/>
                <a:ea typeface="Meiryo"/>
                <a:cs typeface="Meiryo"/>
              </a:defRPr>
            </a:pPr>
            <a:r>
              <a:rPr sz="1950" b="0">
                <a:solidFill>
                  <a:srgbClr val="243C48"/>
                </a:solidFill>
                <a:latin typeface="Meiryo"/>
                <a:ea typeface="Meiryo"/>
                <a:cs typeface="Meiryo"/>
              </a:rPr>
              <a:t>平均0の仮定を代入すると、元のスライドの式になる。</a:t>
            </a:r>
          </a:p>
        </p:txBody>
      </p:sp>
      <mc:AlternateContent xmlns:mc="http://schemas.openxmlformats.org/markup-compatibility/2006" xmlns:a14="http://schemas.microsoft.com/office/drawing/2010/main">
        <mc:Choice Requires="a14">
          <p:sp>
            <p:nvSpPr>
              <p:cNvPr id="6" name="EQM00005">
                <a:extLst xmlns:a="http://schemas.openxmlformats.org/drawingml/2006/main">
                  <a:ext uri="{FF2B5EF4-FFF2-40B4-BE49-F238E27FC236}">
                    <a16:creationId xmlns:a16="http://schemas.microsoft.com/office/drawing/2014/main" id="{900671E6-4C76-40C4-B38A-8CC1C7518818}"/>
                  </a:ext>
                </a:extLst>
              </p:cNvPr>
              <p:cNvSpPr>
                <a:spLocks xmlns:a="http://schemas.openxmlformats.org/drawingml/2006/main" noGrp="1"/>
              </p:cNvSpPr>
              <p:nvPr/>
            </p:nvSpPr>
            <p:spPr>
              <a:xfrm xmlns:a="http://schemas.openxmlformats.org/drawingml/2006/main">
                <a:off x="762000" y="37338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14:m xmlns:m="http://schemas.openxmlformats.org/officeDocument/2006/math">
                  <m:oMathPara>
                    <m:oMathParaPr>
                      <m:jc m:val="centerGroup"/>
                    </m:oMathParaPr>
                    <m:oMath xmlns:mml="http://www.w3.org/1998/Math/MathML">
                      <m:sSub>
                        <m:e>
                          <m:r>
                            <a:rPr sz="2775" b="0" lang="en-US">
                              <a:solidFill>
                                <a:srgbClr val="183E50"/>
                              </a:solidFill>
                              <a:latin typeface="Cambria Math"/>
                              <a:ea typeface="Meiryo"/>
                            </a:rPr>
                            <m:t>μ</m:t>
                          </m:r>
                        </m:e>
                        <m:sub>
                          <m:r>
                            <a:rPr sz="2775" b="0" lang="en-US">
                              <a:solidFill>
                                <a:srgbClr val="183E50"/>
                              </a:solidFill>
                              <a:latin typeface="Cambria Math"/>
                              <a:ea typeface="Meiryo"/>
                            </a:rPr>
                            <m:t>e</m:t>
                          </m:r>
                        </m:sub>
                      </m:sSub>
                      <m:r>
                        <a:rPr sz="2775" b="0" lang="en-US">
                          <a:solidFill>
                            <a:srgbClr val="183E50"/>
                          </a:solidFill>
                          <a:latin typeface="Cambria Math"/>
                          <a:ea typeface="Meiryo"/>
                        </a:rPr>
                        <m:t>=0:</m:t>
                      </m:r>
                      <m:r>
                        <m:rPr>
                          <m:nor/>
                        </m:rPr>
                        <a:rPr sz="2775" b="0" lang="en-US">
                          <a:solidFill>
                            <a:srgbClr val="183E50"/>
                          </a:solidFill>
                          <a:latin typeface="Cambria Math"/>
                          <a:ea typeface="Meiryo"/>
                        </a:rPr>
                        <m:t>  </m:t>
                      </m:r>
                      <m:sSup>
                        <m:e>
                          <m:r>
                            <a:rPr sz="2775" b="0" lang="en-US">
                              <a:solidFill>
                                <a:srgbClr val="183E50"/>
                              </a:solidFill>
                              <a:latin typeface="Cambria Math"/>
                              <a:ea typeface="Meiryo"/>
                            </a:rPr>
                            <m:t>τ</m:t>
                          </m:r>
                        </m:e>
                        <m:sup>
                          <m:r>
                            <a:rPr sz="2775" b="0" lang="en-US">
                              <a:solidFill>
                                <a:srgbClr val="183E50"/>
                              </a:solidFill>
                              <a:latin typeface="Cambria Math"/>
                              <a:ea typeface="Meiryo"/>
                            </a:rPr>
                            <m:t>2</m:t>
                          </m:r>
                        </m:sup>
                      </m:sSup>
                      <m:r>
                        <a:rPr sz="2775" b="0" lang="en-US">
                          <a:solidFill>
                            <a:srgbClr val="183E50"/>
                          </a:solidFill>
                          <a:latin typeface="Cambria Math"/>
                          <a:ea typeface="Meiryo"/>
                        </a:rPr>
                        <m:t>=</m:t>
                      </m:r>
                      <m:r>
                        <m:rPr>
                          <m:sty m:val="p"/>
                        </m:rPr>
                        <a:rPr sz="2775" b="0" lang="en-US">
                          <a:solidFill>
                            <a:srgbClr val="183E50"/>
                          </a:solidFill>
                          <a:latin typeface="Cambria Math"/>
                          <a:ea typeface="Meiryo"/>
                        </a:rPr>
                        <m:t>Var</m:t>
                      </m:r>
                      <m:r>
                        <a:rPr sz="2775" b="0" lang="en-US">
                          <a:solidFill>
                            <a:srgbClr val="183E50"/>
                          </a:solidFill>
                          <a:latin typeface="Cambria Math"/>
                          <a:ea typeface="Meiryo"/>
                        </a:rPr>
                        <m:t>⁡(</m:t>
                      </m:r>
                      <m:sSub>
                        <m:e>
                          <m:r>
                            <a:rPr sz="2775" b="0" lang="en-US">
                              <a:solidFill>
                                <a:srgbClr val="183E50"/>
                              </a:solidFill>
                              <a:latin typeface="Cambria Math"/>
                              <a:ea typeface="Meiryo"/>
                            </a:rPr>
                            <m:t>e</m:t>
                          </m:r>
                        </m:e>
                        <m:sub>
                          <m:r>
                            <a:rPr sz="2775" b="0" lang="en-US">
                              <a:solidFill>
                                <a:srgbClr val="183E50"/>
                              </a:solidFill>
                              <a:latin typeface="Cambria Math"/>
                              <a:ea typeface="Meiryo"/>
                            </a:rPr>
                            <m:t>i</m:t>
                          </m:r>
                        </m:sub>
                      </m:sSub>
                      <m:r>
                        <a:rPr sz="2775" b="0" lang="en-US">
                          <a:solidFill>
                            <a:srgbClr val="183E50"/>
                          </a:solidFill>
                          <a:latin typeface="Cambria Math"/>
                          <a:ea typeface="Meiryo"/>
                        </a:rPr>
                        <m:t>)=</m:t>
                      </m:r>
                      <m:r>
                        <m:rPr>
                          <m:sty m:val="p"/>
                        </m:rPr>
                        <a:rPr sz="2775" b="0" lang="en-US">
                          <a:solidFill>
                            <a:srgbClr val="183E50"/>
                          </a:solidFill>
                          <a:latin typeface="Cambria Math"/>
                          <a:ea typeface="Meiryo"/>
                        </a:rPr>
                        <m:t>E</m:t>
                      </m:r>
                      <m:r>
                        <a:rPr sz="2775" b="0" lang="en-US">
                          <a:solidFill>
                            <a:srgbClr val="183E50"/>
                          </a:solidFill>
                          <a:latin typeface="Cambria Math"/>
                          <a:ea typeface="Meiryo"/>
                        </a:rPr>
                        <m:t>[(</m:t>
                      </m:r>
                      <m:sSub>
                        <m:e>
                          <m:r>
                            <a:rPr sz="2775" b="0" lang="en-US">
                              <a:solidFill>
                                <a:srgbClr val="183E50"/>
                              </a:solidFill>
                              <a:latin typeface="Cambria Math"/>
                              <a:ea typeface="Meiryo"/>
                            </a:rPr>
                            <m:t>e</m:t>
                          </m:r>
                        </m:e>
                        <m:sub>
                          <m:r>
                            <a:rPr sz="2775" b="0" lang="en-US">
                              <a:solidFill>
                                <a:srgbClr val="183E50"/>
                              </a:solidFill>
                              <a:latin typeface="Cambria Math"/>
                              <a:ea typeface="Meiryo"/>
                            </a:rPr>
                            <m:t>i</m:t>
                          </m:r>
                        </m:sub>
                      </m:sSub>
                      <m:r>
                        <a:rPr sz="2775" b="0" lang="en-US">
                          <a:solidFill>
                            <a:srgbClr val="183E50"/>
                          </a:solidFill>
                          <a:latin typeface="Cambria Math"/>
                          <a:ea typeface="Meiryo"/>
                        </a:rPr>
                        <m:t>−0</m:t>
                      </m:r>
                      <m:sSup>
                        <m:e>
                          <m:r>
                            <a:rPr sz="2775" b="0" lang="en-US">
                              <a:solidFill>
                                <a:srgbClr val="183E50"/>
                              </a:solidFill>
                              <a:latin typeface="Cambria Math"/>
                              <a:ea typeface="Meiryo"/>
                            </a:rPr>
                            <m:t>)</m:t>
                          </m:r>
                        </m:e>
                        <m:sup>
                          <m:r>
                            <a:rPr sz="2775" b="0" lang="en-US">
                              <a:solidFill>
                                <a:srgbClr val="183E50"/>
                              </a:solidFill>
                              <a:latin typeface="Cambria Math"/>
                              <a:ea typeface="Meiryo"/>
                            </a:rPr>
                            <m:t>2</m:t>
                          </m:r>
                        </m:sup>
                      </m:sSup>
                      <m:r>
                        <a:rPr sz="2775" b="0" lang="en-US">
                          <a:solidFill>
                            <a:srgbClr val="183E50"/>
                          </a:solidFill>
                          <a:latin typeface="Cambria Math"/>
                          <a:ea typeface="Meiryo"/>
                        </a:rPr>
                        <m:t>]=</m:t>
                      </m:r>
                      <m:r>
                        <m:rPr>
                          <m:sty m:val="p"/>
                        </m:rPr>
                        <a:rPr sz="2775" b="0" lang="en-US">
                          <a:solidFill>
                            <a:srgbClr val="183E50"/>
                          </a:solidFill>
                          <a:latin typeface="Cambria Math"/>
                          <a:ea typeface="Meiryo"/>
                        </a:rPr>
                        <m:t>E</m:t>
                      </m:r>
                      <m:r>
                        <a:rPr sz="2775" b="0" lang="en-US">
                          <a:solidFill>
                            <a:srgbClr val="183E50"/>
                          </a:solidFill>
                          <a:latin typeface="Cambria Math"/>
                          <a:ea typeface="Meiryo"/>
                        </a:rPr>
                        <m:t>[</m:t>
                      </m:r>
                      <m:sSubSup>
                        <m:e>
                          <m:r>
                            <a:rPr sz="2775" b="0" lang="en-US">
                              <a:solidFill>
                                <a:srgbClr val="183E50"/>
                              </a:solidFill>
                              <a:latin typeface="Cambria Math"/>
                              <a:ea typeface="Meiryo"/>
                            </a:rPr>
                            <m:t>e</m:t>
                          </m:r>
                        </m:e>
                        <m:sub>
                          <m:r>
                            <a:rPr sz="2775" b="0" lang="en-US">
                              <a:solidFill>
                                <a:srgbClr val="183E50"/>
                              </a:solidFill>
                              <a:latin typeface="Cambria Math"/>
                              <a:ea typeface="Meiryo"/>
                            </a:rPr>
                            <m:t>i</m:t>
                          </m:r>
                        </m:sub>
                        <m:sup>
                          <m:r>
                            <a:rPr sz="2775" b="0" lang="en-US">
                              <a:solidFill>
                                <a:srgbClr val="183E50"/>
                              </a:solidFill>
                              <a:latin typeface="Cambria Math"/>
                              <a:ea typeface="Meiryo"/>
                            </a:rPr>
                            <m:t>2</m:t>
                          </m:r>
                        </m:sup>
                      </m:sSubSup>
                      <m:r>
                        <a:rPr sz="2775" b="0" lang="en-US">
                          <a:solidFill>
                            <a:srgbClr val="183E50"/>
                          </a:solidFill>
                          <a:latin typeface="Cambria Math"/>
                          <a:ea typeface="Meiryo"/>
                        </a:rPr>
                        <m:t>]</m:t>
                      </m:r>
                    </m:oMath>
                  </m:oMathPara>
                </a14:m>
              </a:p>
            </p:txBody>
          </p:sp>
        </mc:Choice>
        <mc:Fallback>
          <p:sp>
            <p:nvSpPr>
              <p:cNvPr id="6" name="EQM00005">
                <a:extLst xmlns:a="http://schemas.openxmlformats.org/drawingml/2006/main">
                  <a:ext uri="{FF2B5EF4-FFF2-40B4-BE49-F238E27FC236}">
                    <a16:creationId xmlns:a16="http://schemas.microsoft.com/office/drawing/2014/main" id="{900671E6-4C76-40C4-B38A-8CC1C7518818}"/>
                  </a:ext>
                </a:extLst>
              </p:cNvPr>
              <p:cNvSpPr>
                <a:spLocks xmlns:a="http://schemas.openxmlformats.org/drawingml/2006/main" noGrp="1"/>
              </p:cNvSpPr>
              <p:nvPr/>
            </p:nvSpPr>
            <p:spPr>
              <a:xfrm xmlns:a="http://schemas.openxmlformats.org/drawingml/2006/main">
                <a:off x="762000" y="37338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r>
                  <a:rPr sz="2775" b="0">
                    <a:solidFill>
                      <a:srgbClr val="183E50"/>
                    </a:solidFill>
                    <a:latin typeface="Cambria Math"/>
                    <a:ea typeface="Cambria Math"/>
                    <a:cs typeface="Cambria Math"/>
                  </a:rPr>
                  <a:t>\mu_e=0:\qquad\tau^2=\operatorname{Var}(e_i)=\mathrm{E}[(e_i-0)^2]=\mathrm{E}[e_i^2]</a:t>
                </a:r>
              </a:p>
            </p:txBody>
          </p:sp>
        </mc:Fallback>
      </mc:AlternateContent>
      <mc:AlternateContent xmlns:mc="http://schemas.openxmlformats.org/markup-compatibility/2006" xmlns:a14="http://schemas.microsoft.com/office/drawing/2010/main">
        <mc:Choice Requires="a14">
          <p:sp>
            <p:nvSpPr>
              <p:cNvPr id="7" name="EQM00006">
                <a:extLst xmlns:a="http://schemas.openxmlformats.org/drawingml/2006/main">
                  <a:ext uri="{FF2B5EF4-FFF2-40B4-BE49-F238E27FC236}">
                    <a16:creationId xmlns:a16="http://schemas.microsoft.com/office/drawing/2014/main" id="{201B3AEE-9EDB-4B5E-849C-9DB16B7411A3}"/>
                  </a:ext>
                </a:extLst>
              </p:cNvPr>
              <p:cNvSpPr>
                <a:spLocks xmlns:a="http://schemas.openxmlformats.org/drawingml/2006/main" noGrp="1"/>
              </p:cNvSpPr>
              <p:nvPr/>
            </p:nvSpPr>
            <p:spPr>
              <a:xfrm xmlns:a="http://schemas.openxmlformats.org/drawingml/2006/main">
                <a:off x="762000" y="47244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14:m xmlns:m="http://schemas.openxmlformats.org/officeDocument/2006/math">
                  <m:oMathPara>
                    <m:oMathParaPr>
                      <m:jc m:val="centerGroup"/>
                    </m:oMathParaPr>
                    <m:oMath xmlns:mml="http://www.w3.org/1998/Math/MathML">
                      <m:r>
                        <a:rPr sz="2775" b="0" lang="en-US">
                          <a:solidFill>
                            <a:srgbClr val="183E50"/>
                          </a:solidFill>
                          <a:latin typeface="Cambria Math"/>
                          <a:ea typeface="Meiryo"/>
                        </a:rPr>
                        <m:t>τ=</m:t>
                      </m:r>
                      <m:rad>
                        <m:radPr>
                          <m:degHide m:val="on"/>
                        </m:radPr>
                        <m:deg/>
                        <m:e>
                          <m:r>
                            <m:rPr>
                              <m:sty m:val="p"/>
                            </m:rPr>
                            <a:rPr sz="2775" b="0" lang="en-US">
                              <a:solidFill>
                                <a:srgbClr val="183E50"/>
                              </a:solidFill>
                              <a:latin typeface="Cambria Math"/>
                              <a:ea typeface="Meiryo"/>
                            </a:rPr>
                            <m:t>E</m:t>
                          </m:r>
                          <m:r>
                            <a:rPr sz="2775" b="0" lang="en-US">
                              <a:solidFill>
                                <a:srgbClr val="183E50"/>
                              </a:solidFill>
                              <a:latin typeface="Cambria Math"/>
                              <a:ea typeface="Meiryo"/>
                            </a:rPr>
                            <m:t>[</m:t>
                          </m:r>
                          <m:sSubSup>
                            <m:e>
                              <m:r>
                                <a:rPr sz="2775" b="0" lang="en-US">
                                  <a:solidFill>
                                    <a:srgbClr val="183E50"/>
                                  </a:solidFill>
                                  <a:latin typeface="Cambria Math"/>
                                  <a:ea typeface="Meiryo"/>
                                </a:rPr>
                                <m:t>e</m:t>
                              </m:r>
                            </m:e>
                            <m:sub>
                              <m:r>
                                <a:rPr sz="2775" b="0" lang="en-US">
                                  <a:solidFill>
                                    <a:srgbClr val="183E50"/>
                                  </a:solidFill>
                                  <a:latin typeface="Cambria Math"/>
                                  <a:ea typeface="Meiryo"/>
                                </a:rPr>
                                <m:t>i</m:t>
                              </m:r>
                            </m:sub>
                            <m:sup>
                              <m:r>
                                <a:rPr sz="2775" b="0" lang="en-US">
                                  <a:solidFill>
                                    <a:srgbClr val="183E50"/>
                                  </a:solidFill>
                                  <a:latin typeface="Cambria Math"/>
                                  <a:ea typeface="Meiryo"/>
                                </a:rPr>
                                <m:t>2</m:t>
                              </m:r>
                            </m:sup>
                          </m:sSubSup>
                          <m:r>
                            <a:rPr sz="2775" b="0" lang="en-US">
                              <a:solidFill>
                                <a:srgbClr val="183E50"/>
                              </a:solidFill>
                              <a:latin typeface="Cambria Math"/>
                              <a:ea typeface="Meiryo"/>
                            </a:rPr>
                            <m:t>]</m:t>
                          </m:r>
                        </m:e>
                      </m:rad>
                    </m:oMath>
                  </m:oMathPara>
                </a14:m>
              </a:p>
            </p:txBody>
          </p:sp>
        </mc:Choice>
        <mc:Fallback>
          <p:sp>
            <p:nvSpPr>
              <p:cNvPr id="7" name="EQM00006">
                <a:extLst xmlns:a="http://schemas.openxmlformats.org/drawingml/2006/main">
                  <a:ext uri="{FF2B5EF4-FFF2-40B4-BE49-F238E27FC236}">
                    <a16:creationId xmlns:a16="http://schemas.microsoft.com/office/drawing/2014/main" id="{201B3AEE-9EDB-4B5E-849C-9DB16B7411A3}"/>
                  </a:ext>
                </a:extLst>
              </p:cNvPr>
              <p:cNvSpPr>
                <a:spLocks xmlns:a="http://schemas.openxmlformats.org/drawingml/2006/main" noGrp="1"/>
              </p:cNvSpPr>
              <p:nvPr/>
            </p:nvSpPr>
            <p:spPr>
              <a:xfrm xmlns:a="http://schemas.openxmlformats.org/drawingml/2006/main">
                <a:off x="762000" y="47244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r>
                  <a:rPr sz="2775" b="0">
                    <a:solidFill>
                      <a:srgbClr val="183E50"/>
                    </a:solidFill>
                    <a:latin typeface="Cambria Math"/>
                    <a:ea typeface="Cambria Math"/>
                    <a:cs typeface="Cambria Math"/>
                  </a:rPr>
                  <a:t>\tau=\sqrt{\mathrm{E}[e_i^2]}</a:t>
                </a:r>
              </a:p>
            </p:txBody>
          </p:sp>
        </mc:Fallback>
      </mc:AlternateContent>
      <p:sp>
        <p:nvSpPr>
          <p:cNvPr id="8" name="二乗で正負の打ち消しを防ぐ。平方根で元の単位に戻す。">
            <a:extLst xmlns:a="http://schemas.openxmlformats.org/drawingml/2006/main">
              <a:ext uri="{FF2B5EF4-FFF2-40B4-BE49-F238E27FC236}">
                <a16:creationId xmlns:a16="http://schemas.microsoft.com/office/drawing/2014/main" id="{315A6034-D9CC-4DE2-ACE1-D59CF91D4669}"/>
              </a:ext>
            </a:extLst>
          </p:cNvPr>
          <p:cNvSpPr>
            <a:spLocks xmlns:a="http://schemas.openxmlformats.org/drawingml/2006/main" noGrp="1"/>
          </p:cNvSpPr>
          <p:nvPr/>
        </p:nvSpPr>
        <p:spPr>
          <a:xfrm xmlns:a="http://schemas.openxmlformats.org/drawingml/2006/main">
            <a:off x="762000" y="5972175"/>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37B78"/>
                </a:solidFill>
                <a:latin typeface="Meiryo"/>
                <a:ea typeface="Meiryo"/>
                <a:cs typeface="Meiryo"/>
              </a:defRPr>
            </a:defPPr>
          </a:lstStyle>
          <a:p xmlns:a="http://schemas.openxmlformats.org/drawingml/2006/main">
            <a:pPr algn="l">
              <a:defRPr sz="1950" b="1">
                <a:solidFill>
                  <a:srgbClr val="137B78"/>
                </a:solidFill>
                <a:latin typeface="Meiryo"/>
                <a:ea typeface="Meiryo"/>
                <a:cs typeface="Meiryo"/>
              </a:defRPr>
            </a:pPr>
            <a:r>
              <a:rPr sz="1950" b="1">
                <a:solidFill>
                  <a:srgbClr val="137B78"/>
                </a:solidFill>
                <a:latin typeface="Meiryo"/>
                <a:ea typeface="Meiryo"/>
                <a:cs typeface="Meiryo"/>
              </a:rPr>
              <a:t>二乗で正負の打ち消しを防ぐ。平方根で元の単位に戻す。</a:t>
            </a:r>
          </a:p>
        </p:txBody>
      </p:sp>
    </p:spTree>
    <p:extLst>
      <p:ext uri="{BB962C8B-B14F-4D97-AF65-F5344CB8AC3E}">
        <p14:creationId xmlns:p14="http://schemas.microsoft.com/office/powerpoint/2010/main" val="522251014"/>
      </p:ext>
    </p:extLst>
  </p:cSld>
</p:sld>
</file>

<file path=ppt/slides/slide4.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10" name="補足05-4 定義を展開すると、仮定の役割が分かる">
            <a:extLst xmlns:a="http://schemas.openxmlformats.org/drawingml/2006/main">
              <a:ext uri="{FF2B5EF4-FFF2-40B4-BE49-F238E27FC236}">
                <a16:creationId xmlns:a16="http://schemas.microsoft.com/office/drawing/2014/main" id="{762DFFA8-3640-4BE4-B507-FD894E509CE1}"/>
              </a:ext>
            </a:extLst>
          </p:cNvPr>
          <p:cNvSpPr>
            <a:spLocks xmlns:a="http://schemas.openxmlformats.org/drawingml/2006/main" noGrp="1"/>
          </p:cNvSpPr>
          <p:nvPr/>
        </p:nvSpPr>
        <p:spPr>
          <a:xfrm xmlns:a="http://schemas.openxmlformats.org/drawingml/2006/main">
            <a:off x="685800" y="4191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183E50"/>
                </a:solidFill>
                <a:latin typeface="Meiryo"/>
                <a:ea typeface="Meiryo"/>
                <a:cs typeface="Meiryo"/>
              </a:defRPr>
            </a:defPPr>
          </a:lstStyle>
          <a:p xmlns:a="http://schemas.openxmlformats.org/drawingml/2006/main">
            <a:pPr algn="l">
              <a:defRPr sz="2850" b="1">
                <a:solidFill>
                  <a:srgbClr val="183E50"/>
                </a:solidFill>
                <a:latin typeface="Meiryo"/>
                <a:ea typeface="Meiryo"/>
                <a:cs typeface="Meiryo"/>
              </a:defRPr>
            </a:pPr>
            <a:r>
              <a:rPr sz="2850" b="1">
                <a:solidFill>
                  <a:srgbClr val="183E50"/>
                </a:solidFill>
                <a:latin typeface="Meiryo"/>
                <a:ea typeface="Meiryo"/>
                <a:cs typeface="Meiryo"/>
              </a:rPr>
              <a:t>補足05-4 定義を展開すると、仮定の役割が分かる</a:t>
            </a:r>
          </a:p>
        </p:txBody>
      </p:sp>
      <p:sp>
        <p:nvSpPr>
          <p:cNvPr id="2" name="4 / 5">
            <a:extLst xmlns:a="http://schemas.openxmlformats.org/drawingml/2006/main">
              <a:ext uri="{FF2B5EF4-FFF2-40B4-BE49-F238E27FC236}">
                <a16:creationId xmlns:a16="http://schemas.microsoft.com/office/drawing/2014/main" id="{D52ED2FE-0458-48D2-BA58-D82F047D4C35}"/>
              </a:ext>
            </a:extLst>
          </p:cNvPr>
          <p:cNvSpPr>
            <a:spLocks xmlns:a="http://schemas.openxmlformats.org/drawingml/2006/main" noGrp="1"/>
          </p:cNvSpPr>
          <p:nvPr/>
        </p:nvSpPr>
        <p:spPr>
          <a:xfrm xmlns:a="http://schemas.openxmlformats.org/drawingml/2006/main">
            <a:off x="10763250" y="6448425"/>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200" b="0">
                <a:solidFill>
                  <a:srgbClr val="64757D"/>
                </a:solidFill>
                <a:latin typeface="Meiryo"/>
                <a:ea typeface="Meiryo"/>
                <a:cs typeface="Meiryo"/>
              </a:defRPr>
            </a:defPPr>
          </a:lstStyle>
          <a:p xmlns:a="http://schemas.openxmlformats.org/drawingml/2006/main">
            <a:pPr algn="l">
              <a:defRPr sz="1200" b="0">
                <a:solidFill>
                  <a:srgbClr val="64757D"/>
                </a:solidFill>
                <a:latin typeface="Meiryo"/>
                <a:ea typeface="Meiryo"/>
                <a:cs typeface="Meiryo"/>
              </a:defRPr>
            </a:pPr>
            <a:r>
              <a:rPr sz="1200" b="0">
                <a:solidFill>
                  <a:srgbClr val="64757D"/>
                </a:solidFill>
                <a:latin typeface="Meiryo"/>
                <a:ea typeface="Meiryo"/>
                <a:cs typeface="Meiryo"/>
              </a:rPr>
              <a:t>4 / 5</a:t>
            </a:r>
          </a:p>
        </p:txBody>
      </p:sp>
      <p:sp>
        <p:nvSpPr>
          <p:cNvPr id="3" name="誤差の平均 μₑ は、期待値の計算では一定の数。">
            <a:extLst xmlns:a="http://schemas.openxmlformats.org/drawingml/2006/main">
              <a:ext uri="{FF2B5EF4-FFF2-40B4-BE49-F238E27FC236}">
                <a16:creationId xmlns:a16="http://schemas.microsoft.com/office/drawing/2014/main" id="{D504DBCB-468E-4CBB-BA1E-C9014309337F}"/>
              </a:ext>
            </a:extLst>
          </p:cNvPr>
          <p:cNvSpPr>
            <a:spLocks xmlns:a="http://schemas.openxmlformats.org/drawingml/2006/main" noGrp="1"/>
          </p:cNvSpPr>
          <p:nvPr/>
        </p:nvSpPr>
        <p:spPr>
          <a:xfrm xmlns:a="http://schemas.openxmlformats.org/drawingml/2006/main">
            <a:off x="762000" y="13906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243C48"/>
                </a:solidFill>
                <a:latin typeface="Meiryo"/>
                <a:ea typeface="Meiryo"/>
                <a:cs typeface="Meiryo"/>
              </a:defRPr>
            </a:defPPr>
          </a:lstStyle>
          <a:p xmlns:a="http://schemas.openxmlformats.org/drawingml/2006/main">
            <a:pPr algn="l">
              <a:defRPr sz="1950" b="0">
                <a:solidFill>
                  <a:srgbClr val="243C48"/>
                </a:solidFill>
                <a:latin typeface="Meiryo"/>
                <a:ea typeface="Meiryo"/>
                <a:cs typeface="Meiryo"/>
              </a:defRPr>
            </a:pPr>
            <a:r>
              <a:rPr sz="1950" b="0">
                <a:solidFill>
                  <a:srgbClr val="243C48"/>
                </a:solidFill>
                <a:latin typeface="Meiryo"/>
                <a:ea typeface="Meiryo"/>
                <a:cs typeface="Meiryo"/>
              </a:rPr>
              <a:t>誤差の平均 μₑ は、期待値の計算では一定の数。</a:t>
            </a:r>
          </a:p>
        </p:txBody>
      </p:sp>
      <mc:AlternateContent xmlns:mc="http://schemas.openxmlformats.org/markup-compatibility/2006" xmlns:a14="http://schemas.microsoft.com/office/drawing/2010/main">
        <mc:Choice Requires="a14">
          <p:sp>
            <p:nvSpPr>
              <p:cNvPr id="4" name="EQM00007">
                <a:extLst xmlns:a="http://schemas.openxmlformats.org/drawingml/2006/main">
                  <a:ext uri="{FF2B5EF4-FFF2-40B4-BE49-F238E27FC236}">
                    <a16:creationId xmlns:a16="http://schemas.microsoft.com/office/drawing/2014/main" id="{BEA4D89C-71DC-42E7-A246-50F306318482}"/>
                  </a:ext>
                </a:extLst>
              </p:cNvPr>
              <p:cNvSpPr>
                <a:spLocks xmlns:a="http://schemas.openxmlformats.org/drawingml/2006/main" noGrp="1"/>
              </p:cNvSpPr>
              <p:nvPr/>
            </p:nvSpPr>
            <p:spPr>
              <a:xfrm xmlns:a="http://schemas.openxmlformats.org/drawingml/2006/main">
                <a:off x="762000" y="18478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14:m xmlns:m="http://schemas.openxmlformats.org/officeDocument/2006/math">
                  <m:oMathPara>
                    <m:oMathParaPr>
                      <m:jc m:val="centerGroup"/>
                    </m:oMathParaPr>
                    <m:oMath xmlns:mml="http://www.w3.org/1998/Math/MathML">
                      <m:r>
                        <m:rPr>
                          <m:sty m:val="p"/>
                        </m:rPr>
                        <a:rPr sz="2775" b="0" lang="en-US">
                          <a:solidFill>
                            <a:srgbClr val="183E50"/>
                          </a:solidFill>
                          <a:latin typeface="Cambria Math"/>
                          <a:ea typeface="Meiryo"/>
                        </a:rPr>
                        <m:t>Var</m:t>
                      </m:r>
                      <m:r>
                        <a:rPr sz="2775" b="0" lang="en-US">
                          <a:solidFill>
                            <a:srgbClr val="183E50"/>
                          </a:solidFill>
                          <a:latin typeface="Cambria Math"/>
                          <a:ea typeface="Meiryo"/>
                        </a:rPr>
                        <m:t>⁡(</m:t>
                      </m:r>
                      <m:sSub>
                        <m:e>
                          <m:r>
                            <a:rPr sz="2775" b="0" lang="en-US">
                              <a:solidFill>
                                <a:srgbClr val="183E50"/>
                              </a:solidFill>
                              <a:latin typeface="Cambria Math"/>
                              <a:ea typeface="Meiryo"/>
                            </a:rPr>
                            <m:t>e</m:t>
                          </m:r>
                        </m:e>
                        <m:sub>
                          <m:r>
                            <a:rPr sz="2775" b="0" lang="en-US">
                              <a:solidFill>
                                <a:srgbClr val="183E50"/>
                              </a:solidFill>
                              <a:latin typeface="Cambria Math"/>
                              <a:ea typeface="Meiryo"/>
                            </a:rPr>
                            <m:t>i</m:t>
                          </m:r>
                        </m:sub>
                      </m:sSub>
                      <m:r>
                        <a:rPr sz="2775" b="0" lang="en-US">
                          <a:solidFill>
                            <a:srgbClr val="183E50"/>
                          </a:solidFill>
                          <a:latin typeface="Cambria Math"/>
                          <a:ea typeface="Meiryo"/>
                        </a:rPr>
                        <m:t>)=</m:t>
                      </m:r>
                      <m:r>
                        <m:rPr>
                          <m:sty m:val="p"/>
                        </m:rPr>
                        <a:rPr sz="2775" b="0" lang="en-US">
                          <a:solidFill>
                            <a:srgbClr val="183E50"/>
                          </a:solidFill>
                          <a:latin typeface="Cambria Math"/>
                          <a:ea typeface="Meiryo"/>
                        </a:rPr>
                        <m:t>E</m:t>
                      </m:r>
                      <m:r>
                        <a:rPr sz="2775" b="0" lang="en-US">
                          <a:solidFill>
                            <a:srgbClr val="183E50"/>
                          </a:solidFill>
                          <a:latin typeface="Cambria Math"/>
                          <a:ea typeface="Meiryo"/>
                        </a:rPr>
                        <m:t>[(</m:t>
                      </m:r>
                      <m:sSub>
                        <m:e>
                          <m:r>
                            <a:rPr sz="2775" b="0" lang="en-US">
                              <a:solidFill>
                                <a:srgbClr val="183E50"/>
                              </a:solidFill>
                              <a:latin typeface="Cambria Math"/>
                              <a:ea typeface="Meiryo"/>
                            </a:rPr>
                            <m:t>e</m:t>
                          </m:r>
                        </m:e>
                        <m:sub>
                          <m:r>
                            <a:rPr sz="2775" b="0" lang="en-US">
                              <a:solidFill>
                                <a:srgbClr val="183E50"/>
                              </a:solidFill>
                              <a:latin typeface="Cambria Math"/>
                              <a:ea typeface="Meiryo"/>
                            </a:rPr>
                            <m:t>i</m:t>
                          </m:r>
                        </m:sub>
                      </m:sSub>
                      <m:r>
                        <a:rPr sz="2775" b="0" lang="en-US">
                          <a:solidFill>
                            <a:srgbClr val="183E50"/>
                          </a:solidFill>
                          <a:latin typeface="Cambria Math"/>
                          <a:ea typeface="Meiryo"/>
                        </a:rPr>
                        <m:t>−</m:t>
                      </m:r>
                      <m:sSub>
                        <m:e>
                          <m:r>
                            <a:rPr sz="2775" b="0" lang="en-US">
                              <a:solidFill>
                                <a:srgbClr val="183E50"/>
                              </a:solidFill>
                              <a:latin typeface="Cambria Math"/>
                              <a:ea typeface="Meiryo"/>
                            </a:rPr>
                            <m:t>μ</m:t>
                          </m:r>
                        </m:e>
                        <m:sub>
                          <m:r>
                            <a:rPr sz="2775" b="0" lang="en-US">
                              <a:solidFill>
                                <a:srgbClr val="183E50"/>
                              </a:solidFill>
                              <a:latin typeface="Cambria Math"/>
                              <a:ea typeface="Meiryo"/>
                            </a:rPr>
                            <m:t>e</m:t>
                          </m:r>
                        </m:sub>
                      </m:sSub>
                      <m:sSup>
                        <m:e>
                          <m:r>
                            <a:rPr sz="2775" b="0" lang="en-US">
                              <a:solidFill>
                                <a:srgbClr val="183E50"/>
                              </a:solidFill>
                              <a:latin typeface="Cambria Math"/>
                              <a:ea typeface="Meiryo"/>
                            </a:rPr>
                            <m:t>)</m:t>
                          </m:r>
                        </m:e>
                        <m:sup>
                          <m:r>
                            <a:rPr sz="2775" b="0" lang="en-US">
                              <a:solidFill>
                                <a:srgbClr val="183E50"/>
                              </a:solidFill>
                              <a:latin typeface="Cambria Math"/>
                              <a:ea typeface="Meiryo"/>
                            </a:rPr>
                            <m:t>2</m:t>
                          </m:r>
                        </m:sup>
                      </m:sSup>
                      <m:r>
                        <a:rPr sz="2775" b="0" lang="en-US">
                          <a:solidFill>
                            <a:srgbClr val="183E50"/>
                          </a:solidFill>
                          <a:latin typeface="Cambria Math"/>
                          <a:ea typeface="Meiryo"/>
                        </a:rPr>
                        <m:t>]</m:t>
                      </m:r>
                    </m:oMath>
                  </m:oMathPara>
                </a14:m>
              </a:p>
            </p:txBody>
          </p:sp>
        </mc:Choice>
        <mc:Fallback>
          <p:sp>
            <p:nvSpPr>
              <p:cNvPr id="4" name="EQM00007">
                <a:extLst xmlns:a="http://schemas.openxmlformats.org/drawingml/2006/main">
                  <a:ext uri="{FF2B5EF4-FFF2-40B4-BE49-F238E27FC236}">
                    <a16:creationId xmlns:a16="http://schemas.microsoft.com/office/drawing/2014/main" id="{BEA4D89C-71DC-42E7-A246-50F306318482}"/>
                  </a:ext>
                </a:extLst>
              </p:cNvPr>
              <p:cNvSpPr>
                <a:spLocks xmlns:a="http://schemas.openxmlformats.org/drawingml/2006/main" noGrp="1"/>
              </p:cNvSpPr>
              <p:nvPr/>
            </p:nvSpPr>
            <p:spPr>
              <a:xfrm xmlns:a="http://schemas.openxmlformats.org/drawingml/2006/main">
                <a:off x="762000" y="18478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r>
                  <a:rPr sz="2775" b="0">
                    <a:solidFill>
                      <a:srgbClr val="183E50"/>
                    </a:solidFill>
                    <a:latin typeface="Cambria Math"/>
                    <a:ea typeface="Cambria Math"/>
                    <a:cs typeface="Cambria Math"/>
                  </a:rPr>
                  <a:t>\operatorname{Var}(e_i)=\mathrm{E}[(e_i-\mu_e)^2]</a:t>
                </a:r>
              </a:p>
            </p:txBody>
          </p:sp>
        </mc:Fallback>
      </mc:AlternateContent>
      <mc:AlternateContent xmlns:mc="http://schemas.openxmlformats.org/markup-compatibility/2006" xmlns:a14="http://schemas.microsoft.com/office/drawing/2010/main">
        <mc:Choice Requires="a14">
          <p:sp>
            <p:nvSpPr>
              <p:cNvPr id="5" name="EQM00008">
                <a:extLst xmlns:a="http://schemas.openxmlformats.org/drawingml/2006/main">
                  <a:ext uri="{FF2B5EF4-FFF2-40B4-BE49-F238E27FC236}">
                    <a16:creationId xmlns:a16="http://schemas.microsoft.com/office/drawing/2014/main" id="{5F3D9F1C-D765-4435-8A03-65F91CC423EA}"/>
                  </a:ext>
                </a:extLst>
              </p:cNvPr>
              <p:cNvSpPr>
                <a:spLocks xmlns:a="http://schemas.openxmlformats.org/drawingml/2006/main" noGrp="1"/>
              </p:cNvSpPr>
              <p:nvPr/>
            </p:nvSpPr>
            <p:spPr>
              <a:xfrm xmlns:a="http://schemas.openxmlformats.org/drawingml/2006/main">
                <a:off x="762000" y="261937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14:m xmlns:m="http://schemas.openxmlformats.org/officeDocument/2006/math">
                  <m:oMathPara>
                    <m:oMathParaPr>
                      <m:jc m:val="centerGroup"/>
                    </m:oMathParaPr>
                    <m:oMath xmlns:mml="http://www.w3.org/1998/Math/MathML">
                      <m:r>
                        <a:rPr sz="2775" b="0" lang="en-US">
                          <a:solidFill>
                            <a:srgbClr val="183E50"/>
                          </a:solidFill>
                          <a:latin typeface="Cambria Math"/>
                          <a:ea typeface="Meiryo"/>
                        </a:rPr>
                        <m:t>=</m:t>
                      </m:r>
                      <m:r>
                        <m:rPr>
                          <m:sty m:val="p"/>
                        </m:rPr>
                        <a:rPr sz="2775" b="0" lang="en-US">
                          <a:solidFill>
                            <a:srgbClr val="183E50"/>
                          </a:solidFill>
                          <a:latin typeface="Cambria Math"/>
                          <a:ea typeface="Meiryo"/>
                        </a:rPr>
                        <m:t>E</m:t>
                      </m:r>
                      <m:r>
                        <a:rPr sz="2775" b="0" lang="en-US">
                          <a:solidFill>
                            <a:srgbClr val="183E50"/>
                          </a:solidFill>
                          <a:latin typeface="Cambria Math"/>
                          <a:ea typeface="Meiryo"/>
                        </a:rPr>
                        <m:t>[</m:t>
                      </m:r>
                      <m:sSubSup>
                        <m:e>
                          <m:r>
                            <a:rPr sz="2775" b="0" lang="en-US">
                              <a:solidFill>
                                <a:srgbClr val="183E50"/>
                              </a:solidFill>
                              <a:latin typeface="Cambria Math"/>
                              <a:ea typeface="Meiryo"/>
                            </a:rPr>
                            <m:t>e</m:t>
                          </m:r>
                        </m:e>
                        <m:sub>
                          <m:r>
                            <a:rPr sz="2775" b="0" lang="en-US">
                              <a:solidFill>
                                <a:srgbClr val="183E50"/>
                              </a:solidFill>
                              <a:latin typeface="Cambria Math"/>
                              <a:ea typeface="Meiryo"/>
                            </a:rPr>
                            <m:t>i</m:t>
                          </m:r>
                        </m:sub>
                        <m:sup>
                          <m:r>
                            <a:rPr sz="2775" b="0" lang="en-US">
                              <a:solidFill>
                                <a:srgbClr val="183E50"/>
                              </a:solidFill>
                              <a:latin typeface="Cambria Math"/>
                              <a:ea typeface="Meiryo"/>
                            </a:rPr>
                            <m:t>2</m:t>
                          </m:r>
                        </m:sup>
                      </m:sSubSup>
                      <m:r>
                        <a:rPr sz="2775" b="0" lang="en-US">
                          <a:solidFill>
                            <a:srgbClr val="183E50"/>
                          </a:solidFill>
                          <a:latin typeface="Cambria Math"/>
                          <a:ea typeface="Meiryo"/>
                        </a:rPr>
                        <m:t>−2</m:t>
                      </m:r>
                      <m:sSub>
                        <m:e>
                          <m:r>
                            <a:rPr sz="2775" b="0" lang="en-US">
                              <a:solidFill>
                                <a:srgbClr val="183E50"/>
                              </a:solidFill>
                              <a:latin typeface="Cambria Math"/>
                              <a:ea typeface="Meiryo"/>
                            </a:rPr>
                            <m:t>μ</m:t>
                          </m:r>
                        </m:e>
                        <m:sub>
                          <m:r>
                            <a:rPr sz="2775" b="0" lang="en-US">
                              <a:solidFill>
                                <a:srgbClr val="183E50"/>
                              </a:solidFill>
                              <a:latin typeface="Cambria Math"/>
                              <a:ea typeface="Meiryo"/>
                            </a:rPr>
                            <m:t>e</m:t>
                          </m:r>
                        </m:sub>
                      </m:sSub>
                      <m:sSub>
                        <m:e>
                          <m:r>
                            <a:rPr sz="2775" b="0" lang="en-US">
                              <a:solidFill>
                                <a:srgbClr val="183E50"/>
                              </a:solidFill>
                              <a:latin typeface="Cambria Math"/>
                              <a:ea typeface="Meiryo"/>
                            </a:rPr>
                            <m:t>e</m:t>
                          </m:r>
                        </m:e>
                        <m:sub>
                          <m:r>
                            <a:rPr sz="2775" b="0" lang="en-US">
                              <a:solidFill>
                                <a:srgbClr val="183E50"/>
                              </a:solidFill>
                              <a:latin typeface="Cambria Math"/>
                              <a:ea typeface="Meiryo"/>
                            </a:rPr>
                            <m:t>i</m:t>
                          </m:r>
                        </m:sub>
                      </m:sSub>
                      <m:r>
                        <a:rPr sz="2775" b="0" lang="en-US">
                          <a:solidFill>
                            <a:srgbClr val="183E50"/>
                          </a:solidFill>
                          <a:latin typeface="Cambria Math"/>
                          <a:ea typeface="Meiryo"/>
                        </a:rPr>
                        <m:t>+</m:t>
                      </m:r>
                      <m:sSubSup>
                        <m:e>
                          <m:r>
                            <a:rPr sz="2775" b="0" lang="en-US">
                              <a:solidFill>
                                <a:srgbClr val="183E50"/>
                              </a:solidFill>
                              <a:latin typeface="Cambria Math"/>
                              <a:ea typeface="Meiryo"/>
                            </a:rPr>
                            <m:t>μ</m:t>
                          </m:r>
                        </m:e>
                        <m:sub>
                          <m:r>
                            <a:rPr sz="2775" b="0" lang="en-US">
                              <a:solidFill>
                                <a:srgbClr val="183E50"/>
                              </a:solidFill>
                              <a:latin typeface="Cambria Math"/>
                              <a:ea typeface="Meiryo"/>
                            </a:rPr>
                            <m:t>e</m:t>
                          </m:r>
                        </m:sub>
                        <m:sup>
                          <m:r>
                            <a:rPr sz="2775" b="0" lang="en-US">
                              <a:solidFill>
                                <a:srgbClr val="183E50"/>
                              </a:solidFill>
                              <a:latin typeface="Cambria Math"/>
                              <a:ea typeface="Meiryo"/>
                            </a:rPr>
                            <m:t>2</m:t>
                          </m:r>
                        </m:sup>
                      </m:sSubSup>
                      <m:r>
                        <a:rPr sz="2775" b="0" lang="en-US">
                          <a:solidFill>
                            <a:srgbClr val="183E50"/>
                          </a:solidFill>
                          <a:latin typeface="Cambria Math"/>
                          <a:ea typeface="Meiryo"/>
                        </a:rPr>
                        <m:t>]</m:t>
                      </m:r>
                    </m:oMath>
                  </m:oMathPara>
                </a14:m>
              </a:p>
            </p:txBody>
          </p:sp>
        </mc:Choice>
        <mc:Fallback>
          <p:sp>
            <p:nvSpPr>
              <p:cNvPr id="5" name="EQM00008">
                <a:extLst xmlns:a="http://schemas.openxmlformats.org/drawingml/2006/main">
                  <a:ext uri="{FF2B5EF4-FFF2-40B4-BE49-F238E27FC236}">
                    <a16:creationId xmlns:a16="http://schemas.microsoft.com/office/drawing/2014/main" id="{5F3D9F1C-D765-4435-8A03-65F91CC423EA}"/>
                  </a:ext>
                </a:extLst>
              </p:cNvPr>
              <p:cNvSpPr>
                <a:spLocks xmlns:a="http://schemas.openxmlformats.org/drawingml/2006/main" noGrp="1"/>
              </p:cNvSpPr>
              <p:nvPr/>
            </p:nvSpPr>
            <p:spPr>
              <a:xfrm xmlns:a="http://schemas.openxmlformats.org/drawingml/2006/main">
                <a:off x="762000" y="261937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r>
                  <a:rPr sz="2775" b="0">
                    <a:solidFill>
                      <a:srgbClr val="183E50"/>
                    </a:solidFill>
                    <a:latin typeface="Cambria Math"/>
                    <a:ea typeface="Cambria Math"/>
                    <a:cs typeface="Cambria Math"/>
                  </a:rPr>
                  <a:t>=\mathrm{E}[e_i^2-2\mu_e e_i+\mu_e^2]</a:t>
                </a:r>
              </a:p>
            </p:txBody>
          </p:sp>
        </mc:Fallback>
      </mc:AlternateContent>
      <mc:AlternateContent xmlns:mc="http://schemas.openxmlformats.org/markup-compatibility/2006" xmlns:a14="http://schemas.microsoft.com/office/drawing/2010/main">
        <mc:Choice Requires="a14">
          <p:sp>
            <p:nvSpPr>
              <p:cNvPr id="6" name="EQM00009">
                <a:extLst xmlns:a="http://schemas.openxmlformats.org/drawingml/2006/main">
                  <a:ext uri="{FF2B5EF4-FFF2-40B4-BE49-F238E27FC236}">
                    <a16:creationId xmlns:a16="http://schemas.microsoft.com/office/drawing/2014/main" id="{87FC8939-98B9-4C19-942B-D2C1FB0B1CB8}"/>
                  </a:ext>
                </a:extLst>
              </p:cNvPr>
              <p:cNvSpPr>
                <a:spLocks xmlns:a="http://schemas.openxmlformats.org/drawingml/2006/main" noGrp="1"/>
              </p:cNvSpPr>
              <p:nvPr/>
            </p:nvSpPr>
            <p:spPr>
              <a:xfrm xmlns:a="http://schemas.openxmlformats.org/drawingml/2006/main">
                <a:off x="762000" y="33909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14:m xmlns:m="http://schemas.openxmlformats.org/officeDocument/2006/math">
                  <m:oMathPara>
                    <m:oMathParaPr>
                      <m:jc m:val="centerGroup"/>
                    </m:oMathParaPr>
                    <m:oMath xmlns:mml="http://www.w3.org/1998/Math/MathML">
                      <m:r>
                        <a:rPr sz="2775" b="0" lang="en-US">
                          <a:solidFill>
                            <a:srgbClr val="183E50"/>
                          </a:solidFill>
                          <a:latin typeface="Cambria Math"/>
                          <a:ea typeface="Meiryo"/>
                        </a:rPr>
                        <m:t>=</m:t>
                      </m:r>
                      <m:r>
                        <m:rPr>
                          <m:sty m:val="p"/>
                        </m:rPr>
                        <a:rPr sz="2775" b="0" lang="en-US">
                          <a:solidFill>
                            <a:srgbClr val="183E50"/>
                          </a:solidFill>
                          <a:latin typeface="Cambria Math"/>
                          <a:ea typeface="Meiryo"/>
                        </a:rPr>
                        <m:t>E</m:t>
                      </m:r>
                      <m:r>
                        <a:rPr sz="2775" b="0" lang="en-US">
                          <a:solidFill>
                            <a:srgbClr val="183E50"/>
                          </a:solidFill>
                          <a:latin typeface="Cambria Math"/>
                          <a:ea typeface="Meiryo"/>
                        </a:rPr>
                        <m:t>[</m:t>
                      </m:r>
                      <m:sSubSup>
                        <m:e>
                          <m:r>
                            <a:rPr sz="2775" b="0" lang="en-US">
                              <a:solidFill>
                                <a:srgbClr val="183E50"/>
                              </a:solidFill>
                              <a:latin typeface="Cambria Math"/>
                              <a:ea typeface="Meiryo"/>
                            </a:rPr>
                            <m:t>e</m:t>
                          </m:r>
                        </m:e>
                        <m:sub>
                          <m:r>
                            <a:rPr sz="2775" b="0" lang="en-US">
                              <a:solidFill>
                                <a:srgbClr val="183E50"/>
                              </a:solidFill>
                              <a:latin typeface="Cambria Math"/>
                              <a:ea typeface="Meiryo"/>
                            </a:rPr>
                            <m:t>i</m:t>
                          </m:r>
                        </m:sub>
                        <m:sup>
                          <m:r>
                            <a:rPr sz="2775" b="0" lang="en-US">
                              <a:solidFill>
                                <a:srgbClr val="183E50"/>
                              </a:solidFill>
                              <a:latin typeface="Cambria Math"/>
                              <a:ea typeface="Meiryo"/>
                            </a:rPr>
                            <m:t>2</m:t>
                          </m:r>
                        </m:sup>
                      </m:sSubSup>
                      <m:r>
                        <a:rPr sz="2775" b="0" lang="en-US">
                          <a:solidFill>
                            <a:srgbClr val="183E50"/>
                          </a:solidFill>
                          <a:latin typeface="Cambria Math"/>
                          <a:ea typeface="Meiryo"/>
                        </a:rPr>
                        <m:t>]−2</m:t>
                      </m:r>
                      <m:sSub>
                        <m:e>
                          <m:r>
                            <a:rPr sz="2775" b="0" lang="en-US">
                              <a:solidFill>
                                <a:srgbClr val="183E50"/>
                              </a:solidFill>
                              <a:latin typeface="Cambria Math"/>
                              <a:ea typeface="Meiryo"/>
                            </a:rPr>
                            <m:t>μ</m:t>
                          </m:r>
                        </m:e>
                        <m:sub>
                          <m:r>
                            <a:rPr sz="2775" b="0" lang="en-US">
                              <a:solidFill>
                                <a:srgbClr val="183E50"/>
                              </a:solidFill>
                              <a:latin typeface="Cambria Math"/>
                              <a:ea typeface="Meiryo"/>
                            </a:rPr>
                            <m:t>e</m:t>
                          </m:r>
                        </m:sub>
                      </m:sSub>
                      <m:r>
                        <m:rPr>
                          <m:sty m:val="p"/>
                        </m:rPr>
                        <a:rPr sz="2775" b="0" lang="en-US">
                          <a:solidFill>
                            <a:srgbClr val="183E50"/>
                          </a:solidFill>
                          <a:latin typeface="Cambria Math"/>
                          <a:ea typeface="Meiryo"/>
                        </a:rPr>
                        <m:t>E</m:t>
                      </m:r>
                      <m:r>
                        <a:rPr sz="2775" b="0" lang="en-US">
                          <a:solidFill>
                            <a:srgbClr val="183E50"/>
                          </a:solidFill>
                          <a:latin typeface="Cambria Math"/>
                          <a:ea typeface="Meiryo"/>
                        </a:rPr>
                        <m:t>[</m:t>
                      </m:r>
                      <m:sSub>
                        <m:e>
                          <m:r>
                            <a:rPr sz="2775" b="0" lang="en-US">
                              <a:solidFill>
                                <a:srgbClr val="183E50"/>
                              </a:solidFill>
                              <a:latin typeface="Cambria Math"/>
                              <a:ea typeface="Meiryo"/>
                            </a:rPr>
                            <m:t>e</m:t>
                          </m:r>
                        </m:e>
                        <m:sub>
                          <m:r>
                            <a:rPr sz="2775" b="0" lang="en-US">
                              <a:solidFill>
                                <a:srgbClr val="183E50"/>
                              </a:solidFill>
                              <a:latin typeface="Cambria Math"/>
                              <a:ea typeface="Meiryo"/>
                            </a:rPr>
                            <m:t>i</m:t>
                          </m:r>
                        </m:sub>
                      </m:sSub>
                      <m:r>
                        <a:rPr sz="2775" b="0" lang="en-US">
                          <a:solidFill>
                            <a:srgbClr val="183E50"/>
                          </a:solidFill>
                          <a:latin typeface="Cambria Math"/>
                          <a:ea typeface="Meiryo"/>
                        </a:rPr>
                        <m:t>]+</m:t>
                      </m:r>
                      <m:sSubSup>
                        <m:e>
                          <m:r>
                            <a:rPr sz="2775" b="0" lang="en-US">
                              <a:solidFill>
                                <a:srgbClr val="183E50"/>
                              </a:solidFill>
                              <a:latin typeface="Cambria Math"/>
                              <a:ea typeface="Meiryo"/>
                            </a:rPr>
                            <m:t>μ</m:t>
                          </m:r>
                        </m:e>
                        <m:sub>
                          <m:r>
                            <a:rPr sz="2775" b="0" lang="en-US">
                              <a:solidFill>
                                <a:srgbClr val="183E50"/>
                              </a:solidFill>
                              <a:latin typeface="Cambria Math"/>
                              <a:ea typeface="Meiryo"/>
                            </a:rPr>
                            <m:t>e</m:t>
                          </m:r>
                        </m:sub>
                        <m:sup>
                          <m:r>
                            <a:rPr sz="2775" b="0" lang="en-US">
                              <a:solidFill>
                                <a:srgbClr val="183E50"/>
                              </a:solidFill>
                              <a:latin typeface="Cambria Math"/>
                              <a:ea typeface="Meiryo"/>
                            </a:rPr>
                            <m:t>2</m:t>
                          </m:r>
                        </m:sup>
                      </m:sSubSup>
                    </m:oMath>
                  </m:oMathPara>
                </a14:m>
              </a:p>
            </p:txBody>
          </p:sp>
        </mc:Choice>
        <mc:Fallback>
          <p:sp>
            <p:nvSpPr>
              <p:cNvPr id="6" name="EQM00009">
                <a:extLst xmlns:a="http://schemas.openxmlformats.org/drawingml/2006/main">
                  <a:ext uri="{FF2B5EF4-FFF2-40B4-BE49-F238E27FC236}">
                    <a16:creationId xmlns:a16="http://schemas.microsoft.com/office/drawing/2014/main" id="{87FC8939-98B9-4C19-942B-D2C1FB0B1CB8}"/>
                  </a:ext>
                </a:extLst>
              </p:cNvPr>
              <p:cNvSpPr>
                <a:spLocks xmlns:a="http://schemas.openxmlformats.org/drawingml/2006/main" noGrp="1"/>
              </p:cNvSpPr>
              <p:nvPr/>
            </p:nvSpPr>
            <p:spPr>
              <a:xfrm xmlns:a="http://schemas.openxmlformats.org/drawingml/2006/main">
                <a:off x="762000" y="339090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r>
                  <a:rPr sz="2775" b="0">
                    <a:solidFill>
                      <a:srgbClr val="183E50"/>
                    </a:solidFill>
                    <a:latin typeface="Cambria Math"/>
                    <a:ea typeface="Cambria Math"/>
                    <a:cs typeface="Cambria Math"/>
                  </a:rPr>
                  <a:t>=\mathrm{E}[e_i^2]-2\mu_e\mathrm{E}[e_i]+\mu_e^2</a:t>
                </a:r>
              </a:p>
            </p:txBody>
          </p:sp>
        </mc:Fallback>
      </mc:AlternateContent>
      <mc:AlternateContent xmlns:mc="http://schemas.openxmlformats.org/markup-compatibility/2006" xmlns:a14="http://schemas.microsoft.com/office/drawing/2010/main">
        <mc:Choice Requires="a14">
          <p:sp>
            <p:nvSpPr>
              <p:cNvPr id="7" name="EQM00010">
                <a:extLst xmlns:a="http://schemas.openxmlformats.org/drawingml/2006/main">
                  <a:ext uri="{FF2B5EF4-FFF2-40B4-BE49-F238E27FC236}">
                    <a16:creationId xmlns:a16="http://schemas.microsoft.com/office/drawing/2014/main" id="{77FC442A-D97F-472E-8001-B4F50A6E5990}"/>
                  </a:ext>
                </a:extLst>
              </p:cNvPr>
              <p:cNvSpPr>
                <a:spLocks xmlns:a="http://schemas.openxmlformats.org/drawingml/2006/main" noGrp="1"/>
              </p:cNvSpPr>
              <p:nvPr/>
            </p:nvSpPr>
            <p:spPr>
              <a:xfrm xmlns:a="http://schemas.openxmlformats.org/drawingml/2006/main">
                <a:off x="762000" y="416242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14:m xmlns:m="http://schemas.openxmlformats.org/officeDocument/2006/math">
                  <m:oMathPara>
                    <m:oMathParaPr>
                      <m:jc m:val="centerGroup"/>
                    </m:oMathParaPr>
                    <m:oMath xmlns:mml="http://www.w3.org/1998/Math/MathML">
                      <m:r>
                        <a:rPr sz="2775" b="0" lang="en-US">
                          <a:solidFill>
                            <a:srgbClr val="183E50"/>
                          </a:solidFill>
                          <a:latin typeface="Cambria Math"/>
                          <a:ea typeface="Meiryo"/>
                        </a:rPr>
                        <m:t>=</m:t>
                      </m:r>
                      <m:r>
                        <m:rPr>
                          <m:sty m:val="p"/>
                        </m:rPr>
                        <a:rPr sz="2775" b="0" lang="en-US">
                          <a:solidFill>
                            <a:srgbClr val="183E50"/>
                          </a:solidFill>
                          <a:latin typeface="Cambria Math"/>
                          <a:ea typeface="Meiryo"/>
                        </a:rPr>
                        <m:t>E</m:t>
                      </m:r>
                      <m:r>
                        <a:rPr sz="2775" b="0" lang="en-US">
                          <a:solidFill>
                            <a:srgbClr val="183E50"/>
                          </a:solidFill>
                          <a:latin typeface="Cambria Math"/>
                          <a:ea typeface="Meiryo"/>
                        </a:rPr>
                        <m:t>[</m:t>
                      </m:r>
                      <m:sSubSup>
                        <m:e>
                          <m:r>
                            <a:rPr sz="2775" b="0" lang="en-US">
                              <a:solidFill>
                                <a:srgbClr val="183E50"/>
                              </a:solidFill>
                              <a:latin typeface="Cambria Math"/>
                              <a:ea typeface="Meiryo"/>
                            </a:rPr>
                            <m:t>e</m:t>
                          </m:r>
                        </m:e>
                        <m:sub>
                          <m:r>
                            <a:rPr sz="2775" b="0" lang="en-US">
                              <a:solidFill>
                                <a:srgbClr val="183E50"/>
                              </a:solidFill>
                              <a:latin typeface="Cambria Math"/>
                              <a:ea typeface="Meiryo"/>
                            </a:rPr>
                            <m:t>i</m:t>
                          </m:r>
                        </m:sub>
                        <m:sup>
                          <m:r>
                            <a:rPr sz="2775" b="0" lang="en-US">
                              <a:solidFill>
                                <a:srgbClr val="183E50"/>
                              </a:solidFill>
                              <a:latin typeface="Cambria Math"/>
                              <a:ea typeface="Meiryo"/>
                            </a:rPr>
                            <m:t>2</m:t>
                          </m:r>
                        </m:sup>
                      </m:sSubSup>
                      <m:r>
                        <a:rPr sz="2775" b="0" lang="en-US">
                          <a:solidFill>
                            <a:srgbClr val="183E50"/>
                          </a:solidFill>
                          <a:latin typeface="Cambria Math"/>
                          <a:ea typeface="Meiryo"/>
                        </a:rPr>
                        <m:t>]−2</m:t>
                      </m:r>
                      <m:sSubSup>
                        <m:e>
                          <m:r>
                            <a:rPr sz="2775" b="0" lang="en-US">
                              <a:solidFill>
                                <a:srgbClr val="183E50"/>
                              </a:solidFill>
                              <a:latin typeface="Cambria Math"/>
                              <a:ea typeface="Meiryo"/>
                            </a:rPr>
                            <m:t>μ</m:t>
                          </m:r>
                        </m:e>
                        <m:sub>
                          <m:r>
                            <a:rPr sz="2775" b="0" lang="en-US">
                              <a:solidFill>
                                <a:srgbClr val="183E50"/>
                              </a:solidFill>
                              <a:latin typeface="Cambria Math"/>
                              <a:ea typeface="Meiryo"/>
                            </a:rPr>
                            <m:t>e</m:t>
                          </m:r>
                        </m:sub>
                        <m:sup>
                          <m:r>
                            <a:rPr sz="2775" b="0" lang="en-US">
                              <a:solidFill>
                                <a:srgbClr val="183E50"/>
                              </a:solidFill>
                              <a:latin typeface="Cambria Math"/>
                              <a:ea typeface="Meiryo"/>
                            </a:rPr>
                            <m:t>2</m:t>
                          </m:r>
                        </m:sup>
                      </m:sSubSup>
                      <m:r>
                        <a:rPr sz="2775" b="0" lang="en-US">
                          <a:solidFill>
                            <a:srgbClr val="183E50"/>
                          </a:solidFill>
                          <a:latin typeface="Cambria Math"/>
                          <a:ea typeface="Meiryo"/>
                        </a:rPr>
                        <m:t>+</m:t>
                      </m:r>
                      <m:sSubSup>
                        <m:e>
                          <m:r>
                            <a:rPr sz="2775" b="0" lang="en-US">
                              <a:solidFill>
                                <a:srgbClr val="183E50"/>
                              </a:solidFill>
                              <a:latin typeface="Cambria Math"/>
                              <a:ea typeface="Meiryo"/>
                            </a:rPr>
                            <m:t>μ</m:t>
                          </m:r>
                        </m:e>
                        <m:sub>
                          <m:r>
                            <a:rPr sz="2775" b="0" lang="en-US">
                              <a:solidFill>
                                <a:srgbClr val="183E50"/>
                              </a:solidFill>
                              <a:latin typeface="Cambria Math"/>
                              <a:ea typeface="Meiryo"/>
                            </a:rPr>
                            <m:t>e</m:t>
                          </m:r>
                        </m:sub>
                        <m:sup>
                          <m:r>
                            <a:rPr sz="2775" b="0" lang="en-US">
                              <a:solidFill>
                                <a:srgbClr val="183E50"/>
                              </a:solidFill>
                              <a:latin typeface="Cambria Math"/>
                              <a:ea typeface="Meiryo"/>
                            </a:rPr>
                            <m:t>2</m:t>
                          </m:r>
                        </m:sup>
                      </m:sSubSup>
                      <m:r>
                        <a:rPr sz="2775" b="0" lang="en-US">
                          <a:solidFill>
                            <a:srgbClr val="183E50"/>
                          </a:solidFill>
                          <a:latin typeface="Cambria Math"/>
                          <a:ea typeface="Meiryo"/>
                        </a:rPr>
                        <m:t>=</m:t>
                      </m:r>
                      <m:r>
                        <m:rPr>
                          <m:sty m:val="p"/>
                        </m:rPr>
                        <a:rPr sz="2775" b="0" lang="en-US">
                          <a:solidFill>
                            <a:srgbClr val="183E50"/>
                          </a:solidFill>
                          <a:latin typeface="Cambria Math"/>
                          <a:ea typeface="Meiryo"/>
                        </a:rPr>
                        <m:t>E</m:t>
                      </m:r>
                      <m:r>
                        <a:rPr sz="2775" b="0" lang="en-US">
                          <a:solidFill>
                            <a:srgbClr val="183E50"/>
                          </a:solidFill>
                          <a:latin typeface="Cambria Math"/>
                          <a:ea typeface="Meiryo"/>
                        </a:rPr>
                        <m:t>[</m:t>
                      </m:r>
                      <m:sSubSup>
                        <m:e>
                          <m:r>
                            <a:rPr sz="2775" b="0" lang="en-US">
                              <a:solidFill>
                                <a:srgbClr val="183E50"/>
                              </a:solidFill>
                              <a:latin typeface="Cambria Math"/>
                              <a:ea typeface="Meiryo"/>
                            </a:rPr>
                            <m:t>e</m:t>
                          </m:r>
                        </m:e>
                        <m:sub>
                          <m:r>
                            <a:rPr sz="2775" b="0" lang="en-US">
                              <a:solidFill>
                                <a:srgbClr val="183E50"/>
                              </a:solidFill>
                              <a:latin typeface="Cambria Math"/>
                              <a:ea typeface="Meiryo"/>
                            </a:rPr>
                            <m:t>i</m:t>
                          </m:r>
                        </m:sub>
                        <m:sup>
                          <m:r>
                            <a:rPr sz="2775" b="0" lang="en-US">
                              <a:solidFill>
                                <a:srgbClr val="183E50"/>
                              </a:solidFill>
                              <a:latin typeface="Cambria Math"/>
                              <a:ea typeface="Meiryo"/>
                            </a:rPr>
                            <m:t>2</m:t>
                          </m:r>
                        </m:sup>
                      </m:sSubSup>
                      <m:r>
                        <a:rPr sz="2775" b="0" lang="en-US">
                          <a:solidFill>
                            <a:srgbClr val="183E50"/>
                          </a:solidFill>
                          <a:latin typeface="Cambria Math"/>
                          <a:ea typeface="Meiryo"/>
                        </a:rPr>
                        <m:t>]−</m:t>
                      </m:r>
                      <m:sSubSup>
                        <m:e>
                          <m:r>
                            <a:rPr sz="2775" b="0" lang="en-US">
                              <a:solidFill>
                                <a:srgbClr val="183E50"/>
                              </a:solidFill>
                              <a:latin typeface="Cambria Math"/>
                              <a:ea typeface="Meiryo"/>
                            </a:rPr>
                            <m:t>μ</m:t>
                          </m:r>
                        </m:e>
                        <m:sub>
                          <m:r>
                            <a:rPr sz="2775" b="0" lang="en-US">
                              <a:solidFill>
                                <a:srgbClr val="183E50"/>
                              </a:solidFill>
                              <a:latin typeface="Cambria Math"/>
                              <a:ea typeface="Meiryo"/>
                            </a:rPr>
                            <m:t>e</m:t>
                          </m:r>
                        </m:sub>
                        <m:sup>
                          <m:r>
                            <a:rPr sz="2775" b="0" lang="en-US">
                              <a:solidFill>
                                <a:srgbClr val="183E50"/>
                              </a:solidFill>
                              <a:latin typeface="Cambria Math"/>
                              <a:ea typeface="Meiryo"/>
                            </a:rPr>
                            <m:t>2</m:t>
                          </m:r>
                        </m:sup>
                      </m:sSubSup>
                    </m:oMath>
                  </m:oMathPara>
                </a14:m>
              </a:p>
            </p:txBody>
          </p:sp>
        </mc:Choice>
        <mc:Fallback>
          <p:sp>
            <p:nvSpPr>
              <p:cNvPr id="7" name="EQM00010">
                <a:extLst xmlns:a="http://schemas.openxmlformats.org/drawingml/2006/main">
                  <a:ext uri="{FF2B5EF4-FFF2-40B4-BE49-F238E27FC236}">
                    <a16:creationId xmlns:a16="http://schemas.microsoft.com/office/drawing/2014/main" id="{77FC442A-D97F-472E-8001-B4F50A6E5990}"/>
                  </a:ext>
                </a:extLst>
              </p:cNvPr>
              <p:cNvSpPr>
                <a:spLocks xmlns:a="http://schemas.openxmlformats.org/drawingml/2006/main" noGrp="1"/>
              </p:cNvSpPr>
              <p:nvPr/>
            </p:nvSpPr>
            <p:spPr>
              <a:xfrm xmlns:a="http://schemas.openxmlformats.org/drawingml/2006/main">
                <a:off x="762000" y="416242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r>
                  <a:rPr sz="2775" b="0">
                    <a:solidFill>
                      <a:srgbClr val="183E50"/>
                    </a:solidFill>
                    <a:latin typeface="Cambria Math"/>
                    <a:ea typeface="Cambria Math"/>
                    <a:cs typeface="Cambria Math"/>
                  </a:rPr>
                  <a:t>=\mathrm{E}[e_i^2]-2\mu_e^2+\mu_e^2=\mathrm{E}[e_i^2]-\mu_e^2</a:t>
                </a:r>
              </a:p>
            </p:txBody>
          </p:sp>
        </mc:Fallback>
      </mc:AlternateContent>
      <mc:AlternateContent xmlns:mc="http://schemas.openxmlformats.org/markup-compatibility/2006" xmlns:a14="http://schemas.microsoft.com/office/drawing/2010/main">
        <mc:Choice Requires="a14">
          <p:sp>
            <p:nvSpPr>
              <p:cNvPr id="8" name="EQM00011">
                <a:extLst xmlns:a="http://schemas.openxmlformats.org/drawingml/2006/main">
                  <a:ext uri="{FF2B5EF4-FFF2-40B4-BE49-F238E27FC236}">
                    <a16:creationId xmlns:a16="http://schemas.microsoft.com/office/drawing/2014/main" id="{4A1E9E4F-F6AF-4A78-8BC8-A9392E718AED}"/>
                  </a:ext>
                </a:extLst>
              </p:cNvPr>
              <p:cNvSpPr>
                <a:spLocks xmlns:a="http://schemas.openxmlformats.org/drawingml/2006/main" noGrp="1"/>
              </p:cNvSpPr>
              <p:nvPr/>
            </p:nvSpPr>
            <p:spPr>
              <a:xfrm xmlns:a="http://schemas.openxmlformats.org/drawingml/2006/main">
                <a:off x="762000" y="49339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14:m xmlns:m="http://schemas.openxmlformats.org/officeDocument/2006/math">
                  <m:oMathPara>
                    <m:oMathParaPr>
                      <m:jc m:val="centerGroup"/>
                    </m:oMathParaPr>
                    <m:oMath xmlns:mml="http://www.w3.org/1998/Math/MathML">
                      <m:sSub>
                        <m:e>
                          <m:r>
                            <a:rPr sz="2775" b="0" lang="en-US">
                              <a:solidFill>
                                <a:srgbClr val="183E50"/>
                              </a:solidFill>
                              <a:latin typeface="Cambria Math"/>
                              <a:ea typeface="Meiryo"/>
                            </a:rPr>
                            <m:t>μ</m:t>
                          </m:r>
                        </m:e>
                        <m:sub>
                          <m:r>
                            <a:rPr sz="2775" b="0" lang="en-US">
                              <a:solidFill>
                                <a:srgbClr val="183E50"/>
                              </a:solidFill>
                              <a:latin typeface="Cambria Math"/>
                              <a:ea typeface="Meiryo"/>
                            </a:rPr>
                            <m:t>e</m:t>
                          </m:r>
                        </m:sub>
                      </m:sSub>
                      <m:r>
                        <a:rPr sz="2775" b="0" lang="en-US">
                          <a:solidFill>
                            <a:srgbClr val="183E50"/>
                          </a:solidFill>
                          <a:latin typeface="Cambria Math"/>
                          <a:ea typeface="Meiryo"/>
                        </a:rPr>
                        <m:t>=0</m:t>
                      </m:r>
                      <m:r>
                        <m:rPr>
                          <m:nor/>
                        </m:rPr>
                        <a:rPr sz="2775" b="0" lang="en-US">
                          <a:solidFill>
                            <a:srgbClr val="183E50"/>
                          </a:solidFill>
                          <a:latin typeface="Cambria Math"/>
                          <a:ea typeface="Meiryo"/>
                        </a:rPr>
                        <m:t> </m:t>
                      </m:r>
                      <m:r>
                        <a:rPr sz="2775" b="0" lang="en-US">
                          <a:solidFill>
                            <a:srgbClr val="183E50"/>
                          </a:solidFill>
                          <a:latin typeface="Cambria Math"/>
                          <a:ea typeface="Meiryo"/>
                        </a:rPr>
                        <m:t>⟹</m:t>
                      </m:r>
                      <m:r>
                        <m:rPr>
                          <m:nor/>
                        </m:rPr>
                        <a:rPr sz="2775" b="0" lang="en-US">
                          <a:solidFill>
                            <a:srgbClr val="183E50"/>
                          </a:solidFill>
                          <a:latin typeface="Cambria Math"/>
                          <a:ea typeface="Meiryo"/>
                        </a:rPr>
                        <m:t> </m:t>
                      </m:r>
                      <m:r>
                        <m:rPr>
                          <m:sty m:val="p"/>
                        </m:rPr>
                        <a:rPr sz="2775" b="0" lang="en-US">
                          <a:solidFill>
                            <a:srgbClr val="183E50"/>
                          </a:solidFill>
                          <a:latin typeface="Cambria Math"/>
                          <a:ea typeface="Meiryo"/>
                        </a:rPr>
                        <m:t>Var</m:t>
                      </m:r>
                      <m:r>
                        <a:rPr sz="2775" b="0" lang="en-US">
                          <a:solidFill>
                            <a:srgbClr val="183E50"/>
                          </a:solidFill>
                          <a:latin typeface="Cambria Math"/>
                          <a:ea typeface="Meiryo"/>
                        </a:rPr>
                        <m:t>⁡(</m:t>
                      </m:r>
                      <m:sSub>
                        <m:e>
                          <m:r>
                            <a:rPr sz="2775" b="0" lang="en-US">
                              <a:solidFill>
                                <a:srgbClr val="183E50"/>
                              </a:solidFill>
                              <a:latin typeface="Cambria Math"/>
                              <a:ea typeface="Meiryo"/>
                            </a:rPr>
                            <m:t>e</m:t>
                          </m:r>
                        </m:e>
                        <m:sub>
                          <m:r>
                            <a:rPr sz="2775" b="0" lang="en-US">
                              <a:solidFill>
                                <a:srgbClr val="183E50"/>
                              </a:solidFill>
                              <a:latin typeface="Cambria Math"/>
                              <a:ea typeface="Meiryo"/>
                            </a:rPr>
                            <m:t>i</m:t>
                          </m:r>
                        </m:sub>
                      </m:sSub>
                      <m:r>
                        <a:rPr sz="2775" b="0" lang="en-US">
                          <a:solidFill>
                            <a:srgbClr val="183E50"/>
                          </a:solidFill>
                          <a:latin typeface="Cambria Math"/>
                          <a:ea typeface="Meiryo"/>
                        </a:rPr>
                        <m:t>)=</m:t>
                      </m:r>
                      <m:r>
                        <m:rPr>
                          <m:sty m:val="p"/>
                        </m:rPr>
                        <a:rPr sz="2775" b="0" lang="en-US">
                          <a:solidFill>
                            <a:srgbClr val="183E50"/>
                          </a:solidFill>
                          <a:latin typeface="Cambria Math"/>
                          <a:ea typeface="Meiryo"/>
                        </a:rPr>
                        <m:t>E</m:t>
                      </m:r>
                      <m:r>
                        <a:rPr sz="2775" b="0" lang="en-US">
                          <a:solidFill>
                            <a:srgbClr val="183E50"/>
                          </a:solidFill>
                          <a:latin typeface="Cambria Math"/>
                          <a:ea typeface="Meiryo"/>
                        </a:rPr>
                        <m:t>[</m:t>
                      </m:r>
                      <m:sSubSup>
                        <m:e>
                          <m:r>
                            <a:rPr sz="2775" b="0" lang="en-US">
                              <a:solidFill>
                                <a:srgbClr val="183E50"/>
                              </a:solidFill>
                              <a:latin typeface="Cambria Math"/>
                              <a:ea typeface="Meiryo"/>
                            </a:rPr>
                            <m:t>e</m:t>
                          </m:r>
                        </m:e>
                        <m:sub>
                          <m:r>
                            <a:rPr sz="2775" b="0" lang="en-US">
                              <a:solidFill>
                                <a:srgbClr val="183E50"/>
                              </a:solidFill>
                              <a:latin typeface="Cambria Math"/>
                              <a:ea typeface="Meiryo"/>
                            </a:rPr>
                            <m:t>i</m:t>
                          </m:r>
                        </m:sub>
                        <m:sup>
                          <m:r>
                            <a:rPr sz="2775" b="0" lang="en-US">
                              <a:solidFill>
                                <a:srgbClr val="183E50"/>
                              </a:solidFill>
                              <a:latin typeface="Cambria Math"/>
                              <a:ea typeface="Meiryo"/>
                            </a:rPr>
                            <m:t>2</m:t>
                          </m:r>
                        </m:sup>
                      </m:sSubSup>
                      <m:r>
                        <a:rPr sz="2775" b="0" lang="en-US">
                          <a:solidFill>
                            <a:srgbClr val="183E50"/>
                          </a:solidFill>
                          <a:latin typeface="Cambria Math"/>
                          <a:ea typeface="Meiryo"/>
                        </a:rPr>
                        <m:t>]</m:t>
                      </m:r>
                    </m:oMath>
                  </m:oMathPara>
                </a14:m>
              </a:p>
            </p:txBody>
          </p:sp>
        </mc:Choice>
        <mc:Fallback>
          <p:sp>
            <p:nvSpPr>
              <p:cNvPr id="8" name="EQM00011">
                <a:extLst xmlns:a="http://schemas.openxmlformats.org/drawingml/2006/main">
                  <a:ext uri="{FF2B5EF4-FFF2-40B4-BE49-F238E27FC236}">
                    <a16:creationId xmlns:a16="http://schemas.microsoft.com/office/drawing/2014/main" id="{4A1E9E4F-F6AF-4A78-8BC8-A9392E718AED}"/>
                  </a:ext>
                </a:extLst>
              </p:cNvPr>
              <p:cNvSpPr>
                <a:spLocks xmlns:a="http://schemas.openxmlformats.org/drawingml/2006/main" noGrp="1"/>
              </p:cNvSpPr>
              <p:nvPr/>
            </p:nvSpPr>
            <p:spPr>
              <a:xfrm xmlns:a="http://schemas.openxmlformats.org/drawingml/2006/main">
                <a:off x="762000" y="49339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r>
                  <a:rPr sz="2775" b="0">
                    <a:solidFill>
                      <a:srgbClr val="183E50"/>
                    </a:solidFill>
                    <a:latin typeface="Cambria Math"/>
                    <a:ea typeface="Cambria Math"/>
                    <a:cs typeface="Cambria Math"/>
                  </a:rPr>
                  <a:t>\mu_e=0\quad\Longrightarrow\quad\operatorname{Var}(e_i)=\mathrm{E}[e_i^2]</a:t>
                </a:r>
              </a:p>
            </p:txBody>
          </p:sp>
        </mc:Fallback>
      </mc:AlternateContent>
      <p:sp>
        <p:nvSpPr>
          <p:cNvPr id="9" name="有限の二乗期待値と平均0が前提。独立性や正規分布は不要。">
            <a:extLst xmlns:a="http://schemas.openxmlformats.org/drawingml/2006/main">
              <a:ext uri="{FF2B5EF4-FFF2-40B4-BE49-F238E27FC236}">
                <a16:creationId xmlns:a16="http://schemas.microsoft.com/office/drawing/2014/main" id="{E2C18A72-B07D-483C-82E6-E8C2C9667C4B}"/>
              </a:ext>
            </a:extLst>
          </p:cNvPr>
          <p:cNvSpPr>
            <a:spLocks xmlns:a="http://schemas.openxmlformats.org/drawingml/2006/main" noGrp="1"/>
          </p:cNvSpPr>
          <p:nvPr/>
        </p:nvSpPr>
        <p:spPr>
          <a:xfrm xmlns:a="http://schemas.openxmlformats.org/drawingml/2006/main">
            <a:off x="762000" y="5972175"/>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37B78"/>
                </a:solidFill>
                <a:latin typeface="Meiryo"/>
                <a:ea typeface="Meiryo"/>
                <a:cs typeface="Meiryo"/>
              </a:defRPr>
            </a:defPPr>
          </a:lstStyle>
          <a:p xmlns:a="http://schemas.openxmlformats.org/drawingml/2006/main">
            <a:pPr algn="l">
              <a:defRPr sz="1950" b="1">
                <a:solidFill>
                  <a:srgbClr val="137B78"/>
                </a:solidFill>
                <a:latin typeface="Meiryo"/>
                <a:ea typeface="Meiryo"/>
                <a:cs typeface="Meiryo"/>
              </a:defRPr>
            </a:pPr>
            <a:r>
              <a:rPr sz="1950" b="1">
                <a:solidFill>
                  <a:srgbClr val="137B78"/>
                </a:solidFill>
                <a:latin typeface="Meiryo"/>
                <a:ea typeface="Meiryo"/>
                <a:cs typeface="Meiryo"/>
              </a:rPr>
              <a:t>有限の二乗期待値と平均0が前提。独立性や正規分布は不要。</a:t>
            </a:r>
          </a:p>
        </p:txBody>
      </p:sp>
    </p:spTree>
    <p:extLst>
      <p:ext uri="{BB962C8B-B14F-4D97-AF65-F5344CB8AC3E}">
        <p14:creationId xmlns:p14="http://schemas.microsoft.com/office/powerpoint/2010/main" val="1648933082"/>
      </p:ext>
    </p:extLst>
  </p:cSld>
</p:sld>
</file>

<file path=ppt/slides/slide5.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8" name="補足05-5 偏りが残ると、二乗平均には偏りも入る">
            <a:extLst xmlns:a="http://schemas.openxmlformats.org/drawingml/2006/main">
              <a:ext uri="{FF2B5EF4-FFF2-40B4-BE49-F238E27FC236}">
                <a16:creationId xmlns:a16="http://schemas.microsoft.com/office/drawing/2014/main" id="{E13AAB28-7027-451A-8DAB-13359043F792}"/>
              </a:ext>
            </a:extLst>
          </p:cNvPr>
          <p:cNvSpPr>
            <a:spLocks xmlns:a="http://schemas.openxmlformats.org/drawingml/2006/main" noGrp="1"/>
          </p:cNvSpPr>
          <p:nvPr/>
        </p:nvSpPr>
        <p:spPr>
          <a:xfrm xmlns:a="http://schemas.openxmlformats.org/drawingml/2006/main">
            <a:off x="685800" y="419100"/>
            <a:ext cx="10820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183E50"/>
                </a:solidFill>
                <a:latin typeface="Meiryo"/>
                <a:ea typeface="Meiryo"/>
                <a:cs typeface="Meiryo"/>
              </a:defRPr>
            </a:defPPr>
          </a:lstStyle>
          <a:p xmlns:a="http://schemas.openxmlformats.org/drawingml/2006/main">
            <a:pPr algn="l">
              <a:defRPr sz="2850" b="1">
                <a:solidFill>
                  <a:srgbClr val="183E50"/>
                </a:solidFill>
                <a:latin typeface="Meiryo"/>
                <a:ea typeface="Meiryo"/>
                <a:cs typeface="Meiryo"/>
              </a:defRPr>
            </a:pPr>
            <a:r>
              <a:rPr sz="2850" b="1">
                <a:solidFill>
                  <a:srgbClr val="183E50"/>
                </a:solidFill>
                <a:latin typeface="Meiryo"/>
                <a:ea typeface="Meiryo"/>
                <a:cs typeface="Meiryo"/>
              </a:rPr>
              <a:t>補足05-5 偏りが残ると、二乗平均には偏りも入る</a:t>
            </a:r>
          </a:p>
        </p:txBody>
      </p:sp>
      <p:sp>
        <p:nvSpPr>
          <p:cNvPr id="2" name="5 / 5">
            <a:extLst xmlns:a="http://schemas.openxmlformats.org/drawingml/2006/main">
              <a:ext uri="{FF2B5EF4-FFF2-40B4-BE49-F238E27FC236}">
                <a16:creationId xmlns:a16="http://schemas.microsoft.com/office/drawing/2014/main" id="{AA8D6CB2-7E01-4CE8-9C38-B85F1F2EA228}"/>
              </a:ext>
            </a:extLst>
          </p:cNvPr>
          <p:cNvSpPr>
            <a:spLocks xmlns:a="http://schemas.openxmlformats.org/drawingml/2006/main" noGrp="1"/>
          </p:cNvSpPr>
          <p:nvPr/>
        </p:nvSpPr>
        <p:spPr>
          <a:xfrm xmlns:a="http://schemas.openxmlformats.org/drawingml/2006/main">
            <a:off x="10763250" y="6448425"/>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200" b="0">
                <a:solidFill>
                  <a:srgbClr val="64757D"/>
                </a:solidFill>
                <a:latin typeface="Meiryo"/>
                <a:ea typeface="Meiryo"/>
                <a:cs typeface="Meiryo"/>
              </a:defRPr>
            </a:defPPr>
          </a:lstStyle>
          <a:p xmlns:a="http://schemas.openxmlformats.org/drawingml/2006/main">
            <a:pPr algn="l">
              <a:defRPr sz="1200" b="0">
                <a:solidFill>
                  <a:srgbClr val="64757D"/>
                </a:solidFill>
                <a:latin typeface="Meiryo"/>
                <a:ea typeface="Meiryo"/>
                <a:cs typeface="Meiryo"/>
              </a:defRPr>
            </a:pPr>
            <a:r>
              <a:rPr sz="1200" b="0">
                <a:solidFill>
                  <a:srgbClr val="64757D"/>
                </a:solidFill>
                <a:latin typeface="Meiryo"/>
                <a:ea typeface="Meiryo"/>
                <a:cs typeface="Meiryo"/>
              </a:rPr>
              <a:t>5 / 5</a:t>
            </a:r>
          </a:p>
        </p:txBody>
      </p:sp>
      <p:sp>
        <p:nvSpPr>
          <p:cNvPr id="3" name="前の誤差に ＋3 mm の偏りを加えると、次のモデルになる。">
            <a:extLst xmlns:a="http://schemas.openxmlformats.org/drawingml/2006/main">
              <a:ext uri="{FF2B5EF4-FFF2-40B4-BE49-F238E27FC236}">
                <a16:creationId xmlns:a16="http://schemas.microsoft.com/office/drawing/2014/main" id="{D1563F22-C88A-41E0-A868-428A58B0A9F0}"/>
              </a:ext>
            </a:extLst>
          </p:cNvPr>
          <p:cNvSpPr>
            <a:spLocks xmlns:a="http://schemas.openxmlformats.org/drawingml/2006/main" noGrp="1"/>
          </p:cNvSpPr>
          <p:nvPr/>
        </p:nvSpPr>
        <p:spPr>
          <a:xfrm xmlns:a="http://schemas.openxmlformats.org/drawingml/2006/main">
            <a:off x="762000" y="13906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243C48"/>
                </a:solidFill>
                <a:latin typeface="Meiryo"/>
                <a:ea typeface="Meiryo"/>
                <a:cs typeface="Meiryo"/>
              </a:defRPr>
            </a:defPPr>
          </a:lstStyle>
          <a:p xmlns:a="http://schemas.openxmlformats.org/drawingml/2006/main">
            <a:pPr algn="l">
              <a:defRPr sz="1950" b="0">
                <a:solidFill>
                  <a:srgbClr val="243C48"/>
                </a:solidFill>
                <a:latin typeface="Meiryo"/>
                <a:ea typeface="Meiryo"/>
                <a:cs typeface="Meiryo"/>
              </a:defRPr>
            </a:pPr>
            <a:r>
              <a:rPr sz="1950" b="0">
                <a:solidFill>
                  <a:srgbClr val="243C48"/>
                </a:solidFill>
                <a:latin typeface="Meiryo"/>
                <a:ea typeface="Meiryo"/>
                <a:cs typeface="Meiryo"/>
              </a:rPr>
              <a:t>前の誤差に ＋3 mm の偏りを加えると、次のモデルになる。</a:t>
            </a:r>
          </a:p>
        </p:txBody>
      </p:sp>
      <p:graphicFrame>
        <p:nvGraphicFramePr>
          <p:cNvPr id="4" name="">
            <a:extLst xmlns:a="http://schemas.openxmlformats.org/drawingml/2006/main">
              <a:ext uri="{FF2B5EF4-FFF2-40B4-BE49-F238E27FC236}">
                <a16:creationId xmlns:a16="http://schemas.microsoft.com/office/drawing/2014/main" id="{1046181B-74B6-4DD8-AC5F-912438BB7E58}"/>
              </a:ext>
            </a:extLst>
          </p:cNvPr>
          <p:cNvGraphicFramePr/>
          <p:nvPr/>
        </p:nvGraphicFramePr>
        <p:xfrm>
          <a:off xmlns:a="http://schemas.openxmlformats.org/drawingml/2006/main" x="762000" y="2095500"/>
          <a:ext xmlns:a="http://schemas.openxmlformats.org/drawingml/2006/main" cx="10668000" cy="1543050"/>
        </p:xfrm>
        <a:graphic xmlns:a="http://schemas.openxmlformats.org/drawingml/2006/main">
          <a:graphicData uri="http://schemas.openxmlformats.org/drawingml/2006/table">
            <a:tbl>
              <a:tblPr/>
              <a:tblGrid>
                <a:gridCol w="4610100"/>
                <a:gridCol w="2019300"/>
                <a:gridCol w="2019300"/>
                <a:gridCol w="2019300"/>
              </a:tblGrid>
              <a:tr h="514350">
                <a:tc>
                  <a:txBody>
                    <a:bodyPr lIns="95250" tIns="95250" rIns="95250" bIns="95250"/>
                    <a:lstStyle/>
                    <a:p>
                      <a:pPr algn="l"/>
                      <a:r>
                        <a:rPr sz="1875" b="1">
                          <a:solidFill>
                            <a:srgbClr val="FFFFFF"/>
                          </a:solidFill>
                          <a:latin typeface="Meiryo"/>
                          <a:ea typeface="Meiryo"/>
                          <a:cs typeface="Meiryo"/>
                        </a:rPr>
                        <a:t>誤差 eᵢ（mm）</a:t>
                      </a:r>
                    </a:p>
                  </a:txBody>
                  <a:tcPr marL="91440" marR="91440" marT="45720" marB="45720" anchor="ctr">
                    <a:lnL w="9525">
                      <a:solidFill>
                        <a:srgbClr val="D9E0DB"/>
                      </a:solidFill>
                      <a:prstDash val="solid"/>
                    </a:lnL>
                    <a:lnR w="9525">
                      <a:solidFill>
                        <a:srgbClr val="D9E0DB"/>
                      </a:solidFill>
                      <a:prstDash val="solid"/>
                    </a:lnR>
                    <a:lnT w="9525">
                      <a:solidFill>
                        <a:srgbClr val="D9E0DB"/>
                      </a:solidFill>
                      <a:prstDash val="solid"/>
                    </a:lnT>
                    <a:lnB w="9525">
                      <a:solidFill>
                        <a:srgbClr val="D9E0DB"/>
                      </a:solidFill>
                      <a:prstDash val="solid"/>
                    </a:lnB>
                    <a:solidFill>
                      <a:srgbClr val="183E50"/>
                    </a:solidFill>
                  </a:tcPr>
                </a:tc>
                <a:tc>
                  <a:txBody>
                    <a:bodyPr lIns="95250" tIns="95250" rIns="95250" bIns="95250"/>
                    <a:lstStyle/>
                    <a:p>
                      <a:pPr algn="ctr"/>
                      <a:r>
                        <a:rPr sz="1875" b="1">
                          <a:solidFill>
                            <a:srgbClr val="FFFFFF"/>
                          </a:solidFill>
                          <a:latin typeface="Meiryo"/>
                          <a:ea typeface="Meiryo"/>
                          <a:cs typeface="Meiryo"/>
                        </a:rPr>
                        <a:t>＋1</a:t>
                      </a:r>
                    </a:p>
                  </a:txBody>
                  <a:tcPr marL="91440" marR="91440" marT="45720" marB="45720" anchor="ctr">
                    <a:lnR w="9525">
                      <a:solidFill>
                        <a:srgbClr val="D9E0DB"/>
                      </a:solidFill>
                      <a:prstDash val="solid"/>
                    </a:lnR>
                    <a:lnT w="9525">
                      <a:solidFill>
                        <a:srgbClr val="D9E0DB"/>
                      </a:solidFill>
                      <a:prstDash val="solid"/>
                    </a:lnT>
                    <a:lnB w="9525">
                      <a:solidFill>
                        <a:srgbClr val="D9E0DB"/>
                      </a:solidFill>
                      <a:prstDash val="solid"/>
                    </a:lnB>
                    <a:solidFill>
                      <a:srgbClr val="183E50"/>
                    </a:solidFill>
                  </a:tcPr>
                </a:tc>
                <a:tc>
                  <a:txBody>
                    <a:bodyPr lIns="95250" tIns="95250" rIns="95250" bIns="95250"/>
                    <a:lstStyle/>
                    <a:p>
                      <a:pPr algn="ctr"/>
                      <a:r>
                        <a:rPr sz="1875" b="1">
                          <a:solidFill>
                            <a:srgbClr val="FFFFFF"/>
                          </a:solidFill>
                          <a:latin typeface="Meiryo"/>
                          <a:ea typeface="Meiryo"/>
                          <a:cs typeface="Meiryo"/>
                        </a:rPr>
                        <a:t>＋3</a:t>
                      </a:r>
                    </a:p>
                  </a:txBody>
                  <a:tcPr marL="91440" marR="91440" marT="45720" marB="45720" anchor="ctr">
                    <a:lnR w="9525">
                      <a:solidFill>
                        <a:srgbClr val="D9E0DB"/>
                      </a:solidFill>
                      <a:prstDash val="solid"/>
                    </a:lnR>
                    <a:lnT w="9525">
                      <a:solidFill>
                        <a:srgbClr val="D9E0DB"/>
                      </a:solidFill>
                      <a:prstDash val="solid"/>
                    </a:lnT>
                    <a:lnB w="9525">
                      <a:solidFill>
                        <a:srgbClr val="D9E0DB"/>
                      </a:solidFill>
                      <a:prstDash val="solid"/>
                    </a:lnB>
                    <a:solidFill>
                      <a:srgbClr val="183E50"/>
                    </a:solidFill>
                  </a:tcPr>
                </a:tc>
                <a:tc>
                  <a:txBody>
                    <a:bodyPr lIns="95250" tIns="95250" rIns="95250" bIns="95250"/>
                    <a:lstStyle/>
                    <a:p>
                      <a:pPr algn="ctr"/>
                      <a:r>
                        <a:rPr sz="1875" b="1">
                          <a:solidFill>
                            <a:srgbClr val="FFFFFF"/>
                          </a:solidFill>
                          <a:latin typeface="Meiryo"/>
                          <a:ea typeface="Meiryo"/>
                          <a:cs typeface="Meiryo"/>
                        </a:rPr>
                        <a:t>＋5</a:t>
                      </a:r>
                    </a:p>
                  </a:txBody>
                  <a:tcPr marL="91440" marR="91440" marT="45720" marB="45720" anchor="ctr">
                    <a:lnR w="9525">
                      <a:solidFill>
                        <a:srgbClr val="D9E0DB"/>
                      </a:solidFill>
                      <a:prstDash val="solid"/>
                    </a:lnR>
                    <a:lnT w="9525">
                      <a:solidFill>
                        <a:srgbClr val="D9E0DB"/>
                      </a:solidFill>
                      <a:prstDash val="solid"/>
                    </a:lnT>
                    <a:lnB w="9525">
                      <a:solidFill>
                        <a:srgbClr val="D9E0DB"/>
                      </a:solidFill>
                      <a:prstDash val="solid"/>
                    </a:lnB>
                    <a:solidFill>
                      <a:srgbClr val="183E50"/>
                    </a:solidFill>
                  </a:tcPr>
                </a:tc>
              </a:tr>
              <a:tr h="514350">
                <a:tc>
                  <a:txBody>
                    <a:bodyPr lIns="95250" tIns="95250" rIns="95250" bIns="95250"/>
                    <a:lstStyle/>
                    <a:p>
                      <a:pPr algn="l"/>
                      <a:r>
                        <a:rPr sz="1875" b="0">
                          <a:solidFill>
                            <a:srgbClr val="243C48"/>
                          </a:solidFill>
                          <a:latin typeface="Meiryo"/>
                          <a:ea typeface="Meiryo"/>
                          <a:cs typeface="Meiryo"/>
                        </a:rPr>
                        <a:t>起こる確率</a:t>
                      </a:r>
                    </a:p>
                  </a:txBody>
                  <a:tcPr marL="91440" marR="91440" marT="45720" marB="45720" anchor="ctr">
                    <a:lnL w="9525">
                      <a:solidFill>
                        <a:srgbClr val="D9E0DB"/>
                      </a:solidFill>
                      <a:prstDash val="solid"/>
                    </a:lnL>
                    <a:lnR w="9525">
                      <a:solidFill>
                        <a:srgbClr val="D9E0DB"/>
                      </a:solidFill>
                      <a:prstDash val="solid"/>
                    </a:lnR>
                    <a:lnB w="9525">
                      <a:solidFill>
                        <a:srgbClr val="D9E0DB"/>
                      </a:solidFill>
                      <a:prstDash val="solid"/>
                    </a:lnB>
                    <a:solidFill>
                      <a:srgbClr val="FFFFFF"/>
                    </a:solidFill>
                  </a:tcPr>
                </a:tc>
                <a:tc>
                  <a:txBody>
                    <a:bodyPr lIns="95250" tIns="95250" rIns="95250" bIns="95250"/>
                    <a:lstStyle/>
                    <a:p>
                      <a:pPr algn="ctr"/>
                      <a:r>
                        <a:rPr sz="1875" b="0">
                          <a:solidFill>
                            <a:srgbClr val="243C48"/>
                          </a:solidFill>
                          <a:latin typeface="Meiryo"/>
                          <a:ea typeface="Meiryo"/>
                          <a:cs typeface="Meiryo"/>
                        </a:rPr>
                        <a:t>1/4</a:t>
                      </a:r>
                    </a:p>
                  </a:txBody>
                  <a:tcPr marL="91440" marR="91440" marT="45720" marB="45720" anchor="ctr">
                    <a:lnR w="9525">
                      <a:solidFill>
                        <a:srgbClr val="D9E0DB"/>
                      </a:solidFill>
                      <a:prstDash val="solid"/>
                    </a:lnR>
                    <a:lnB w="9525">
                      <a:solidFill>
                        <a:srgbClr val="D9E0DB"/>
                      </a:solidFill>
                      <a:prstDash val="solid"/>
                    </a:lnB>
                    <a:solidFill>
                      <a:srgbClr val="FFFFFF"/>
                    </a:solidFill>
                  </a:tcPr>
                </a:tc>
                <a:tc>
                  <a:txBody>
                    <a:bodyPr lIns="95250" tIns="95250" rIns="95250" bIns="95250"/>
                    <a:lstStyle/>
                    <a:p>
                      <a:pPr algn="ctr"/>
                      <a:r>
                        <a:rPr sz="1875" b="0">
                          <a:solidFill>
                            <a:srgbClr val="243C48"/>
                          </a:solidFill>
                          <a:latin typeface="Meiryo"/>
                          <a:ea typeface="Meiryo"/>
                          <a:cs typeface="Meiryo"/>
                        </a:rPr>
                        <a:t>1/2</a:t>
                      </a:r>
                    </a:p>
                  </a:txBody>
                  <a:tcPr marL="91440" marR="91440" marT="45720" marB="45720" anchor="ctr">
                    <a:lnR w="9525">
                      <a:solidFill>
                        <a:srgbClr val="D9E0DB"/>
                      </a:solidFill>
                      <a:prstDash val="solid"/>
                    </a:lnR>
                    <a:lnB w="9525">
                      <a:solidFill>
                        <a:srgbClr val="D9E0DB"/>
                      </a:solidFill>
                      <a:prstDash val="solid"/>
                    </a:lnB>
                    <a:solidFill>
                      <a:srgbClr val="FFFFFF"/>
                    </a:solidFill>
                  </a:tcPr>
                </a:tc>
                <a:tc>
                  <a:txBody>
                    <a:bodyPr lIns="95250" tIns="95250" rIns="95250" bIns="95250"/>
                    <a:lstStyle/>
                    <a:p>
                      <a:pPr algn="ctr"/>
                      <a:r>
                        <a:rPr sz="1875" b="0">
                          <a:solidFill>
                            <a:srgbClr val="243C48"/>
                          </a:solidFill>
                          <a:latin typeface="Meiryo"/>
                          <a:ea typeface="Meiryo"/>
                          <a:cs typeface="Meiryo"/>
                        </a:rPr>
                        <a:t>1/4</a:t>
                      </a:r>
                    </a:p>
                  </a:txBody>
                  <a:tcPr marL="91440" marR="91440" marT="45720" marB="45720" anchor="ctr">
                    <a:lnR w="9525">
                      <a:solidFill>
                        <a:srgbClr val="D9E0DB"/>
                      </a:solidFill>
                      <a:prstDash val="solid"/>
                    </a:lnR>
                    <a:lnB w="9525">
                      <a:solidFill>
                        <a:srgbClr val="D9E0DB"/>
                      </a:solidFill>
                      <a:prstDash val="solid"/>
                    </a:lnB>
                    <a:solidFill>
                      <a:srgbClr val="FFFFFF"/>
                    </a:solidFill>
                  </a:tcPr>
                </a:tc>
              </a:tr>
              <a:tr h="514350">
                <a:tc>
                  <a:txBody>
                    <a:bodyPr lIns="95250" tIns="95250" rIns="95250" bIns="95250"/>
                    <a:lstStyle/>
                    <a:p>
                      <a:pPr algn="l"/>
                      <a:r>
                        <a:rPr sz="1875" b="0">
                          <a:solidFill>
                            <a:srgbClr val="243C48"/>
                          </a:solidFill>
                          <a:latin typeface="Meiryo"/>
                          <a:ea typeface="Meiryo"/>
                          <a:cs typeface="Meiryo"/>
                        </a:rPr>
                        <a:t>平均3からのずれ（mm）</a:t>
                      </a:r>
                    </a:p>
                  </a:txBody>
                  <a:tcPr marL="91440" marR="91440" marT="45720" marB="45720" anchor="ctr">
                    <a:lnL w="9525">
                      <a:solidFill>
                        <a:srgbClr val="D9E0DB"/>
                      </a:solidFill>
                      <a:prstDash val="solid"/>
                    </a:lnL>
                    <a:lnR w="9525">
                      <a:solidFill>
                        <a:srgbClr val="D9E0DB"/>
                      </a:solidFill>
                      <a:prstDash val="solid"/>
                    </a:lnR>
                    <a:lnB w="9525">
                      <a:solidFill>
                        <a:srgbClr val="D9E0DB"/>
                      </a:solidFill>
                      <a:prstDash val="solid"/>
                    </a:lnB>
                    <a:solidFill>
                      <a:srgbClr val="F0F3EF"/>
                    </a:solidFill>
                  </a:tcPr>
                </a:tc>
                <a:tc>
                  <a:txBody>
                    <a:bodyPr lIns="95250" tIns="95250" rIns="95250" bIns="95250"/>
                    <a:lstStyle/>
                    <a:p>
                      <a:pPr algn="ctr"/>
                      <a:r>
                        <a:rPr sz="1875" b="0">
                          <a:solidFill>
                            <a:srgbClr val="243C48"/>
                          </a:solidFill>
                          <a:latin typeface="Meiryo"/>
                          <a:ea typeface="Meiryo"/>
                          <a:cs typeface="Meiryo"/>
                        </a:rPr>
                        <a:t>−2</a:t>
                      </a:r>
                    </a:p>
                  </a:txBody>
                  <a:tcPr marL="91440" marR="91440" marT="45720" marB="45720" anchor="ctr">
                    <a:lnR w="9525">
                      <a:solidFill>
                        <a:srgbClr val="D9E0DB"/>
                      </a:solidFill>
                      <a:prstDash val="solid"/>
                    </a:lnR>
                    <a:lnB w="9525">
                      <a:solidFill>
                        <a:srgbClr val="D9E0DB"/>
                      </a:solidFill>
                      <a:prstDash val="solid"/>
                    </a:lnB>
                    <a:solidFill>
                      <a:srgbClr val="F0F3EF"/>
                    </a:solidFill>
                  </a:tcPr>
                </a:tc>
                <a:tc>
                  <a:txBody>
                    <a:bodyPr lIns="95250" tIns="95250" rIns="95250" bIns="95250"/>
                    <a:lstStyle/>
                    <a:p>
                      <a:pPr algn="ctr"/>
                      <a:r>
                        <a:rPr sz="1875" b="0">
                          <a:solidFill>
                            <a:srgbClr val="243C48"/>
                          </a:solidFill>
                          <a:latin typeface="Meiryo"/>
                          <a:ea typeface="Meiryo"/>
                          <a:cs typeface="Meiryo"/>
                        </a:rPr>
                        <a:t>0</a:t>
                      </a:r>
                    </a:p>
                  </a:txBody>
                  <a:tcPr marL="91440" marR="91440" marT="45720" marB="45720" anchor="ctr">
                    <a:lnR w="9525">
                      <a:solidFill>
                        <a:srgbClr val="D9E0DB"/>
                      </a:solidFill>
                      <a:prstDash val="solid"/>
                    </a:lnR>
                    <a:lnB w="9525">
                      <a:solidFill>
                        <a:srgbClr val="D9E0DB"/>
                      </a:solidFill>
                      <a:prstDash val="solid"/>
                    </a:lnB>
                    <a:solidFill>
                      <a:srgbClr val="F0F3EF"/>
                    </a:solidFill>
                  </a:tcPr>
                </a:tc>
                <a:tc>
                  <a:txBody>
                    <a:bodyPr lIns="95250" tIns="95250" rIns="95250" bIns="95250"/>
                    <a:lstStyle/>
                    <a:p>
                      <a:pPr algn="ctr"/>
                      <a:r>
                        <a:rPr sz="1875" b="0">
                          <a:solidFill>
                            <a:srgbClr val="243C48"/>
                          </a:solidFill>
                          <a:latin typeface="Meiryo"/>
                          <a:ea typeface="Meiryo"/>
                          <a:cs typeface="Meiryo"/>
                        </a:rPr>
                        <a:t>＋2</a:t>
                      </a:r>
                    </a:p>
                  </a:txBody>
                  <a:tcPr marL="91440" marR="91440" marT="45720" marB="45720" anchor="ctr">
                    <a:lnR w="9525">
                      <a:solidFill>
                        <a:srgbClr val="D9E0DB"/>
                      </a:solidFill>
                      <a:prstDash val="solid"/>
                    </a:lnR>
                    <a:lnB w="9525">
                      <a:solidFill>
                        <a:srgbClr val="D9E0DB"/>
                      </a:solidFill>
                      <a:prstDash val="solid"/>
                    </a:lnB>
                    <a:solidFill>
                      <a:srgbClr val="F0F3EF"/>
                    </a:solidFill>
                  </a:tcPr>
                </a:tc>
              </a:tr>
            </a:tbl>
          </a:graphicData>
        </a:graphic>
      </p:graphicFrame>
      <mc:AlternateContent xmlns:mc="http://schemas.openxmlformats.org/markup-compatibility/2006" xmlns:a14="http://schemas.microsoft.com/office/drawing/2010/main">
        <mc:Choice Requires="a14">
          <p:sp>
            <p:nvSpPr>
              <p:cNvPr id="5" name="EQM00012">
                <a:extLst xmlns:a="http://schemas.openxmlformats.org/drawingml/2006/main">
                  <a:ext uri="{FF2B5EF4-FFF2-40B4-BE49-F238E27FC236}">
                    <a16:creationId xmlns:a16="http://schemas.microsoft.com/office/drawing/2014/main" id="{59161498-C9A6-4644-97A2-73FF5D11F275}"/>
                  </a:ext>
                </a:extLst>
              </p:cNvPr>
              <p:cNvSpPr>
                <a:spLocks xmlns:a="http://schemas.openxmlformats.org/drawingml/2006/main" noGrp="1"/>
              </p:cNvSpPr>
              <p:nvPr/>
            </p:nvSpPr>
            <p:spPr>
              <a:xfrm xmlns:a="http://schemas.openxmlformats.org/drawingml/2006/main">
                <a:off x="762000" y="391477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14:m xmlns:m="http://schemas.openxmlformats.org/officeDocument/2006/math">
                  <m:oMathPara>
                    <m:oMathParaPr>
                      <m:jc m:val="centerGroup"/>
                    </m:oMathParaPr>
                    <m:oMath xmlns:mml="http://www.w3.org/1998/Math/MathML">
                      <m:r>
                        <m:rPr>
                          <m:sty m:val="p"/>
                        </m:rPr>
                        <a:rPr sz="2775" b="0" lang="en-US">
                          <a:solidFill>
                            <a:srgbClr val="183E50"/>
                          </a:solidFill>
                          <a:latin typeface="Cambria Math"/>
                          <a:ea typeface="Meiryo"/>
                        </a:rPr>
                        <m:t>E</m:t>
                      </m:r>
                      <m:r>
                        <a:rPr sz="2775" b="0" lang="en-US">
                          <a:solidFill>
                            <a:srgbClr val="183E50"/>
                          </a:solidFill>
                          <a:latin typeface="Cambria Math"/>
                          <a:ea typeface="Meiryo"/>
                        </a:rPr>
                        <m:t>[</m:t>
                      </m:r>
                      <m:sSub>
                        <m:e>
                          <m:r>
                            <a:rPr sz="2775" b="0" lang="en-US">
                              <a:solidFill>
                                <a:srgbClr val="183E50"/>
                              </a:solidFill>
                              <a:latin typeface="Cambria Math"/>
                              <a:ea typeface="Meiryo"/>
                            </a:rPr>
                            <m:t>e</m:t>
                          </m:r>
                        </m:e>
                        <m:sub>
                          <m:r>
                            <a:rPr sz="2775" b="0" lang="en-US">
                              <a:solidFill>
                                <a:srgbClr val="183E50"/>
                              </a:solidFill>
                              <a:latin typeface="Cambria Math"/>
                              <a:ea typeface="Meiryo"/>
                            </a:rPr>
                            <m:t>i</m:t>
                          </m:r>
                        </m:sub>
                      </m:sSub>
                      <m:r>
                        <a:rPr sz="2775" b="0" lang="en-US">
                          <a:solidFill>
                            <a:srgbClr val="183E50"/>
                          </a:solidFill>
                          <a:latin typeface="Cambria Math"/>
                          <a:ea typeface="Meiryo"/>
                        </a:rPr>
                        <m:t>]=3</m:t>
                      </m:r>
                      <m:r>
                        <m:rPr>
                          <m:nor/>
                        </m:rPr>
                        <a:rPr sz="2775" b="0" lang="en-US">
                          <a:solidFill>
                            <a:srgbClr val="183E50"/>
                          </a:solidFill>
                          <a:latin typeface="Cambria Math"/>
                          <a:ea typeface="Meiryo"/>
                        </a:rPr>
                        <m:t> </m:t>
                      </m:r>
                      <m:r>
                        <m:rPr>
                          <m:sty m:val="p"/>
                        </m:rPr>
                        <a:rPr sz="2775" b="0" lang="en-US">
                          <a:solidFill>
                            <a:srgbClr val="183E50"/>
                          </a:solidFill>
                          <a:latin typeface="Cambria Math"/>
                          <a:ea typeface="Meiryo"/>
                        </a:rPr>
                        <m:t>mm</m:t>
                      </m:r>
                      <m:r>
                        <a:rPr sz="2775" b="0" lang="en-US">
                          <a:solidFill>
                            <a:srgbClr val="183E50"/>
                          </a:solidFill>
                          <a:latin typeface="Cambria Math"/>
                          <a:ea typeface="Meiryo"/>
                        </a:rPr>
                        <m:t>,</m:t>
                      </m:r>
                      <m:r>
                        <m:rPr>
                          <m:nor/>
                        </m:rPr>
                        <a:rPr sz="2775" b="0" lang="en-US">
                          <a:solidFill>
                            <a:srgbClr val="183E50"/>
                          </a:solidFill>
                          <a:latin typeface="Cambria Math"/>
                          <a:ea typeface="Meiryo"/>
                        </a:rPr>
                        <m:t>  </m:t>
                      </m:r>
                      <m:r>
                        <m:rPr>
                          <m:sty m:val="p"/>
                        </m:rPr>
                        <a:rPr sz="2775" b="0" lang="en-US">
                          <a:solidFill>
                            <a:srgbClr val="183E50"/>
                          </a:solidFill>
                          <a:latin typeface="Cambria Math"/>
                          <a:ea typeface="Meiryo"/>
                        </a:rPr>
                        <m:t>Var</m:t>
                      </m:r>
                      <m:r>
                        <a:rPr sz="2775" b="0" lang="en-US">
                          <a:solidFill>
                            <a:srgbClr val="183E50"/>
                          </a:solidFill>
                          <a:latin typeface="Cambria Math"/>
                          <a:ea typeface="Meiryo"/>
                        </a:rPr>
                        <m:t>⁡(</m:t>
                      </m:r>
                      <m:sSub>
                        <m:e>
                          <m:r>
                            <a:rPr sz="2775" b="0" lang="en-US">
                              <a:solidFill>
                                <a:srgbClr val="183E50"/>
                              </a:solidFill>
                              <a:latin typeface="Cambria Math"/>
                              <a:ea typeface="Meiryo"/>
                            </a:rPr>
                            <m:t>e</m:t>
                          </m:r>
                        </m:e>
                        <m:sub>
                          <m:r>
                            <a:rPr sz="2775" b="0" lang="en-US">
                              <a:solidFill>
                                <a:srgbClr val="183E50"/>
                              </a:solidFill>
                              <a:latin typeface="Cambria Math"/>
                              <a:ea typeface="Meiryo"/>
                            </a:rPr>
                            <m:t>i</m:t>
                          </m:r>
                        </m:sub>
                      </m:sSub>
                      <m:r>
                        <a:rPr sz="2775" b="0" lang="en-US">
                          <a:solidFill>
                            <a:srgbClr val="183E50"/>
                          </a:solidFill>
                          <a:latin typeface="Cambria Math"/>
                          <a:ea typeface="Meiryo"/>
                        </a:rPr>
                        <m:t>)=2</m:t>
                      </m:r>
                      <m:r>
                        <m:rPr>
                          <m:nor/>
                        </m:rPr>
                        <a:rPr sz="2775" b="0" lang="en-US">
                          <a:solidFill>
                            <a:srgbClr val="183E50"/>
                          </a:solidFill>
                          <a:latin typeface="Cambria Math"/>
                          <a:ea typeface="Meiryo"/>
                        </a:rPr>
                        <m:t> </m:t>
                      </m:r>
                      <m:sSup>
                        <m:e>
                          <m:r>
                            <m:rPr>
                              <m:sty m:val="p"/>
                            </m:rPr>
                            <a:rPr sz="2775" b="0" lang="en-US">
                              <a:solidFill>
                                <a:srgbClr val="183E50"/>
                              </a:solidFill>
                              <a:latin typeface="Cambria Math"/>
                              <a:ea typeface="Meiryo"/>
                            </a:rPr>
                            <m:t>mm</m:t>
                          </m:r>
                        </m:e>
                        <m:sup>
                          <m:r>
                            <a:rPr sz="2775" b="0" lang="en-US">
                              <a:solidFill>
                                <a:srgbClr val="183E50"/>
                              </a:solidFill>
                              <a:latin typeface="Cambria Math"/>
                              <a:ea typeface="Meiryo"/>
                            </a:rPr>
                            <m:t>2</m:t>
                          </m:r>
                        </m:sup>
                      </m:sSup>
                    </m:oMath>
                  </m:oMathPara>
                </a14:m>
              </a:p>
            </p:txBody>
          </p:sp>
        </mc:Choice>
        <mc:Fallback>
          <p:sp>
            <p:nvSpPr>
              <p:cNvPr id="5" name="EQM00012">
                <a:extLst xmlns:a="http://schemas.openxmlformats.org/drawingml/2006/main">
                  <a:ext uri="{FF2B5EF4-FFF2-40B4-BE49-F238E27FC236}">
                    <a16:creationId xmlns:a16="http://schemas.microsoft.com/office/drawing/2014/main" id="{59161498-C9A6-4644-97A2-73FF5D11F275}"/>
                  </a:ext>
                </a:extLst>
              </p:cNvPr>
              <p:cNvSpPr>
                <a:spLocks xmlns:a="http://schemas.openxmlformats.org/drawingml/2006/main" noGrp="1"/>
              </p:cNvSpPr>
              <p:nvPr/>
            </p:nvSpPr>
            <p:spPr>
              <a:xfrm xmlns:a="http://schemas.openxmlformats.org/drawingml/2006/main">
                <a:off x="762000" y="391477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r>
                  <a:rPr sz="2775" b="0">
                    <a:solidFill>
                      <a:srgbClr val="183E50"/>
                    </a:solidFill>
                    <a:latin typeface="Cambria Math"/>
                    <a:ea typeface="Cambria Math"/>
                    <a:cs typeface="Cambria Math"/>
                  </a:rPr>
                  <a:t>\mathrm{E}[e_i]=3\,\mathrm{mm},\qquad\operatorname{Var}(e_i)=2\,\mathrm{mm}^2</a:t>
                </a:r>
              </a:p>
            </p:txBody>
          </p:sp>
        </mc:Fallback>
      </mc:AlternateContent>
      <mc:AlternateContent xmlns:mc="http://schemas.openxmlformats.org/markup-compatibility/2006" xmlns:a14="http://schemas.microsoft.com/office/drawing/2010/main">
        <mc:Choice Requires="a14">
          <p:sp>
            <p:nvSpPr>
              <p:cNvPr id="6" name="EQM00013">
                <a:extLst xmlns:a="http://schemas.openxmlformats.org/drawingml/2006/main">
                  <a:ext uri="{FF2B5EF4-FFF2-40B4-BE49-F238E27FC236}">
                    <a16:creationId xmlns:a16="http://schemas.microsoft.com/office/drawing/2014/main" id="{C47AC753-B906-4F39-B715-D3ADCEBD7C94}"/>
                  </a:ext>
                </a:extLst>
              </p:cNvPr>
              <p:cNvSpPr>
                <a:spLocks xmlns:a="http://schemas.openxmlformats.org/drawingml/2006/main" noGrp="1"/>
              </p:cNvSpPr>
              <p:nvPr/>
            </p:nvSpPr>
            <p:spPr>
              <a:xfrm xmlns:a="http://schemas.openxmlformats.org/drawingml/2006/main">
                <a:off x="762000" y="49339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14:m xmlns:m="http://schemas.openxmlformats.org/officeDocument/2006/math">
                  <m:oMathPara>
                    <m:oMathParaPr>
                      <m:jc m:val="centerGroup"/>
                    </m:oMathParaPr>
                    <m:oMath xmlns:mml="http://www.w3.org/1998/Math/MathML">
                      <m:r>
                        <m:rPr>
                          <m:sty m:val="p"/>
                        </m:rPr>
                        <a:rPr sz="2775" b="0" lang="en-US">
                          <a:solidFill>
                            <a:srgbClr val="183E50"/>
                          </a:solidFill>
                          <a:latin typeface="Cambria Math"/>
                          <a:ea typeface="Meiryo"/>
                        </a:rPr>
                        <m:t>E</m:t>
                      </m:r>
                      <m:r>
                        <a:rPr sz="2775" b="0" lang="en-US">
                          <a:solidFill>
                            <a:srgbClr val="183E50"/>
                          </a:solidFill>
                          <a:latin typeface="Cambria Math"/>
                          <a:ea typeface="Meiryo"/>
                        </a:rPr>
                        <m:t>[</m:t>
                      </m:r>
                      <m:sSubSup>
                        <m:e>
                          <m:r>
                            <a:rPr sz="2775" b="0" lang="en-US">
                              <a:solidFill>
                                <a:srgbClr val="183E50"/>
                              </a:solidFill>
                              <a:latin typeface="Cambria Math"/>
                              <a:ea typeface="Meiryo"/>
                            </a:rPr>
                            <m:t>e</m:t>
                          </m:r>
                        </m:e>
                        <m:sub>
                          <m:r>
                            <a:rPr sz="2775" b="0" lang="en-US">
                              <a:solidFill>
                                <a:srgbClr val="183E50"/>
                              </a:solidFill>
                              <a:latin typeface="Cambria Math"/>
                              <a:ea typeface="Meiryo"/>
                            </a:rPr>
                            <m:t>i</m:t>
                          </m:r>
                        </m:sub>
                        <m:sup>
                          <m:r>
                            <a:rPr sz="2775" b="0" lang="en-US">
                              <a:solidFill>
                                <a:srgbClr val="183E50"/>
                              </a:solidFill>
                              <a:latin typeface="Cambria Math"/>
                              <a:ea typeface="Meiryo"/>
                            </a:rPr>
                            <m:t>2</m:t>
                          </m:r>
                        </m:sup>
                      </m:sSubSup>
                      <m:r>
                        <a:rPr sz="2775" b="0" lang="en-US">
                          <a:solidFill>
                            <a:srgbClr val="183E50"/>
                          </a:solidFill>
                          <a:latin typeface="Cambria Math"/>
                          <a:ea typeface="Meiryo"/>
                        </a:rPr>
                        <m:t>]=</m:t>
                      </m:r>
                      <m:r>
                        <m:rPr>
                          <m:sty m:val="p"/>
                        </m:rPr>
                        <a:rPr sz="2775" b="0" lang="en-US">
                          <a:solidFill>
                            <a:srgbClr val="183E50"/>
                          </a:solidFill>
                          <a:latin typeface="Cambria Math"/>
                          <a:ea typeface="Meiryo"/>
                        </a:rPr>
                        <m:t>Var</m:t>
                      </m:r>
                      <m:r>
                        <a:rPr sz="2775" b="0" lang="en-US">
                          <a:solidFill>
                            <a:srgbClr val="183E50"/>
                          </a:solidFill>
                          <a:latin typeface="Cambria Math"/>
                          <a:ea typeface="Meiryo"/>
                        </a:rPr>
                        <m:t>⁡(</m:t>
                      </m:r>
                      <m:sSub>
                        <m:e>
                          <m:r>
                            <a:rPr sz="2775" b="0" lang="en-US">
                              <a:solidFill>
                                <a:srgbClr val="183E50"/>
                              </a:solidFill>
                              <a:latin typeface="Cambria Math"/>
                              <a:ea typeface="Meiryo"/>
                            </a:rPr>
                            <m:t>e</m:t>
                          </m:r>
                        </m:e>
                        <m:sub>
                          <m:r>
                            <a:rPr sz="2775" b="0" lang="en-US">
                              <a:solidFill>
                                <a:srgbClr val="183E50"/>
                              </a:solidFill>
                              <a:latin typeface="Cambria Math"/>
                              <a:ea typeface="Meiryo"/>
                            </a:rPr>
                            <m:t>i</m:t>
                          </m:r>
                        </m:sub>
                      </m:sSub>
                      <m:r>
                        <a:rPr sz="2775" b="0" lang="en-US">
                          <a:solidFill>
                            <a:srgbClr val="183E50"/>
                          </a:solidFill>
                          <a:latin typeface="Cambria Math"/>
                          <a:ea typeface="Meiryo"/>
                        </a:rPr>
                        <m:t>)+{</m:t>
                      </m:r>
                      <m:r>
                        <m:rPr>
                          <m:sty m:val="p"/>
                        </m:rPr>
                        <a:rPr sz="2775" b="0" lang="en-US">
                          <a:solidFill>
                            <a:srgbClr val="183E50"/>
                          </a:solidFill>
                          <a:latin typeface="Cambria Math"/>
                          <a:ea typeface="Meiryo"/>
                        </a:rPr>
                        <m:t>E</m:t>
                      </m:r>
                      <m:r>
                        <a:rPr sz="2775" b="0" lang="en-US">
                          <a:solidFill>
                            <a:srgbClr val="183E50"/>
                          </a:solidFill>
                          <a:latin typeface="Cambria Math"/>
                          <a:ea typeface="Meiryo"/>
                        </a:rPr>
                        <m:t>[</m:t>
                      </m:r>
                      <m:sSub>
                        <m:e>
                          <m:r>
                            <a:rPr sz="2775" b="0" lang="en-US">
                              <a:solidFill>
                                <a:srgbClr val="183E50"/>
                              </a:solidFill>
                              <a:latin typeface="Cambria Math"/>
                              <a:ea typeface="Meiryo"/>
                            </a:rPr>
                            <m:t>e</m:t>
                          </m:r>
                        </m:e>
                        <m:sub>
                          <m:r>
                            <a:rPr sz="2775" b="0" lang="en-US">
                              <a:solidFill>
                                <a:srgbClr val="183E50"/>
                              </a:solidFill>
                              <a:latin typeface="Cambria Math"/>
                              <a:ea typeface="Meiryo"/>
                            </a:rPr>
                            <m:t>i</m:t>
                          </m:r>
                        </m:sub>
                      </m:sSub>
                      <m:r>
                        <a:rPr sz="2775" b="0" lang="en-US">
                          <a:solidFill>
                            <a:srgbClr val="183E50"/>
                          </a:solidFill>
                          <a:latin typeface="Cambria Math"/>
                          <a:ea typeface="Meiryo"/>
                        </a:rPr>
                        <m:t>]</m:t>
                      </m:r>
                      <m:sSup>
                        <m:e>
                          <m:r>
                            <a:rPr sz="2775" b="0" lang="en-US">
                              <a:solidFill>
                                <a:srgbClr val="183E50"/>
                              </a:solidFill>
                              <a:latin typeface="Cambria Math"/>
                              <a:ea typeface="Meiryo"/>
                            </a:rPr>
                            <m:t>}</m:t>
                          </m:r>
                        </m:e>
                        <m:sup>
                          <m:r>
                            <a:rPr sz="2775" b="0" lang="en-US">
                              <a:solidFill>
                                <a:srgbClr val="183E50"/>
                              </a:solidFill>
                              <a:latin typeface="Cambria Math"/>
                              <a:ea typeface="Meiryo"/>
                            </a:rPr>
                            <m:t>2</m:t>
                          </m:r>
                        </m:sup>
                      </m:sSup>
                      <m:r>
                        <a:rPr sz="2775" b="0" lang="en-US">
                          <a:solidFill>
                            <a:srgbClr val="183E50"/>
                          </a:solidFill>
                          <a:latin typeface="Cambria Math"/>
                          <a:ea typeface="Meiryo"/>
                        </a:rPr>
                        <m:t>=2+9=11</m:t>
                      </m:r>
                      <m:r>
                        <m:rPr>
                          <m:nor/>
                        </m:rPr>
                        <a:rPr sz="2775" b="0" lang="en-US">
                          <a:solidFill>
                            <a:srgbClr val="183E50"/>
                          </a:solidFill>
                          <a:latin typeface="Cambria Math"/>
                          <a:ea typeface="Meiryo"/>
                        </a:rPr>
                        <m:t> </m:t>
                      </m:r>
                      <m:sSup>
                        <m:e>
                          <m:r>
                            <m:rPr>
                              <m:sty m:val="p"/>
                            </m:rPr>
                            <a:rPr sz="2775" b="0" lang="en-US">
                              <a:solidFill>
                                <a:srgbClr val="183E50"/>
                              </a:solidFill>
                              <a:latin typeface="Cambria Math"/>
                              <a:ea typeface="Meiryo"/>
                            </a:rPr>
                            <m:t>mm</m:t>
                          </m:r>
                        </m:e>
                        <m:sup>
                          <m:r>
                            <a:rPr sz="2775" b="0" lang="en-US">
                              <a:solidFill>
                                <a:srgbClr val="183E50"/>
                              </a:solidFill>
                              <a:latin typeface="Cambria Math"/>
                              <a:ea typeface="Meiryo"/>
                            </a:rPr>
                            <m:t>2</m:t>
                          </m:r>
                        </m:sup>
                      </m:sSup>
                    </m:oMath>
                  </m:oMathPara>
                </a14:m>
              </a:p>
            </p:txBody>
          </p:sp>
        </mc:Choice>
        <mc:Fallback>
          <p:sp>
            <p:nvSpPr>
              <p:cNvPr id="6" name="EQM00013">
                <a:extLst xmlns:a="http://schemas.openxmlformats.org/drawingml/2006/main">
                  <a:ext uri="{FF2B5EF4-FFF2-40B4-BE49-F238E27FC236}">
                    <a16:creationId xmlns:a16="http://schemas.microsoft.com/office/drawing/2014/main" id="{C47AC753-B906-4F39-B715-D3ADCEBD7C94}"/>
                  </a:ext>
                </a:extLst>
              </p:cNvPr>
              <p:cNvSpPr>
                <a:spLocks xmlns:a="http://schemas.openxmlformats.org/drawingml/2006/main" noGrp="1"/>
              </p:cNvSpPr>
              <p:nvPr/>
            </p:nvSpPr>
            <p:spPr>
              <a:xfrm xmlns:a="http://schemas.openxmlformats.org/drawingml/2006/main">
                <a:off x="762000" y="49339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75" b="0">
                    <a:solidFill>
                      <a:srgbClr val="183E50"/>
                    </a:solidFill>
                    <a:latin typeface="Cambria Math"/>
                    <a:ea typeface="Cambria Math"/>
                    <a:cs typeface="Cambria Math"/>
                  </a:defRPr>
                </a:defPPr>
              </a:lstStyle>
              <a:p xmlns:a="http://schemas.openxmlformats.org/drawingml/2006/main">
                <a:pPr algn="ctr">
                  <a:defRPr sz="2775" b="0">
                    <a:solidFill>
                      <a:srgbClr val="183E50"/>
                    </a:solidFill>
                    <a:latin typeface="Cambria Math"/>
                    <a:ea typeface="Cambria Math"/>
                    <a:cs typeface="Cambria Math"/>
                  </a:defRPr>
                </a:pPr>
                <a:r>
                  <a:rPr sz="2775" b="0">
                    <a:solidFill>
                      <a:srgbClr val="183E50"/>
                    </a:solidFill>
                    <a:latin typeface="Cambria Math"/>
                    <a:ea typeface="Cambria Math"/>
                    <a:cs typeface="Cambria Math"/>
                  </a:rPr>
                  <a:t>\mathrm{E}[e_i^2]=\operatorname{Var}(e_i)+\{\mathrm{E}[e_i]\}^2=2+9=11\,\mathrm{mm}^2</a:t>
                </a:r>
              </a:p>
            </p:txBody>
          </p:sp>
        </mc:Fallback>
      </mc:AlternateContent>
      <p:sp>
        <p:nvSpPr>
          <p:cNvPr id="7" name="E[eᵢ²] が分散と等しくなるのは、偏り E[eᵢ] が0のとき。">
            <a:extLst xmlns:a="http://schemas.openxmlformats.org/drawingml/2006/main">
              <a:ext uri="{FF2B5EF4-FFF2-40B4-BE49-F238E27FC236}">
                <a16:creationId xmlns:a16="http://schemas.microsoft.com/office/drawing/2014/main" id="{7892B2C9-0200-4DD2-A4E3-A22444CDF0EE}"/>
              </a:ext>
            </a:extLst>
          </p:cNvPr>
          <p:cNvSpPr>
            <a:spLocks xmlns:a="http://schemas.openxmlformats.org/drawingml/2006/main" noGrp="1"/>
          </p:cNvSpPr>
          <p:nvPr/>
        </p:nvSpPr>
        <p:spPr>
          <a:xfrm xmlns:a="http://schemas.openxmlformats.org/drawingml/2006/main">
            <a:off x="762000" y="5972175"/>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37B78"/>
                </a:solidFill>
                <a:latin typeface="Meiryo"/>
                <a:ea typeface="Meiryo"/>
                <a:cs typeface="Meiryo"/>
              </a:defRPr>
            </a:defPPr>
          </a:lstStyle>
          <a:p xmlns:a="http://schemas.openxmlformats.org/drawingml/2006/main">
            <a:pPr algn="l">
              <a:defRPr sz="1950" b="1">
                <a:solidFill>
                  <a:srgbClr val="137B78"/>
                </a:solidFill>
                <a:latin typeface="Meiryo"/>
                <a:ea typeface="Meiryo"/>
                <a:cs typeface="Meiryo"/>
              </a:defRPr>
            </a:pPr>
            <a:r>
              <a:rPr sz="1950" b="1">
                <a:solidFill>
                  <a:srgbClr val="137B78"/>
                </a:solidFill>
                <a:latin typeface="Meiryo"/>
                <a:ea typeface="Meiryo"/>
                <a:cs typeface="Meiryo"/>
              </a:rPr>
              <a:t>E[eᵢ²] が分散と等しくなるのは、偏り E[eᵢ] が0のとき。</a:t>
            </a:r>
          </a:p>
        </p:txBody>
      </p:sp>
    </p:spTree>
    <p:extLst>
      <p:ext uri="{BB962C8B-B14F-4D97-AF65-F5344CB8AC3E}">
        <p14:creationId xmlns:p14="http://schemas.microsoft.com/office/powerpoint/2010/main" val="7782601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Presentation</dc:title>
  <dcterms:created xsi:type="dcterms:W3CDTF">2026-10-15T04:37:09.6810000Z</dcterms:created>
  <dcterms:modified xsi:type="dcterms:W3CDTF">2026-10-15T04:37:09.6810000Z</dcterms:modified>
</coreProperties>
</file>