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5a5d9b47c8487e" /><Relationship Type="http://schemas.openxmlformats.org/officeDocument/2006/relationships/extended-properties" Target="/docProps/app.xml" Id="Rbee8de91f78f47e3" /><Relationship Type="http://schemas.openxmlformats.org/officeDocument/2006/relationships/officeDocument" Target="/ppt/presentation.xml" Id="Rb648a1c4be5543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28c73b99124690"/>
  </p:sldMasterIdLst>
  <p:notesMasterIdLst>
    <p:notesMasterId xmlns:r="http://schemas.openxmlformats.org/officeDocument/2006/relationships" r:id="R169b1c82293b4f73"/>
  </p:notesMasterIdLst>
  <p:sldIdLst>
    <p:sldId xmlns:r="http://schemas.openxmlformats.org/officeDocument/2006/relationships" id="256" r:id="Red87fc29842145e5"/>
    <p:sldId xmlns:r="http://schemas.openxmlformats.org/officeDocument/2006/relationships" id="257" r:id="R1f4db1349a5a4128"/>
    <p:sldId xmlns:r="http://schemas.openxmlformats.org/officeDocument/2006/relationships" id="258" r:id="R5444048f2138456a"/>
    <p:sldId xmlns:r="http://schemas.openxmlformats.org/officeDocument/2006/relationships" id="259" r:id="R768f695b14f64b80"/>
    <p:sldId xmlns:r="http://schemas.openxmlformats.org/officeDocument/2006/relationships" id="260" r:id="Rcff2bbc933234b7c"/>
    <p:sldId xmlns:r="http://schemas.openxmlformats.org/officeDocument/2006/relationships" id="261" r:id="R7ce0c42aa58b429a"/>
    <p:sldId xmlns:r="http://schemas.openxmlformats.org/officeDocument/2006/relationships" id="262" r:id="R8ae439a537764350"/>
    <p:sldId xmlns:r="http://schemas.openxmlformats.org/officeDocument/2006/relationships" id="263" r:id="Rd283baa7f965459b"/>
    <p:sldId xmlns:r="http://schemas.openxmlformats.org/officeDocument/2006/relationships" id="264" r:id="R6708600cfc6b4e74"/>
    <p:sldId xmlns:r="http://schemas.openxmlformats.org/officeDocument/2006/relationships" id="265" r:id="R2b8a8db49a0f483e"/>
    <p:sldId xmlns:r="http://schemas.openxmlformats.org/officeDocument/2006/relationships" id="266" r:id="R5c3eb9b08d2946c5"/>
    <p:sldId xmlns:r="http://schemas.openxmlformats.org/officeDocument/2006/relationships" id="267" r:id="Rd1ec761b50574d8f"/>
    <p:sldId xmlns:r="http://schemas.openxmlformats.org/officeDocument/2006/relationships" id="268" r:id="R3592f95bed0541fc"/>
    <p:sldId xmlns:r="http://schemas.openxmlformats.org/officeDocument/2006/relationships" id="269" r:id="Rb062db15b8f84aef"/>
    <p:sldId xmlns:r="http://schemas.openxmlformats.org/officeDocument/2006/relationships" id="270" r:id="R5a26aa3a4abe4689"/>
    <p:sldId xmlns:r="http://schemas.openxmlformats.org/officeDocument/2006/relationships" id="271" r:id="R339cee175c394dd6"/>
    <p:sldId xmlns:r="http://schemas.openxmlformats.org/officeDocument/2006/relationships" id="272" r:id="R86062027ae3746c5"/>
    <p:sldId xmlns:r="http://schemas.openxmlformats.org/officeDocument/2006/relationships" id="273" r:id="R65806dd496f44f46"/>
    <p:sldId xmlns:r="http://schemas.openxmlformats.org/officeDocument/2006/relationships" id="274" r:id="Rb89da9b12cef400d"/>
    <p:sldId xmlns:r="http://schemas.openxmlformats.org/officeDocument/2006/relationships" id="275" r:id="Rc32dfff9a9e040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0a87adac7c4f42" /><Relationship Type="http://schemas.openxmlformats.org/officeDocument/2006/relationships/slideMaster" Target="/ppt/slideMasters/slideMaster1.xml" Id="Raf28c73b99124690" /><Relationship Type="http://schemas.openxmlformats.org/officeDocument/2006/relationships/notesMaster" Target="/ppt/notesMasters/notesMaster1.xml" Id="R169b1c82293b4f73" /><Relationship Type="http://schemas.openxmlformats.org/officeDocument/2006/relationships/presProps" Target="/ppt/presProps.xml" Id="Rc5c005c6e6564dcf" /><Relationship Type="http://schemas.openxmlformats.org/officeDocument/2006/relationships/tableStyles" Target="/ppt/tableStyles.xml" Id="R74eedec3b6d94bea" /><Relationship Type="http://schemas.openxmlformats.org/officeDocument/2006/relationships/slide" Target="/ppt/slides/slide1.xml" Id="Red87fc29842145e5" /><Relationship Type="http://schemas.openxmlformats.org/officeDocument/2006/relationships/slide" Target="/ppt/slides/slide2.xml" Id="R1f4db1349a5a4128" /><Relationship Type="http://schemas.openxmlformats.org/officeDocument/2006/relationships/slide" Target="/ppt/slides/slide3.xml" Id="R5444048f2138456a" /><Relationship Type="http://schemas.openxmlformats.org/officeDocument/2006/relationships/slide" Target="/ppt/slides/slide4.xml" Id="R768f695b14f64b80" /><Relationship Type="http://schemas.openxmlformats.org/officeDocument/2006/relationships/slide" Target="/ppt/slides/slide5.xml" Id="Rcff2bbc933234b7c" /><Relationship Type="http://schemas.openxmlformats.org/officeDocument/2006/relationships/slide" Target="/ppt/slides/slide6.xml" Id="R7ce0c42aa58b429a" /><Relationship Type="http://schemas.openxmlformats.org/officeDocument/2006/relationships/slide" Target="/ppt/slides/slide7.xml" Id="R8ae439a537764350" /><Relationship Type="http://schemas.openxmlformats.org/officeDocument/2006/relationships/slide" Target="/ppt/slides/slide8.xml" Id="Rd283baa7f965459b" /><Relationship Type="http://schemas.openxmlformats.org/officeDocument/2006/relationships/slide" Target="/ppt/slides/slide9.xml" Id="R6708600cfc6b4e74" /><Relationship Type="http://schemas.openxmlformats.org/officeDocument/2006/relationships/slide" Target="/ppt/slides/slide10.xml" Id="R2b8a8db49a0f483e" /><Relationship Type="http://schemas.openxmlformats.org/officeDocument/2006/relationships/slide" Target="/ppt/slides/slide11.xml" Id="R5c3eb9b08d2946c5" /><Relationship Type="http://schemas.openxmlformats.org/officeDocument/2006/relationships/slide" Target="/ppt/slides/slide12.xml" Id="Rd1ec761b50574d8f" /><Relationship Type="http://schemas.openxmlformats.org/officeDocument/2006/relationships/slide" Target="/ppt/slides/slide13.xml" Id="R3592f95bed0541fc" /><Relationship Type="http://schemas.openxmlformats.org/officeDocument/2006/relationships/slide" Target="/ppt/slides/slide14.xml" Id="Rb062db15b8f84aef" /><Relationship Type="http://schemas.openxmlformats.org/officeDocument/2006/relationships/slide" Target="/ppt/slides/slide15.xml" Id="R5a26aa3a4abe4689" /><Relationship Type="http://schemas.openxmlformats.org/officeDocument/2006/relationships/slide" Target="/ppt/slides/slide16.xml" Id="R339cee175c394dd6" /><Relationship Type="http://schemas.openxmlformats.org/officeDocument/2006/relationships/slide" Target="/ppt/slides/slide17.xml" Id="R86062027ae3746c5" /><Relationship Type="http://schemas.openxmlformats.org/officeDocument/2006/relationships/slide" Target="/ppt/slides/slide18.xml" Id="R65806dd496f44f46" /><Relationship Type="http://schemas.openxmlformats.org/officeDocument/2006/relationships/slide" Target="/ppt/slides/slide19.xml" Id="Rb89da9b12cef400d" /><Relationship Type="http://schemas.openxmlformats.org/officeDocument/2006/relationships/slide" Target="/ppt/slides/slide20.xml" Id="Rc32dfff9a9e040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d7e6397ab342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946d7b1db745a3" /><Relationship Type="http://schemas.openxmlformats.org/officeDocument/2006/relationships/notesMaster" Target="/ppt/notesMasters/notesMaster1.xml" Id="Rfca49fb5486543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1d74eaa60347db" /><Relationship Type="http://schemas.openxmlformats.org/officeDocument/2006/relationships/notesMaster" Target="/ppt/notesMasters/notesMaster1.xml" Id="Rd088e7c88c63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c3407ef5d44c75" /><Relationship Type="http://schemas.openxmlformats.org/officeDocument/2006/relationships/notesMaster" Target="/ppt/notesMasters/notesMaster1.xml" Id="Refea385140684d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8b7c1a5e05407d" /><Relationship Type="http://schemas.openxmlformats.org/officeDocument/2006/relationships/notesMaster" Target="/ppt/notesMasters/notesMaster1.xml" Id="R4d7db108554a44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2f831e72434ee1" /><Relationship Type="http://schemas.openxmlformats.org/officeDocument/2006/relationships/notesMaster" Target="/ppt/notesMasters/notesMaster1.xml" Id="R4c13dc68034543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fcafde27a149fc" /><Relationship Type="http://schemas.openxmlformats.org/officeDocument/2006/relationships/notesMaster" Target="/ppt/notesMasters/notesMaster1.xml" Id="Rd0857f35fe8648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1a4c0dc42345ac" /><Relationship Type="http://schemas.openxmlformats.org/officeDocument/2006/relationships/notesMaster" Target="/ppt/notesMasters/notesMaster1.xml" Id="R47a9cdeedd9342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7dc91872754936" /><Relationship Type="http://schemas.openxmlformats.org/officeDocument/2006/relationships/notesMaster" Target="/ppt/notesMasters/notesMaster1.xml" Id="R9b1e501eeb3346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17fc45fd4840ad" /><Relationship Type="http://schemas.openxmlformats.org/officeDocument/2006/relationships/notesMaster" Target="/ppt/notesMasters/notesMaster1.xml" Id="R9e8f5e4868fd40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f4f303e53e44dd" /><Relationship Type="http://schemas.openxmlformats.org/officeDocument/2006/relationships/notesMaster" Target="/ppt/notesMasters/notesMaster1.xml" Id="R9409050e37f74c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8927db417d48fe" /><Relationship Type="http://schemas.openxmlformats.org/officeDocument/2006/relationships/notesMaster" Target="/ppt/notesMasters/notesMaster1.xml" Id="Rc57bef3336924a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6432b27ae04bfe" /><Relationship Type="http://schemas.openxmlformats.org/officeDocument/2006/relationships/notesMaster" Target="/ppt/notesMasters/notesMaster1.xml" Id="R41aa63806e3c49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d64938cdab4953" /><Relationship Type="http://schemas.openxmlformats.org/officeDocument/2006/relationships/notesMaster" Target="/ppt/notesMasters/notesMaster1.xml" Id="R1a1554018ae64c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0bd510c3f440ca" /><Relationship Type="http://schemas.openxmlformats.org/officeDocument/2006/relationships/notesMaster" Target="/ppt/notesMasters/notesMaster1.xml" Id="Re71a6190a7af4f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209f62325344cc" /><Relationship Type="http://schemas.openxmlformats.org/officeDocument/2006/relationships/notesMaster" Target="/ppt/notesMasters/notesMaster1.xml" Id="Rd466d73eb59349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5a0dcd57fa424e" /><Relationship Type="http://schemas.openxmlformats.org/officeDocument/2006/relationships/notesMaster" Target="/ppt/notesMasters/notesMaster1.xml" Id="Rf5d3c980f8b644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3b2fec195c4a76" /><Relationship Type="http://schemas.openxmlformats.org/officeDocument/2006/relationships/notesMaster" Target="/ppt/notesMasters/notesMaster1.xml" Id="R6f17fe040ffb47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0c2691429442ef" /><Relationship Type="http://schemas.openxmlformats.org/officeDocument/2006/relationships/notesMaster" Target="/ppt/notesMasters/notesMaster1.xml" Id="R21908638b25748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5871e643b684b97" /><Relationship Type="http://schemas.openxmlformats.org/officeDocument/2006/relationships/notesMaster" Target="/ppt/notesMasters/notesMaster1.xml" Id="Rd8940d7c1c8b46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10e06f5eda4838" /><Relationship Type="http://schemas.openxmlformats.org/officeDocument/2006/relationships/notesMaster" Target="/ppt/notesMasters/notesMaster1.xml" Id="Rfdbe6935534047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同じ距離を何度か測り、平均を取る場面から始めます。この補足では、平均が安定する理由を、具体例から式へ順にたどります。画像はAI生成の概念イラストです。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数値は説明用の仮想データです。平均を計算できても、その値がどの程度安定しているかはまだ分かりません。平均の不確かさを求めるのが、今回の目的です。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1回ずつの測定値、右は別々の4回分の組から求めた平均値に相当します。各点は概念表現で、右の点は1組の観測値ではありません。図は同じ尺度のAI生成概念図で、実測値や厳密な標準偏差を表したものではありません。偏りがなく独立・同精度である場合を考え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真値は通常分からないので、各回の本当の誤差eᵢも直接計算できません。ここは観測値が生まれる仕組みのモデルです。まずE[eᵢ]=0、有限の分散、互いに独立、各回が同じ精度という条件を置きます。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他の3個を固定して1個だけ変える思考実験です。この伝わる割合を感度係数と呼びます。平均ではどの入力も係数が1/nですが、結果全体のばらつきには全n個の寄与が必要です。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τ（タウ）は観測を生む仕組みの母標準偏差で、一般には未知です。eᵢの期待値が0なので、分散はE[eᵢ²]と書けます。ここでの期待値は、手元の有限個の観測の平均とは区別します。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なので4通りの確率はすべて1/4です。積がプラスになる場合とマイナスになる場合が同数あります。これは全事象を数えた厳密な例であり、有限回の実測では積の標本平均が必ず0になるという意味で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Varは分散を表す記号です。独立ならE[e₁e₂]=E[e₁]E[e₂]=0となり、交差項が消えます。前の例では合計の分散が1+1=2 mm²、標準偏差は√2 mmになります。正規分布を仮定する必要はありません。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定数倍した量の分散は定数の二乗倍です。一般にVar(ae)=a²Var(e)となります。1/n倍した標準偏差と、その二乗である分散を混同しないよう、単位も確認します。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分散がn分の1になるので、標準偏差は√n分の1です。この式は算術平均という線形の計算について厳密に成立します。独立・同精度・有限の分散が条件で、正規分布は必要ありません。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mmを4で割った1 mmは、1個の入力だけの寄与です。入力が4個あるため、分散で合成して√(1²+1²+1²+1²)=2 mmとなります。ここでの4 mmは、冒頭の4個の観測値から計算した値ではありません。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講義の記号σは、統計学でしばしばsと書く標本標準偏差です。平均をデータから決めるため残差の和が0となり、自由度がn−1になります。σ²は母分散の不偏推定量ですが、σ自体が母標準偏差の不偏推定量という意味ではありません。nは2以上と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これは仮想の計算用データです。1観測の標準偏差は約3.16 mm、平均の標準偏差は約1.41 mmです。途中では丸めず、最後に小数第2位まで表示します。平均の値30.004 mと標準偏差1.41 mmを分けて報告し、1.41 mmを最大誤差や95%区間と呼ばないようにします。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グラフは表の理論値4/√nを使います。半分にしたいなら√nを2倍にする必要があるため、nは4倍です。9回の理論値4/3 mmは、表示では1.33 mmに丸めています。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された偏りbは平均によって除けません。ただし、SD(x̄)が|b|以下になった瞬間に追加観測が無意味になる、という厳密な境界はありません。このモデルの真値に対する平均二乗誤差はb²+τ²/nで、回数によって減少し続けますがb²が残り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は実施ごとに変動する共通の揺れの例で、固定された偏りbとは区別します。正の相関があると独立の場合ほど平均の分散は減りません。同精度で各組の相関係数がρならVar(x̄)=τ²{1+(n−1)ρ}/nです。ρ=1ならτ²のまま、ρ=0ならτ²/nになり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1分程度、各自で考えさせます。第1問と第2問では、与えられた6 mmを使って観測回数を計画する理論計算とします。第3問では、偶然誤差と固定された偏りを分けて考えます。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公式を思い出すときは、1/nの寄与を二乗し、n個分を足す過程も思い出してもらいます。1回の散らばりσと平均の散らばりσ(x̄)を、言葉で区別できることが到達目標です。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∂は偏微分の記号で、他の入力を固定したときの変化率を表します。一般の非線形関数では一次のテイラー近似を使うため近似式です。相関を含む一次近似はVar(y)≈Σcᵢ²Var(xᵢ)+2Σ(i&lt;j)cᵢcⱼCov(xᵢ,xⱼ)です。平均の導出には微分の知識は必須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参照日2026年10月14日。原文 https://www.bipm.org/documents/20126/2071204/JCGM_100_2008_E.pdf 。本資料の数値例と説明は独自に作成し、図は概念を説明するAI生成画像です。前回資料は「第02回_測量の基礎と誤差論/改訂版_20261008/slides_revised.md」の2-4節です。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6ca36cabd44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0bb6c4ea649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8ba365ff14a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e331f22bc4c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7fe0bdba546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39574996144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3FD9C0-FD83-4D44-A9F1-2EF9F8BF4C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DD4303-8F7A-45E7-B2D4-A33BF9B73C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A0AA3A-6E47-4026-8C35-9A236B2C2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993F31-3DE4-45AF-BEA8-AA8CA4B69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34366C-E18C-4BCE-BC5A-E7B4EC47D5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D6E4F5-85AE-46C8-B701-2B4C3CA57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740293-60B6-4018-B3FB-D057EE2D7F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821E6D-B162-4D8E-AE07-AC1933A958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A48C06-699C-4D34-AC80-316869D0B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BBF0BB-E525-460B-B247-C339746FB3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e403f16807457a" /><Relationship Type="http://schemas.openxmlformats.org/officeDocument/2006/relationships/slideLayout" Target="/ppt/slideLayouts/slideLayout1.xml" Id="Rd8be34f890174d1e" /><Relationship Type="http://schemas.openxmlformats.org/officeDocument/2006/relationships/slideLayout" Target="/ppt/slideLayouts/slideLayout2.xml" Id="R63a4f1abdaeb4fc6" /><Relationship Type="http://schemas.openxmlformats.org/officeDocument/2006/relationships/slideLayout" Target="/ppt/slideLayouts/slideLayout3.xml" Id="R8d34a055283b4b3c" /><Relationship Type="http://schemas.openxmlformats.org/officeDocument/2006/relationships/slideLayout" Target="/ppt/slideLayouts/slideLayout4.xml" Id="Ra588126df0e74a13" /><Relationship Type="http://schemas.openxmlformats.org/officeDocument/2006/relationships/slideLayout" Target="/ppt/slideLayouts/slideLayout5.xml" Id="Rf5ea9523d97f4933" /><Relationship Type="http://schemas.openxmlformats.org/officeDocument/2006/relationships/slideLayout" Target="/ppt/slideLayouts/slideLayout6.xml" Id="R8d000bbbe2524b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be34f890174d1e"/>
    <p:sldLayoutId xmlns:r="http://schemas.openxmlformats.org/officeDocument/2006/relationships" id="2147483650" r:id="R63a4f1abdaeb4fc6"/>
    <p:sldLayoutId xmlns:r="http://schemas.openxmlformats.org/officeDocument/2006/relationships" id="2147483651" r:id="R8d34a055283b4b3c"/>
    <p:sldLayoutId xmlns:r="http://schemas.openxmlformats.org/officeDocument/2006/relationships" id="2147483652" r:id="Ra588126df0e74a13"/>
    <p:sldLayoutId xmlns:r="http://schemas.openxmlformats.org/officeDocument/2006/relationships" id="2147483653" r:id="Rf5ea9523d97f4933"/>
    <p:sldLayoutId xmlns:r="http://schemas.openxmlformats.org/officeDocument/2006/relationships" id="2147483654" r:id="R8d000bbbe2524b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b74b30efa4445" /><Relationship Type="http://schemas.openxmlformats.org/officeDocument/2006/relationships/image" Target="/ppt/media/image.png" Id="R513592d1123940fb" /><Relationship Type="http://schemas.openxmlformats.org/officeDocument/2006/relationships/notesSlide" Target="/ppt/notesSlides/notesSlide1.xml" Id="R3c53df5c040d4b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ec66388474eb4" /><Relationship Type="http://schemas.openxmlformats.org/officeDocument/2006/relationships/notesSlide" Target="/ppt/notesSlides/notesSlide2.xml" Id="R860e9b10f8d44c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6c8007554447c" /><Relationship Type="http://schemas.openxmlformats.org/officeDocument/2006/relationships/image" Target="/ppt/media/image2.png" Id="Rf262774ab4574e12" /><Relationship Type="http://schemas.openxmlformats.org/officeDocument/2006/relationships/notesSlide" Target="/ppt/notesSlides/notesSlide3.xml" Id="Ra27ffa6d5dbe43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d5e74299440c0" /><Relationship Type="http://schemas.openxmlformats.org/officeDocument/2006/relationships/notesSlide" Target="/ppt/notesSlides/notesSlide4.xml" Id="R3832ad0aa3d84f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3d4c8869c4717" /><Relationship Type="http://schemas.openxmlformats.org/officeDocument/2006/relationships/notesSlide" Target="/ppt/notesSlides/notesSlide5.xml" Id="Rb04c103789fb42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7659868d442d2" /><Relationship Type="http://schemas.openxmlformats.org/officeDocument/2006/relationships/notesSlide" Target="/ppt/notesSlides/notesSlide6.xml" Id="R54d20dafded44a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b26fc0fb64cdd" /><Relationship Type="http://schemas.openxmlformats.org/officeDocument/2006/relationships/notesSlide" Target="/ppt/notesSlides/notesSlide7.xml" Id="Rbb908cabba8d44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afcb947ac6481e" /><Relationship Type="http://schemas.openxmlformats.org/officeDocument/2006/relationships/notesSlide" Target="/ppt/notesSlides/notesSlide8.xml" Id="Rf2b135d5db2943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87451e3004021" /><Relationship Type="http://schemas.openxmlformats.org/officeDocument/2006/relationships/notesSlide" Target="/ppt/notesSlides/notesSlide9.xml" Id="R4ab97bef69ee4e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e2f38374645e4" /><Relationship Type="http://schemas.openxmlformats.org/officeDocument/2006/relationships/notesSlide" Target="/ppt/notesSlides/notesSlide10.xml" Id="R83609541537246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6cdcf0b414c7b" /><Relationship Type="http://schemas.openxmlformats.org/officeDocument/2006/relationships/notesSlide" Target="/ppt/notesSlides/notesSlide11.xml" Id="Rf04a547c551041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4c48eb9e141ad" /><Relationship Type="http://schemas.openxmlformats.org/officeDocument/2006/relationships/notesSlide" Target="/ppt/notesSlides/notesSlide12.xml" Id="Rb79183e5e73d46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101d3c7444e35" /><Relationship Type="http://schemas.openxmlformats.org/officeDocument/2006/relationships/notesSlide" Target="/ppt/notesSlides/notesSlide13.xml" Id="Rf385efd94f1646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835b5bd714b87" /><Relationship Type="http://schemas.openxmlformats.org/officeDocument/2006/relationships/chart" Target="/ppt/slides/charts/chart1.xml" Id="Re177bd696a2b4ae2" /><Relationship Type="http://schemas.openxmlformats.org/officeDocument/2006/relationships/notesSlide" Target="/ppt/notesSlides/notesSlide14.xml" Id="R7ba0b990c62f42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793c80ebb44a1" /><Relationship Type="http://schemas.openxmlformats.org/officeDocument/2006/relationships/notesSlide" Target="/ppt/notesSlides/notesSlide15.xml" Id="Rc8ab68c77bad40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d9ec969664316" /><Relationship Type="http://schemas.openxmlformats.org/officeDocument/2006/relationships/notesSlide" Target="/ppt/notesSlides/notesSlide16.xml" Id="R9144e12195774a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53da1679645eb" /><Relationship Type="http://schemas.openxmlformats.org/officeDocument/2006/relationships/notesSlide" Target="/ppt/notesSlides/notesSlide17.xml" Id="Rbbefa8b8366042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7c8ab0c6e422d" /><Relationship Type="http://schemas.openxmlformats.org/officeDocument/2006/relationships/notesSlide" Target="/ppt/notesSlides/notesSlide18.xml" Id="R9f1239a3382946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69ecfa9324bb7" /><Relationship Type="http://schemas.openxmlformats.org/officeDocument/2006/relationships/notesSlide" Target="/ppt/notesSlides/notesSlide19.xml" Id="R4fdc9620bd754e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d8a132f0d4dcb" /><Relationship Type="http://schemas.openxmlformats.org/officeDocument/2006/relationships/notesSlide" Target="/ppt/notesSlides/notesSlide20.xml" Id="R7432136dfa71420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平均の標準偏差（mm）</c:v>
          </c:tx>
          <c:spPr>
            <a:solidFill xmlns:a="http://schemas.openxmlformats.org/drawingml/2006/main">
              <a:srgbClr val="137B7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1回</c:v>
                </c:pt>
                <c:pt idx="1">
                  <c:v>4回</c:v>
                </c:pt>
                <c:pt idx="2">
                  <c:v>9回</c:v>
                </c:pt>
                <c:pt idx="3">
                  <c:v>16回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</c:v>
                </c:pt>
                <c:pt idx="1">
                  <c:v>2</c:v>
                </c:pt>
                <c:pt idx="2">
                  <c:v>1.3333333333333</c:v>
                </c:pt>
                <c:pt idx="3">
                  <c:v>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43C48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AF8F2"/>
        </a:solidFill>
      </c:spPr>
    </c:plotArea>
    <c:plotVisOnly val="1"/>
  </c:chart>
  <c:spPr>
    <a:solidFill xmlns:a="http://schemas.openxmlformats.org/drawingml/2006/main">
      <a:srgbClr val="FAF8F2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63109-9B75-4EB0-AB1D-95D48D9AFD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592d1123940f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F1149457-9426-41DE-88F2-29F971D0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1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測量学</a:t>
            </a:r>
            <a:r>
              <a:rPr>
                <a:latin typeface="Arial"/>
                <a:ea typeface="Arial"/>
                <a:cs typeface="Arial"/>
              </a:rPr>
              <a:t> </a:t>
            </a:r>
            <a:r>
              <a:rPr>
                <a:latin typeface="Meiryo"/>
                <a:ea typeface="Meiryo"/>
                <a:cs typeface="Meiryo"/>
              </a:rPr>
              <a:t>第</a:t>
            </a:r>
            <a:r>
              <a:rPr>
                <a:latin typeface="Arial"/>
                <a:ea typeface="Arial"/>
                <a:cs typeface="Arial"/>
              </a:rPr>
              <a:t>2</a:t>
            </a:r>
            <a:r>
              <a:rPr>
                <a:latin typeface="Meiryo"/>
                <a:ea typeface="Meiryo"/>
                <a:cs typeface="Meiryo"/>
              </a:rPr>
              <a:t>回</a:t>
            </a:r>
            <a:r>
              <a:rPr>
                <a:latin typeface="Arial"/>
                <a:ea typeface="Arial"/>
                <a:cs typeface="Arial"/>
              </a:rPr>
              <a:t> </a:t>
            </a:r>
            <a:r>
              <a:rPr>
                <a:latin typeface="Meiryo"/>
                <a:ea typeface="Meiryo"/>
                <a:cs typeface="Meiryo"/>
              </a:rPr>
              <a:t>補足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CD8818A-8F4B-4191-9426-52418B8E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144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6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平均の誤差伝播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5BF44EB-B6BA-4968-861C-B922FA79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なぜ、平均のばらつきは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57D0E94-2BA5-437F-B54E-4300767D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05075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√n </a:t>
            </a:r>
            <a:r>
              <a:rPr>
                <a:latin typeface="Meiryo"/>
                <a:ea typeface="Meiryo"/>
                <a:cs typeface="Meiryo"/>
              </a:rPr>
              <a:t>で小さくなるのか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FD66B4C-A9E3-4498-8E4C-EB5B4D3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865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AI</a:t>
            </a:r>
            <a:r>
              <a:rPr>
                <a:latin typeface="Meiryo"/>
                <a:ea typeface="Meiryo"/>
                <a:cs typeface="Meiryo"/>
              </a:rPr>
              <a:t>生成の概念イラスト</a:t>
            </a:r>
          </a:p>
        </p:txBody>
      </p:sp>
    </p:spTree>
    <p:extLst>
      <p:ext uri="{BB962C8B-B14F-4D97-AF65-F5344CB8AC3E}">
        <p14:creationId xmlns:p14="http://schemas.microsoft.com/office/powerpoint/2010/main" val="1142162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88FD633-5426-4FED-9564-AE36601D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01 </a:t>
            </a:r>
            <a:r>
              <a:rPr>
                <a:latin typeface="Meiryo"/>
                <a:ea typeface="Meiryo"/>
                <a:cs typeface="Meiryo"/>
              </a:rPr>
              <a:t>同じ距離でも、測定値は少しずつ違う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2A31BA-CE18-4AA5-A547-0EB0F87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307364-8342-47E6-8078-24052685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同じ距離を、同じ精度で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回測った例。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A0CE1-6D09-444F-9B69-F4597769E139}"/>
              </a:ext>
            </a:extLst>
          </p:cNvPr>
          <p:cNvGraphicFramePr/>
          <p:nvPr/>
        </p:nvGraphicFramePr>
        <p:xfrm>
          <a:off xmlns:a="http://schemas.openxmlformats.org/drawingml/2006/main" x="762000" y="1933575"/>
          <a:ext xmlns:a="http://schemas.openxmlformats.org/drawingml/2006/main" cx="10668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1回目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2回目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3回目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4回目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距離（m）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20E4E3D-5AE5-4F4B-B86C-5172EDB1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432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(30.000 + 30.004 + 30.002 + 30.006) / 4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D0AFA60-0301-4E23-8C31-08F7B5F4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30.003 m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048355F-16FD-422B-B484-6B328165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知りたいのは、この「平均」がどのくらい揺れるか。</a:t>
            </a:r>
          </a:p>
        </p:txBody>
      </p:sp>
    </p:spTree>
    <p:extLst>
      <p:ext uri="{BB962C8B-B14F-4D97-AF65-F5344CB8AC3E}">
        <p14:creationId xmlns:p14="http://schemas.microsoft.com/office/powerpoint/2010/main" val="930184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07638D8-F96C-4263-B7AA-6A68541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02 </a:t>
            </a:r>
            <a:r>
              <a:rPr>
                <a:latin typeface="Arial"/>
                <a:ea typeface="Arial"/>
                <a:cs typeface="Arial"/>
              </a:rPr>
              <a:t>「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回の値」と「平均」のばらつき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5EF4782-2126-4799-B005-49B9B2F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C7DF4FA-A568-4149-832B-A382220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回ずつの測定値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63E0B79-16FD-48CF-91C7-07E0E255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B271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B2712E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回ずつ測った平均値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A5EC6-6D3A-4114-9CC9-A602137BFC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2774ab4574e12"/>
          <a:stretch xmlns:a="http://schemas.openxmlformats.org/drawingml/2006/main"/>
        </p:blipFill>
        <p:spPr>
          <a:xfrm xmlns:a="http://schemas.openxmlformats.org/drawingml/2006/main">
            <a:off x="3007309" y="1866900"/>
            <a:ext cx="6177383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A0922AE-E5B4-4571-992F-462F5145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概念図。同じ尺度で比較。右の各点は、別々の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回分の組の平均。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89661D9-38E0-4A18-8596-7FFE6E22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「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回測って平均する」を繰り返すと、平均にもばらつきがある。</a:t>
            </a:r>
          </a:p>
        </p:txBody>
      </p:sp>
    </p:spTree>
    <p:extLst>
      <p:ext uri="{BB962C8B-B14F-4D97-AF65-F5344CB8AC3E}">
        <p14:creationId xmlns:p14="http://schemas.microsoft.com/office/powerpoint/2010/main" val="1809705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16C5552-8E45-44E0-B684-4A352EFC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03 </a:t>
            </a:r>
            <a:r>
              <a:rPr>
                <a:latin typeface="Meiryo"/>
                <a:ea typeface="Meiryo"/>
                <a:cs typeface="Meiryo"/>
              </a:rPr>
              <a:t>観測値を「真値</a:t>
            </a:r>
            <a:r>
              <a:rPr>
                <a:latin typeface="Arial"/>
                <a:ea typeface="Arial"/>
                <a:cs typeface="Arial"/>
              </a:rPr>
              <a:t>＋</a:t>
            </a:r>
            <a:r>
              <a:rPr>
                <a:latin typeface="Meiryo"/>
                <a:ea typeface="Meiryo"/>
                <a:cs typeface="Meiryo"/>
              </a:rPr>
              <a:t>偶然のずれ」で表す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F6EFF08-9238-416D-A221-926FA5E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1BF578-826A-4F80-B709-FCAB85CE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xᵢ = X + eᵢ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4ED03F-0409-4F45-B04F-F0FE78B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 </a:t>
            </a:r>
            <a:r>
              <a:rPr>
                <a:latin typeface="Meiryo"/>
                <a:ea typeface="Meiryo"/>
                <a:cs typeface="Meiryo"/>
              </a:rPr>
              <a:t>は知りたい真値、</a:t>
            </a:r>
            <a:r>
              <a:rPr>
                <a:latin typeface="Arial"/>
                <a:ea typeface="Arial"/>
                <a:cs typeface="Arial"/>
              </a:rPr>
              <a:t>xᵢ </a:t>
            </a:r>
            <a:r>
              <a:rPr>
                <a:latin typeface="Meiryo"/>
                <a:ea typeface="Meiryo"/>
                <a:cs typeface="Meiryo"/>
              </a:rPr>
              <a:t>は</a:t>
            </a:r>
            <a:r>
              <a:rPr>
                <a:latin typeface="Arial"/>
                <a:ea typeface="Arial"/>
                <a:cs typeface="Arial"/>
              </a:rPr>
              <a:t> i </a:t>
            </a:r>
            <a:r>
              <a:rPr>
                <a:latin typeface="Meiryo"/>
                <a:ea typeface="Meiryo"/>
                <a:cs typeface="Meiryo"/>
              </a:rPr>
              <a:t>回目の観測値。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4F50F5E-1289-4CB6-9C9C-9F2F1387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eᵢ </a:t>
            </a:r>
            <a:r>
              <a:rPr>
                <a:latin typeface="Meiryo"/>
                <a:ea typeface="Meiryo"/>
                <a:cs typeface="Meiryo"/>
              </a:rPr>
              <a:t>は、その回に生じる偶然のずれ（誤差）。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18C93C4-A391-4602-8DE2-5BBC024F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n </a:t>
            </a:r>
            <a:r>
              <a:rPr>
                <a:latin typeface="Meiryo"/>
                <a:ea typeface="Meiryo"/>
                <a:cs typeface="Meiryo"/>
              </a:rPr>
              <a:t>は測定回数、</a:t>
            </a:r>
            <a:r>
              <a:rPr>
                <a:latin typeface="Arial"/>
                <a:ea typeface="Arial"/>
                <a:cs typeface="Arial"/>
              </a:rPr>
              <a:t>x̄</a:t>
            </a:r>
            <a:r>
              <a:rPr>
                <a:latin typeface="Meiryo"/>
                <a:ea typeface="Meiryo"/>
                <a:cs typeface="Meiryo"/>
              </a:rPr>
              <a:t>（エックスバ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）は平均。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34A13D3-2338-4166-A46D-7C150812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(x₁ + ⋯ + xₙ) / n = X + (e₁ + ⋯ + eₙ) / 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06BE9DF-AD9A-4AA1-9042-37679453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ここでは偏りを除き、偶然のずれだけを考える。</a:t>
            </a:r>
          </a:p>
        </p:txBody>
      </p:sp>
    </p:spTree>
    <p:extLst>
      <p:ext uri="{BB962C8B-B14F-4D97-AF65-F5344CB8AC3E}">
        <p14:creationId xmlns:p14="http://schemas.microsoft.com/office/powerpoint/2010/main" val="247574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3A66D01B-2005-4A26-80E5-E6EC2432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04 </a:t>
            </a:r>
            <a:r>
              <a:rPr>
                <a:latin typeface="Meiryo"/>
                <a:ea typeface="Meiryo"/>
                <a:cs typeface="Meiryo"/>
              </a:rPr>
              <a:t>誤差伝播は「入力のずれが結果へ伝わること」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AF264C-BB05-4F06-BE8F-6655D87F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8F1ABB-F8B1-44D2-BA00-713FE24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回のうち、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回目だけが</a:t>
            </a:r>
            <a:r>
              <a:rPr>
                <a:latin typeface="Arial"/>
                <a:ea typeface="Arial"/>
                <a:cs typeface="Arial"/>
              </a:rPr>
              <a:t> 4 mm </a:t>
            </a:r>
            <a:r>
              <a:rPr>
                <a:latin typeface="Meiryo"/>
                <a:ea typeface="Meiryo"/>
                <a:cs typeface="Meiryo"/>
              </a:rPr>
              <a:t>大きくなったら</a:t>
            </a:r>
            <a:r>
              <a:rPr>
                <a:latin typeface="Arial"/>
                <a:ea typeface="Arial"/>
                <a:cs typeface="Arial"/>
              </a:rPr>
              <a:t>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D54FD1E-0845-4EEF-92EC-DE38B6FD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(x₁ + x₂ + x₃ + x₄) / 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11AE881-785C-4D0E-8CE3-75375340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平均の変化</a:t>
            </a:r>
            <a:r>
              <a:rPr>
                <a:latin typeface="Arial"/>
                <a:ea typeface="Arial"/>
                <a:cs typeface="Arial"/>
              </a:rPr>
              <a:t> = 4 mm / 4 = 1 mm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9986C9B-5BE2-42FC-9A33-75B4DB97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個の観測の影響は、平均には</a:t>
            </a:r>
            <a:r>
              <a:rPr>
                <a:latin typeface="Arial"/>
                <a:ea typeface="Arial"/>
                <a:cs typeface="Arial"/>
              </a:rPr>
              <a:t> 1/4 </a:t>
            </a:r>
            <a:r>
              <a:rPr>
                <a:latin typeface="Meiryo"/>
                <a:ea typeface="Meiryo"/>
                <a:cs typeface="Meiryo"/>
              </a:rPr>
              <a:t>だけ伝わる。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D8A0D5C-32C3-4E56-8137-6A0B86F5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ただし、実際には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個すべての観測が揺れる。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41A58C2-A1B3-45AA-9192-0E91C90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「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個の影響が</a:t>
            </a:r>
            <a:r>
              <a:rPr>
                <a:latin typeface="Arial"/>
                <a:ea typeface="Arial"/>
                <a:cs typeface="Arial"/>
              </a:rPr>
              <a:t>1/4</a:t>
            </a:r>
            <a:r>
              <a:rPr>
                <a:latin typeface="Meiryo"/>
                <a:ea typeface="Meiryo"/>
                <a:cs typeface="Meiryo"/>
              </a:rPr>
              <a:t>」と「全体のばらつきが</a:t>
            </a:r>
            <a:r>
              <a:rPr>
                <a:latin typeface="Arial"/>
                <a:ea typeface="Arial"/>
                <a:cs typeface="Arial"/>
              </a:rPr>
              <a:t>1/4</a:t>
            </a:r>
            <a:r>
              <a:rPr>
                <a:latin typeface="Meiryo"/>
                <a:ea typeface="Meiryo"/>
                <a:cs typeface="Meiryo"/>
              </a:rPr>
              <a:t>」は別。</a:t>
            </a:r>
          </a:p>
        </p:txBody>
      </p:sp>
    </p:spTree>
    <p:extLst>
      <p:ext uri="{BB962C8B-B14F-4D97-AF65-F5344CB8AC3E}">
        <p14:creationId xmlns:p14="http://schemas.microsoft.com/office/powerpoint/2010/main" val="1459402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830D6B23-0BA8-410A-8F8D-AC814DB6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05 </a:t>
            </a:r>
            <a:r>
              <a:rPr>
                <a:latin typeface="Meiryo"/>
                <a:ea typeface="Meiryo"/>
                <a:cs typeface="Meiryo"/>
              </a:rPr>
              <a:t>ばらつきを測る「分散」と「標準偏差」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80132C-EDFC-4306-BBAA-6DD08985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B42F32-EAB6-4AF6-BA4B-C9B66205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E[ ] </a:t>
            </a:r>
            <a:r>
              <a:rPr>
                <a:latin typeface="Meiryo"/>
                <a:ea typeface="Meiryo"/>
                <a:cs typeface="Meiryo"/>
              </a:rPr>
              <a:t>は、何度も繰り返したときの理論上の平均（期待値）。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B349929-FA7B-4392-8DBC-D08767EA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プラスとマイナスのずれは、そのまま平均すると打ち消し合う。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FB9694A-C95C-4E16-8B7B-402EB6A7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E[eᵢ] = 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E315B08-94D3-4725-BB58-332A83E1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52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分散</a:t>
            </a:r>
            <a:r>
              <a:rPr>
                <a:latin typeface="Arial"/>
                <a:ea typeface="Arial"/>
                <a:cs typeface="Arial"/>
              </a:rPr>
              <a:t> τ² = E[eᵢ²]　　　　</a:t>
            </a:r>
            <a:r>
              <a:rPr>
                <a:latin typeface="Meiryo"/>
                <a:ea typeface="Meiryo"/>
                <a:cs typeface="Meiryo"/>
              </a:rPr>
              <a:t>標準偏差</a:t>
            </a:r>
            <a:r>
              <a:rPr>
                <a:latin typeface="Arial"/>
                <a:ea typeface="Arial"/>
                <a:cs typeface="Arial"/>
              </a:rPr>
              <a:t> τ = √E[eᵢ²]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F6BAE80-3F16-4AC8-9489-614575A4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ずれを二乗して平均し、最後に平方根で元の単位へ戻す。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79348FE-036A-4E9A-8F3E-FB2F4C64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ずれと標準偏差の単位は</a:t>
            </a:r>
            <a:r>
              <a:rPr>
                <a:latin typeface="Arial"/>
                <a:ea typeface="Arial"/>
                <a:cs typeface="Arial"/>
              </a:rPr>
              <a:t> mm</a:t>
            </a:r>
            <a:r>
              <a:rPr>
                <a:latin typeface="Meiryo"/>
                <a:ea typeface="Meiryo"/>
                <a:cs typeface="Meiryo"/>
              </a:rPr>
              <a:t>。分散の単位は</a:t>
            </a:r>
            <a:r>
              <a:rPr>
                <a:latin typeface="Arial"/>
                <a:ea typeface="Arial"/>
                <a:cs typeface="Arial"/>
              </a:rPr>
              <a:t> mm²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44708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B181AC4-4241-4C3D-8A47-50D56703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06 </a:t>
            </a:r>
            <a:r>
              <a:rPr>
                <a:latin typeface="Meiryo"/>
                <a:ea typeface="Meiryo"/>
                <a:cs typeface="Meiryo"/>
              </a:rPr>
              <a:t>独立な誤差を、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通りの例で見る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4E6412-C497-467E-B1F4-D54AD495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4C87DC0-D419-4F1B-94FF-E020B40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e₁ </a:t>
            </a:r>
            <a:r>
              <a:rPr>
                <a:latin typeface="Meiryo"/>
                <a:ea typeface="Meiryo"/>
                <a:cs typeface="Meiryo"/>
              </a:rPr>
              <a:t>と</a:t>
            </a:r>
            <a:r>
              <a:rPr>
                <a:latin typeface="Arial"/>
                <a:ea typeface="Arial"/>
                <a:cs typeface="Arial"/>
              </a:rPr>
              <a:t> e₂ </a:t>
            </a:r>
            <a:r>
              <a:rPr>
                <a:latin typeface="Meiryo"/>
                <a:ea typeface="Meiryo"/>
                <a:cs typeface="Meiryo"/>
              </a:rPr>
              <a:t>がそれぞれ</a:t>
            </a:r>
            <a:r>
              <a:rPr>
                <a:latin typeface="Arial"/>
                <a:ea typeface="Arial"/>
                <a:cs typeface="Arial"/>
              </a:rPr>
              <a:t> ＋1 mm</a:t>
            </a:r>
            <a:r>
              <a:rPr>
                <a:latin typeface="Arial"/>
                <a:ea typeface="Arial"/>
                <a:cs typeface="Arial"/>
              </a:rPr>
              <a:t>、</a:t>
            </a:r>
            <a:r>
              <a:rPr>
                <a:latin typeface="Arial"/>
                <a:ea typeface="Arial"/>
                <a:cs typeface="Arial"/>
              </a:rPr>
              <a:t>−1 mm </a:t>
            </a:r>
            <a:r>
              <a:rPr>
                <a:latin typeface="Meiryo"/>
                <a:ea typeface="Meiryo"/>
                <a:cs typeface="Meiryo"/>
              </a:rPr>
              <a:t>を等確率で取る。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0E7CF-50D7-4A12-B877-D319F684DBA8}"/>
              </a:ext>
            </a:extLst>
          </p:cNvPr>
          <p:cNvGraphicFramePr/>
          <p:nvPr/>
        </p:nvGraphicFramePr>
        <p:xfrm>
          <a:off xmlns:a="http://schemas.openxmlformats.org/drawingml/2006/main" x="762000" y="1933575"/>
          <a:ext xmlns:a="http://schemas.openxmlformats.org/drawingml/2006/main" cx="10668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  <a:gridCol w="26670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e₁（mm）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e₂（mm）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e₁＋e₂（mm）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e₁e₂（mm²）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7E6DBF9-A050-4175-BB7F-06724787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E[e₁e₂] = (1 − 1 − 1 + 1) / 4 = 0</a:t>
            </a:r>
          </a:p>
        </p:txBody>
      </p:sp>
    </p:spTree>
    <p:extLst>
      <p:ext uri="{BB962C8B-B14F-4D97-AF65-F5344CB8AC3E}">
        <p14:creationId xmlns:p14="http://schemas.microsoft.com/office/powerpoint/2010/main" val="1595836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9C05143-15EF-4378-B13C-AE3E007C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07 </a:t>
            </a:r>
            <a:r>
              <a:rPr>
                <a:latin typeface="Meiryo"/>
                <a:ea typeface="Meiryo"/>
                <a:cs typeface="Meiryo"/>
              </a:rPr>
              <a:t>独立なら、分散を足し算できる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0BC544-0DB6-4CF7-B45C-4F0113B6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B4B11F-61E2-4025-9984-3557669C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 </a:t>
            </a:r>
            <a:r>
              <a:rPr>
                <a:latin typeface="Meiryo"/>
                <a:ea typeface="Meiryo"/>
                <a:cs typeface="Meiryo"/>
              </a:rPr>
              <a:t>は分散の記号。まず、誤差の和を二乗する。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0909A44-2296-40BD-99C7-8478C609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(e₁ + e₂)² = e₁² + 2e₁e₂ + e₂²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89DACEA-4801-4C42-A72B-F2B90696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E[(e₁ + e₂)²] = E[e₁²] + 2E[e₁e₂] + E[e₂²]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9BB7AB5-4F0D-48B2-846B-815D1C43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独立で、各誤差の期待値が</a:t>
            </a:r>
            <a:r>
              <a:rPr>
                <a:latin typeface="Arial"/>
                <a:ea typeface="Arial"/>
                <a:cs typeface="Arial"/>
              </a:rPr>
              <a:t>0</a:t>
            </a:r>
            <a:r>
              <a:rPr>
                <a:latin typeface="Meiryo"/>
                <a:ea typeface="Meiryo"/>
                <a:cs typeface="Meiryo"/>
              </a:rPr>
              <a:t>なら</a:t>
            </a:r>
            <a:r>
              <a:rPr>
                <a:latin typeface="Arial"/>
                <a:ea typeface="Arial"/>
                <a:cs typeface="Arial"/>
              </a:rPr>
              <a:t> E[e₁e₂] = 0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C671224-6AEE-42C0-97E5-61A39463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67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Var(e₁ + e₂) = Var(e₁) + Var(e₂)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4DF71C9-267A-48BC-9F70-77A0B08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足し合わせるのは「標準偏差の二乗</a:t>
            </a:r>
            <a:r>
              <a:rPr>
                <a:latin typeface="Arial"/>
                <a:ea typeface="Arial"/>
                <a:cs typeface="Arial"/>
              </a:rPr>
              <a:t>＝</a:t>
            </a:r>
            <a:r>
              <a:rPr>
                <a:latin typeface="Meiryo"/>
                <a:ea typeface="Meiryo"/>
                <a:cs typeface="Meiryo"/>
              </a:rPr>
              <a:t>分散」。</a:t>
            </a:r>
          </a:p>
        </p:txBody>
      </p:sp>
    </p:spTree>
    <p:extLst>
      <p:ext uri="{BB962C8B-B14F-4D97-AF65-F5344CB8AC3E}">
        <p14:creationId xmlns:p14="http://schemas.microsoft.com/office/powerpoint/2010/main" val="16633083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932AD18-1C46-4033-B62D-B042FB5C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08 </a:t>
            </a:r>
            <a:r>
              <a:rPr>
                <a:latin typeface="Meiryo"/>
                <a:ea typeface="Meiryo"/>
                <a:cs typeface="Meiryo"/>
              </a:rPr>
              <a:t>ずれを</a:t>
            </a:r>
            <a:r>
              <a:rPr>
                <a:latin typeface="Arial"/>
                <a:ea typeface="Arial"/>
                <a:cs typeface="Arial"/>
              </a:rPr>
              <a:t> 1/n </a:t>
            </a:r>
            <a:r>
              <a:rPr>
                <a:latin typeface="Meiryo"/>
                <a:ea typeface="Meiryo"/>
                <a:cs typeface="Meiryo"/>
              </a:rPr>
              <a:t>にすると、分散は</a:t>
            </a:r>
            <a:r>
              <a:rPr>
                <a:latin typeface="Arial"/>
                <a:ea typeface="Arial"/>
                <a:cs typeface="Arial"/>
              </a:rPr>
              <a:t> 1/n²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6F2D87-7DCC-4C7E-A72A-38025B09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5FD6EB-06E7-4356-9FDB-34CD3D8F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平均では、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個のずれ</a:t>
            </a:r>
            <a:r>
              <a:rPr>
                <a:latin typeface="Arial"/>
                <a:ea typeface="Arial"/>
                <a:cs typeface="Arial"/>
              </a:rPr>
              <a:t> eᵢ </a:t>
            </a:r>
            <a:r>
              <a:rPr>
                <a:latin typeface="Meiryo"/>
                <a:ea typeface="Meiryo"/>
                <a:cs typeface="Meiryo"/>
              </a:rPr>
              <a:t>が</a:t>
            </a:r>
            <a:r>
              <a:rPr>
                <a:latin typeface="Arial"/>
                <a:ea typeface="Arial"/>
                <a:cs typeface="Arial"/>
              </a:rPr>
              <a:t> eᵢ/n </a:t>
            </a:r>
            <a:r>
              <a:rPr>
                <a:latin typeface="Meiryo"/>
                <a:ea typeface="Meiryo"/>
                <a:cs typeface="Meiryo"/>
              </a:rPr>
              <a:t>として結果に入る。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4BAD97E-5ABC-4734-8C6F-337F6791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(eᵢ / n)² = eᵢ² / n²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DE86438-36E8-4AB0-8396-57AFDEDE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Var(eᵢ / n) = τ² / n²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988EC2C-A5B4-4121-9353-B56E7838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回平均なら、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個分の分散への寄与は</a:t>
            </a:r>
            <a:r>
              <a:rPr>
                <a:latin typeface="Arial"/>
                <a:ea typeface="Arial"/>
                <a:cs typeface="Arial"/>
              </a:rPr>
              <a:t> τ²/16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6FCD9A8-287F-40AA-839B-A00C4C38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係数も二乗する。それが</a:t>
            </a:r>
            <a:r>
              <a:rPr>
                <a:latin typeface="Arial"/>
                <a:ea typeface="Arial"/>
                <a:cs typeface="Arial"/>
              </a:rPr>
              <a:t> 1/n² </a:t>
            </a:r>
            <a:r>
              <a:rPr>
                <a:latin typeface="Meiryo"/>
                <a:ea typeface="Meiryo"/>
                <a:cs typeface="Meiryo"/>
              </a:rPr>
              <a:t>の由来。</a:t>
            </a:r>
          </a:p>
        </p:txBody>
      </p:sp>
    </p:spTree>
    <p:extLst>
      <p:ext uri="{BB962C8B-B14F-4D97-AF65-F5344CB8AC3E}">
        <p14:creationId xmlns:p14="http://schemas.microsoft.com/office/powerpoint/2010/main" val="992670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A2C9F443-50AE-4074-A07E-493295FB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09 n </a:t>
            </a:r>
            <a:r>
              <a:rPr>
                <a:latin typeface="Meiryo"/>
                <a:ea typeface="Meiryo"/>
                <a:cs typeface="Meiryo"/>
              </a:rPr>
              <a:t>個分の寄与を足し、平方根を取る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87D5C3-5A42-490D-9433-FA9E792A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C1533D-55BE-4E8A-B639-C062B844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同精度なら、同じ分散の寄与が</a:t>
            </a:r>
            <a:r>
              <a:rPr>
                <a:latin typeface="Arial"/>
                <a:ea typeface="Arial"/>
                <a:cs typeface="Arial"/>
              </a:rPr>
              <a:t> n </a:t>
            </a:r>
            <a:r>
              <a:rPr>
                <a:latin typeface="Meiryo"/>
                <a:ea typeface="Meiryo"/>
                <a:cs typeface="Meiryo"/>
              </a:rPr>
              <a:t>個ある。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6ED2CA7-2D75-4993-9DCC-CEAD8364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Var(x̄) = τ²/n² + ⋯ + τ²/n²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C45F64B-3808-4C5B-8D41-73F2347F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　　　　 = n × τ²/n² = τ²/n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E220045-F35D-45A3-92DA-47660715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SD(x̄) = √(τ²/n) = τ/√n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459EF93-7292-4B9A-BBD7-5F75D211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SD </a:t>
            </a:r>
            <a:r>
              <a:rPr>
                <a:latin typeface="Meiryo"/>
                <a:ea typeface="Meiryo"/>
                <a:cs typeface="Meiryo"/>
              </a:rPr>
              <a:t>は標準偏差。真値</a:t>
            </a:r>
            <a:r>
              <a:rPr>
                <a:latin typeface="Arial"/>
                <a:ea typeface="Arial"/>
                <a:cs typeface="Arial"/>
              </a:rPr>
              <a:t> X </a:t>
            </a:r>
            <a:r>
              <a:rPr>
                <a:latin typeface="Meiryo"/>
                <a:ea typeface="Meiryo"/>
                <a:cs typeface="Meiryo"/>
              </a:rPr>
              <a:t>は固定値なので分散に影響しない。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CA098E1-23B2-4A50-BEB9-8A3ED5AA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1/n² </a:t>
            </a:r>
            <a:r>
              <a:rPr>
                <a:latin typeface="Meiryo"/>
                <a:ea typeface="Meiryo"/>
                <a:cs typeface="Meiryo"/>
              </a:rPr>
              <a:t>を</a:t>
            </a:r>
            <a:r>
              <a:rPr>
                <a:latin typeface="Arial"/>
                <a:ea typeface="Arial"/>
                <a:cs typeface="Arial"/>
              </a:rPr>
              <a:t> n </a:t>
            </a:r>
            <a:r>
              <a:rPr>
                <a:latin typeface="Meiryo"/>
                <a:ea typeface="Meiryo"/>
                <a:cs typeface="Meiryo"/>
              </a:rPr>
              <a:t>個足して</a:t>
            </a:r>
            <a:r>
              <a:rPr>
                <a:latin typeface="Arial"/>
                <a:ea typeface="Arial"/>
                <a:cs typeface="Arial"/>
              </a:rPr>
              <a:t> 1/n</a:t>
            </a:r>
            <a:r>
              <a:rPr>
                <a:latin typeface="Meiryo"/>
                <a:ea typeface="Meiryo"/>
                <a:cs typeface="Meiryo"/>
              </a:rPr>
              <a:t>。平方根で</a:t>
            </a:r>
            <a:r>
              <a:rPr>
                <a:latin typeface="Arial"/>
                <a:ea typeface="Arial"/>
                <a:cs typeface="Arial"/>
              </a:rPr>
              <a:t> 1/√n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978088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1A91672-FB85-40EC-B471-1503C76B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10 1</a:t>
            </a:r>
            <a:r>
              <a:rPr>
                <a:latin typeface="Meiryo"/>
                <a:ea typeface="Meiryo"/>
                <a:cs typeface="Meiryo"/>
              </a:rPr>
              <a:t>回の標準偏差</a:t>
            </a:r>
            <a:r>
              <a:rPr>
                <a:latin typeface="Arial"/>
                <a:ea typeface="Arial"/>
                <a:cs typeface="Arial"/>
              </a:rPr>
              <a:t> 4 mm</a:t>
            </a:r>
            <a:r>
              <a:rPr>
                <a:latin typeface="Arial"/>
                <a:ea typeface="Arial"/>
                <a:cs typeface="Arial"/>
              </a:rPr>
              <a:t>、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回の平均なら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AB9249-5CDA-46D1-81EC-37188813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FC7418-B5A3-441F-892B-45F4673D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説明用に、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回の母標準偏差</a:t>
            </a:r>
            <a:r>
              <a:rPr>
                <a:latin typeface="Arial"/>
                <a:ea typeface="Arial"/>
                <a:cs typeface="Arial"/>
              </a:rPr>
              <a:t> τ = 4 mm </a:t>
            </a:r>
            <a:r>
              <a:rPr>
                <a:latin typeface="Meiryo"/>
                <a:ea typeface="Meiryo"/>
                <a:cs typeface="Meiryo"/>
              </a:rPr>
              <a:t>と分かっているとする。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B82E7-ED7B-44B4-9D5B-57A312AA2244}"/>
              </a:ext>
            </a:extLst>
          </p:cNvPr>
          <p:cNvGraphicFramePr/>
          <p:nvPr/>
        </p:nvGraphicFramePr>
        <p:xfrm>
          <a:off xmlns:a="http://schemas.openxmlformats.org/drawingml/2006/main" x="762000" y="1933575"/>
          <a:ext xmlns:a="http://schemas.openxmlformats.org/drawingml/2006/main" cx="10668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571750"/>
                <a:gridCol w="28575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計算の段階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計算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1個の入力が平均へ伝える標準偏差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 / 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1個分の分散への寄与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 mm²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4個分の分散を合計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1＋1＋1＋1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 mm²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平方根で標準偏差へ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√4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2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6E6D159-CB32-430F-93C5-8C416AE8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回平均の標準偏差は</a:t>
            </a:r>
            <a:r>
              <a:rPr>
                <a:latin typeface="Arial"/>
                <a:ea typeface="Arial"/>
                <a:cs typeface="Arial"/>
              </a:rPr>
              <a:t> 2 mm</a:t>
            </a:r>
            <a:r>
              <a:rPr>
                <a:latin typeface="Arial"/>
                <a:ea typeface="Arial"/>
                <a:cs typeface="Arial"/>
              </a:rPr>
              <a:t>。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回の半分になる。</a:t>
            </a:r>
          </a:p>
        </p:txBody>
      </p:sp>
    </p:spTree>
    <p:extLst>
      <p:ext uri="{BB962C8B-B14F-4D97-AF65-F5344CB8AC3E}">
        <p14:creationId xmlns:p14="http://schemas.microsoft.com/office/powerpoint/2010/main" val="14821684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BD777C94-4555-42DE-92B5-10B6CF55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11 </a:t>
            </a:r>
            <a:r>
              <a:rPr>
                <a:latin typeface="Meiryo"/>
                <a:ea typeface="Meiryo"/>
                <a:cs typeface="Meiryo"/>
              </a:rPr>
              <a:t>未知の</a:t>
            </a:r>
            <a:r>
              <a:rPr>
                <a:latin typeface="Arial"/>
                <a:ea typeface="Arial"/>
                <a:cs typeface="Arial"/>
              </a:rPr>
              <a:t> τ </a:t>
            </a:r>
            <a:r>
              <a:rPr>
                <a:latin typeface="Meiryo"/>
                <a:ea typeface="Meiryo"/>
                <a:cs typeface="Meiryo"/>
              </a:rPr>
              <a:t>は、観測デ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タから推定する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598814-81C0-479D-8901-C6650768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B76C4CF-B1C9-4FA2-976A-5FE8901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残差</a:t>
            </a:r>
            <a:r>
              <a:rPr>
                <a:latin typeface="Arial"/>
                <a:ea typeface="Arial"/>
                <a:cs typeface="Arial"/>
              </a:rPr>
              <a:t> vᵢ = xᵢ − x̄ </a:t>
            </a:r>
            <a:r>
              <a:rPr>
                <a:latin typeface="Meiryo"/>
                <a:ea typeface="Meiryo"/>
                <a:cs typeface="Meiryo"/>
              </a:rPr>
              <a:t>を使って、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回のばらつきを推定する。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E8E36CD-C5F4-4F87-8F48-4F9732AC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 = √[ (v₁² + ⋯ + vₙ²) / (n − 1) ]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F9C7856-EB34-42E8-8C85-D9CB0144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σ(x̄) = σ / √n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D181B19-24A2-46D2-9B4C-7B1BE56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 </a:t>
            </a:r>
            <a:r>
              <a:rPr>
                <a:latin typeface="Meiryo"/>
                <a:ea typeface="Meiryo"/>
                <a:cs typeface="Meiryo"/>
              </a:rPr>
              <a:t>は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回の標準偏差の推定値。</a:t>
            </a:r>
            <a:r>
              <a:rPr>
                <a:latin typeface="Arial"/>
                <a:ea typeface="Arial"/>
                <a:cs typeface="Arial"/>
              </a:rPr>
              <a:t>σ(x̄) </a:t>
            </a:r>
            <a:r>
              <a:rPr>
                <a:latin typeface="Meiryo"/>
                <a:ea typeface="Meiryo"/>
                <a:cs typeface="Meiryo"/>
              </a:rPr>
              <a:t>は平均の標準偏差の推定値。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BAAEC7B-A11B-45C0-AA09-FDED01B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前回の「平均の標準偏差」を、この補足では</a:t>
            </a:r>
            <a:r>
              <a:rPr>
                <a:latin typeface="Arial"/>
                <a:ea typeface="Arial"/>
                <a:cs typeface="Arial"/>
              </a:rPr>
              <a:t> σ(x̄) </a:t>
            </a:r>
            <a:r>
              <a:rPr>
                <a:latin typeface="Meiryo"/>
                <a:ea typeface="Meiryo"/>
                <a:cs typeface="Meiryo"/>
              </a:rPr>
              <a:t>と表す。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A79D11F-E7D3-40DE-8D02-E7784D06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n−1 </a:t>
            </a:r>
            <a:r>
              <a:rPr>
                <a:latin typeface="Meiryo"/>
                <a:ea typeface="Meiryo"/>
                <a:cs typeface="Meiryo"/>
              </a:rPr>
              <a:t>は分散の推定、</a:t>
            </a:r>
            <a:r>
              <a:rPr>
                <a:latin typeface="Arial"/>
                <a:ea typeface="Arial"/>
                <a:cs typeface="Arial"/>
              </a:rPr>
              <a:t>√n </a:t>
            </a:r>
            <a:r>
              <a:rPr>
                <a:latin typeface="Meiryo"/>
                <a:ea typeface="Meiryo"/>
                <a:cs typeface="Meiryo"/>
              </a:rPr>
              <a:t>は平均への伝播で使う。</a:t>
            </a:r>
          </a:p>
        </p:txBody>
      </p:sp>
    </p:spTree>
    <p:extLst>
      <p:ext uri="{BB962C8B-B14F-4D97-AF65-F5344CB8AC3E}">
        <p14:creationId xmlns:p14="http://schemas.microsoft.com/office/powerpoint/2010/main" val="733584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14B999A-F286-4B30-8B2D-562CD211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12 </a:t>
            </a:r>
            <a:r>
              <a:rPr>
                <a:latin typeface="Meiryo"/>
                <a:ea typeface="Meiryo"/>
                <a:cs typeface="Meiryo"/>
              </a:rPr>
              <a:t>実際のデ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タで計算する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994708A-04A6-4591-A252-FC309B9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BFC7DF-A999-411B-AF03-2CA1A6E2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379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5</a:t>
            </a:r>
            <a:r>
              <a:rPr>
                <a:latin typeface="Meiryo"/>
                <a:ea typeface="Meiryo"/>
                <a:cs typeface="Meiryo"/>
              </a:rPr>
              <a:t>回の独立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同精度の観測。平均</a:t>
            </a:r>
            <a:r>
              <a:rPr>
                <a:latin typeface="Arial"/>
                <a:ea typeface="Arial"/>
                <a:cs typeface="Arial"/>
              </a:rPr>
              <a:t> x̄ = 30.004 m</a:t>
            </a:r>
            <a:r>
              <a:rPr>
                <a:latin typeface="Arial"/>
                <a:ea typeface="Arial"/>
                <a:cs typeface="Arial"/>
              </a:rPr>
              <a:t>。</a:t>
            </a:r>
            <a:r>
              <a:rPr>
                <a:latin typeface="Arial"/>
                <a:ea typeface="Arial"/>
                <a:cs typeface="Arial"/>
              </a:rPr>
              <a:t>Σ </a:t>
            </a:r>
            <a:r>
              <a:rPr>
                <a:latin typeface="Meiryo"/>
                <a:ea typeface="Meiryo"/>
                <a:cs typeface="Meiryo"/>
              </a:rPr>
              <a:t>は合計を表す。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8F696-D014-41F4-BD9D-489105126763}"/>
              </a:ext>
            </a:extLst>
          </p:cNvPr>
          <p:cNvGraphicFramePr/>
          <p:nvPr/>
        </p:nvGraphicFramePr>
        <p:xfrm>
          <a:off xmlns:a="http://schemas.openxmlformats.org/drawingml/2006/main" x="762000" y="1896561"/>
          <a:ext xmlns:a="http://schemas.openxmlformats.org/drawingml/2006/main" cx="10668000" cy="254206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571750"/>
                <a:gridCol w="2857500"/>
              </a:tblGrid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観測値 xᵢ（m）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残差 vᵢ（mm）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vᵢ²（mm²）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−2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0F3EF"/>
                    </a:solidFill>
                  </a:tcPr>
                </a:tc>
              </a:tr>
              <a:tr h="423678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＋4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A9A16EF-8A2A-4C7A-99B3-7AEFEAAB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6897"/>
            <a:ext cx="10382250" cy="573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Σvᵢ² = 40 mm²　　σ = √(40/4) = √10 ≈ 3.16 mm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1481FD2-9E44-40FB-A3A6-3F55826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88894"/>
            <a:ext cx="10382250" cy="573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σ(x̄) = √10/√5 = √2 ≈ 1.41 mm</a:t>
            </a:r>
          </a:p>
        </p:txBody>
      </p:sp>
    </p:spTree>
    <p:extLst>
      <p:ext uri="{BB962C8B-B14F-4D97-AF65-F5344CB8AC3E}">
        <p14:creationId xmlns:p14="http://schemas.microsoft.com/office/powerpoint/2010/main" val="14834420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EF4540C-7E88-42F7-BAE2-A9539CA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13 </a:t>
            </a:r>
            <a:r>
              <a:rPr>
                <a:latin typeface="Meiryo"/>
                <a:ea typeface="Meiryo"/>
                <a:cs typeface="Meiryo"/>
              </a:rPr>
              <a:t>標準偏差を半分にするには、回数を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倍に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58BA31-07DB-466D-82B7-F623B73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580792-DF86-4ECE-8941-C79F2683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回の標準偏差</a:t>
            </a:r>
            <a:r>
              <a:rPr>
                <a:latin typeface="Arial"/>
                <a:ea typeface="Arial"/>
                <a:cs typeface="Arial"/>
              </a:rPr>
              <a:t> τ = 4 mm </a:t>
            </a:r>
            <a:r>
              <a:rPr>
                <a:latin typeface="Meiryo"/>
                <a:ea typeface="Meiryo"/>
                <a:cs typeface="Meiryo"/>
              </a:rPr>
              <a:t>の理論例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8C768C7-EDD0-4AAE-A17D-CBA85D23F75A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77bd696a2b4ae2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5FC0500-4B11-4714-9391-1F5005AF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標準偏差（</a:t>
            </a:r>
            <a:r>
              <a:rPr>
                <a:latin typeface="Arial"/>
                <a:ea typeface="Arial"/>
                <a:cs typeface="Arial"/>
              </a:rPr>
              <a:t>mm</a:t>
            </a:r>
            <a:r>
              <a:rPr>
                <a:latin typeface="Arial"/>
                <a:ea typeface="Arial"/>
                <a:cs typeface="Arial"/>
              </a:rPr>
              <a:t>）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12D4269-11A2-4853-BDE2-FAF119EE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SD(x̄) = 4/√n mm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1CF3DDC-CF98-49DB-9ADF-FF9CB403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回で</a:t>
            </a:r>
            <a:r>
              <a:rPr>
                <a:latin typeface="Arial"/>
                <a:ea typeface="Arial"/>
                <a:cs typeface="Arial"/>
              </a:rPr>
              <a:t> 1/2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710F0BF-3965-45B8-9AB7-488548E4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52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16</a:t>
            </a:r>
            <a:r>
              <a:rPr>
                <a:latin typeface="Meiryo"/>
                <a:ea typeface="Meiryo"/>
                <a:cs typeface="Meiryo"/>
              </a:rPr>
              <a:t>回で</a:t>
            </a:r>
            <a:r>
              <a:rPr>
                <a:latin typeface="Arial"/>
                <a:ea typeface="Arial"/>
                <a:cs typeface="Arial"/>
              </a:rPr>
              <a:t> 1/4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7D6D685-66E2-42BC-BE4B-27A200C5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回数を</a:t>
            </a:r>
            <a:r>
              <a:rPr>
                <a:latin typeface="Arial"/>
                <a:ea typeface="Arial"/>
                <a:cs typeface="Arial"/>
              </a:rPr>
              <a:t>2</a:t>
            </a:r>
            <a:r>
              <a:rPr>
                <a:latin typeface="Meiryo"/>
                <a:ea typeface="Meiryo"/>
                <a:cs typeface="Meiryo"/>
              </a:rPr>
              <a:t>倍にしても、ばらつきは半分にならない。</a:t>
            </a:r>
          </a:p>
        </p:txBody>
      </p:sp>
    </p:spTree>
    <p:extLst>
      <p:ext uri="{BB962C8B-B14F-4D97-AF65-F5344CB8AC3E}">
        <p14:creationId xmlns:p14="http://schemas.microsoft.com/office/powerpoint/2010/main" val="12278012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944011A-717E-4222-87F2-C1BB1D1C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14 </a:t>
            </a:r>
            <a:r>
              <a:rPr>
                <a:latin typeface="Meiryo"/>
                <a:ea typeface="Meiryo"/>
                <a:cs typeface="Meiryo"/>
              </a:rPr>
              <a:t>すべてに共通するずれは、平均しても残る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93BDBB4-9FD5-481E-8EE1-E4B9106C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3E8A4D3-51F3-4145-8A26-CAB7A03D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器械の零点に</a:t>
            </a:r>
            <a:r>
              <a:rPr>
                <a:latin typeface="Arial"/>
                <a:ea typeface="Arial"/>
                <a:cs typeface="Arial"/>
              </a:rPr>
              <a:t> b = ＋2 mm </a:t>
            </a:r>
            <a:r>
              <a:rPr>
                <a:latin typeface="Meiryo"/>
                <a:ea typeface="Meiryo"/>
                <a:cs typeface="Meiryo"/>
              </a:rPr>
              <a:t>の偏りがある場合。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17F76ED-C1C7-40FC-83BD-5DA5AADC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xᵢ = X + b + eᵢ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58FBF2A-85C2-45D1-A2E4-668C7651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x̄ = X + b + (e₁ + ⋯ + eₙ) / 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D0E2C3-54AE-4FED-A034-54C4C63E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偶然のばらつきは小さくなるが、中心は</a:t>
            </a:r>
            <a:r>
              <a:rPr>
                <a:latin typeface="Arial"/>
                <a:ea typeface="Arial"/>
                <a:cs typeface="Arial"/>
              </a:rPr>
              <a:t> X＋2 mm </a:t>
            </a:r>
            <a:r>
              <a:rPr>
                <a:latin typeface="Meiryo"/>
                <a:ea typeface="Meiryo"/>
                <a:cs typeface="Meiryo"/>
              </a:rPr>
              <a:t>のまま。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E35636-DDEE-40E1-BE9C-AD66656E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回数を増やすことに加え、点検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補正が必要になる。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4964759-06D5-464A-9E84-AD775074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平均がよくそろうことと、真値に近いことを区別する。</a:t>
            </a:r>
          </a:p>
        </p:txBody>
      </p:sp>
    </p:spTree>
    <p:extLst>
      <p:ext uri="{BB962C8B-B14F-4D97-AF65-F5344CB8AC3E}">
        <p14:creationId xmlns:p14="http://schemas.microsoft.com/office/powerpoint/2010/main" val="13007041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292CB4-10AE-4E00-8BF8-726B2E9E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15 </a:t>
            </a:r>
            <a:r>
              <a:rPr>
                <a:latin typeface="Meiryo"/>
                <a:ea typeface="Meiryo"/>
                <a:cs typeface="Meiryo"/>
              </a:rPr>
              <a:t>一緒に揺れる観測では、減り方が違う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C734B7-590D-4ECE-A4B8-AFD154E1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55F536-D0E8-4A2C-9399-C2924DA0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同じ環境変化などで、観測が同じ方向に動く場合がある。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877625-88BF-4F36-B756-32AB8D8A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回とも全く同じずれ</a:t>
            </a:r>
            <a:r>
              <a:rPr>
                <a:latin typeface="Arial"/>
                <a:ea typeface="Arial"/>
                <a:cs typeface="Arial"/>
              </a:rPr>
              <a:t> e </a:t>
            </a:r>
            <a:r>
              <a:rPr>
                <a:latin typeface="Meiryo"/>
                <a:ea typeface="Meiryo"/>
                <a:cs typeface="Meiryo"/>
              </a:rPr>
              <a:t>を受けたなら、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2B08B71-9574-42CB-B3BC-ABD6979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(e + e + e + e) / 4 = 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5F95FF9-C983-438B-A70E-960C2DA7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平均しても、その共通の揺れは小さくならない。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65752C8-A915-4F80-BBE8-25220675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独立性は「記録が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個ある」だけでは保証できない。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E477423-D6F9-4351-B081-01925698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σ/√n </a:t>
            </a:r>
            <a:r>
              <a:rPr>
                <a:latin typeface="Meiryo"/>
                <a:ea typeface="Meiryo"/>
                <a:cs typeface="Meiryo"/>
              </a:rPr>
              <a:t>を使う前に、観測の独立性と精度を確かめる。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15270403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6CC13F1-93DD-4760-A7B8-88D39E2B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16 </a:t>
            </a:r>
            <a:r>
              <a:rPr>
                <a:latin typeface="Meiryo"/>
                <a:ea typeface="Meiryo"/>
                <a:cs typeface="Meiryo"/>
              </a:rPr>
              <a:t>ここまでの確認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01736E3-C137-42A3-8053-1D80116D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B77C477-0AC7-41D3-A662-9B572710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同精度の観測で、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回の標準偏差は</a:t>
            </a:r>
            <a:r>
              <a:rPr>
                <a:latin typeface="Arial"/>
                <a:ea typeface="Arial"/>
                <a:cs typeface="Arial"/>
              </a:rPr>
              <a:t> 6 mm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9CFFF2-F68D-4084-B18F-3747DBC9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1. 9</a:t>
            </a:r>
            <a:r>
              <a:rPr>
                <a:latin typeface="Meiryo"/>
                <a:ea typeface="Meiryo"/>
                <a:cs typeface="Meiryo"/>
              </a:rPr>
              <a:t>回平均の標準偏差はいくつか。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1E0CE8D-B6D7-42BA-BFD5-7CB40ADE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2. </a:t>
            </a:r>
            <a:r>
              <a:rPr>
                <a:latin typeface="Meiryo"/>
                <a:ea typeface="Meiryo"/>
                <a:cs typeface="Meiryo"/>
              </a:rPr>
              <a:t>平均の標準偏差を</a:t>
            </a:r>
            <a:r>
              <a:rPr>
                <a:latin typeface="Arial"/>
                <a:ea typeface="Arial"/>
                <a:cs typeface="Arial"/>
              </a:rPr>
              <a:t> 1 mm </a:t>
            </a:r>
            <a:r>
              <a:rPr>
                <a:latin typeface="Meiryo"/>
                <a:ea typeface="Meiryo"/>
                <a:cs typeface="Meiryo"/>
              </a:rPr>
              <a:t>にするには、何回必要か。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DC685CD-D058-4953-8226-2B31BF9E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3. </a:t>
            </a:r>
            <a:r>
              <a:rPr>
                <a:latin typeface="Meiryo"/>
                <a:ea typeface="Meiryo"/>
                <a:cs typeface="Meiryo"/>
              </a:rPr>
              <a:t>全観測に</a:t>
            </a:r>
            <a:r>
              <a:rPr>
                <a:latin typeface="Arial"/>
                <a:ea typeface="Arial"/>
                <a:cs typeface="Arial"/>
              </a:rPr>
              <a:t> ＋3 mm </a:t>
            </a:r>
            <a:r>
              <a:rPr>
                <a:latin typeface="Meiryo"/>
                <a:ea typeface="Meiryo"/>
                <a:cs typeface="Meiryo"/>
              </a:rPr>
              <a:t>の偏りがあれば、</a:t>
            </a:r>
            <a:r>
              <a:rPr>
                <a:latin typeface="Arial"/>
                <a:ea typeface="Arial"/>
                <a:cs typeface="Arial"/>
              </a:rPr>
              <a:t>9</a:t>
            </a:r>
            <a:r>
              <a:rPr>
                <a:latin typeface="Meiryo"/>
                <a:ea typeface="Meiryo"/>
                <a:cs typeface="Meiryo"/>
              </a:rPr>
              <a:t>回平均で消えるか。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27F9C2F-B93B-442A-B6AA-950E414D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答えだけでなく、「どの条件で使える式か」も説明しよう。</a:t>
            </a:r>
          </a:p>
        </p:txBody>
      </p:sp>
    </p:spTree>
    <p:extLst>
      <p:ext uri="{BB962C8B-B14F-4D97-AF65-F5344CB8AC3E}">
        <p14:creationId xmlns:p14="http://schemas.microsoft.com/office/powerpoint/2010/main" val="18610926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E0A7D7B5-6E2F-4FF0-8161-2825EFC6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17 </a:t>
            </a:r>
            <a:r>
              <a:rPr>
                <a:latin typeface="Meiryo"/>
                <a:ea typeface="Meiryo"/>
                <a:cs typeface="Meiryo"/>
              </a:rPr>
              <a:t>答えと、式の読み方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137BA6E-0B9C-4B3D-A9D6-1C3566C1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52CB41-C231-4126-8FB7-C49FD973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① 6/√9 = 2 mm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2BA31D3-DA88-47B9-B155-07AA6F5B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② 6/√n = 1　</a:t>
            </a:r>
            <a:r>
              <a:rPr>
                <a:latin typeface="Meiryo"/>
                <a:ea typeface="Meiryo"/>
                <a:cs typeface="Meiryo"/>
              </a:rPr>
              <a:t>なので</a:t>
            </a:r>
            <a:r>
              <a:rPr>
                <a:latin typeface="Arial"/>
                <a:ea typeface="Arial"/>
                <a:cs typeface="Arial"/>
              </a:rPr>
              <a:t> √n = 6</a:t>
            </a:r>
            <a:r>
              <a:rPr>
                <a:latin typeface="Arial"/>
                <a:ea typeface="Arial"/>
                <a:cs typeface="Arial"/>
              </a:rPr>
              <a:t>、</a:t>
            </a:r>
            <a:r>
              <a:rPr>
                <a:latin typeface="Arial"/>
                <a:ea typeface="Arial"/>
                <a:cs typeface="Arial"/>
              </a:rPr>
              <a:t>n = 36 </a:t>
            </a:r>
            <a:r>
              <a:rPr>
                <a:latin typeface="Meiryo"/>
                <a:ea typeface="Meiryo"/>
                <a:cs typeface="Meiryo"/>
              </a:rPr>
              <a:t>回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1A98983-DBF1-4C35-8DAB-90DA634A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③ ＋3 mm </a:t>
            </a:r>
            <a:r>
              <a:rPr>
                <a:latin typeface="Meiryo"/>
                <a:ea typeface="Meiryo"/>
                <a:cs typeface="Meiryo"/>
              </a:rPr>
              <a:t>の偏りは残る。回数を増やしても補正にはならない。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95D93BE-D93D-4E8C-B98E-371A7155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平均の標準偏差</a:t>
            </a:r>
            <a:r>
              <a:rPr>
                <a:latin typeface="Arial"/>
                <a:ea typeface="Arial"/>
                <a:cs typeface="Arial"/>
              </a:rPr>
              <a:t> = 1</a:t>
            </a:r>
            <a:r>
              <a:rPr>
                <a:latin typeface="Meiryo"/>
                <a:ea typeface="Meiryo"/>
                <a:cs typeface="Meiryo"/>
              </a:rPr>
              <a:t>回の標準偏差</a:t>
            </a:r>
            <a:r>
              <a:rPr>
                <a:latin typeface="Arial"/>
                <a:ea typeface="Arial"/>
                <a:cs typeface="Arial"/>
              </a:rPr>
              <a:t> / √</a:t>
            </a:r>
            <a:r>
              <a:rPr>
                <a:latin typeface="Meiryo"/>
                <a:ea typeface="Meiryo"/>
                <a:cs typeface="Meiryo"/>
              </a:rPr>
              <a:t>観測回数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03E72B1-D96F-45FA-8AFE-E7BCB85C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各入力の寄与を二乗して足し、最後に平方根を取る。</a:t>
            </a:r>
          </a:p>
        </p:txBody>
      </p:sp>
    </p:spTree>
    <p:extLst>
      <p:ext uri="{BB962C8B-B14F-4D97-AF65-F5344CB8AC3E}">
        <p14:creationId xmlns:p14="http://schemas.microsoft.com/office/powerpoint/2010/main" val="10972999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BB292C2A-293C-4A6D-A5F5-88AF2F1A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付録</a:t>
            </a:r>
            <a:r>
              <a:rPr>
                <a:latin typeface="Arial"/>
                <a:ea typeface="Arial"/>
                <a:cs typeface="Arial"/>
              </a:rPr>
              <a:t>A </a:t>
            </a:r>
            <a:r>
              <a:rPr>
                <a:latin typeface="Meiryo"/>
                <a:ea typeface="Meiryo"/>
                <a:cs typeface="Meiryo"/>
              </a:rPr>
              <a:t>一般の誤差伝播式とのつながり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63CF6EE-C4D5-458D-9B51-9AA3460E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22EB52A-9695-4C19-A70E-6612C91D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y = f(x₁, …, xₙ) </a:t>
            </a:r>
            <a:r>
              <a:rPr>
                <a:latin typeface="Meiryo"/>
                <a:ea typeface="Meiryo"/>
                <a:cs typeface="Meiryo"/>
              </a:rPr>
              <a:t>に対し、</a:t>
            </a:r>
            <a:r>
              <a:rPr>
                <a:latin typeface="Arial"/>
                <a:ea typeface="Arial"/>
                <a:cs typeface="Arial"/>
              </a:rPr>
              <a:t>cᵢ = ∂f/∂xᵢ </a:t>
            </a:r>
            <a:r>
              <a:rPr>
                <a:latin typeface="Meiryo"/>
                <a:ea typeface="Meiryo"/>
                <a:cs typeface="Meiryo"/>
              </a:rPr>
              <a:t>を感度係数と呼ぶ。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D153A8-F88E-4DE6-BA13-DBD28E9F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cᵢ </a:t>
            </a:r>
            <a:r>
              <a:rPr>
                <a:latin typeface="Meiryo"/>
                <a:ea typeface="Meiryo"/>
                <a:cs typeface="Meiryo"/>
              </a:rPr>
              <a:t>は、入力</a:t>
            </a:r>
            <a:r>
              <a:rPr>
                <a:latin typeface="Arial"/>
                <a:ea typeface="Arial"/>
                <a:cs typeface="Arial"/>
              </a:rPr>
              <a:t> xᵢ </a:t>
            </a:r>
            <a:r>
              <a:rPr>
                <a:latin typeface="Meiryo"/>
                <a:ea typeface="Meiryo"/>
                <a:cs typeface="Meiryo"/>
              </a:rPr>
              <a:t>の小さな変化が結果に伝わる割合。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C45F18-4806-4F33-A665-2B84AE34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Var(y) ≈ Σ cᵢ² Var(xᵢ)　　　　</a:t>
            </a:r>
            <a:r>
              <a:rPr>
                <a:latin typeface="Meiryo"/>
                <a:ea typeface="Meiryo"/>
                <a:cs typeface="Meiryo"/>
              </a:rPr>
              <a:t>（入力が無相関）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707FE19-6AA3-4B03-BC54-86AEAF75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52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平均なら</a:t>
            </a:r>
            <a:r>
              <a:rPr>
                <a:latin typeface="Arial"/>
                <a:ea typeface="Arial"/>
                <a:cs typeface="Arial"/>
              </a:rPr>
              <a:t> cᵢ = 1/n　</a:t>
            </a:r>
            <a:r>
              <a:rPr>
                <a:latin typeface="Meiryo"/>
                <a:ea typeface="Meiryo"/>
                <a:cs typeface="Meiryo"/>
              </a:rPr>
              <a:t>なので</a:t>
            </a:r>
            <a:r>
              <a:rPr>
                <a:latin typeface="Arial"/>
                <a:ea typeface="Arial"/>
                <a:cs typeface="Arial"/>
              </a:rPr>
              <a:t> Var(x̄) = Σ τ²/n² = τ²/n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4B00B85-F8C4-4AD3-8751-9E150D3E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平均は線形なので、この分散の式は近似でなく厳密に成り立つ。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4953645-F56C-48AA-9562-F0A227AF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相関がある場合は、共分散の項も必要になる。</a:t>
            </a:r>
          </a:p>
        </p:txBody>
      </p:sp>
    </p:spTree>
    <p:extLst>
      <p:ext uri="{BB962C8B-B14F-4D97-AF65-F5344CB8AC3E}">
        <p14:creationId xmlns:p14="http://schemas.microsoft.com/office/powerpoint/2010/main" val="9533038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DA49062-EC0E-42A6-A02C-D0B575E1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付録</a:t>
            </a:r>
            <a:r>
              <a:rPr>
                <a:latin typeface="Arial"/>
                <a:ea typeface="Arial"/>
                <a:cs typeface="Arial"/>
              </a:rPr>
              <a:t>B </a:t>
            </a:r>
            <a:r>
              <a:rPr>
                <a:latin typeface="Meiryo"/>
                <a:ea typeface="Meiryo"/>
                <a:cs typeface="Meiryo"/>
              </a:rPr>
              <a:t>出典と記号の対応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97ACFE-F9A5-4ACD-8804-B2BEA88F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13D32F9-9ABC-40B0-91CA-54C26F85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JCGM 100:2008</a:t>
            </a:r>
            <a:r>
              <a:rPr>
                <a:latin typeface="Arial"/>
                <a:ea typeface="Arial"/>
                <a:cs typeface="Arial"/>
              </a:rPr>
              <a:t>（</a:t>
            </a:r>
            <a:r>
              <a:rPr>
                <a:latin typeface="Arial"/>
                <a:ea typeface="Arial"/>
                <a:cs typeface="Arial"/>
              </a:rPr>
              <a:t>GUM</a:t>
            </a:r>
            <a:r>
              <a:rPr>
                <a:latin typeface="Arial"/>
                <a:ea typeface="Arial"/>
                <a:cs typeface="Arial"/>
              </a:rPr>
              <a:t>）、</a:t>
            </a:r>
            <a:r>
              <a:rPr>
                <a:latin typeface="Arial"/>
                <a:ea typeface="Arial"/>
                <a:cs typeface="Arial"/>
              </a:rPr>
              <a:t>BIPM </a:t>
            </a:r>
            <a:r>
              <a:rPr>
                <a:latin typeface="Meiryo"/>
                <a:ea typeface="Meiryo"/>
                <a:cs typeface="Meiryo"/>
              </a:rPr>
              <a:t>公式公開版。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3DAACD7-B450-4D68-8429-CCAFEF1F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4.2.2–4.2.3：</a:t>
            </a:r>
            <a:r>
              <a:rPr>
                <a:latin typeface="Meiryo"/>
                <a:ea typeface="Meiryo"/>
                <a:cs typeface="Meiryo"/>
              </a:rPr>
              <a:t>反復観測と平均の分散。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EA18D60-5D0D-4B8E-B6CD-F4F34CB1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5.1.2：</a:t>
            </a:r>
            <a:r>
              <a:rPr>
                <a:latin typeface="Meiryo"/>
                <a:ea typeface="Meiryo"/>
                <a:cs typeface="Meiryo"/>
              </a:rPr>
              <a:t>無相関な入力の不確かさの伝播。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33B5C0-ACA2-44F2-BA5A-3C83E934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5.2.2：</a:t>
            </a:r>
            <a:r>
              <a:rPr>
                <a:latin typeface="Meiryo"/>
                <a:ea typeface="Meiryo"/>
                <a:cs typeface="Meiryo"/>
              </a:rPr>
              <a:t>相関がある場合の共分散の項。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6230C0B-C9EE-4C55-90F0-D83767D5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τ：</a:t>
            </a:r>
            <a:r>
              <a:rPr>
                <a:latin typeface="Meiryo"/>
                <a:ea typeface="Meiryo"/>
                <a:cs typeface="Meiryo"/>
              </a:rPr>
              <a:t>母標準偏差。</a:t>
            </a:r>
            <a:r>
              <a:rPr>
                <a:latin typeface="Arial"/>
                <a:ea typeface="Arial"/>
                <a:cs typeface="Arial"/>
              </a:rPr>
              <a:t>σ：</a:t>
            </a:r>
            <a:r>
              <a:rPr>
                <a:latin typeface="Meiryo"/>
                <a:ea typeface="Meiryo"/>
                <a:cs typeface="Meiryo"/>
              </a:rPr>
              <a:t>デ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タから求めた標準偏差（通常の</a:t>
            </a:r>
            <a:r>
              <a:rPr>
                <a:latin typeface="Arial"/>
                <a:ea typeface="Arial"/>
                <a:cs typeface="Arial"/>
              </a:rPr>
              <a:t> s</a:t>
            </a:r>
            <a:r>
              <a:rPr>
                <a:latin typeface="Arial"/>
                <a:ea typeface="Arial"/>
                <a:cs typeface="Arial"/>
              </a:rPr>
              <a:t>）。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6D90C7A-BA1D-4A9A-B5FA-2E645BD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σ(x̄)：</a:t>
            </a:r>
            <a:r>
              <a:rPr>
                <a:latin typeface="Meiryo"/>
                <a:ea typeface="Meiryo"/>
                <a:cs typeface="Meiryo"/>
              </a:rPr>
              <a:t>平均の標準偏差の推定値（前回のエックスバ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の標準偏差）。</a:t>
            </a:r>
          </a:p>
        </p:txBody>
      </p:sp>
    </p:spTree>
    <p:extLst>
      <p:ext uri="{BB962C8B-B14F-4D97-AF65-F5344CB8AC3E}">
        <p14:creationId xmlns:p14="http://schemas.microsoft.com/office/powerpoint/2010/main" val="458572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2026-10-14T14:22:23.1950000Z</dcterms:created>
  <dcterms:modified xsi:type="dcterms:W3CDTF">2026-10-14T14:22:23.1950000Z</dcterms:modified>
</coreProperties>
</file>