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ac357f345423f" /><Relationship Type="http://schemas.openxmlformats.org/officeDocument/2006/relationships/extended-properties" Target="/docProps/app.xml" Id="R1075161ca7c2401d" /><Relationship Type="http://schemas.openxmlformats.org/officeDocument/2006/relationships/officeDocument" Target="/ppt/presentation.xml" Id="Rbb38780175b2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ec0ba23f84bc3"/>
  </p:sldMasterIdLst>
  <p:notesMasterIdLst>
    <p:notesMasterId xmlns:r="http://schemas.openxmlformats.org/officeDocument/2006/relationships" r:id="R4dbe998e1df44c19"/>
  </p:notesMasterIdLst>
  <p:sldIdLst>
    <p:sldId xmlns:r="http://schemas.openxmlformats.org/officeDocument/2006/relationships" id="256" r:id="Rf4d618c946d44d33"/>
    <p:sldId xmlns:r="http://schemas.openxmlformats.org/officeDocument/2006/relationships" id="257" r:id="R63abd778cd5a43ff"/>
    <p:sldId xmlns:r="http://schemas.openxmlformats.org/officeDocument/2006/relationships" id="258" r:id="R295bc13057364b9f"/>
    <p:sldId xmlns:r="http://schemas.openxmlformats.org/officeDocument/2006/relationships" id="259" r:id="R6ea3ffb408a34703"/>
    <p:sldId xmlns:r="http://schemas.openxmlformats.org/officeDocument/2006/relationships" id="260" r:id="R09eb1487ea7f4b98"/>
    <p:sldId xmlns:r="http://schemas.openxmlformats.org/officeDocument/2006/relationships" id="261" r:id="R250293ab94c241d8"/>
    <p:sldId xmlns:r="http://schemas.openxmlformats.org/officeDocument/2006/relationships" id="262" r:id="R32e081d6963448ac"/>
    <p:sldId xmlns:r="http://schemas.openxmlformats.org/officeDocument/2006/relationships" id="263" r:id="R11b998ccd48645dc"/>
    <p:sldId xmlns:r="http://schemas.openxmlformats.org/officeDocument/2006/relationships" id="264" r:id="R82af36c148944d25"/>
    <p:sldId xmlns:r="http://schemas.openxmlformats.org/officeDocument/2006/relationships" id="265" r:id="R1122da9af9e54259"/>
    <p:sldId xmlns:r="http://schemas.openxmlformats.org/officeDocument/2006/relationships" id="266" r:id="R61f8805eedfc4190"/>
    <p:sldId xmlns:r="http://schemas.openxmlformats.org/officeDocument/2006/relationships" id="267" r:id="R5129283f761b4f5e"/>
    <p:sldId xmlns:r="http://schemas.openxmlformats.org/officeDocument/2006/relationships" id="268" r:id="R5ade13aeea0b4fdb"/>
    <p:sldId xmlns:r="http://schemas.openxmlformats.org/officeDocument/2006/relationships" id="269" r:id="R8030edbbfb01467d"/>
    <p:sldId xmlns:r="http://schemas.openxmlformats.org/officeDocument/2006/relationships" id="270" r:id="Re4e0e779ea3b4042"/>
    <p:sldId xmlns:r="http://schemas.openxmlformats.org/officeDocument/2006/relationships" id="271" r:id="Raac0562a3f6843ba"/>
    <p:sldId xmlns:r="http://schemas.openxmlformats.org/officeDocument/2006/relationships" id="272" r:id="Rbebc8d46aef0463a"/>
    <p:sldId xmlns:r="http://schemas.openxmlformats.org/officeDocument/2006/relationships" id="273" r:id="R4cf2437900d54574"/>
    <p:sldId xmlns:r="http://schemas.openxmlformats.org/officeDocument/2006/relationships" id="274" r:id="Ra828b58b09c4461e"/>
    <p:sldId xmlns:r="http://schemas.openxmlformats.org/officeDocument/2006/relationships" id="275" r:id="R3c98a8806a79492a"/>
    <p:sldId xmlns:r="http://schemas.openxmlformats.org/officeDocument/2006/relationships" id="276" r:id="R9a1fe97fe92c4aa3"/>
    <p:sldId xmlns:r="http://schemas.openxmlformats.org/officeDocument/2006/relationships" id="277" r:id="Rf2a3b49bbfe746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b0afaeabc4023" /><Relationship Type="http://schemas.openxmlformats.org/officeDocument/2006/relationships/slideMaster" Target="/ppt/slideMasters/slideMaster1.xml" Id="R7efec0ba23f84bc3" /><Relationship Type="http://schemas.openxmlformats.org/officeDocument/2006/relationships/notesMaster" Target="/ppt/notesMasters/notesMaster1.xml" Id="R4dbe998e1df44c19" /><Relationship Type="http://schemas.openxmlformats.org/officeDocument/2006/relationships/presProps" Target="/ppt/presProps.xml" Id="Rdd0eb7716fbc446f" /><Relationship Type="http://schemas.openxmlformats.org/officeDocument/2006/relationships/tableStyles" Target="/ppt/tableStyles.xml" Id="R9fd3b13e20fd4dca" /><Relationship Type="http://schemas.openxmlformats.org/officeDocument/2006/relationships/slide" Target="/ppt/slides/slide1.xml" Id="Rf4d618c946d44d33" /><Relationship Type="http://schemas.openxmlformats.org/officeDocument/2006/relationships/slide" Target="/ppt/slides/slide2.xml" Id="R63abd778cd5a43ff" /><Relationship Type="http://schemas.openxmlformats.org/officeDocument/2006/relationships/slide" Target="/ppt/slides/slide3.xml" Id="R295bc13057364b9f" /><Relationship Type="http://schemas.openxmlformats.org/officeDocument/2006/relationships/slide" Target="/ppt/slides/slide4.xml" Id="R6ea3ffb408a34703" /><Relationship Type="http://schemas.openxmlformats.org/officeDocument/2006/relationships/slide" Target="/ppt/slides/slide5.xml" Id="R09eb1487ea7f4b98" /><Relationship Type="http://schemas.openxmlformats.org/officeDocument/2006/relationships/slide" Target="/ppt/slides/slide6.xml" Id="R250293ab94c241d8" /><Relationship Type="http://schemas.openxmlformats.org/officeDocument/2006/relationships/slide" Target="/ppt/slides/slide7.xml" Id="R32e081d6963448ac" /><Relationship Type="http://schemas.openxmlformats.org/officeDocument/2006/relationships/slide" Target="/ppt/slides/slide8.xml" Id="R11b998ccd48645dc" /><Relationship Type="http://schemas.openxmlformats.org/officeDocument/2006/relationships/slide" Target="/ppt/slides/slide9.xml" Id="R82af36c148944d25" /><Relationship Type="http://schemas.openxmlformats.org/officeDocument/2006/relationships/slide" Target="/ppt/slides/slide10.xml" Id="R1122da9af9e54259" /><Relationship Type="http://schemas.openxmlformats.org/officeDocument/2006/relationships/slide" Target="/ppt/slides/slide11.xml" Id="R61f8805eedfc4190" /><Relationship Type="http://schemas.openxmlformats.org/officeDocument/2006/relationships/slide" Target="/ppt/slides/slide12.xml" Id="R5129283f761b4f5e" /><Relationship Type="http://schemas.openxmlformats.org/officeDocument/2006/relationships/slide" Target="/ppt/slides/slide13.xml" Id="R5ade13aeea0b4fdb" /><Relationship Type="http://schemas.openxmlformats.org/officeDocument/2006/relationships/slide" Target="/ppt/slides/slide14.xml" Id="R8030edbbfb01467d" /><Relationship Type="http://schemas.openxmlformats.org/officeDocument/2006/relationships/slide" Target="/ppt/slides/slide15.xml" Id="Re4e0e779ea3b4042" /><Relationship Type="http://schemas.openxmlformats.org/officeDocument/2006/relationships/slide" Target="/ppt/slides/slide16.xml" Id="Raac0562a3f6843ba" /><Relationship Type="http://schemas.openxmlformats.org/officeDocument/2006/relationships/slide" Target="/ppt/slides/slide17.xml" Id="Rbebc8d46aef0463a" /><Relationship Type="http://schemas.openxmlformats.org/officeDocument/2006/relationships/slide" Target="/ppt/slides/slide18.xml" Id="R4cf2437900d54574" /><Relationship Type="http://schemas.openxmlformats.org/officeDocument/2006/relationships/slide" Target="/ppt/slides/slide19.xml" Id="Ra828b58b09c4461e" /><Relationship Type="http://schemas.openxmlformats.org/officeDocument/2006/relationships/slide" Target="/ppt/slides/slide20.xml" Id="R3c98a8806a79492a" /><Relationship Type="http://schemas.openxmlformats.org/officeDocument/2006/relationships/slide" Target="/ppt/slides/slide21.xml" Id="R9a1fe97fe92c4aa3" /><Relationship Type="http://schemas.openxmlformats.org/officeDocument/2006/relationships/slide" Target="/ppt/slides/slide22.xml" Id="Rf2a3b49bbfe7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c8165a2008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b8bac2163434a" /><Relationship Type="http://schemas.openxmlformats.org/officeDocument/2006/relationships/notesMaster" Target="/ppt/notesMasters/notesMaster1.xml" Id="R34225c1c1b60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3d8147e12425a" /><Relationship Type="http://schemas.openxmlformats.org/officeDocument/2006/relationships/notesMaster" Target="/ppt/notesMasters/notesMaster1.xml" Id="R89810c082b854c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0f4ca9fef74f2d" /><Relationship Type="http://schemas.openxmlformats.org/officeDocument/2006/relationships/notesMaster" Target="/ppt/notesMasters/notesMaster1.xml" Id="R6c431bb6e45d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30cc02012d4d82" /><Relationship Type="http://schemas.openxmlformats.org/officeDocument/2006/relationships/notesMaster" Target="/ppt/notesMasters/notesMaster1.xml" Id="Rc3cf59f32c5e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c00ab29969407b" /><Relationship Type="http://schemas.openxmlformats.org/officeDocument/2006/relationships/notesMaster" Target="/ppt/notesMasters/notesMaster1.xml" Id="Re5e680ab995f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f5abde3004aa4" /><Relationship Type="http://schemas.openxmlformats.org/officeDocument/2006/relationships/notesMaster" Target="/ppt/notesMasters/notesMaster1.xml" Id="R52c866f4f8ab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18fd3e3a43475d" /><Relationship Type="http://schemas.openxmlformats.org/officeDocument/2006/relationships/notesMaster" Target="/ppt/notesMasters/notesMaster1.xml" Id="R8bce3150f31b42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6e8ca2c90a4d54" /><Relationship Type="http://schemas.openxmlformats.org/officeDocument/2006/relationships/notesMaster" Target="/ppt/notesMasters/notesMaster1.xml" Id="R10fae68d847e4a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081855303408a" /><Relationship Type="http://schemas.openxmlformats.org/officeDocument/2006/relationships/notesMaster" Target="/ppt/notesMasters/notesMaster1.xml" Id="R5ede7d574ab249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c94ad9e01427a" /><Relationship Type="http://schemas.openxmlformats.org/officeDocument/2006/relationships/notesMaster" Target="/ppt/notesMasters/notesMaster1.xml" Id="R9eeba94eea87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44f6d9ab184f25" /><Relationship Type="http://schemas.openxmlformats.org/officeDocument/2006/relationships/notesMaster" Target="/ppt/notesMasters/notesMaster1.xml" Id="Rc468f960a9ac4a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b5968da6cf40c8" /><Relationship Type="http://schemas.openxmlformats.org/officeDocument/2006/relationships/notesMaster" Target="/ppt/notesMasters/notesMaster1.xml" Id="R8291e3ff9e9242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e87c8cd0342b0" /><Relationship Type="http://schemas.openxmlformats.org/officeDocument/2006/relationships/notesMaster" Target="/ppt/notesMasters/notesMaster1.xml" Id="Rad5cd9c9bad84e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20dc260e0f4dc1" /><Relationship Type="http://schemas.openxmlformats.org/officeDocument/2006/relationships/notesMaster" Target="/ppt/notesMasters/notesMaster1.xml" Id="Re20ef662f7634b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84b979c7d84ddb" /><Relationship Type="http://schemas.openxmlformats.org/officeDocument/2006/relationships/notesMaster" Target="/ppt/notesMasters/notesMaster1.xml" Id="Rf01544f901e24e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23741407bd44ba" /><Relationship Type="http://schemas.openxmlformats.org/officeDocument/2006/relationships/notesMaster" Target="/ppt/notesMasters/notesMaster1.xml" Id="R1b3378bd338b4a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5bade8f3a5479b" /><Relationship Type="http://schemas.openxmlformats.org/officeDocument/2006/relationships/notesMaster" Target="/ppt/notesMasters/notesMaster1.xml" Id="Rbcf5412a30294d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d3ed28e2e04999" /><Relationship Type="http://schemas.openxmlformats.org/officeDocument/2006/relationships/notesMaster" Target="/ppt/notesMasters/notesMaster1.xml" Id="Ra0c8a8127d194a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f73ce271c24a81" /><Relationship Type="http://schemas.openxmlformats.org/officeDocument/2006/relationships/notesMaster" Target="/ppt/notesMasters/notesMaster1.xml" Id="Rfc1eecf7e4fa46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c53b0ec27c4085" /><Relationship Type="http://schemas.openxmlformats.org/officeDocument/2006/relationships/notesMaster" Target="/ppt/notesMasters/notesMaster1.xml" Id="R20c6fd78216c4c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51d60cc8ca4e30" /><Relationship Type="http://schemas.openxmlformats.org/officeDocument/2006/relationships/notesMaster" Target="/ppt/notesMasters/notesMaster1.xml" Id="R44fcad6a697741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2a0729fb7247f7" /><Relationship Type="http://schemas.openxmlformats.org/officeDocument/2006/relationships/notesMaster" Target="/ppt/notesMasters/notesMaster1.xml" Id="R18a673fa22c9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同じ距離を何度か測り、平均を取る場面から始めます。この補足では、平均が安定する理由を、具体例から式へ順にたどります。画像はAI生成の概念イラストです。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数値は説明用の仮想データです。平均を計算できても、その値がどの程度安定しているかはまだ分かりません。平均の不確かさを求めるのが、今回の目的です。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1回ずつの測定値、右は別々の4回分の組から求めた平均値に相当します。各点は概念表現で、右の点は1組の観測値ではありません。図は同じ尺度のAI生成概念図で、実測値や厳密な標準偏差を表したものではありません。偏りがなく独立・同精度である場合を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真値は通常分からないので、各回の本当の誤差eᵢも直接計算できません。ここは観測値が生まれる仕組みのモデルです。まずE[eᵢ]=0、有限の分散、互いに独立、各回が同じ精度という条件を置きます。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他の3個を固定して1個だけ変える思考実験です。この伝わる割合を感度係数と呼びます。平均ではどの入力も係数が1/nですが、結果全体のばらつきには全n個の寄与が必要です。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τ（タウ）は観測を生む仕組みの母標準偏差で、一般には未知です。eᵢの期待値が0なので、分散はE[eᵢ²]と書けます。ここでの期待値は、手元の有限個の観測の平均とは区別します。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なので4通りの確率はすべて1/4です。積がプラスになる場合とマイナスになる場合が同数あります。これは全事象を数えた厳密な例であり、有限回の実測では積の標本平均が必ず0になるという意味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Varは分散を表す記号です。独立ならE[e₁e₂]=E[e₁]E[e₂]=0となり、交差項が消えます。前の例では合計の分散が1+1=2 mm²、標準偏差は√2 mmになります。正規分布を仮定する必要はありません。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定数倍した量の分散は定数の二乗倍です。一般にVar(ae)=a²Var(e)となります。1/n倍した標準偏差と、その二乗である分散を混同しないよう、単位も確認します。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分散がn分の1になるので、標準偏差は√n分の1です。この式は算術平均という線形の計算について厳密に成立します。独立・同精度・有限の分散が条件で、正規分布は必要ありません。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mmを4で割った1 mmは、1個の入力だけの寄与です。入力が4個あるため、分散で合成して√(1²+1²+1²+1²)=2 mmとなります。ここでの4 mmは、冒頭の4個の観測値から計算した値ではありません。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義の記号σは、統計学でしばしばsと書く標本標準偏差です。平均をデータから決めるため残差の和が0となり、自由度がn−1になります。σ²は母分散の不偏推定量ですが、σ自体が母標準偏差の不偏推定量という意味ではありません。nは2以上と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これは仮想の計算用データです。1観測の標準偏差は約3.16 mm、平均の標準偏差は約1.41 mmです。途中では丸めず、最後に小数第2位まで表示します。平均の値30.004 mと標準偏差1.41 mmを分けて報告し、1.41 mmを最大誤差や95%区間と呼ばないようにします。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グラフは表の理論値4/√nを使います。半分にしたいなら√nを2倍にする必要があるため、nは4倍です。9回の理論値4/3 mmは、表示では1.33 mmに丸めています。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説明用の仮想現場です。TSはトータルステーションで、ここでは基準線の同一距離を測る作業を考えます。6 mmは同じ観測方法・条件で十分な反復観測から評価した標準偏差の計画値であり、機器カタログの±値や最大誤差をそのまま代入したものではありません。独立・同精度で、共通の偏りを補正した条件で平均の標準偏差を見積もります。9回は「実際の誤差が必ず±2 mm以内」という保証ではなく、標準偏差の目標に対する必要回数です。実施後には元データと残差のばらつきを確認し、想定した精度を満たすか評価します。法令・作業規程で定めた観測回数や許容値の例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観測時間は必要回数×30秒で計算し、準備・器械設置・記録確認・点検などの時間は含みません。30秒は説明用に置いた条件で、実機の測距時間や現場の標準作業時間ではありません。精度目標を先に決めると必要回数と人員・時間配分の計画に使えます。ただし同じデータを複製したり、相関の強い連続値を独立な観測として数えたりしても、この回数効果は得られません。共通の偏りの対策は次のスライドで扱い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された偏りbは平均によって除けません。ただし、SD(x̄)が|b|以下になった瞬間に追加観測が無意味になる、という厳密な境界はありません。このモデルの真値に対する平均二乗誤差はb²+τ²/nで、回数によって減少し続けますがb²が残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は実施ごとに変動する共通の揺れの例で、固定された偏りbとは区別します。正の相関があると独立の場合ほど平均の分散は減りません。同精度で各組の相関係数がρならVar(x̄)=τ²{1+(n−1)ρ}/nです。ρ=1ならτ²のまま、ρ=0ならτ²/nにな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1分程度、各自で考えさせます。第1問と第2問では、与えられた6 mmを使って観測回数を計画する理論計算とします。第3問では、偶然誤差と固定された偏りを分けて考えます。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公式を思い出すときは、1/nの寄与を二乗し、n個分を足す過程も思い出してもらいます。1回の散らばりσと平均の散らばりσ(x̄)を、言葉で区別できることが到達目標です。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∂は偏微分の記号で、他の入力を固定したときの変化率を表します。一般の非線形関数では一次のテイラー近似を使うため近似式です。相関を含む一次近似はVar(y)≈Σcᵢ²Var(xᵢ)+2Σ(i&lt;j)cᵢcⱼCov(xᵢ,xⱼ)です。平均の導出には微分の知識は必須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参照日2026年10月14日。原文 https://www.bipm.org/documents/20126/2071204/JCGM_100_2008_E.pdf 。本資料の数値例と説明は独自に作成し、図は概念を説明するAI生成画像です。前回資料は「第02回_測量の基礎と誤差論/改訂版_20261008/slides_revised.md」の2-4節です。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ffb0dea1e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10d87d8184d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67db07301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9a4c5877343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54aea741a47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3de009347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73FDD1-EA50-4350-A5D8-5D6925849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EB6716-8C5E-46D9-B306-BAE75A635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7375A8-33B8-4D4C-9C20-51D9EADC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DDB4DD-0340-41F0-9CEF-4D92A8BDC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6D9EAA-10C5-4BDA-9768-9D5F06534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B6BC0D-E0B1-4036-9969-C2E3B3120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D1BEF-2ED2-4FCE-AB37-8A64A90624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F518B7-B216-48F2-A3D1-3BCE94A936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AB3EF8-D17C-48A6-9048-761CAED94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5133F2-BE59-4710-9479-0C151450A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e83e40287a4931" /><Relationship Type="http://schemas.openxmlformats.org/officeDocument/2006/relationships/slideLayout" Target="/ppt/slideLayouts/slideLayout1.xml" Id="R2eadebdd8c564e1e" /><Relationship Type="http://schemas.openxmlformats.org/officeDocument/2006/relationships/slideLayout" Target="/ppt/slideLayouts/slideLayout2.xml" Id="R839d98ffffb74457" /><Relationship Type="http://schemas.openxmlformats.org/officeDocument/2006/relationships/slideLayout" Target="/ppt/slideLayouts/slideLayout3.xml" Id="R38e7022a63f74483" /><Relationship Type="http://schemas.openxmlformats.org/officeDocument/2006/relationships/slideLayout" Target="/ppt/slideLayouts/slideLayout4.xml" Id="Rd1804b68fde74db4" /><Relationship Type="http://schemas.openxmlformats.org/officeDocument/2006/relationships/slideLayout" Target="/ppt/slideLayouts/slideLayout5.xml" Id="R6b034d88881b469f" /><Relationship Type="http://schemas.openxmlformats.org/officeDocument/2006/relationships/slideLayout" Target="/ppt/slideLayouts/slideLayout6.xml" Id="R5794c83f4f30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debdd8c564e1e"/>
    <p:sldLayoutId xmlns:r="http://schemas.openxmlformats.org/officeDocument/2006/relationships" id="2147483650" r:id="R839d98ffffb74457"/>
    <p:sldLayoutId xmlns:r="http://schemas.openxmlformats.org/officeDocument/2006/relationships" id="2147483651" r:id="R38e7022a63f74483"/>
    <p:sldLayoutId xmlns:r="http://schemas.openxmlformats.org/officeDocument/2006/relationships" id="2147483652" r:id="Rd1804b68fde74db4"/>
    <p:sldLayoutId xmlns:r="http://schemas.openxmlformats.org/officeDocument/2006/relationships" id="2147483653" r:id="R6b034d88881b469f"/>
    <p:sldLayoutId xmlns:r="http://schemas.openxmlformats.org/officeDocument/2006/relationships" id="2147483654" r:id="R5794c83f4f30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8ec012ebb4499" /><Relationship Type="http://schemas.openxmlformats.org/officeDocument/2006/relationships/image" Target="/ppt/media/image.png" Id="R934aa7e2f3a34db9" /><Relationship Type="http://schemas.openxmlformats.org/officeDocument/2006/relationships/notesSlide" Target="/ppt/notesSlides/notesSlide1.xml" Id="R1a1f29eadbc44f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f1675cc224dce" /><Relationship Type="http://schemas.openxmlformats.org/officeDocument/2006/relationships/notesSlide" Target="/ppt/notesSlides/notesSlide2.xml" Id="R52feb397354e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238df6ed84527" /><Relationship Type="http://schemas.openxmlformats.org/officeDocument/2006/relationships/image" Target="/ppt/media/image2.png" Id="R1c786f00b39c4bbb" /><Relationship Type="http://schemas.openxmlformats.org/officeDocument/2006/relationships/notesSlide" Target="/ppt/notesSlides/notesSlide3.xml" Id="R7f75c6eed00e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ace84f45245ef" /><Relationship Type="http://schemas.openxmlformats.org/officeDocument/2006/relationships/notesSlide" Target="/ppt/notesSlides/notesSlide4.xml" Id="Rc662e64c00af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15e37e91f468f" /><Relationship Type="http://schemas.openxmlformats.org/officeDocument/2006/relationships/notesSlide" Target="/ppt/notesSlides/notesSlide5.xml" Id="R3f81597dd08747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7ee52c9454955" /><Relationship Type="http://schemas.openxmlformats.org/officeDocument/2006/relationships/notesSlide" Target="/ppt/notesSlides/notesSlide6.xml" Id="Rb9c56f0fe6a64e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d13dc16a14e52" /><Relationship Type="http://schemas.openxmlformats.org/officeDocument/2006/relationships/notesSlide" Target="/ppt/notesSlides/notesSlide7.xml" Id="R953e15c7eb4042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2615784664600" /><Relationship Type="http://schemas.openxmlformats.org/officeDocument/2006/relationships/notesSlide" Target="/ppt/notesSlides/notesSlide8.xml" Id="R65a94db1cdf943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a0edf91c84948" /><Relationship Type="http://schemas.openxmlformats.org/officeDocument/2006/relationships/notesSlide" Target="/ppt/notesSlides/notesSlide9.xml" Id="Rf3caab46aec041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87b0fcb344502" /><Relationship Type="http://schemas.openxmlformats.org/officeDocument/2006/relationships/notesSlide" Target="/ppt/notesSlides/notesSlide10.xml" Id="Rb511be22d21044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262ed8d624a3f" /><Relationship Type="http://schemas.openxmlformats.org/officeDocument/2006/relationships/notesSlide" Target="/ppt/notesSlides/notesSlide11.xml" Id="R88ee3ac3364344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ce672b460474e" /><Relationship Type="http://schemas.openxmlformats.org/officeDocument/2006/relationships/notesSlide" Target="/ppt/notesSlides/notesSlide12.xml" Id="Red94f314f30443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9e9970eca4528" /><Relationship Type="http://schemas.openxmlformats.org/officeDocument/2006/relationships/notesSlide" Target="/ppt/notesSlides/notesSlide13.xml" Id="Re797fbf95e7745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7ab7c6f3d4b8d" /><Relationship Type="http://schemas.openxmlformats.org/officeDocument/2006/relationships/chart" Target="/ppt/slides/charts/chart1.xml" Id="R85dfda3329714ce1" /><Relationship Type="http://schemas.openxmlformats.org/officeDocument/2006/relationships/notesSlide" Target="/ppt/notesSlides/notesSlide14.xml" Id="R593564c4048646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882b7ae524320" /><Relationship Type="http://schemas.openxmlformats.org/officeDocument/2006/relationships/chart" Target="/ppt/slides/charts/chart2.xml" Id="R2cf5ec4defb54d05" /><Relationship Type="http://schemas.openxmlformats.org/officeDocument/2006/relationships/notesSlide" Target="/ppt/notesSlides/notesSlide15.xml" Id="Rc3cbf03dcc0b48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c82ae68244bcc" /><Relationship Type="http://schemas.openxmlformats.org/officeDocument/2006/relationships/notesSlide" Target="/ppt/notesSlides/notesSlide16.xml" Id="R60dbedfb16a846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6d6a5ce71449f" /><Relationship Type="http://schemas.openxmlformats.org/officeDocument/2006/relationships/notesSlide" Target="/ppt/notesSlides/notesSlide17.xml" Id="Re8da3d0f262b4f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e6c505f34498b" /><Relationship Type="http://schemas.openxmlformats.org/officeDocument/2006/relationships/notesSlide" Target="/ppt/notesSlides/notesSlide18.xml" Id="R1c758354b3a747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1242afc8a46bb" /><Relationship Type="http://schemas.openxmlformats.org/officeDocument/2006/relationships/notesSlide" Target="/ppt/notesSlides/notesSlide19.xml" Id="R737149f6764b45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66350b4a14d29" /><Relationship Type="http://schemas.openxmlformats.org/officeDocument/2006/relationships/notesSlide" Target="/ppt/notesSlides/notesSlide20.xml" Id="R0ccd20f5a25444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fab9e5c424aaa" /><Relationship Type="http://schemas.openxmlformats.org/officeDocument/2006/relationships/notesSlide" Target="/ppt/notesSlides/notesSlide21.xml" Id="R6d13b1ad6ed343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682bfbeaa44db" /><Relationship Type="http://schemas.openxmlformats.org/officeDocument/2006/relationships/notesSlide" Target="/ppt/notesSlides/notesSlide22.xml" Id="Rebe6cfda98254b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平均の標準偏差（mm）</c:v>
          </c:tx>
          <c:spPr>
            <a:solidFill xmlns:a="http://schemas.openxmlformats.org/drawingml/2006/main">
              <a:srgbClr val="137B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1回</c:v>
                </c:pt>
                <c:pt idx="1">
                  <c:v>4回</c:v>
                </c:pt>
                <c:pt idx="2">
                  <c:v>9回</c:v>
                </c:pt>
                <c:pt idx="3">
                  <c:v>16回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1.3333333333333</c:v>
                </c:pt>
                <c:pt idx="3">
                  <c:v>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43C48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2"/>
        </a:solidFill>
      </c:spPr>
    </c:plotArea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平均の標準偏差</c:v>
          </c:tx>
          <c:spPr>
            <a:solidFill xmlns:a="http://schemas.openxmlformats.org/drawingml/2006/main">
              <a:srgbClr val="137B78"/>
            </a:solidFill>
            <a:ln xmlns:a="http://schemas.openxmlformats.org/drawingml/2006/main" w="28575">
              <a:solidFill>
                <a:srgbClr val="137B78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6</c:v>
                </c:pt>
                <c:pt idx="1">
                  <c:v>4.24264068712</c:v>
                </c:pt>
                <c:pt idx="2">
                  <c:v>3.46410161514</c:v>
                </c:pt>
                <c:pt idx="3">
                  <c:v>3</c:v>
                </c:pt>
                <c:pt idx="4">
                  <c:v>2.683281573</c:v>
                </c:pt>
                <c:pt idx="5">
                  <c:v>2.44948974278</c:v>
                </c:pt>
                <c:pt idx="6">
                  <c:v>2.26778683806</c:v>
                </c:pt>
                <c:pt idx="7">
                  <c:v>2.12132034356</c:v>
                </c:pt>
                <c:pt idx="8">
                  <c:v>2</c:v>
                </c:pt>
                <c:pt idx="9">
                  <c:v>1.8973665961</c:v>
                </c:pt>
                <c:pt idx="10">
                  <c:v>1.80906806747</c:v>
                </c:pt>
                <c:pt idx="11">
                  <c:v>1.73205080757</c:v>
                </c:pt>
              </c:numCache>
            </c:numRef>
          </c:val>
          <c:smooth val="0"/>
        </c:ser>
        <c:ser>
          <c:idx val="1"/>
          <c:order val="1"/>
          <c:tx>
            <c:v>目標 2 mm</c:v>
          </c:tx>
          <c:spPr>
            <a:solidFill xmlns:a="http://schemas.openxmlformats.org/drawingml/2006/main">
              <a:srgbClr val="B2712E"/>
            </a:solidFill>
            <a:ln xmlns:a="http://schemas.openxmlformats.org/drawingml/2006/main" w="19050">
              <a:solidFill>
                <a:srgbClr val="B2712E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DB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AF8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eiryo"/>
              <a:ea typeface="Meiryo"/>
              <a:cs typeface="Meiryo"/>
            </a:defRPr>
          </a:pPr>
        </a:p>
      </c:txPr>
    </c:legend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E5127-28B6-4C12-B838-C59A7E2AF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aa7e2f3a34db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AF503CE-EB10-4F97-A43F-DBB4F6B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1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測量学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第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回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1B6541E-EF63-46E2-A754-2A89537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144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平均の誤差伝播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80B349A-23EF-4F9B-980A-C026E29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なぜ、平均のばらつきは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5AF90-B46C-4E63-8AC1-C37D2DC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050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√n </a:t>
            </a:r>
            <a:r>
              <a:rPr>
                <a:latin typeface="Meiryo"/>
                <a:ea typeface="Meiryo"/>
                <a:cs typeface="Meiryo"/>
              </a:rPr>
              <a:t>で小さくなるのか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E2D2B7A-1E8D-4B1E-BCE0-8F1DA2B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86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AI</a:t>
            </a:r>
            <a:r>
              <a:rPr>
                <a:latin typeface="Meiryo"/>
                <a:ea typeface="Meiryo"/>
                <a:cs typeface="Meiryo"/>
              </a:rPr>
              <a:t>生成の概念イラスト</a:t>
            </a:r>
          </a:p>
        </p:txBody>
      </p:sp>
    </p:spTree>
    <p:extLst>
      <p:ext uri="{BB962C8B-B14F-4D97-AF65-F5344CB8AC3E}">
        <p14:creationId xmlns:p14="http://schemas.microsoft.com/office/powerpoint/2010/main" val="2114482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88F6918-BCFF-4D0C-A6C7-33B462C3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01 </a:t>
            </a:r>
            <a:r>
              <a:rPr>
                <a:latin typeface="Meiryo"/>
                <a:ea typeface="Meiryo"/>
                <a:cs typeface="Meiryo"/>
              </a:rPr>
              <a:t>同じ距離でも、測定値は少しずつ違う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DBF241-2C99-4A61-9A1D-FF838A0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1151F5-3136-43E6-BE49-726FE52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同じ距離を、同じ精度で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回測った例。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22533-A455-46F2-B063-85B3E69881D5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1回目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2回目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3回目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4回目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距離（m）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C286677-8DEE-40E6-9C9E-9E445A1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432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(30.000 + 30.004 + 30.002 + 30.006) / 4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7435474-ACEA-41C6-BA5B-8A6DBB7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30.003 m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A198A72-BD72-4CE4-A904-8450D25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知りたいのは、この「平均」がどのくらい揺れるか。</a:t>
            </a:r>
          </a:p>
        </p:txBody>
      </p:sp>
    </p:spTree>
    <p:extLst>
      <p:ext uri="{BB962C8B-B14F-4D97-AF65-F5344CB8AC3E}">
        <p14:creationId xmlns:p14="http://schemas.microsoft.com/office/powerpoint/2010/main" val="711702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87149D8-D634-4215-AC9C-DE712C3C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02 </a:t>
            </a: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回の値」と「平均」のばらつき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C2B420-7EEE-4051-8FC1-1724980A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2173F5-3864-46A4-807E-950493A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回ずつの測定値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7045CA-56D6-4269-968B-0AE7FE3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回ずつ測った平均値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BF08C-CC20-460B-A9D6-A191899E8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86f00b39c4bbb"/>
          <a:stretch xmlns:a="http://schemas.openxmlformats.org/drawingml/2006/main"/>
        </p:blipFill>
        <p:spPr>
          <a:xfrm xmlns:a="http://schemas.openxmlformats.org/drawingml/2006/main">
            <a:off x="3007309" y="186690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F9C124-1641-44F6-AE7D-BE273B5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概念図。同じ尺度で比較。右の各点は、別々の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回分の組の平均。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352E099-5C01-4EB2-B6D6-2C0BD59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回測って平均する」を繰り返すと、平均にもばらつきがある。</a:t>
            </a:r>
          </a:p>
        </p:txBody>
      </p:sp>
    </p:spTree>
    <p:extLst>
      <p:ext uri="{BB962C8B-B14F-4D97-AF65-F5344CB8AC3E}">
        <p14:creationId xmlns:p14="http://schemas.microsoft.com/office/powerpoint/2010/main" val="1018738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6CB993F-5EDF-4EDA-92FF-242E460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03 </a:t>
            </a:r>
            <a:r>
              <a:rPr>
                <a:latin typeface="Meiryo"/>
                <a:ea typeface="Meiryo"/>
                <a:cs typeface="Meiryo"/>
              </a:rPr>
              <a:t>観測値を「真値</a:t>
            </a:r>
            <a:r>
              <a:rPr>
                <a:latin typeface="Arial"/>
                <a:ea typeface="Arial"/>
                <a:cs typeface="Arial"/>
              </a:rPr>
              <a:t>＋</a:t>
            </a:r>
            <a:r>
              <a:rPr>
                <a:latin typeface="Meiryo"/>
                <a:ea typeface="Meiryo"/>
                <a:cs typeface="Meiryo"/>
              </a:rPr>
              <a:t>偶然のずれ」で表す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220DA03-1F19-4EA2-9722-30B6BEA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4D1C61-7EAB-42D4-B7F5-3AB9025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xᵢ = X + eᵢ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8BD805-EFC0-4B7C-9998-01CDE143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 </a:t>
            </a:r>
            <a:r>
              <a:rPr>
                <a:latin typeface="Meiryo"/>
                <a:ea typeface="Meiryo"/>
                <a:cs typeface="Meiryo"/>
              </a:rPr>
              <a:t>は知りたい真値、</a:t>
            </a:r>
            <a:r>
              <a:rPr>
                <a:latin typeface="Arial"/>
                <a:ea typeface="Arial"/>
                <a:cs typeface="Arial"/>
              </a:rPr>
              <a:t>xᵢ </a:t>
            </a:r>
            <a:r>
              <a:rPr>
                <a:latin typeface="Meiryo"/>
                <a:ea typeface="Meiryo"/>
                <a:cs typeface="Meiryo"/>
              </a:rPr>
              <a:t>は</a:t>
            </a:r>
            <a:r>
              <a:rPr>
                <a:latin typeface="Arial"/>
                <a:ea typeface="Arial"/>
                <a:cs typeface="Arial"/>
              </a:rPr>
              <a:t> i </a:t>
            </a:r>
            <a:r>
              <a:rPr>
                <a:latin typeface="Meiryo"/>
                <a:ea typeface="Meiryo"/>
                <a:cs typeface="Meiryo"/>
              </a:rPr>
              <a:t>回目の観測値。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C808C33-5AD6-4B64-9304-7AF52CA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eᵢ </a:t>
            </a:r>
            <a:r>
              <a:rPr>
                <a:latin typeface="Meiryo"/>
                <a:ea typeface="Meiryo"/>
                <a:cs typeface="Meiryo"/>
              </a:rPr>
              <a:t>は、その回に生じる偶然のずれ（誤差）。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5E915D1-6F36-4738-9079-69A0EAD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 </a:t>
            </a:r>
            <a:r>
              <a:rPr>
                <a:latin typeface="Meiryo"/>
                <a:ea typeface="Meiryo"/>
                <a:cs typeface="Meiryo"/>
              </a:rPr>
              <a:t>は測定回数、</a:t>
            </a:r>
            <a:r>
              <a:rPr>
                <a:latin typeface="Arial"/>
                <a:ea typeface="Arial"/>
                <a:cs typeface="Arial"/>
              </a:rPr>
              <a:t>x̄</a:t>
            </a:r>
            <a:r>
              <a:rPr>
                <a:latin typeface="Meiryo"/>
                <a:ea typeface="Meiryo"/>
                <a:cs typeface="Meiryo"/>
              </a:rPr>
              <a:t>（エックスバ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）は平均。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90F1B37-9DDC-4B87-9161-39CC7587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(x₁ + ⋯ + xₙ) / n = X + (e₁ + ⋯ + eₙ) / 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EA1D1EA-3E03-48B2-8F80-1C2079C1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ここでは偏りを除き、偶然のずれだけを考える。</a:t>
            </a:r>
          </a:p>
        </p:txBody>
      </p:sp>
    </p:spTree>
    <p:extLst>
      <p:ext uri="{BB962C8B-B14F-4D97-AF65-F5344CB8AC3E}">
        <p14:creationId xmlns:p14="http://schemas.microsoft.com/office/powerpoint/2010/main" val="14642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D95FAEC-01F8-498F-8BE5-2938C13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04 </a:t>
            </a:r>
            <a:r>
              <a:rPr>
                <a:latin typeface="Meiryo"/>
                <a:ea typeface="Meiryo"/>
                <a:cs typeface="Meiryo"/>
              </a:rPr>
              <a:t>誤差伝播は「入力のずれが結果へ伝わること」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A6C56E-EA4D-4696-BE44-3716D43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283641-2B7C-484D-80FD-90D79A1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回のうち、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回目だけが</a:t>
            </a:r>
            <a:r>
              <a:rPr>
                <a:latin typeface="Arial"/>
                <a:ea typeface="Arial"/>
                <a:cs typeface="Arial"/>
              </a:rPr>
              <a:t> 4 mm </a:t>
            </a:r>
            <a:r>
              <a:rPr>
                <a:latin typeface="Meiryo"/>
                <a:ea typeface="Meiryo"/>
                <a:cs typeface="Meiryo"/>
              </a:rPr>
              <a:t>大きくなったら</a:t>
            </a:r>
            <a:r>
              <a:rPr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3CE005-E166-4E86-94B0-A44618D8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(x₁ + x₂ + x₃ + x₄) / 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EF63FDB-8BD7-4B68-945D-16545172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平均の変化</a:t>
            </a:r>
            <a:r>
              <a:rPr>
                <a:latin typeface="Arial"/>
                <a:ea typeface="Arial"/>
                <a:cs typeface="Arial"/>
              </a:rPr>
              <a:t> = 4 mm / 4 = 1 mm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29D62D-1AAF-46BD-A017-D04AC95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個の観測の影響は、平均には</a:t>
            </a:r>
            <a:r>
              <a:rPr>
                <a:latin typeface="Arial"/>
                <a:ea typeface="Arial"/>
                <a:cs typeface="Arial"/>
              </a:rPr>
              <a:t> 1/4 </a:t>
            </a:r>
            <a:r>
              <a:rPr>
                <a:latin typeface="Meiryo"/>
                <a:ea typeface="Meiryo"/>
                <a:cs typeface="Meiryo"/>
              </a:rPr>
              <a:t>だけ伝わる。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DE490F-3603-409A-AD4D-ECF3771A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ただし、実際には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個すべての観測が揺れる。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B63593A-D543-4E89-9DE5-273272E1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個の影響が</a:t>
            </a:r>
            <a:r>
              <a:rPr>
                <a:latin typeface="Arial"/>
                <a:ea typeface="Arial"/>
                <a:cs typeface="Arial"/>
              </a:rPr>
              <a:t>1/4</a:t>
            </a:r>
            <a:r>
              <a:rPr>
                <a:latin typeface="Meiryo"/>
                <a:ea typeface="Meiryo"/>
                <a:cs typeface="Meiryo"/>
              </a:rPr>
              <a:t>」と「全体のばらつきが</a:t>
            </a:r>
            <a:r>
              <a:rPr>
                <a:latin typeface="Arial"/>
                <a:ea typeface="Arial"/>
                <a:cs typeface="Arial"/>
              </a:rPr>
              <a:t>1/4</a:t>
            </a:r>
            <a:r>
              <a:rPr>
                <a:latin typeface="Meiryo"/>
                <a:ea typeface="Meiryo"/>
                <a:cs typeface="Meiryo"/>
              </a:rPr>
              <a:t>」は別。</a:t>
            </a:r>
          </a:p>
        </p:txBody>
      </p:sp>
    </p:spTree>
    <p:extLst>
      <p:ext uri="{BB962C8B-B14F-4D97-AF65-F5344CB8AC3E}">
        <p14:creationId xmlns:p14="http://schemas.microsoft.com/office/powerpoint/2010/main" val="166656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59D07A7-4AE5-4DD4-9B24-75ED6C7E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05 </a:t>
            </a:r>
            <a:r>
              <a:rPr>
                <a:latin typeface="Meiryo"/>
                <a:ea typeface="Meiryo"/>
                <a:cs typeface="Meiryo"/>
              </a:rPr>
              <a:t>ばらつきを測る「分散」と「標準偏差」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B70186-E916-436E-9F55-3E33743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F12E36-69CD-4E6A-8B6B-22161781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 ] </a:t>
            </a:r>
            <a:r>
              <a:rPr>
                <a:latin typeface="Meiryo"/>
                <a:ea typeface="Meiryo"/>
                <a:cs typeface="Meiryo"/>
              </a:rPr>
              <a:t>は、何度も繰り返したときの理論上の平均（期待値）。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6F1E69-9AAE-4808-B007-499C5E2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プラスとマイナスのずれは、そのまま平均すると打ち消し合う。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C53E8F-3A85-4C48-B8FE-E2C38C8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E[eᵢ] = 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1106B89-92B6-4C08-A0FF-DF8F6BE3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分散</a:t>
            </a:r>
            <a:r>
              <a:rPr>
                <a:latin typeface="Arial"/>
                <a:ea typeface="Arial"/>
                <a:cs typeface="Arial"/>
              </a:rPr>
              <a:t> τ² = E[eᵢ²]　　　　</a:t>
            </a:r>
            <a:r>
              <a:rPr>
                <a:latin typeface="Meiryo"/>
                <a:ea typeface="Meiryo"/>
                <a:cs typeface="Meiryo"/>
              </a:rPr>
              <a:t>標準偏差</a:t>
            </a:r>
            <a:r>
              <a:rPr>
                <a:latin typeface="Arial"/>
                <a:ea typeface="Arial"/>
                <a:cs typeface="Arial"/>
              </a:rPr>
              <a:t> τ = √E[eᵢ²]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EC064F-3CE7-4CB8-BA18-C4CCA34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ずれを二乗して平均し、最後に平方根で元の単位へ戻す。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2F99A8F-87C9-4E25-9CFB-E206D81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ずれと標準偏差の単位は</a:t>
            </a:r>
            <a:r>
              <a:rPr>
                <a:latin typeface="Arial"/>
                <a:ea typeface="Arial"/>
                <a:cs typeface="Arial"/>
              </a:rPr>
              <a:t> mm</a:t>
            </a:r>
            <a:r>
              <a:rPr>
                <a:latin typeface="Meiryo"/>
                <a:ea typeface="Meiryo"/>
                <a:cs typeface="Meiryo"/>
              </a:rPr>
              <a:t>。分散の単位は</a:t>
            </a:r>
            <a:r>
              <a:rPr>
                <a:latin typeface="Arial"/>
                <a:ea typeface="Arial"/>
                <a:cs typeface="Arial"/>
              </a:rPr>
              <a:t> mm²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156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7D07D39-1F02-4734-B555-49F77A9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06 </a:t>
            </a:r>
            <a:r>
              <a:rPr>
                <a:latin typeface="Meiryo"/>
                <a:ea typeface="Meiryo"/>
                <a:cs typeface="Meiryo"/>
              </a:rPr>
              <a:t>独立な誤差を、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通りの例で見る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B760F2-6EAD-43F0-B291-71EB233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642E30-BE0A-4DF4-BD77-88E63185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e₁ </a:t>
            </a:r>
            <a:r>
              <a:rPr>
                <a:latin typeface="Meiryo"/>
                <a:ea typeface="Meiryo"/>
                <a:cs typeface="Meiryo"/>
              </a:rPr>
              <a:t>と</a:t>
            </a:r>
            <a:r>
              <a:rPr>
                <a:latin typeface="Arial"/>
                <a:ea typeface="Arial"/>
                <a:cs typeface="Arial"/>
              </a:rPr>
              <a:t> e₂ </a:t>
            </a:r>
            <a:r>
              <a:rPr>
                <a:latin typeface="Meiryo"/>
                <a:ea typeface="Meiryo"/>
                <a:cs typeface="Meiryo"/>
              </a:rPr>
              <a:t>がそれぞれ</a:t>
            </a:r>
            <a:r>
              <a:rPr>
                <a:latin typeface="Arial"/>
                <a:ea typeface="Arial"/>
                <a:cs typeface="Arial"/>
              </a:rPr>
              <a:t> ＋1 mm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−1 mm </a:t>
            </a:r>
            <a:r>
              <a:rPr>
                <a:latin typeface="Meiryo"/>
                <a:ea typeface="Meiryo"/>
                <a:cs typeface="Meiryo"/>
              </a:rPr>
              <a:t>を等確率で取る。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B214-A71C-4908-ABF9-8E0E643CA41E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e₁（mm）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e₂（mm）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e₁＋e₂（mm）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e₁e₂（mm²）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3D6E22D-921E-4E4F-ABDA-1B856C10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E[e₁e₂] = (1 − 1 − 1 + 1) / 4 = 0</a:t>
            </a:r>
          </a:p>
        </p:txBody>
      </p:sp>
    </p:spTree>
    <p:extLst>
      <p:ext uri="{BB962C8B-B14F-4D97-AF65-F5344CB8AC3E}">
        <p14:creationId xmlns:p14="http://schemas.microsoft.com/office/powerpoint/2010/main" val="1951276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FADC5FC-744A-4707-9468-73F40B7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07 </a:t>
            </a:r>
            <a:r>
              <a:rPr>
                <a:latin typeface="Meiryo"/>
                <a:ea typeface="Meiryo"/>
                <a:cs typeface="Meiryo"/>
              </a:rPr>
              <a:t>独立なら、分散を足し算できる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CDCF19-0394-41C3-BA89-8D9D975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703E3D-C961-40F8-8A0E-BD52DAD2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 </a:t>
            </a:r>
            <a:r>
              <a:rPr>
                <a:latin typeface="Meiryo"/>
                <a:ea typeface="Meiryo"/>
                <a:cs typeface="Meiryo"/>
              </a:rPr>
              <a:t>は分散の記号。まず、誤差の和を二乗する。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829850-23D1-48C7-A24B-CDC0D02C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(e₁ + e₂)² = e₁² + 2e₁e₂ + e₂²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57DF13E-2FC2-48B7-B8FA-702F3B1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E[(e₁ + e₂)²] = E[e₁²] + 2E[e₁e₂] + E[e₂²]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23168-2B48-4E90-8D5C-74867DF6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独立で、各誤差の期待値が</a:t>
            </a:r>
            <a:r>
              <a:rPr>
                <a:latin typeface="Arial"/>
                <a:ea typeface="Arial"/>
                <a:cs typeface="Arial"/>
              </a:rPr>
              <a:t>0</a:t>
            </a:r>
            <a:r>
              <a:rPr>
                <a:latin typeface="Meiryo"/>
                <a:ea typeface="Meiryo"/>
                <a:cs typeface="Meiryo"/>
              </a:rPr>
              <a:t>なら</a:t>
            </a:r>
            <a:r>
              <a:rPr>
                <a:latin typeface="Arial"/>
                <a:ea typeface="Arial"/>
                <a:cs typeface="Arial"/>
              </a:rPr>
              <a:t> E[e₁e₂] = 0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039911B-BE58-4662-831A-150C1A3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Var(e₁ + e₂) = Var(e₁) + Var(e₂)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309576B-5D51-4685-9247-F4D0752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足し合わせるのは「標準偏差の二乗</a:t>
            </a:r>
            <a:r>
              <a:rPr>
                <a:latin typeface="Arial"/>
                <a:ea typeface="Arial"/>
                <a:cs typeface="Arial"/>
              </a:rPr>
              <a:t>＝</a:t>
            </a:r>
            <a:r>
              <a:rPr>
                <a:latin typeface="Meiryo"/>
                <a:ea typeface="Meiryo"/>
                <a:cs typeface="Meiryo"/>
              </a:rPr>
              <a:t>分散」。</a:t>
            </a:r>
          </a:p>
        </p:txBody>
      </p:sp>
    </p:spTree>
    <p:extLst>
      <p:ext uri="{BB962C8B-B14F-4D97-AF65-F5344CB8AC3E}">
        <p14:creationId xmlns:p14="http://schemas.microsoft.com/office/powerpoint/2010/main" val="1913000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CAF42DE-55D1-47B9-ABB2-FF7E0EF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08 </a:t>
            </a:r>
            <a:r>
              <a:rPr>
                <a:latin typeface="Meiryo"/>
                <a:ea typeface="Meiryo"/>
                <a:cs typeface="Meiryo"/>
              </a:rPr>
              <a:t>ずれを</a:t>
            </a:r>
            <a:r>
              <a:rPr>
                <a:latin typeface="Arial"/>
                <a:ea typeface="Arial"/>
                <a:cs typeface="Arial"/>
              </a:rPr>
              <a:t> 1/n </a:t>
            </a:r>
            <a:r>
              <a:rPr>
                <a:latin typeface="Meiryo"/>
                <a:ea typeface="Meiryo"/>
                <a:cs typeface="Meiryo"/>
              </a:rPr>
              <a:t>にすると、分散は</a:t>
            </a:r>
            <a:r>
              <a:rPr>
                <a:latin typeface="Arial"/>
                <a:ea typeface="Arial"/>
                <a:cs typeface="Arial"/>
              </a:rPr>
              <a:t> 1/n²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0C28FAF-4530-42C9-8BCE-04BDD86E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F00ECE-84D8-4E01-86A8-BE603D7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平均では、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個のずれ</a:t>
            </a:r>
            <a:r>
              <a:rPr>
                <a:latin typeface="Arial"/>
                <a:ea typeface="Arial"/>
                <a:cs typeface="Arial"/>
              </a:rPr>
              <a:t> eᵢ </a:t>
            </a:r>
            <a:r>
              <a:rPr>
                <a:latin typeface="Meiryo"/>
                <a:ea typeface="Meiryo"/>
                <a:cs typeface="Meiryo"/>
              </a:rPr>
              <a:t>が</a:t>
            </a:r>
            <a:r>
              <a:rPr>
                <a:latin typeface="Arial"/>
                <a:ea typeface="Arial"/>
                <a:cs typeface="Arial"/>
              </a:rPr>
              <a:t> eᵢ/n </a:t>
            </a:r>
            <a:r>
              <a:rPr>
                <a:latin typeface="Meiryo"/>
                <a:ea typeface="Meiryo"/>
                <a:cs typeface="Meiryo"/>
              </a:rPr>
              <a:t>として結果に入る。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313A5E-21EE-4F23-A700-DDC565DD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(eᵢ / n)² = eᵢ² / n²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3B401C3-6FA5-40E9-B65F-FF31C43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Var(eᵢ / n) = τ² / n²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EBDF97-9DEF-433E-837F-40A5CB3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回平均なら、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個分の分散への寄与は</a:t>
            </a:r>
            <a:r>
              <a:rPr>
                <a:latin typeface="Arial"/>
                <a:ea typeface="Arial"/>
                <a:cs typeface="Arial"/>
              </a:rPr>
              <a:t> τ²/16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B5286C-B538-4A62-805D-2D82907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係数も二乗する。それが</a:t>
            </a:r>
            <a:r>
              <a:rPr>
                <a:latin typeface="Arial"/>
                <a:ea typeface="Arial"/>
                <a:cs typeface="Arial"/>
              </a:rPr>
              <a:t> 1/n² </a:t>
            </a:r>
            <a:r>
              <a:rPr>
                <a:latin typeface="Meiryo"/>
                <a:ea typeface="Meiryo"/>
                <a:cs typeface="Meiryo"/>
              </a:rPr>
              <a:t>の由来。</a:t>
            </a:r>
          </a:p>
        </p:txBody>
      </p:sp>
    </p:spTree>
    <p:extLst>
      <p:ext uri="{BB962C8B-B14F-4D97-AF65-F5344CB8AC3E}">
        <p14:creationId xmlns:p14="http://schemas.microsoft.com/office/powerpoint/2010/main" val="871653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2791A5C-4184-42F2-9AEC-CD51304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09 n </a:t>
            </a:r>
            <a:r>
              <a:rPr>
                <a:latin typeface="Meiryo"/>
                <a:ea typeface="Meiryo"/>
                <a:cs typeface="Meiryo"/>
              </a:rPr>
              <a:t>個分の寄与を足し、平方根を取る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6D230A-BB88-4980-908E-517324B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3635BC-7E2C-4B36-AAE9-B586B19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同精度なら、同じ分散の寄与が</a:t>
            </a:r>
            <a:r>
              <a:rPr>
                <a:latin typeface="Arial"/>
                <a:ea typeface="Arial"/>
                <a:cs typeface="Arial"/>
              </a:rPr>
              <a:t> n </a:t>
            </a:r>
            <a:r>
              <a:rPr>
                <a:latin typeface="Meiryo"/>
                <a:ea typeface="Meiryo"/>
                <a:cs typeface="Meiryo"/>
              </a:rPr>
              <a:t>個ある。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BDF1EF-F335-406A-AFCC-1A30C523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Var(x̄) = τ²/n² + ⋯ + τ²/n²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D1D4344-1B9D-41D1-BB47-F09AF75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　　　　 = n × τ²/n² = τ²/n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1DA2106-0E64-4649-A6A6-E1CDB84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SD(x̄) = √(τ²/n) = τ/√n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9D167F-F0E4-45C4-9AA3-BDA71157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 </a:t>
            </a:r>
            <a:r>
              <a:rPr>
                <a:latin typeface="Meiryo"/>
                <a:ea typeface="Meiryo"/>
                <a:cs typeface="Meiryo"/>
              </a:rPr>
              <a:t>は標準偏差。真値</a:t>
            </a:r>
            <a:r>
              <a:rPr>
                <a:latin typeface="Arial"/>
                <a:ea typeface="Arial"/>
                <a:cs typeface="Arial"/>
              </a:rPr>
              <a:t> X </a:t>
            </a:r>
            <a:r>
              <a:rPr>
                <a:latin typeface="Meiryo"/>
                <a:ea typeface="Meiryo"/>
                <a:cs typeface="Meiryo"/>
              </a:rPr>
              <a:t>は固定値なので分散に影響しない。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F8A3DEA-CAA9-4B66-878C-7789884D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1/n² </a:t>
            </a:r>
            <a:r>
              <a:rPr>
                <a:latin typeface="Meiryo"/>
                <a:ea typeface="Meiryo"/>
                <a:cs typeface="Meiryo"/>
              </a:rPr>
              <a:t>を</a:t>
            </a:r>
            <a:r>
              <a:rPr>
                <a:latin typeface="Arial"/>
                <a:ea typeface="Arial"/>
                <a:cs typeface="Arial"/>
              </a:rPr>
              <a:t> n </a:t>
            </a:r>
            <a:r>
              <a:rPr>
                <a:latin typeface="Meiryo"/>
                <a:ea typeface="Meiryo"/>
                <a:cs typeface="Meiryo"/>
              </a:rPr>
              <a:t>個足して</a:t>
            </a:r>
            <a:r>
              <a:rPr>
                <a:latin typeface="Arial"/>
                <a:ea typeface="Arial"/>
                <a:cs typeface="Arial"/>
              </a:rPr>
              <a:t> 1/n</a:t>
            </a:r>
            <a:r>
              <a:rPr>
                <a:latin typeface="Meiryo"/>
                <a:ea typeface="Meiryo"/>
                <a:cs typeface="Meiryo"/>
              </a:rPr>
              <a:t>。平方根で</a:t>
            </a:r>
            <a:r>
              <a:rPr>
                <a:latin typeface="Arial"/>
                <a:ea typeface="Arial"/>
                <a:cs typeface="Arial"/>
              </a:rPr>
              <a:t> 1/√n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8642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72FE02-188D-4CAF-85F0-24F3FBC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10 1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4 mm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回の平均なら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CB7A1C-1E1C-417E-8669-EB9BF8C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0F5997-92B3-4996-82B5-56D277F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説明用に、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回の母標準偏差</a:t>
            </a:r>
            <a:r>
              <a:rPr>
                <a:latin typeface="Arial"/>
                <a:ea typeface="Arial"/>
                <a:cs typeface="Arial"/>
              </a:rPr>
              <a:t> τ = 4 mm </a:t>
            </a:r>
            <a:r>
              <a:rPr>
                <a:latin typeface="Meiryo"/>
                <a:ea typeface="Meiryo"/>
                <a:cs typeface="Meiryo"/>
              </a:rPr>
              <a:t>と分かっているとする。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2333D-5E9E-4500-B8AE-7F4010736BCC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571750"/>
                <a:gridCol w="28575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計算の段階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計算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1個の入力が平均へ伝える標準偏差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 /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1個分の分散への寄与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 mm²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4個分の分散を合計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1＋1＋1＋1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 mm²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平方根で標準偏差へ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√4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2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2AE3A95-21E4-4ADD-A7B6-19D3082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回平均の標準偏差は</a:t>
            </a:r>
            <a:r>
              <a:rPr>
                <a:latin typeface="Arial"/>
                <a:ea typeface="Arial"/>
                <a:cs typeface="Arial"/>
              </a:rPr>
              <a:t> 2 mm</a:t>
            </a:r>
            <a:r>
              <a:rPr>
                <a:latin typeface="Arial"/>
                <a:ea typeface="Arial"/>
                <a:cs typeface="Arial"/>
              </a:rPr>
              <a:t>。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回の半分になる。</a:t>
            </a:r>
          </a:p>
        </p:txBody>
      </p:sp>
    </p:spTree>
    <p:extLst>
      <p:ext uri="{BB962C8B-B14F-4D97-AF65-F5344CB8AC3E}">
        <p14:creationId xmlns:p14="http://schemas.microsoft.com/office/powerpoint/2010/main" val="2000122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28970A7-FA2B-4DD5-9922-C6E1C6E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11 </a:t>
            </a:r>
            <a:r>
              <a:rPr>
                <a:latin typeface="Meiryo"/>
                <a:ea typeface="Meiryo"/>
                <a:cs typeface="Meiryo"/>
              </a:rPr>
              <a:t>未知の</a:t>
            </a:r>
            <a:r>
              <a:rPr>
                <a:latin typeface="Arial"/>
                <a:ea typeface="Arial"/>
                <a:cs typeface="Arial"/>
              </a:rPr>
              <a:t> τ </a:t>
            </a:r>
            <a:r>
              <a:rPr>
                <a:latin typeface="Meiryo"/>
                <a:ea typeface="Meiryo"/>
                <a:cs typeface="Meiryo"/>
              </a:rPr>
              <a:t>は、観測デ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タから推定する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BDCF7E-E9D8-45B6-AD7D-46D88B0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E12C45-23A6-4BD6-9359-06D5305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残差</a:t>
            </a:r>
            <a:r>
              <a:rPr>
                <a:latin typeface="Arial"/>
                <a:ea typeface="Arial"/>
                <a:cs typeface="Arial"/>
              </a:rPr>
              <a:t> vᵢ = xᵢ − x̄ </a:t>
            </a:r>
            <a:r>
              <a:rPr>
                <a:latin typeface="Meiryo"/>
                <a:ea typeface="Meiryo"/>
                <a:cs typeface="Meiryo"/>
              </a:rPr>
              <a:t>を使って、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回のばらつきを推定する。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7BF6A3F-6BF2-46FB-A75C-558110E3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 = √[ (v₁² + ⋯ + vₙ²) / (n − 1) ]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4320F5-911C-4970-A407-68E549A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 = σ / √n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18132B-9F1A-4CCB-8D51-7457CA4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 </a:t>
            </a:r>
            <a:r>
              <a:rPr>
                <a:latin typeface="Meiryo"/>
                <a:ea typeface="Meiryo"/>
                <a:cs typeface="Meiryo"/>
              </a:rPr>
              <a:t>は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回の標準偏差の推定値。</a:t>
            </a:r>
            <a:r>
              <a:rPr>
                <a:latin typeface="Arial"/>
                <a:ea typeface="Arial"/>
                <a:cs typeface="Arial"/>
              </a:rPr>
              <a:t>σ(x̄) </a:t>
            </a:r>
            <a:r>
              <a:rPr>
                <a:latin typeface="Meiryo"/>
                <a:ea typeface="Meiryo"/>
                <a:cs typeface="Meiryo"/>
              </a:rPr>
              <a:t>は平均の標準偏差の推定値。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94C298D-5789-4C03-B0F7-B9B0B44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前回の「平均の標準偏差」を、この補足では</a:t>
            </a:r>
            <a:r>
              <a:rPr>
                <a:latin typeface="Arial"/>
                <a:ea typeface="Arial"/>
                <a:cs typeface="Arial"/>
              </a:rPr>
              <a:t> σ(x̄) </a:t>
            </a:r>
            <a:r>
              <a:rPr>
                <a:latin typeface="Meiryo"/>
                <a:ea typeface="Meiryo"/>
                <a:cs typeface="Meiryo"/>
              </a:rPr>
              <a:t>と表す。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88E389B-594F-4B5E-B354-C037DCF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n−1 </a:t>
            </a:r>
            <a:r>
              <a:rPr>
                <a:latin typeface="Meiryo"/>
                <a:ea typeface="Meiryo"/>
                <a:cs typeface="Meiryo"/>
              </a:rPr>
              <a:t>は分散の推定、</a:t>
            </a:r>
            <a:r>
              <a:rPr>
                <a:latin typeface="Arial"/>
                <a:ea typeface="Arial"/>
                <a:cs typeface="Arial"/>
              </a:rPr>
              <a:t>√n </a:t>
            </a:r>
            <a:r>
              <a:rPr>
                <a:latin typeface="Meiryo"/>
                <a:ea typeface="Meiryo"/>
                <a:cs typeface="Meiryo"/>
              </a:rPr>
              <a:t>は平均への伝播で使う。</a:t>
            </a:r>
          </a:p>
        </p:txBody>
      </p:sp>
    </p:spTree>
    <p:extLst>
      <p:ext uri="{BB962C8B-B14F-4D97-AF65-F5344CB8AC3E}">
        <p14:creationId xmlns:p14="http://schemas.microsoft.com/office/powerpoint/2010/main" val="1552704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9204E32-3DA8-48A1-8993-B8419C9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12 </a:t>
            </a:r>
            <a:r>
              <a:rPr>
                <a:latin typeface="Meiryo"/>
                <a:ea typeface="Meiryo"/>
                <a:cs typeface="Meiryo"/>
              </a:rPr>
              <a:t>実際のデ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タで計算する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B0D00D-3B7B-4BBE-84D5-E8A12C0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5484F4B-C7E0-4BF1-BDA7-50DF808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379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</a:t>
            </a:r>
            <a:r>
              <a:rPr>
                <a:latin typeface="Meiryo"/>
                <a:ea typeface="Meiryo"/>
                <a:cs typeface="Meiryo"/>
              </a:rPr>
              <a:t>回の独立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同精度の観測。平均</a:t>
            </a:r>
            <a:r>
              <a:rPr>
                <a:latin typeface="Arial"/>
                <a:ea typeface="Arial"/>
                <a:cs typeface="Arial"/>
              </a:rPr>
              <a:t> x̄ = 30.004 m</a:t>
            </a:r>
            <a:r>
              <a:rPr>
                <a:latin typeface="Arial"/>
                <a:ea typeface="Arial"/>
                <a:cs typeface="Arial"/>
              </a:rPr>
              <a:t>。</a:t>
            </a:r>
            <a:r>
              <a:rPr>
                <a:latin typeface="Arial"/>
                <a:ea typeface="Arial"/>
                <a:cs typeface="Arial"/>
              </a:rPr>
              <a:t>Σ </a:t>
            </a:r>
            <a:r>
              <a:rPr>
                <a:latin typeface="Meiryo"/>
                <a:ea typeface="Meiryo"/>
                <a:cs typeface="Meiryo"/>
              </a:rPr>
              <a:t>は合計を表す。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EAD1D-F7A5-4C42-82BD-8A4C19FDBAA2}"/>
              </a:ext>
            </a:extLst>
          </p:cNvPr>
          <p:cNvGraphicFramePr/>
          <p:nvPr/>
        </p:nvGraphicFramePr>
        <p:xfrm>
          <a:off xmlns:a="http://schemas.openxmlformats.org/drawingml/2006/main" x="762000" y="1896561"/>
          <a:ext xmlns:a="http://schemas.openxmlformats.org/drawingml/2006/main" cx="10668000" cy="254206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571750"/>
                <a:gridCol w="2857500"/>
              </a:tblGrid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観測値 xᵢ（m）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残差 vᵢ（mm）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vᵢ²（mm²）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899A965-CBF4-4A56-8C53-DB67A0E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6897"/>
            <a:ext cx="10382250" cy="573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Σvᵢ² = 40 mm²　　σ = √(40/4) = √10 ≈ 3.16 mm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E920730-F224-432B-A993-1D6DA60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88894"/>
            <a:ext cx="10382250" cy="573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 = √10/√5 = √2 ≈ 1.41 mm</a:t>
            </a:r>
          </a:p>
        </p:txBody>
      </p:sp>
    </p:spTree>
    <p:extLst>
      <p:ext uri="{BB962C8B-B14F-4D97-AF65-F5344CB8AC3E}">
        <p14:creationId xmlns:p14="http://schemas.microsoft.com/office/powerpoint/2010/main" val="1744367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F4E6A68-DAFE-4682-93FF-6A2D1F9C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13 </a:t>
            </a:r>
            <a:r>
              <a:rPr>
                <a:latin typeface="Meiryo"/>
                <a:ea typeface="Meiryo"/>
                <a:cs typeface="Meiryo"/>
              </a:rPr>
              <a:t>標準偏差を半分にするには、回数を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倍に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6CB3B9-52C7-48E4-828E-72ABB21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58AD14-8B1E-4E03-A44C-E51967D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τ = 4 mm </a:t>
            </a:r>
            <a:r>
              <a:rPr>
                <a:latin typeface="Meiryo"/>
                <a:ea typeface="Meiryo"/>
                <a:cs typeface="Meiryo"/>
              </a:rPr>
              <a:t>の理論例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5A7B7F0-D9FA-486E-B6C6-28A51D541159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dfda3329714ce1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389F75E-AEF8-4C49-80D7-3BB2622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標準偏差（</a:t>
            </a:r>
            <a:r>
              <a:rPr>
                <a:latin typeface="Arial"/>
                <a:ea typeface="Arial"/>
                <a:cs typeface="Arial"/>
              </a:rPr>
              <a:t>mm</a:t>
            </a:r>
            <a:r>
              <a:rPr>
                <a:latin typeface="Arial"/>
                <a:ea typeface="Arial"/>
                <a:cs typeface="Arial"/>
              </a:rPr>
              <a:t>）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00207F3-94DE-4366-81EE-81FE2A21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SD(x̄) = 4/√n mm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A40A24F-B485-4657-8CE3-7E933B8F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回で</a:t>
            </a:r>
            <a:r>
              <a:rPr>
                <a:latin typeface="Arial"/>
                <a:ea typeface="Arial"/>
                <a:cs typeface="Arial"/>
              </a:rPr>
              <a:t> 1/2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FFAA798-1E43-4DF4-804E-B75E130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52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16</a:t>
            </a:r>
            <a:r>
              <a:rPr>
                <a:latin typeface="Meiryo"/>
                <a:ea typeface="Meiryo"/>
                <a:cs typeface="Meiryo"/>
              </a:rPr>
              <a:t>回で</a:t>
            </a:r>
            <a:r>
              <a:rPr>
                <a:latin typeface="Arial"/>
                <a:ea typeface="Arial"/>
                <a:cs typeface="Arial"/>
              </a:rPr>
              <a:t> 1/4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A3CA612-E69E-4058-9961-4F77E94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倍にしても、ばらつきは半分にならない。</a:t>
            </a:r>
          </a:p>
        </p:txBody>
      </p:sp>
    </p:spTree>
    <p:extLst>
      <p:ext uri="{BB962C8B-B14F-4D97-AF65-F5344CB8AC3E}">
        <p14:creationId xmlns:p14="http://schemas.microsoft.com/office/powerpoint/2010/main" val="1475489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D12F78D-8F50-4348-AE7B-D08868A1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現場例</a:t>
            </a:r>
            <a:r>
              <a:rPr>
                <a:latin typeface="Arial"/>
                <a:ea typeface="Arial"/>
                <a:cs typeface="Arial"/>
              </a:rPr>
              <a:t>① 30 m </a:t>
            </a:r>
            <a:r>
              <a:rPr>
                <a:latin typeface="Meiryo"/>
                <a:ea typeface="Meiryo"/>
                <a:cs typeface="Meiryo"/>
              </a:rPr>
              <a:t>の基準線を、何回測ればよいか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839CCC-DA8F-4C3A-8E78-AD589E2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67884B-DAD5-49C6-B211-7589150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TS</a:t>
            </a:r>
            <a:r>
              <a:rPr>
                <a:latin typeface="Meiryo"/>
                <a:ea typeface="Meiryo"/>
                <a:cs typeface="Meiryo"/>
              </a:rPr>
              <a:t>で約</a:t>
            </a:r>
            <a:r>
              <a:rPr>
                <a:latin typeface="Arial"/>
                <a:ea typeface="Arial"/>
                <a:cs typeface="Arial"/>
              </a:rPr>
              <a:t>30 m</a:t>
            </a:r>
            <a:r>
              <a:rPr>
                <a:latin typeface="Meiryo"/>
                <a:ea typeface="Meiryo"/>
                <a:cs typeface="Meiryo"/>
              </a:rPr>
              <a:t>の同じ距離を繰り返し測り、基準線の長さを決める。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1AACD6-8E87-4E6F-9AC8-E8B05908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事前評価</a:t>
            </a:r>
            <a:r>
              <a:rPr>
                <a:latin typeface="Arial"/>
                <a:ea typeface="Arial"/>
                <a:cs typeface="Arial"/>
              </a:rPr>
              <a:t>：1</a:t>
            </a:r>
            <a:r>
              <a:rPr>
                <a:latin typeface="Meiryo"/>
                <a:ea typeface="Meiryo"/>
                <a:cs typeface="Meiryo"/>
              </a:rPr>
              <a:t>観測の標準偏差</a:t>
            </a:r>
            <a:r>
              <a:rPr>
                <a:latin typeface="Arial"/>
                <a:ea typeface="Arial"/>
                <a:cs typeface="Arial"/>
              </a:rPr>
              <a:t> σ = 6 mm</a:t>
            </a:r>
            <a:r>
              <a:rPr>
                <a:latin typeface="Meiryo"/>
                <a:ea typeface="Meiryo"/>
                <a:cs typeface="Meiryo"/>
              </a:rPr>
              <a:t>。平均の目標</a:t>
            </a:r>
            <a:r>
              <a:rPr>
                <a:latin typeface="Arial"/>
                <a:ea typeface="Arial"/>
                <a:cs typeface="Arial"/>
              </a:rPr>
              <a:t> t = 2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05FDDD6-91BC-4905-832C-B2C487D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平均の標準偏差（</a:t>
            </a:r>
            <a:r>
              <a:rPr>
                <a:latin typeface="Arial"/>
                <a:ea typeface="Arial"/>
                <a:cs typeface="Arial"/>
              </a:rPr>
              <a:t>mm</a:t>
            </a:r>
            <a:r>
              <a:rPr>
                <a:latin typeface="Arial"/>
                <a:ea typeface="Arial"/>
                <a:cs typeface="Arial"/>
              </a:rPr>
              <a:t>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F173E0B-CCB9-4731-A3D3-4515513B69A8}"/>
              </a:ext>
            </a:extLst>
          </p:cNvPr>
          <p:cNvGraphicFramePr/>
          <p:nvPr/>
        </p:nvGraphicFramePr>
        <p:xfrm>
          <a:off xmlns:a="http://schemas.openxmlformats.org/drawingml/2006/main" x="666750" y="2667000"/>
          <a:ext xmlns:a="http://schemas.openxmlformats.org/drawingml/2006/main" cx="695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f5ec4defb54d05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B9687C4-862F-4490-B6D2-5D273B5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測定回数</a:t>
            </a:r>
            <a:r>
              <a:rPr>
                <a:latin typeface="Arial"/>
                <a:ea typeface="Arial"/>
                <a:cs typeface="Arial"/>
              </a:rPr>
              <a:t> n</a:t>
            </a:r>
            <a:r>
              <a:rPr>
                <a:latin typeface="Meiryo"/>
                <a:ea typeface="Meiryo"/>
                <a:cs typeface="Meiryo"/>
              </a:rPr>
              <a:t>（回）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F228958-276F-496C-9BF0-7496B2C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812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σ/√n ≤ t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7D8718F-E739-4046-96EE-CEC2C9B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146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 ≥ (σ/t)²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550A57F-F261-42C0-AC6D-3EE3E84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48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 ≥ (6/2)² = 9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BBDDB29-D4EE-4557-8669-9FF898F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7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回以上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61EA926-2290-431B-9ED3-DC5D452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同精度、偏り補正済みの例。</a:t>
            </a:r>
            <a:r>
              <a:rPr>
                <a:latin typeface="Arial"/>
                <a:ea typeface="Arial"/>
                <a:cs typeface="Arial"/>
              </a:rPr>
              <a:t>2 mm</a:t>
            </a:r>
            <a:r>
              <a:rPr>
                <a:latin typeface="Meiryo"/>
                <a:ea typeface="Meiryo"/>
                <a:cs typeface="Meiryo"/>
              </a:rPr>
              <a:t>は最大誤差を保証する値ではない。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087E77FB-1707-44E4-BB61-40697F21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回以上を計画する。整数にならない場合は切り上げる。</a:t>
            </a:r>
          </a:p>
        </p:txBody>
      </p:sp>
    </p:spTree>
    <p:extLst>
      <p:ext uri="{BB962C8B-B14F-4D97-AF65-F5344CB8AC3E}">
        <p14:creationId xmlns:p14="http://schemas.microsoft.com/office/powerpoint/2010/main" val="621279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3660497-1AFC-49BB-AE65-907A5647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現場例</a:t>
            </a:r>
            <a:r>
              <a:rPr>
                <a:latin typeface="Arial"/>
                <a:ea typeface="Arial"/>
                <a:cs typeface="Arial"/>
              </a:rPr>
              <a:t>② </a:t>
            </a:r>
            <a:r>
              <a:rPr>
                <a:latin typeface="Meiryo"/>
                <a:ea typeface="Meiryo"/>
                <a:cs typeface="Meiryo"/>
              </a:rPr>
              <a:t>必要な精度から、作業時間も見積もれる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EB9DBF-F594-478F-A849-4D2883EA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B3F667-599E-467C-B701-C20CE31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同じ基準線で、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観測の標準偏差は</a:t>
            </a:r>
            <a:r>
              <a:rPr>
                <a:latin typeface="Arial"/>
                <a:ea typeface="Arial"/>
                <a:cs typeface="Arial"/>
              </a:rPr>
              <a:t>6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551849-C19E-41A9-BC7C-9AB0F31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回の観測に</a:t>
            </a:r>
            <a:r>
              <a:rPr>
                <a:latin typeface="Arial"/>
                <a:ea typeface="Arial"/>
                <a:cs typeface="Arial"/>
              </a:rPr>
              <a:t>30</a:t>
            </a:r>
            <a:r>
              <a:rPr>
                <a:latin typeface="Meiryo"/>
                <a:ea typeface="Meiryo"/>
                <a:cs typeface="Meiryo"/>
              </a:rPr>
              <a:t>秒かかると仮定し、目標別に比較する。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CC1B3-45C5-4F3C-A7DB-70E296F018A1}"/>
              </a:ext>
            </a:extLst>
          </p:cNvPr>
          <p:cNvGraphicFramePr/>
          <p:nvPr/>
        </p:nvGraphicFramePr>
        <p:xfrm>
          <a:off xmlns:a="http://schemas.openxmlformats.org/drawingml/2006/main" x="762000" y="2428875"/>
          <a:ext xmlns:a="http://schemas.openxmlformats.org/drawingml/2006/main" cx="106680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55245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平均の目標標準偏差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必要回数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計算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55245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 mm 以下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2分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(6/3)² =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2 mm 以下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DCEFE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9回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DCEFE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4分30秒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DCEFE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(6/2)² = 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DCEFE9"/>
                    </a:solidFill>
                  </a:tcPr>
                </a:tc>
              </a:tr>
              <a:tr h="55245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 mm 以下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36回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18分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(6/1)² = 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CAD2CA-81A5-4550-B8E5-680D08E4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目標を</a:t>
            </a:r>
            <a:r>
              <a:rPr>
                <a:latin typeface="Arial"/>
                <a:ea typeface="Arial"/>
                <a:cs typeface="Arial"/>
              </a:rPr>
              <a:t> 2 mm </a:t>
            </a:r>
            <a:r>
              <a:rPr>
                <a:latin typeface="Meiryo"/>
                <a:ea typeface="Meiryo"/>
                <a:cs typeface="Meiryo"/>
              </a:rPr>
              <a:t>から</a:t>
            </a:r>
            <a:r>
              <a:rPr>
                <a:latin typeface="Arial"/>
                <a:ea typeface="Arial"/>
                <a:cs typeface="Arial"/>
              </a:rPr>
              <a:t> 1 mm </a:t>
            </a:r>
            <a:r>
              <a:rPr>
                <a:latin typeface="Meiryo"/>
                <a:ea typeface="Meiryo"/>
                <a:cs typeface="Meiryo"/>
              </a:rPr>
              <a:t>へ。回数も観測時間も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倍。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193559B-EC80-4DF3-BFC8-4AF24418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時間は観測のみ。準備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器械設置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点検の時間は別途見込む。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94EFE30-7845-4C86-B718-E758C13F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回数が多すぎるなら、器械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測定手順の改善も検討する。</a:t>
            </a:r>
          </a:p>
        </p:txBody>
      </p:sp>
    </p:spTree>
    <p:extLst>
      <p:ext uri="{BB962C8B-B14F-4D97-AF65-F5344CB8AC3E}">
        <p14:creationId xmlns:p14="http://schemas.microsoft.com/office/powerpoint/2010/main" val="13607777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04C3BB-2261-4238-B04E-C48656AA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14 </a:t>
            </a:r>
            <a:r>
              <a:rPr>
                <a:latin typeface="Meiryo"/>
                <a:ea typeface="Meiryo"/>
                <a:cs typeface="Meiryo"/>
              </a:rPr>
              <a:t>すべてに共通するずれは、平均しても残る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34E995-D0B2-43CA-9830-75DC986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C47E43-16DB-4F6A-90CF-3844ED5C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器械の零点に</a:t>
            </a:r>
            <a:r>
              <a:rPr>
                <a:latin typeface="Arial"/>
                <a:ea typeface="Arial"/>
                <a:cs typeface="Arial"/>
              </a:rPr>
              <a:t> b = ＋2 mm </a:t>
            </a:r>
            <a:r>
              <a:rPr>
                <a:latin typeface="Meiryo"/>
                <a:ea typeface="Meiryo"/>
                <a:cs typeface="Meiryo"/>
              </a:rPr>
              <a:t>の偏りがある場合。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B00756-1744-4ED6-BC98-BB80164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xᵢ = X + b + eᵢ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8E34E96-FE8B-41A8-85BC-13F289FE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X + b + (e₁ + ⋯ + eₙ) / 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960F0A7-314C-4B83-ADF7-12155774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偶然のばらつきは小さくなるが、中心は</a:t>
            </a:r>
            <a:r>
              <a:rPr>
                <a:latin typeface="Arial"/>
                <a:ea typeface="Arial"/>
                <a:cs typeface="Arial"/>
              </a:rPr>
              <a:t> X＋2 mm </a:t>
            </a:r>
            <a:r>
              <a:rPr>
                <a:latin typeface="Meiryo"/>
                <a:ea typeface="Meiryo"/>
                <a:cs typeface="Meiryo"/>
              </a:rPr>
              <a:t>のまま。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BBD8CC6-9A6A-4BBA-942B-18F4CE5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回数を増やすことに加え、点検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補正が必要になる。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ECB727-1DF3-4DDC-B197-9207BFC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平均がよくそろうことと、真値に近いことを区別する。</a:t>
            </a:r>
          </a:p>
        </p:txBody>
      </p:sp>
    </p:spTree>
    <p:extLst>
      <p:ext uri="{BB962C8B-B14F-4D97-AF65-F5344CB8AC3E}">
        <p14:creationId xmlns:p14="http://schemas.microsoft.com/office/powerpoint/2010/main" val="293017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45A55AE-EFDD-44B3-B70B-8DB3BC94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15 </a:t>
            </a:r>
            <a:r>
              <a:rPr>
                <a:latin typeface="Meiryo"/>
                <a:ea typeface="Meiryo"/>
                <a:cs typeface="Meiryo"/>
              </a:rPr>
              <a:t>一緒に揺れる観測では、減り方が違う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60AE2B-4793-4DB4-A3AF-E816375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7493854-2ED6-4D14-A29B-921DDEB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同じ環境変化などで、観測が同じ方向に動く場合がある。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491D73-B8EA-4F99-8BB0-93CCCB3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回とも全く同じずれ</a:t>
            </a:r>
            <a:r>
              <a:rPr>
                <a:latin typeface="Arial"/>
                <a:ea typeface="Arial"/>
                <a:cs typeface="Arial"/>
              </a:rPr>
              <a:t> e </a:t>
            </a:r>
            <a:r>
              <a:rPr>
                <a:latin typeface="Meiryo"/>
                <a:ea typeface="Meiryo"/>
                <a:cs typeface="Meiryo"/>
              </a:rPr>
              <a:t>を受けたなら、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9B77CF6-A1BD-4B87-97CB-1B2215C1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 + e + e + e) / 4 = 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26E3697-8482-4529-9BBA-1EA7944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平均しても、その共通の揺れは小さくならない。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E8DFF7-94CA-4B26-81B8-20DAD24B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独立性は「記録が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個ある」だけでは保証できない。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59FDC61-714A-4154-9A65-DC33915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σ/√n </a:t>
            </a:r>
            <a:r>
              <a:rPr>
                <a:latin typeface="Meiryo"/>
                <a:ea typeface="Meiryo"/>
                <a:cs typeface="Meiryo"/>
              </a:rPr>
              <a:t>を使う前に、観測の独立性と精度を確かめる。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352755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635A32B-AD40-4746-9D69-DEECBF4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16 </a:t>
            </a:r>
            <a:r>
              <a:rPr>
                <a:latin typeface="Meiryo"/>
                <a:ea typeface="Meiryo"/>
                <a:cs typeface="Meiryo"/>
              </a:rPr>
              <a:t>ここまでの確認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0E9821-D18D-496E-B332-7A35803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018C94-EBBA-4E4A-9366-25E4E91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同精度の観測で、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回の標準偏差は</a:t>
            </a:r>
            <a:r>
              <a:rPr>
                <a:latin typeface="Arial"/>
                <a:ea typeface="Arial"/>
                <a:cs typeface="Arial"/>
              </a:rPr>
              <a:t> 6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EDE5D3-068D-4561-921B-00E6B6A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1. 9</a:t>
            </a:r>
            <a:r>
              <a:rPr>
                <a:latin typeface="Meiryo"/>
                <a:ea typeface="Meiryo"/>
                <a:cs typeface="Meiryo"/>
              </a:rPr>
              <a:t>回平均の標準偏差はいくつか。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7690E7D-2459-44D3-9201-E1BA2E9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2. </a:t>
            </a:r>
            <a:r>
              <a:rPr>
                <a:latin typeface="Meiryo"/>
                <a:ea typeface="Meiryo"/>
                <a:cs typeface="Meiryo"/>
              </a:rPr>
              <a:t>平均の標準偏差を</a:t>
            </a:r>
            <a:r>
              <a:rPr>
                <a:latin typeface="Arial"/>
                <a:ea typeface="Arial"/>
                <a:cs typeface="Arial"/>
              </a:rPr>
              <a:t> 1 mm </a:t>
            </a:r>
            <a:r>
              <a:rPr>
                <a:latin typeface="Meiryo"/>
                <a:ea typeface="Meiryo"/>
                <a:cs typeface="Meiryo"/>
              </a:rPr>
              <a:t>にするには、何回必要か。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C5D4F6-107F-427F-AD13-6E45EE0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3. </a:t>
            </a:r>
            <a:r>
              <a:rPr>
                <a:latin typeface="Meiryo"/>
                <a:ea typeface="Meiryo"/>
                <a:cs typeface="Meiryo"/>
              </a:rPr>
              <a:t>全観測に</a:t>
            </a:r>
            <a:r>
              <a:rPr>
                <a:latin typeface="Arial"/>
                <a:ea typeface="Arial"/>
                <a:cs typeface="Arial"/>
              </a:rPr>
              <a:t> ＋3 mm </a:t>
            </a:r>
            <a:r>
              <a:rPr>
                <a:latin typeface="Meiryo"/>
                <a:ea typeface="Meiryo"/>
                <a:cs typeface="Meiryo"/>
              </a:rPr>
              <a:t>の偏りがあれば、</a:t>
            </a: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回平均で消えるか。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12D1CE-60EA-4B8D-9E36-DCDBD144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答えだけでなく、「どの条件で使える式か」も説明しよう。</a:t>
            </a:r>
          </a:p>
        </p:txBody>
      </p:sp>
    </p:spTree>
    <p:extLst>
      <p:ext uri="{BB962C8B-B14F-4D97-AF65-F5344CB8AC3E}">
        <p14:creationId xmlns:p14="http://schemas.microsoft.com/office/powerpoint/2010/main" val="19949557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D8D2569-B45F-40E4-984E-4260CD9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17 </a:t>
            </a:r>
            <a:r>
              <a:rPr>
                <a:latin typeface="Meiryo"/>
                <a:ea typeface="Meiryo"/>
                <a:cs typeface="Meiryo"/>
              </a:rPr>
              <a:t>答えと、式の読み方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FB4540-1795-499E-9886-0CA8F810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BD3E21-0AA6-49E1-9D15-828CDC2D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① 6/√9 = 2 mm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98F3B88-8B03-472B-B666-0A8D6C2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② 6/√n = 1　</a:t>
            </a:r>
            <a:r>
              <a:rPr>
                <a:latin typeface="Meiryo"/>
                <a:ea typeface="Meiryo"/>
                <a:cs typeface="Meiryo"/>
              </a:rPr>
              <a:t>なので</a:t>
            </a:r>
            <a:r>
              <a:rPr>
                <a:latin typeface="Arial"/>
                <a:ea typeface="Arial"/>
                <a:cs typeface="Arial"/>
              </a:rPr>
              <a:t> √n = 6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n = 36 </a:t>
            </a:r>
            <a:r>
              <a:rPr>
                <a:latin typeface="Meiryo"/>
                <a:ea typeface="Meiryo"/>
                <a:cs typeface="Meiryo"/>
              </a:rPr>
              <a:t>回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A5C327-12A4-4A89-87D0-9AB3367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③ ＋3 mm </a:t>
            </a:r>
            <a:r>
              <a:rPr>
                <a:latin typeface="Meiryo"/>
                <a:ea typeface="Meiryo"/>
                <a:cs typeface="Meiryo"/>
              </a:rPr>
              <a:t>の偏りは残る。回数を増やしても補正にはならない。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A116881-0D87-42B5-B21E-3746F6C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平均の標準偏差</a:t>
            </a:r>
            <a:r>
              <a:rPr>
                <a:latin typeface="Arial"/>
                <a:ea typeface="Arial"/>
                <a:cs typeface="Arial"/>
              </a:rPr>
              <a:t> = 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/ √</a:t>
            </a:r>
            <a:r>
              <a:rPr>
                <a:latin typeface="Meiryo"/>
                <a:ea typeface="Meiryo"/>
                <a:cs typeface="Meiryo"/>
              </a:rPr>
              <a:t>観測回数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C10D8EC-AF8F-4EEE-B6A9-B0D46F7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各入力の寄与を二乗して足し、最後に平方根を取る。</a:t>
            </a:r>
          </a:p>
        </p:txBody>
      </p:sp>
    </p:spTree>
    <p:extLst>
      <p:ext uri="{BB962C8B-B14F-4D97-AF65-F5344CB8AC3E}">
        <p14:creationId xmlns:p14="http://schemas.microsoft.com/office/powerpoint/2010/main" val="5962364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E655135-02F6-414B-9370-1511FDE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A </a:t>
            </a:r>
            <a:r>
              <a:rPr>
                <a:latin typeface="Meiryo"/>
                <a:ea typeface="Meiryo"/>
                <a:cs typeface="Meiryo"/>
              </a:rPr>
              <a:t>一般の誤差伝播式とのつながり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8CFF21-3C1C-4373-8FC6-6C2538B4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EE3314-C231-40CD-B42B-3C4B7A0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y = f(x₁, …, xₙ) </a:t>
            </a:r>
            <a:r>
              <a:rPr>
                <a:latin typeface="Meiryo"/>
                <a:ea typeface="Meiryo"/>
                <a:cs typeface="Meiryo"/>
              </a:rPr>
              <a:t>に対し、</a:t>
            </a:r>
            <a:r>
              <a:rPr>
                <a:latin typeface="Arial"/>
                <a:ea typeface="Arial"/>
                <a:cs typeface="Arial"/>
              </a:rPr>
              <a:t>cᵢ = ∂f/∂xᵢ </a:t>
            </a:r>
            <a:r>
              <a:rPr>
                <a:latin typeface="Meiryo"/>
                <a:ea typeface="Meiryo"/>
                <a:cs typeface="Meiryo"/>
              </a:rPr>
              <a:t>を感度係数と呼ぶ。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D5E8818-4229-48EF-A128-549F854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cᵢ </a:t>
            </a:r>
            <a:r>
              <a:rPr>
                <a:latin typeface="Meiryo"/>
                <a:ea typeface="Meiryo"/>
                <a:cs typeface="Meiryo"/>
              </a:rPr>
              <a:t>は、入力</a:t>
            </a:r>
            <a:r>
              <a:rPr>
                <a:latin typeface="Arial"/>
                <a:ea typeface="Arial"/>
                <a:cs typeface="Arial"/>
              </a:rPr>
              <a:t> xᵢ </a:t>
            </a:r>
            <a:r>
              <a:rPr>
                <a:latin typeface="Meiryo"/>
                <a:ea typeface="Meiryo"/>
                <a:cs typeface="Meiryo"/>
              </a:rPr>
              <a:t>の小さな変化が結果に伝わる割合。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9284FD2-BBE8-4B0C-B972-457B610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Var(y) ≈ Σ cᵢ² Var(xᵢ)　　　　</a:t>
            </a:r>
            <a:r>
              <a:rPr>
                <a:latin typeface="Meiryo"/>
                <a:ea typeface="Meiryo"/>
                <a:cs typeface="Meiryo"/>
              </a:rPr>
              <a:t>（入力が無相関）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479E10-7989-436B-A40A-60B0AFE7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平均なら</a:t>
            </a:r>
            <a:r>
              <a:rPr>
                <a:latin typeface="Arial"/>
                <a:ea typeface="Arial"/>
                <a:cs typeface="Arial"/>
              </a:rPr>
              <a:t> cᵢ = 1/n　</a:t>
            </a:r>
            <a:r>
              <a:rPr>
                <a:latin typeface="Meiryo"/>
                <a:ea typeface="Meiryo"/>
                <a:cs typeface="Meiryo"/>
              </a:rPr>
              <a:t>なので</a:t>
            </a:r>
            <a:r>
              <a:rPr>
                <a:latin typeface="Arial"/>
                <a:ea typeface="Arial"/>
                <a:cs typeface="Arial"/>
              </a:rPr>
              <a:t> Var(x̄) = Σ τ²/n² = τ²/n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C2B5FD7-31A7-441F-BEB0-979E44E8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平均は線形なので、この分散の式は近似でなく厳密に成り立つ。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C48A1B-3E2A-4751-9408-00B98F7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相関がある場合は、共分散の項も必要になる。</a:t>
            </a:r>
          </a:p>
        </p:txBody>
      </p:sp>
    </p:spTree>
    <p:extLst>
      <p:ext uri="{BB962C8B-B14F-4D97-AF65-F5344CB8AC3E}">
        <p14:creationId xmlns:p14="http://schemas.microsoft.com/office/powerpoint/2010/main" val="3884542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0979785-B781-4C27-A0D8-6ACF010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B </a:t>
            </a:r>
            <a:r>
              <a:rPr>
                <a:latin typeface="Meiryo"/>
                <a:ea typeface="Meiryo"/>
                <a:cs typeface="Meiryo"/>
              </a:rPr>
              <a:t>出典と記号の対応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66E8D9-016A-49BE-B950-3009941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B371D9-CC5A-4BC9-8800-42A4F0CD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JCGM 100:2008</a:t>
            </a:r>
            <a:r>
              <a:rPr>
                <a:latin typeface="Arial"/>
                <a:ea typeface="Arial"/>
                <a:cs typeface="Arial"/>
              </a:rPr>
              <a:t>（</a:t>
            </a:r>
            <a:r>
              <a:rPr>
                <a:latin typeface="Arial"/>
                <a:ea typeface="Arial"/>
                <a:cs typeface="Arial"/>
              </a:rPr>
              <a:t>GUM</a:t>
            </a:r>
            <a:r>
              <a:rPr>
                <a:latin typeface="Arial"/>
                <a:ea typeface="Arial"/>
                <a:cs typeface="Arial"/>
              </a:rPr>
              <a:t>）、</a:t>
            </a:r>
            <a:r>
              <a:rPr>
                <a:latin typeface="Arial"/>
                <a:ea typeface="Arial"/>
                <a:cs typeface="Arial"/>
              </a:rPr>
              <a:t>BIPM </a:t>
            </a:r>
            <a:r>
              <a:rPr>
                <a:latin typeface="Meiryo"/>
                <a:ea typeface="Meiryo"/>
                <a:cs typeface="Meiryo"/>
              </a:rPr>
              <a:t>公式公開版。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54F02D-E9AE-404B-8D6C-A0C4C4C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4.2.2–4.2.3：</a:t>
            </a:r>
            <a:r>
              <a:rPr>
                <a:latin typeface="Meiryo"/>
                <a:ea typeface="Meiryo"/>
                <a:cs typeface="Meiryo"/>
              </a:rPr>
              <a:t>反復観測と平均の分散。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F11D98-41C3-47AB-AF7E-97039A3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5.1.2：</a:t>
            </a:r>
            <a:r>
              <a:rPr>
                <a:latin typeface="Meiryo"/>
                <a:ea typeface="Meiryo"/>
                <a:cs typeface="Meiryo"/>
              </a:rPr>
              <a:t>無相関な入力の不確かさの伝播。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AF66397-DAC2-42FB-B9B8-9F8E57EA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5.2.2：</a:t>
            </a:r>
            <a:r>
              <a:rPr>
                <a:latin typeface="Meiryo"/>
                <a:ea typeface="Meiryo"/>
                <a:cs typeface="Meiryo"/>
              </a:rPr>
              <a:t>相関がある場合の共分散の項。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63AD78-F08E-45FA-840B-6EB864FC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τ：</a:t>
            </a:r>
            <a:r>
              <a:rPr>
                <a:latin typeface="Meiryo"/>
                <a:ea typeface="Meiryo"/>
                <a:cs typeface="Meiryo"/>
              </a:rPr>
              <a:t>母標準偏差。</a:t>
            </a:r>
            <a:r>
              <a:rPr>
                <a:latin typeface="Arial"/>
                <a:ea typeface="Arial"/>
                <a:cs typeface="Arial"/>
              </a:rPr>
              <a:t>σ：</a:t>
            </a:r>
            <a:r>
              <a:rPr>
                <a:latin typeface="Meiryo"/>
                <a:ea typeface="Meiryo"/>
                <a:cs typeface="Meiryo"/>
              </a:rPr>
              <a:t>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タから求めた標準偏差（通常の</a:t>
            </a:r>
            <a:r>
              <a:rPr>
                <a:latin typeface="Arial"/>
                <a:ea typeface="Arial"/>
                <a:cs typeface="Arial"/>
              </a:rPr>
              <a:t> s</a:t>
            </a:r>
            <a:r>
              <a:rPr>
                <a:latin typeface="Arial"/>
                <a:ea typeface="Arial"/>
                <a:cs typeface="Arial"/>
              </a:rPr>
              <a:t>）。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78FF473-BC32-4648-BF08-F2207E60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σ(x̄)：</a:t>
            </a:r>
            <a:r>
              <a:rPr>
                <a:latin typeface="Meiryo"/>
                <a:ea typeface="Meiryo"/>
                <a:cs typeface="Meiryo"/>
              </a:rPr>
              <a:t>平均の標準偏差の推定値（前回のエックスバ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の標準偏差）。</a:t>
            </a:r>
          </a:p>
        </p:txBody>
      </p:sp>
    </p:spTree>
    <p:extLst>
      <p:ext uri="{BB962C8B-B14F-4D97-AF65-F5344CB8AC3E}">
        <p14:creationId xmlns:p14="http://schemas.microsoft.com/office/powerpoint/2010/main" val="30033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2026-10-14T15:36:44.0220000Z</dcterms:created>
  <dcterms:modified xsi:type="dcterms:W3CDTF">2026-10-14T15:36:44.0640000Z</dcterms:modified>
</coreProperties>
</file>