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導入の1枚目です。圃場や水路の測量成果には、座標や距離だけでなく精度の説明も必要だと伝えます。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前回の実際の出題値はここでは与えられていないため、同じ型の復習例で確認します。度分秒を十進数と混同していないか、その場で確かめます。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計算できることと説明できることの両方を目標にします。最後の手計算テストでは、結果だけでなく残差表と途中式も提出します。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実習メモではレベル測量によって水路の局所的な盛り上がりを把握しています。今日は勾配の計算へ進む前に、観測値の信頼性を数量化する準備をします。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講義中の例題と同じ型を、数値を変えて演習で解きます。演習の詳しい解説は次回冒頭に行います。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同じ机を三人で測る場面を思い浮かべてもらいます。観測値は読めても、誤差ゼロの真値は普通は分からず、真の誤差 ε_i=x_i−X も直接は計算できません。i は測った順番、n は観測回数で、この例は n=3、平均1001 mmです。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一つの観測には複数の種類の誤差が重なることがあります。平均は万能な修正ではないので、まず原因を分類して対処する順番を覚えてもらいます。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例の転記だけで27 mmの違いが生じます。他の正しい値と平均しても間違いが薄まるだけで、正しい測定には戻りません。外れた値は点検のきっかけであり、見た目だけで過失と断定しないと説明します。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これは1000 mmの基準を使った仮想例です。平均しただけでは共通の偏りはなくならないことを、三つの値すべてから2 mm引く操作と比べて説明します。定誤差という名称でも常に同じ数値とは限らず、温度や距離に応じた規則的な変化も含みます。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プラスとマイナスの揺らぎは平均すると打ち消し合いやすくなりますが、少ない回数で必ずゼロになるわけではありません。ぐらついた三脚など、取り除ける原因は先に取り除きます。反復して数値をそろえることと、真値に近づけることの違いにつなげ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観測回数を増やす効果には前提があることを強調します。連続して取得した値が、必ず独立な観測になるわけではありません。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答えは除けない、分類は定誤差です。設定と記録を点検し、必要な補正または再測を行うと説明します。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本形の中心極限定理は、独立・同分布で有限かつ正の分散を持つ変数の和を標準化すると、項数の増加に伴い標準正規分布へ収束するという定理です。異なる小要因の和に適用するには、一つの寄与が支配しないことなど追加条件が必要で、ここでは測定への近似の根拠として紹介します。観測回数を増やすと個々の測定値そのものが正規分布に変わる、という意味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要因では−2が一通り、0が二通り、+2が一通りです。横軸は和をその標準偏差で割ってそろえ、要因数による単なる横幅の変化と分布形の変化を区別します。この足し算の例が直観であり、現場データで正規近似が妥当かは別途点検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はプラスとマイナスの打ち消しを防ぎ、平方根は元の長さの単位へ戻す操作です。同じデータから平均を決めるとずれが小さめになるため、未知の母分散の推定ではnではなくn−1で割ります。例えば残差が三つなら二つが決まると最後は残差和ゼロから決まり、自由度は二です。標準偏差は最大のずれや絶対値の単純平均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信頼区間は、真値を挟むための幅をデータから作る方法です。観測値の95%が入る範囲と、平均から真値を推定する区間では、対象も幅も違います。一度計算した区間に真値が95%の確率で動いて入るという意味ではなく、区間を作る手続きの長期的な割合です。未補正の偏りや相関が残る場合、この式だけでは真値を含む割合を保証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的の中心を真値と見立て、左から順番に点の広がりと中心からの距離を比べます。中央の図は精度が高くても確度が低い例で、同じ偏りを持つ測定を繰り返した状況に相当します。右の図の平均が中心付近でも個々の測定の確度が高いとは限りません。用語は本講義の使い分けで、機器仕様の「精度」は定義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分解能は読み取れる最小の刻みであり、標準偏差や確度とは異なります。桁数は単位と一緒に読ませ、距離の表示と精度表示を混同しないようにします。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演習の標準偏差の桁は解答比較のための指定で、実際の確度を意味しません。丸めを繰り返すと検算が崩れるため、途中値を保存して計算します。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古い測量の参考書で確率誤差に出会ったときの読み方を説明します。以後の演習ではこの係数を使う必要はありません。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独立・同精度で偏りのない観測を想定していることを再確認します。正規分布のモデルでは算術平均が最も尤もらしい値にもなります。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机の長さでも、センチメートルとメートルの数字をそのまま足してはいけません。斜距離と水平距離は単位が同じでも対象量が違い、単位換算だけではそろいません。図のどこかで条件がそろわなければ元の記録に戻り、補正や再測をしてから統合し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単純な差の和は正負が相殺されるので、ずれの大きさを測れません。二乗和を最小にするという共通の考え方が、後の測量の調整計算につながります。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二次関数の谷の底を求めていると説明すると、微分が苦手な学生にも伝わります。最小二乗法から算術平均が出てくることを確認します。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残差の符号は資料によって流儀が異なりますが、本講義では観測値から平均を引きます。残差和が0でも過失がない証明にはならず、計算上の検算だと伝えます。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残差和は2 mmなので、この条件では正しくありません。平均、引き算、単位の変換を再確認させます。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同じ実験を何度も繰り返して平均を作ると、その平均にもばらつきが生じます。平均の標準偏差はそのばらつきの推定であり、個々の値の散らばりとは別です。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伝播とは入力の揺らぎが計算結果へどう伝わるかという意味です。四つの入力をそれぞれ四分の一にして足す操作なので、一つの入力の影響は四分の一になります。しかし四つともランダムに揺れるため、全体の揺らぎは二乗して足してから平方根に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のずれの和を二乗すると、それぞれの二乗に加えて積の二倍が現れます。独立で平均ゼロなら積の平均がゼロになるため、分散を足せます。独立・同精度ならこの分散の式に正規分布の仮定は不要で、中心極限定理とは別の性質です。相関がある場合は積の平均に対応する共分散も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独立なら一回4 mm、四回2 mm、九回約1.33 mm、十六回1 mmとなり、半分にするには四倍の回数が必要です。図の相関例は全ペアの相関係数が0.5という説明用モデルで、平均の分散はτ²{ρ+(1−ρ)/n}となります。固定した偏りbは平均の分散に現れなくても真値からのずれとして残るので、基準との照合が要り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数値は手計算用に設定した仮想データです。まず単位と回数を確認してから平均を計算します。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大きな共通部分を外して端数だけで計算すると、桁の入力間違いを減らせます。平均の最後に共通の50メートルを戻します。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二乗ではマイナスの符号も括弧の中に入れます。表の残差列だけをミリメートルに変えていることを再確認します。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この合計行は前のスライドの3回分を含む全6回です。平方和42を、次の標準偏差計算に使います。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六回の観測でも分母は六ではなく五です。電卓内には丸め前の値を残したまま、表示する答えだけを丸めます。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平均を同じ六つのデータから推定したため、分母を自由度五に直すのが答えです。残差和がゼロという制約と結び付けて答えさせます。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平均の標準偏差の計算に、丸めた2.90を代入しないようにします。最確値とその標準偏差を併記すれば、距離の推定結果とばらつきの説明がそろいます。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重みは標準偏差そのものの逆数ではなく、分散の逆数に比例します。重みが大きい値ほど、統合した最確値への寄与が大きくなります。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つとも同じ真値を狙うなら、割合の合計を一にすることで組合せ後も平均的には同じ真値を狙います。ここでは標準偏差の比は事前に分かっていると仮定します。精密な第1観測だけを使うよりも、第2観測を二割加えた方が分散は小さくなることをグラフで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数字の例ではα²+4(1−α)²=5(α−0.8)²+0.8となり、二乗がゼロになるα=0.8が谷の底です。一般にはVar(y)=(σ₁²+σ₂²){α−σ₂²/(σ₁²+σ₂²)}²+σ₁²σ₂²/(σ₁²+σ₂²)と平方完成できるため、谷の底はα=σ₂²/(σ₁²+σ₂²)となり、α:(1−α)=1/σ₁²:1/σ₂²が導けます。ここで最小なのは、係数の和が一になる線形な組合せの中での分散であり、相関や偏りがあるデータへ無条件には適用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組ごとに観測回数が異なると、群平均の精度が変わります。群平均に与える重みと、元の各観測の精度を分けて説明します。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長さに反比例という規則だけを無条件に覚えないようにします。測量条件や誤差の蓄積の仕方が異なる場合は、別の分散モデルが必要です。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重みが大きい観測へ平均が近づくことを、計算前に予想させます。すべての重みが正なら、結果は観測値の最小値と最大値の間に入ります。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算術平均の残差和ゼロを、そのまま重み付き平均へ持ち込む間違いを防ぎます。残差の符号の定義はここでも観測値から最確値を引く向きです。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群平均を二つ入力するならエヌは二で、元の観測回数の合計ではありません。二つの群平均だけからの推定は自由度一なので、不安定さが大きい点にも触れます。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係数の二乗と各観測の分散を掛けて足すと、重みの和が分母に残ります。絶対的な標準偏差が既知の場合と、残差から分散尺度を推定する場合は区別します。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単位重みの標準偏差は、重み一という尺度の選び方に依存します。今回の演習は無次元の相対重みを使い、残差からシグマゼロを求める設定に統一します。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答えは一対四で、標準偏差の小さい第2組へ近づきます。逆数だけで一対二にしていないかを確認します。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観測回数の違いによって群平均の精度が異なる例です。第1組の標準偏差は第2組の半分なので、重みを四対一とします。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平均は精度の高い40.002メートルの側に近づきます。単純平均の40.007メートルとの違いを口頭で比較します。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加重残差平方和では、重みは二乗しません。四掛けるマイナス二の二乗が十六になることを確かめます。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自由度は二つの群平均から一つの最確値を決めたので一です。分母を元の五観測から一を引いた四にしないようにします。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群平均だけでは元の観測の群内平方和を復元できません。計算例が成立することと、実務の精度管理に十分な情報があることを分けて考えます。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同じ精度という見出しでも、表示の定義は機器や設定によって異なります。位置全体の指標へ1次元の68パーセント則をそのまま当てはめないようにします。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これは実機を指定しない仮想的な仕様例です。プラスマイナスという表記だけで最大誤差や95パーセント範囲と決め付けないようにします。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事例は実習指導メモの同一地点三回計測に基づきます。三回なら必ず十分という規則ではなく、異常の点検とばらつきの低減を学ぶ例として扱います。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土地理院の解説でも、初期化時のノイズやマルチパスによる整数値バイアスの誤決定を説明しています。固定解の仕組みは第9回に詳しく学び、今日は表示の読み方にとどめます。参考：https://www.gsi.go.jp/common/000258817.pd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計算上の最確値を求めることと、記録の改ざんは全く異なります。正しい補正や調整も、根拠と元の観測が追える形で行うことを強調します。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公式を個別に暗記するより、表を完成させる順序を覚える方が誤りを防げます。演習に入る前に、どの段階で重みを使うかを頭の中で整理させます。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答えは判断できないで、既知点との比較や再初期化後の再観測などが必要です。平均と精度の数値を求めるだけでなく、独立した点検を選ぶ力を確認します。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演習開始時刻を告げ、短答には三分程度を使わせます。解答は示さず、配布用紙と同じ問題文を読み上げます。</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配布用紙の残差表に記入させ、十一分程度を目安にします。質問には単位や記号を説明し、数値の答えはまだ伝えません。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配布用紙の問二と同じ条件です。九分程度を目安とし、残り時間に応じて計算途中でも先の設問へ進むよう案内します。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このスライドは計算中に必要に応じて表示します。残り二分になったら検算と単位の確認へ移るよう声を掛けます。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演習二十五分の終了を告げ、計算途中も採点対象になることを伝えます。回収前に二ページがそろっているかを確認させます。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定義と計算手順を一度結び直します。平均がよく定まることと真値に近いことは、別に確認する必要があります。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回数に比例と路線長に反比例を、条件なしの暗記にしないことが重要です。問題文から分散の関係を読み、重みに変換する習慣を付けます。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次回は今日分類した定誤差を、具体的な式で補正します。誤差伝播は第3回の距離計算と第12回の面積計算で再び扱います。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ページ番号はPDF内に印刷された本文の番号です。正規近似の根拠はG.2にあり、独立性と各成分の寄与の大きさなどの条件も記載されています。授業では資料の図や文章を転載せず、独自の例と図で説明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参照日は2026年10月8日です。NISTの説明に加え、この教材では独立な二観測の線形結合に絞って平方完成で最適配分を導出しています。付録二枚は出典確認用で、講義本編の時間配分には含めません。</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pm.org/documents/20126/2071204/JCGM_100_2008_E.pdf"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tl.nist.gov/div898/handbook/eda/section3/eda352.htm" TargetMode="External"/><Relationship Id="rId3" Type="http://schemas.openxmlformats.org/officeDocument/2006/relationships/hyperlink" Target="https://www.itl.nist.gov/div898/handbook/pmd/section1/pmd143.htm" TargetMode="External"/><Relationship Id="rId4" Type="http://schemas.openxmlformats.org/officeDocument/2006/relationships/hyperlink" Target="https://www.itl.nist.gov/div898/handbook/pmd/section4/pmd452.htm" TargetMode="External"/><Relationship Id="rId5"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645920"/>
            <a:ext cx="11094415" cy="1463040"/>
          </a:xfrm>
          <a:prstGeom prst="rect">
            <a:avLst/>
          </a:prstGeom>
          <a:noFill/>
        </p:spPr>
        <p:txBody>
          <a:bodyPr wrap="square" lIns="45720" rIns="45720" tIns="18288" bIns="18288" anchor="ctr">
            <a:spAutoFit/>
          </a:bodyPr>
          <a:lstStyle/>
          <a:p>
            <a:pPr algn="ctr"/>
            <a:r>
              <a:rPr sz="4000" b="1">
                <a:solidFill>
                  <a:srgbClr val="1F4E79"/>
                </a:solidFill>
                <a:latin typeface="Noto Sans CJK JP"/>
              </a:rPr>
              <a:t>測量学 第2回</a:t>
            </a:r>
          </a:p>
        </p:txBody>
      </p:sp>
      <p:sp>
        <p:nvSpPr>
          <p:cNvPr id="3" name="TextBox 2"/>
          <p:cNvSpPr txBox="1"/>
          <p:nvPr/>
        </p:nvSpPr>
        <p:spPr>
          <a:xfrm>
            <a:off x="548640" y="3291840"/>
            <a:ext cx="11094415" cy="2926080"/>
          </a:xfrm>
          <a:prstGeom prst="rect">
            <a:avLst/>
          </a:prstGeom>
          <a:noFill/>
        </p:spPr>
        <p:txBody>
          <a:bodyPr wrap="square" lIns="45720" rIns="45720" tIns="18288" bIns="18288">
            <a:spAutoFit/>
          </a:bodyPr>
          <a:lstStyle/>
          <a:p>
            <a:pPr algn="ctr"/>
            <a:r>
              <a:rPr sz="2200" b="0">
                <a:solidFill>
                  <a:srgbClr val="555555"/>
                </a:solidFill>
                <a:latin typeface="Noto Sans CJK JP"/>
              </a:rPr>
              <a:t>測量の基礎と誤差論</a:t>
            </a:r>
          </a:p>
          <a:p>
            <a:pPr algn="ctr"/>
            <a:r>
              <a:rPr sz="2200" b="0">
                <a:solidFill>
                  <a:srgbClr val="555555"/>
                </a:solidFill>
                <a:latin typeface="Noto Sans CJK JP"/>
              </a:rPr>
              <a:t>農業農村工学系の学部講義｜図解・やさしい解説版（2026-10-08）</a:t>
            </a:r>
          </a:p>
          <a:p>
            <a:pPr algn="ctr"/>
            <a:r>
              <a:rPr sz="2200" b="1">
                <a:solidFill>
                  <a:srgbClr val="555555"/>
                </a:solidFill>
                <a:latin typeface="Noto Sans CJK JP"/>
              </a:rPr>
              <a:t>観測値の最確値と精度を計算し、誤差の種類と重みを説明する。</a:t>
            </a:r>
          </a:p>
        </p:txBody>
      </p:sp>
      <p:sp>
        <p:nvSpPr>
          <p:cNvPr id="4" name="TextBox 3"/>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5" name="TextBox 4"/>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前回の演習の解答確認</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度分秒の復習例：</a:t>
            </a:r>
            <a:r>
              <a:rPr sz="2200" b="0">
                <a:latin typeface="DejaVu Sans"/>
              </a:rPr>
              <a:t>1</a:t>
            </a:r>
            <a:r>
              <a:rPr sz="2200" b="0" baseline="30000">
                <a:latin typeface="DejaVu Sans"/>
              </a:rPr>
              <a:t>°</a:t>
            </a:r>
            <a:r>
              <a:rPr sz="2200" b="0">
                <a:latin typeface="DejaVu Sans"/>
              </a:rPr>
              <a:t>30'00''=1.5</a:t>
            </a:r>
            <a:r>
              <a:rPr sz="2200" b="0" baseline="30000">
                <a:latin typeface="DejaVu Sans"/>
              </a:rPr>
              <a:t>°</a:t>
            </a:r>
          </a:p>
          <a:p>
            <a:pPr>
              <a:spcAft>
                <a:spcPts val="400"/>
              </a:spcAft>
            </a:pPr>
            <a:r>
              <a:rPr sz="2200" b="0">
                <a:latin typeface="Noto Sans CJK JP"/>
              </a:rPr>
              <a:t>• </a:t>
            </a:r>
            <a:r>
              <a:rPr sz="2200" b="0">
                <a:latin typeface="Noto Sans CJK JP"/>
              </a:rPr>
              <a:t>逆変換：</a:t>
            </a:r>
            <a:r>
              <a:rPr sz="2200" b="0">
                <a:latin typeface="DejaVu Sans"/>
              </a:rPr>
              <a:t>0.25</a:t>
            </a:r>
            <a:r>
              <a:rPr sz="2200" b="0" baseline="30000">
                <a:latin typeface="DejaVu Sans"/>
              </a:rPr>
              <a:t>°</a:t>
            </a:r>
            <a:r>
              <a:rPr sz="2200" b="0">
                <a:latin typeface="DejaVu Sans"/>
              </a:rPr>
              <a:t>=15'00''</a:t>
            </a:r>
          </a:p>
          <a:p>
            <a:pPr>
              <a:spcAft>
                <a:spcPts val="400"/>
              </a:spcAft>
            </a:pPr>
            <a:r>
              <a:rPr sz="2200" b="0">
                <a:latin typeface="Noto Sans CJK JP"/>
              </a:rPr>
              <a:t>• </a:t>
            </a:r>
            <a:r>
              <a:rPr sz="2200" b="0">
                <a:latin typeface="Noto Sans CJK JP"/>
              </a:rPr>
              <a:t>桁の復習例：</a:t>
            </a:r>
            <a:r>
              <a:rPr sz="2200" b="0">
                <a:latin typeface="DejaVu Sans"/>
              </a:rPr>
              <a:t>12.346 m→12.35 m</a:t>
            </a:r>
            <a:r>
              <a:rPr sz="2200" b="0">
                <a:latin typeface="Noto Sans CJK JP"/>
              </a:rPr>
              <a:t>（0.01 m 単位）</a:t>
            </a:r>
          </a:p>
          <a:p>
            <a:pPr>
              <a:spcAft>
                <a:spcPts val="400"/>
              </a:spcAft>
            </a:pPr>
            <a:r>
              <a:rPr sz="2200" b="0">
                <a:latin typeface="Noto Sans CJK JP"/>
              </a:rPr>
              <a:t>• </a:t>
            </a:r>
            <a:r>
              <a:rPr sz="2200" b="0">
                <a:latin typeface="Noto Sans CJK JP"/>
              </a:rPr>
              <a:t>電卓の表示桁数と、観測の精度は別に考える。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過失・定誤差・偶然誤差を、原因と対処に結び付ける。</a:t>
            </a:r>
          </a:p>
          <a:p>
            <a:pPr>
              <a:spcAft>
                <a:spcPts val="400"/>
              </a:spcAft>
            </a:pPr>
            <a:r>
              <a:rPr sz="2200" b="0">
                <a:latin typeface="Noto Sans CJK JP"/>
              </a:rPr>
              <a:t>• </a:t>
            </a:r>
            <a:r>
              <a:rPr sz="2200" b="0">
                <a:latin typeface="Noto Sans CJK JP"/>
              </a:rPr>
              <a:t>反復観測から最確値・残差・2種類の標準偏差を求める。</a:t>
            </a:r>
          </a:p>
          <a:p>
            <a:pPr>
              <a:spcAft>
                <a:spcPts val="400"/>
              </a:spcAft>
            </a:pPr>
            <a:r>
              <a:rPr sz="2200" b="0">
                <a:latin typeface="Noto Sans CJK JP"/>
              </a:rPr>
              <a:t>• </a:t>
            </a:r>
            <a:r>
              <a:rPr sz="2200" b="0">
                <a:latin typeface="Noto Sans CJK JP"/>
              </a:rPr>
              <a:t>精度の異なる観測を、重み付き平均で統合する。</a:t>
            </a:r>
          </a:p>
          <a:p>
            <a:pPr>
              <a:spcAft>
                <a:spcPts val="400"/>
              </a:spcAft>
            </a:pPr>
            <a:r>
              <a:rPr sz="2200" b="0">
                <a:latin typeface="Noto Sans CJK JP"/>
              </a:rPr>
              <a:t>• </a:t>
            </a:r>
            <a:r>
              <a:rPr sz="2200" b="0">
                <a:latin typeface="Noto Sans CJK JP"/>
              </a:rPr>
              <a:t>機器の精度表示を読み、成果の点検につなげる。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水路の測量で必要になる判断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同じ区間を測っても、毎回まったく同じ値にはならない。</a:t>
            </a:r>
          </a:p>
          <a:p>
            <a:pPr>
              <a:spcAft>
                <a:spcPts val="400"/>
              </a:spcAft>
            </a:pPr>
            <a:r>
              <a:rPr sz="2200" b="0">
                <a:latin typeface="Noto Sans CJK JP"/>
              </a:rPr>
              <a:t>• </a:t>
            </a:r>
            <a:r>
              <a:rPr sz="2200" b="0">
                <a:latin typeface="Noto Sans CJK JP"/>
              </a:rPr>
              <a:t>小さな高低差は、排水方向や水路勾配の判断に関わる。</a:t>
            </a:r>
          </a:p>
          <a:p>
            <a:pPr>
              <a:spcAft>
                <a:spcPts val="400"/>
              </a:spcAft>
            </a:pPr>
            <a:r>
              <a:rPr sz="2200" b="0">
                <a:latin typeface="Noto Sans CJK JP"/>
              </a:rPr>
              <a:t>• </a:t>
            </a:r>
            <a:r>
              <a:rPr sz="2200" b="0">
                <a:latin typeface="Noto Sans CJK JP"/>
              </a:rPr>
              <a:t>差が「地形の違い」か「観測のばらつき」かを吟味する。</a:t>
            </a:r>
          </a:p>
          <a:p>
            <a:pPr>
              <a:spcAft>
                <a:spcPts val="400"/>
              </a:spcAft>
            </a:pPr>
            <a:r>
              <a:rPr sz="2200" b="0">
                <a:latin typeface="Noto Sans CJK JP"/>
              </a:rPr>
              <a:t>• </a:t>
            </a:r>
            <a:r>
              <a:rPr sz="2200" b="0">
                <a:latin typeface="Noto Sans CJK JP"/>
              </a:rPr>
              <a:t>まず距離の簡単な反復観測で、判断の基礎を学ぶ。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時間</a:t>
                      </a:r>
                    </a:p>
                  </a:txBody>
                  <a:tcPr marL="54864" marR="54864" marT="27432" marB="27432">
                    <a:solidFill>
                      <a:srgbClr val="DCE6F1"/>
                    </a:solidFill>
                  </a:tcPr>
                </a:tc>
                <a:tc>
                  <a:txBody>
                    <a:bodyPr wrap="square"/>
                    <a:lstStyle/>
                    <a:p>
                      <a:r>
                        <a:rPr sz="1800" b="1">
                          <a:solidFill>
                            <a:srgbClr val="1F1F1F"/>
                          </a:solidFill>
                          <a:latin typeface="Noto Sans CJK JP"/>
                        </a:rPr>
                        <a:t>内容</a:t>
                      </a:r>
                    </a:p>
                  </a:txBody>
                  <a:tcPr marL="54864" marR="54864" marT="27432" marB="27432">
                    <a:solidFill>
                      <a:srgbClr val="DCE6F1"/>
                    </a:solidFill>
                  </a:tcPr>
                </a:tc>
              </a:tr>
              <a:tr h="457200">
                <a:tc>
                  <a:txBody>
                    <a:bodyPr wrap="square"/>
                    <a:lstStyle/>
                    <a:p>
                      <a:r>
                        <a:rPr sz="1800" b="0">
                          <a:latin typeface="Noto Sans CJK JP"/>
                        </a:rPr>
                        <a:t>0〜5分</a:t>
                      </a:r>
                    </a:p>
                  </a:txBody>
                  <a:tcPr marL="54864" marR="54864" marT="27432" marB="27432">
                    <a:solidFill>
                      <a:srgbClr val="FFFFFF"/>
                    </a:solidFill>
                  </a:tcPr>
                </a:tc>
                <a:tc>
                  <a:txBody>
                    <a:bodyPr wrap="square"/>
                    <a:lstStyle/>
                    <a:p>
                      <a:r>
                        <a:rPr sz="1800" b="0">
                          <a:latin typeface="Noto Sans CJK JP"/>
                        </a:rPr>
                        <a:t>前回の確認・到達目標</a:t>
                      </a:r>
                    </a:p>
                  </a:txBody>
                  <a:tcPr marL="54864" marR="54864" marT="27432" marB="27432">
                    <a:solidFill>
                      <a:srgbClr val="FFFFFF"/>
                    </a:solidFill>
                  </a:tcPr>
                </a:tc>
              </a:tr>
              <a:tr h="457200">
                <a:tc>
                  <a:txBody>
                    <a:bodyPr wrap="square"/>
                    <a:lstStyle/>
                    <a:p>
                      <a:r>
                        <a:rPr sz="1800" b="0">
                          <a:latin typeface="Noto Sans CJK JP"/>
                        </a:rPr>
                        <a:t>5〜60分</a:t>
                      </a:r>
                    </a:p>
                  </a:txBody>
                  <a:tcPr marL="54864" marR="54864" marT="27432" marB="27432">
                    <a:solidFill>
                      <a:srgbClr val="F5F7FA"/>
                    </a:solidFill>
                  </a:tcPr>
                </a:tc>
                <a:tc>
                  <a:txBody>
                    <a:bodyPr wrap="square"/>
                    <a:lstStyle/>
                    <a:p>
                      <a:r>
                        <a:rPr sz="1800" b="0">
                          <a:latin typeface="Noto Sans CJK JP"/>
                        </a:rPr>
                        <a:t>誤差・最確値・標準偏差・重み</a:t>
                      </a:r>
                    </a:p>
                  </a:txBody>
                  <a:tcPr marL="54864" marR="54864" marT="27432" marB="27432">
                    <a:solidFill>
                      <a:srgbClr val="F5F7FA"/>
                    </a:solidFill>
                  </a:tcPr>
                </a:tc>
              </a:tr>
              <a:tr h="457200">
                <a:tc>
                  <a:txBody>
                    <a:bodyPr wrap="square"/>
                    <a:lstStyle/>
                    <a:p>
                      <a:r>
                        <a:rPr sz="1800" b="0">
                          <a:latin typeface="Noto Sans CJK JP"/>
                        </a:rPr>
                        <a:t>60〜85分</a:t>
                      </a:r>
                    </a:p>
                  </a:txBody>
                  <a:tcPr marL="54864" marR="54864" marT="27432" marB="27432">
                    <a:solidFill>
                      <a:srgbClr val="FFFFFF"/>
                    </a:solidFill>
                  </a:tcPr>
                </a:tc>
                <a:tc>
                  <a:txBody>
                    <a:bodyPr wrap="square"/>
                    <a:lstStyle/>
                    <a:p>
                      <a:r>
                        <a:rPr sz="1800" b="0">
                          <a:latin typeface="Noto Sans CJK JP"/>
                        </a:rPr>
                        <a:t>手計算テスト25分</a:t>
                      </a:r>
                    </a:p>
                  </a:txBody>
                  <a:tcPr marL="54864" marR="54864" marT="27432" marB="27432">
                    <a:solidFill>
                      <a:srgbClr val="FFFFFF"/>
                    </a:solidFill>
                  </a:tcPr>
                </a:tc>
              </a:tr>
              <a:tr h="457200">
                <a:tc>
                  <a:txBody>
                    <a:bodyPr wrap="square"/>
                    <a:lstStyle/>
                    <a:p>
                      <a:r>
                        <a:rPr sz="1800" b="0">
                          <a:latin typeface="Noto Sans CJK JP"/>
                        </a:rPr>
                        <a:t>85〜90分</a:t>
                      </a:r>
                    </a:p>
                  </a:txBody>
                  <a:tcPr marL="54864" marR="54864" marT="27432" marB="27432">
                    <a:solidFill>
                      <a:srgbClr val="F5F7FA"/>
                    </a:solidFill>
                  </a:tcPr>
                </a:tc>
                <a:tc>
                  <a:txBody>
                    <a:bodyPr wrap="square"/>
                    <a:lstStyle/>
                    <a:p>
                      <a:r>
                        <a:rPr sz="1800" b="0">
                          <a:latin typeface="Noto Sans CJK JP"/>
                        </a:rPr>
                        <a:t>要点確認・提出・次回予告</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真値と観測値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観測値は見えるけれど、真値は直接見えない。</a:t>
            </a:r>
          </a:p>
          <a:p>
            <a:pPr>
              <a:spcAft>
                <a:spcPts val="400"/>
              </a:spcAft>
            </a:pPr>
            <a:r>
              <a:rPr sz="2000" b="0">
                <a:latin typeface="Noto Sans CJK JP"/>
              </a:rPr>
              <a:t>• </a:t>
            </a:r>
            <a:r>
              <a:rPr sz="2000" b="0">
                <a:latin typeface="Noto Sans CJK JP"/>
              </a:rPr>
              <a:t>同じ机を測っても、1000 mm、1002 mm、1001 mmと少し違う。</a:t>
            </a:r>
          </a:p>
          <a:p>
            <a:pPr>
              <a:spcAft>
                <a:spcPts val="400"/>
              </a:spcAft>
            </a:pPr>
            <a:r>
              <a:rPr sz="2000" b="0">
                <a:latin typeface="Noto Sans CJK JP"/>
              </a:rPr>
              <a:t>• </a:t>
            </a:r>
            <a:r>
              <a:rPr sz="2000" b="0">
                <a:latin typeface="DejaVu Sans"/>
              </a:rPr>
              <a:t>x</a:t>
            </a:r>
            <a:r>
              <a:rPr sz="2000" b="0" baseline="-25000">
                <a:latin typeface="DejaVu Sans"/>
              </a:rPr>
              <a:t>i</a:t>
            </a:r>
            <a:r>
              <a:rPr sz="2000" b="0">
                <a:latin typeface="Noto Sans CJK JP"/>
              </a:rPr>
              <a:t> は表示・記録できる値。</a:t>
            </a:r>
            <a:r>
              <a:rPr sz="2000" b="0">
                <a:latin typeface="DejaVu Sans"/>
              </a:rPr>
              <a:t>X</a:t>
            </a:r>
            <a:r>
              <a:rPr sz="2000" b="0">
                <a:latin typeface="Noto Sans CJK JP"/>
              </a:rPr>
              <a:t> は本当に知りたい長さ。</a:t>
            </a:r>
          </a:p>
          <a:p>
            <a:pPr>
              <a:spcAft>
                <a:spcPts val="400"/>
              </a:spcAft>
            </a:pPr>
            <a:r>
              <a:rPr sz="2000" b="0">
                <a:latin typeface="Noto Sans CJK JP"/>
              </a:rPr>
              <a:t>• </a:t>
            </a:r>
            <a:r>
              <a:rPr sz="2000" b="0">
                <a:latin typeface="Noto Sans CJK JP"/>
              </a:rPr>
              <a:t>平均は </a:t>
            </a:r>
            <a:r>
              <a:rPr sz="2000" b="0">
                <a:latin typeface="DejaVu Sans"/>
              </a:rPr>
              <a:t>X</a:t>
            </a:r>
            <a:r>
              <a:rPr sz="2000" b="0">
                <a:latin typeface="Noto Sans CJK JP"/>
              </a:rPr>
              <a:t> の「推定」。ぴったり正しいと確定した答えではない。</a:t>
            </a:r>
          </a:p>
        </p:txBody>
      </p:sp>
      <p:pic>
        <p:nvPicPr>
          <p:cNvPr id="5" name="Picture 4" descr="観測できる値から未知の真値を推定する"/>
          <p:cNvPicPr>
            <a:picLocks noChangeAspect="1"/>
          </p:cNvPicPr>
          <p:nvPr/>
        </p:nvPicPr>
        <p:blipFill>
          <a:blip r:embed="rId2"/>
          <a:stretch>
            <a:fillRect/>
          </a:stretch>
        </p:blipFill>
        <p:spPr>
          <a:xfrm>
            <a:off x="609447" y="3482741"/>
            <a:ext cx="10972800" cy="2361397"/>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誤差の3分類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1">
                <a:latin typeface="Noto Sans CJK JP"/>
              </a:rPr>
              <a:t>「どうずれたか」によって、直し方が変わる。</a:t>
            </a:r>
          </a:p>
        </p:txBody>
      </p:sp>
      <p:graphicFrame>
        <p:nvGraphicFramePr>
          <p:cNvPr id="5" name="Table 4"/>
          <p:cNvGraphicFramePr>
            <a:graphicFrameLocks noGrp="1"/>
          </p:cNvGraphicFramePr>
          <p:nvPr/>
        </p:nvGraphicFramePr>
        <p:xfrm>
          <a:off x="548640" y="194183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分類</a:t>
                      </a:r>
                    </a:p>
                  </a:txBody>
                  <a:tcPr marL="54864" marR="54864" marT="27432" marB="27432">
                    <a:solidFill>
                      <a:srgbClr val="DCE6F1"/>
                    </a:solidFill>
                  </a:tcPr>
                </a:tc>
                <a:tc>
                  <a:txBody>
                    <a:bodyPr wrap="square"/>
                    <a:lstStyle/>
                    <a:p>
                      <a:r>
                        <a:rPr sz="1800" b="1">
                          <a:solidFill>
                            <a:srgbClr val="1F1F1F"/>
                          </a:solidFill>
                          <a:latin typeface="Noto Sans CJK JP"/>
                        </a:rPr>
                        <a:t>身近なイメージ</a:t>
                      </a:r>
                    </a:p>
                  </a:txBody>
                  <a:tcPr marL="54864" marR="54864" marT="27432" marB="27432">
                    <a:solidFill>
                      <a:srgbClr val="DCE6F1"/>
                    </a:solidFill>
                  </a:tcPr>
                </a:tc>
                <a:tc>
                  <a:txBody>
                    <a:bodyPr wrap="square"/>
                    <a:lstStyle/>
                    <a:p>
                      <a:r>
                        <a:rPr sz="1800" b="1">
                          <a:solidFill>
                            <a:srgbClr val="1F1F1F"/>
                          </a:solidFill>
                          <a:latin typeface="Noto Sans CJK JP"/>
                        </a:rPr>
                        <a:t>対処</a:t>
                      </a:r>
                    </a:p>
                  </a:txBody>
                  <a:tcPr marL="54864" marR="54864" marT="27432" marB="27432">
                    <a:solidFill>
                      <a:srgbClr val="DCE6F1"/>
                    </a:solidFill>
                  </a:tcPr>
                </a:tc>
              </a:tr>
              <a:tr h="457200">
                <a:tc>
                  <a:txBody>
                    <a:bodyPr wrap="square"/>
                    <a:lstStyle/>
                    <a:p>
                      <a:r>
                        <a:rPr sz="1800" b="0">
                          <a:latin typeface="Noto Sans CJK JP"/>
                        </a:rPr>
                        <a:t>過失（錯誤）</a:t>
                      </a:r>
                    </a:p>
                  </a:txBody>
                  <a:tcPr marL="54864" marR="54864" marT="27432" marB="27432">
                    <a:solidFill>
                      <a:srgbClr val="FFFFFF"/>
                    </a:solidFill>
                  </a:tcPr>
                </a:tc>
                <a:tc>
                  <a:txBody>
                    <a:bodyPr wrap="square"/>
                    <a:lstStyle/>
                    <a:p>
                      <a:r>
                        <a:rPr sz="1800" b="0">
                          <a:latin typeface="Noto Sans CJK JP"/>
                        </a:rPr>
                        <a:t>数字の写し間違い</a:t>
                      </a:r>
                    </a:p>
                  </a:txBody>
                  <a:tcPr marL="54864" marR="54864" marT="27432" marB="27432">
                    <a:solidFill>
                      <a:srgbClr val="FFFFFF"/>
                    </a:solidFill>
                  </a:tcPr>
                </a:tc>
                <a:tc>
                  <a:txBody>
                    <a:bodyPr wrap="square"/>
                    <a:lstStyle/>
                    <a:p>
                      <a:r>
                        <a:rPr sz="1800" b="0">
                          <a:latin typeface="Noto Sans CJK JP"/>
                        </a:rPr>
                        <a:t>元の記録を確認・再測</a:t>
                      </a:r>
                    </a:p>
                  </a:txBody>
                  <a:tcPr marL="54864" marR="54864" marT="27432" marB="27432">
                    <a:solidFill>
                      <a:srgbClr val="FFFFFF"/>
                    </a:solidFill>
                  </a:tcPr>
                </a:tc>
              </a:tr>
              <a:tr h="457200">
                <a:tc>
                  <a:txBody>
                    <a:bodyPr wrap="square"/>
                    <a:lstStyle/>
                    <a:p>
                      <a:r>
                        <a:rPr sz="1800" b="0">
                          <a:latin typeface="Noto Sans CJK JP"/>
                        </a:rPr>
                        <a:t>定誤差（系統誤差）</a:t>
                      </a:r>
                    </a:p>
                  </a:txBody>
                  <a:tcPr marL="54864" marR="54864" marT="27432" marB="27432">
                    <a:solidFill>
                      <a:srgbClr val="F5F7FA"/>
                    </a:solidFill>
                  </a:tcPr>
                </a:tc>
                <a:tc>
                  <a:txBody>
                    <a:bodyPr wrap="square"/>
                    <a:lstStyle/>
                    <a:p>
                      <a:r>
                        <a:rPr sz="1800" b="0">
                          <a:latin typeface="Noto Sans CJK JP"/>
                        </a:rPr>
                        <a:t>ずれたゼロ点で測り続ける</a:t>
                      </a:r>
                    </a:p>
                  </a:txBody>
                  <a:tcPr marL="54864" marR="54864" marT="27432" marB="27432">
                    <a:solidFill>
                      <a:srgbClr val="F5F7FA"/>
                    </a:solidFill>
                  </a:tcPr>
                </a:tc>
                <a:tc>
                  <a:txBody>
                    <a:bodyPr wrap="square"/>
                    <a:lstStyle/>
                    <a:p>
                      <a:r>
                        <a:rPr sz="1800" b="0">
                          <a:latin typeface="Noto Sans CJK JP"/>
                        </a:rPr>
                        <a:t>原因を調べて補正</a:t>
                      </a:r>
                    </a:p>
                  </a:txBody>
                  <a:tcPr marL="54864" marR="54864" marT="27432" marB="27432">
                    <a:solidFill>
                      <a:srgbClr val="F5F7FA"/>
                    </a:solidFill>
                  </a:tcPr>
                </a:tc>
              </a:tr>
              <a:tr h="457200">
                <a:tc>
                  <a:txBody>
                    <a:bodyPr wrap="square"/>
                    <a:lstStyle/>
                    <a:p>
                      <a:r>
                        <a:rPr sz="1800" b="0">
                          <a:latin typeface="Noto Sans CJK JP"/>
                        </a:rPr>
                        <a:t>偶然誤差（不定誤差）</a:t>
                      </a:r>
                    </a:p>
                  </a:txBody>
                  <a:tcPr marL="54864" marR="54864" marT="27432" marB="27432">
                    <a:solidFill>
                      <a:srgbClr val="FFFFFF"/>
                    </a:solidFill>
                  </a:tcPr>
                </a:tc>
                <a:tc>
                  <a:txBody>
                    <a:bodyPr wrap="square"/>
                    <a:lstStyle/>
                    <a:p>
                      <a:r>
                        <a:rPr sz="1800" b="0">
                          <a:latin typeface="Noto Sans CJK JP"/>
                        </a:rPr>
                        <a:t>読む位置が毎回少し揺れる</a:t>
                      </a:r>
                    </a:p>
                  </a:txBody>
                  <a:tcPr marL="54864" marR="54864" marT="27432" marB="27432">
                    <a:solidFill>
                      <a:srgbClr val="FFFFFF"/>
                    </a:solidFill>
                  </a:tcPr>
                </a:tc>
                <a:tc>
                  <a:txBody>
                    <a:bodyPr wrap="square"/>
                    <a:lstStyle/>
                    <a:p>
                      <a:r>
                        <a:rPr sz="1800" b="0">
                          <a:latin typeface="Noto Sans CJK JP"/>
                        </a:rPr>
                        <a:t>反復観測と統計処理</a:t>
                      </a:r>
                    </a:p>
                  </a:txBody>
                  <a:tcPr marL="54864" marR="54864" marT="27432" marB="27432">
                    <a:solidFill>
                      <a:srgbClr val="FFFFFF"/>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過失の例と対処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過失＝測り方・読み方・記録の「うっかり間違い」。</a:t>
            </a:r>
          </a:p>
          <a:p>
            <a:pPr>
              <a:spcAft>
                <a:spcPts val="400"/>
              </a:spcAft>
            </a:pPr>
            <a:r>
              <a:rPr sz="2200" b="0">
                <a:latin typeface="Noto Sans CJK JP"/>
              </a:rPr>
              <a:t>• </a:t>
            </a:r>
            <a:r>
              <a:rPr sz="2200" b="0">
                <a:latin typeface="Noto Sans CJK JP"/>
              </a:rPr>
              <a:t>機器の表示は30.003 mなのに、ノートへ30.030 mと写した。</a:t>
            </a:r>
          </a:p>
          <a:p>
            <a:pPr>
              <a:spcAft>
                <a:spcPts val="400"/>
              </a:spcAft>
            </a:pPr>
            <a:r>
              <a:rPr sz="2200" b="0">
                <a:latin typeface="Noto Sans CJK JP"/>
              </a:rPr>
              <a:t>• </a:t>
            </a:r>
            <a:r>
              <a:rPr sz="2200" b="0">
                <a:latin typeface="Noto Sans CJK JP"/>
              </a:rPr>
              <a:t>点Aを測るはずが、点Bを測ってしまうのも過失。</a:t>
            </a:r>
          </a:p>
          <a:p>
            <a:pPr>
              <a:spcAft>
                <a:spcPts val="400"/>
              </a:spcAft>
            </a:pPr>
            <a:r>
              <a:rPr sz="2200" b="0">
                <a:latin typeface="Noto Sans CJK JP"/>
              </a:rPr>
              <a:t>• </a:t>
            </a:r>
            <a:r>
              <a:rPr sz="2200" b="0">
                <a:latin typeface="Noto Sans CJK JP"/>
              </a:rPr>
              <a:t>表示・野帳・点名を照合し、原因を確認して補正または再測する。</a:t>
            </a:r>
          </a:p>
          <a:p>
            <a:pPr>
              <a:spcAft>
                <a:spcPts val="400"/>
              </a:spcAft>
            </a:pPr>
            <a:r>
              <a:rPr sz="2200" b="0">
                <a:latin typeface="Noto Sans CJK JP"/>
              </a:rPr>
              <a:t>• </a:t>
            </a:r>
            <a:r>
              <a:rPr sz="2200" b="0">
                <a:latin typeface="Noto Sans CJK JP"/>
              </a:rPr>
              <a:t>離れた値も勝手に消さず、元の記録と処理の理由を残す。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定誤差の例と対処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定誤差＝同じ条件で、決まった方向や規則でずれること。</a:t>
            </a:r>
          </a:p>
          <a:p>
            <a:pPr>
              <a:spcAft>
                <a:spcPts val="400"/>
              </a:spcAft>
            </a:pPr>
            <a:r>
              <a:rPr sz="2200" b="0">
                <a:latin typeface="Noto Sans CJK JP"/>
              </a:rPr>
              <a:t>• </a:t>
            </a:r>
            <a:r>
              <a:rPr sz="2200" b="0">
                <a:latin typeface="Noto Sans CJK JP"/>
              </a:rPr>
              <a:t>例：ゼロ点が2 mmずれていると、何回測っても2 mm大きい。</a:t>
            </a:r>
          </a:p>
          <a:p>
            <a:pPr>
              <a:spcAft>
                <a:spcPts val="400"/>
              </a:spcAft>
            </a:pPr>
            <a:r>
              <a:rPr sz="2200" b="0">
                <a:latin typeface="Noto Sans CJK JP"/>
              </a:rPr>
              <a:t>• </a:t>
            </a:r>
            <a:r>
              <a:rPr sz="2200" b="0">
                <a:latin typeface="Noto Sans CJK JP"/>
              </a:rPr>
              <a:t>1002、1003、1001 mmの平均は1002 mm。共通の2 mmは残る。</a:t>
            </a:r>
          </a:p>
          <a:p>
            <a:pPr>
              <a:spcAft>
                <a:spcPts val="400"/>
              </a:spcAft>
            </a:pPr>
            <a:r>
              <a:rPr sz="2200" b="0">
                <a:latin typeface="Noto Sans CJK JP"/>
              </a:rPr>
              <a:t>• </a:t>
            </a:r>
            <a:r>
              <a:rPr sz="2200" b="0">
                <a:latin typeface="Noto Sans CJK JP"/>
              </a:rPr>
              <a:t>基準との比較で「+2 mm」と確認できれば、2 mm引いて補正する。</a:t>
            </a:r>
          </a:p>
          <a:p>
            <a:pPr>
              <a:spcAft>
                <a:spcPts val="400"/>
              </a:spcAft>
            </a:pPr>
            <a:r>
              <a:rPr sz="2200" b="0">
                <a:latin typeface="Noto Sans CJK JP"/>
              </a:rPr>
              <a:t>• </a:t>
            </a:r>
            <a:r>
              <a:rPr sz="2200" b="0">
                <a:latin typeface="Noto Sans CJK JP"/>
              </a:rPr>
              <a:t>測量では巻尺の伸びや機器の設定を点検する。条件でずれ方も変わる。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偶然誤差の例と対処</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1">
                <a:latin typeface="Noto Sans CJK JP"/>
              </a:rPr>
              <a:t>偶然誤差＝気を付けても毎回少し変わる、小さな揺らぎ。</a:t>
            </a:r>
          </a:p>
          <a:p>
            <a:pPr>
              <a:spcAft>
                <a:spcPts val="400"/>
              </a:spcAft>
            </a:pPr>
            <a:r>
              <a:rPr sz="2200" b="0">
                <a:latin typeface="Noto Sans CJK JP"/>
              </a:rPr>
              <a:t>• </a:t>
            </a:r>
            <a:r>
              <a:rPr sz="2200" b="0">
                <a:latin typeface="Noto Sans CJK JP"/>
              </a:rPr>
              <a:t>目盛りの読み位置、望遠鏡を合わせる向きなどが少しずつ変わる。</a:t>
            </a:r>
          </a:p>
          <a:p>
            <a:pPr>
              <a:spcAft>
                <a:spcPts val="400"/>
              </a:spcAft>
            </a:pPr>
            <a:r>
              <a:rPr sz="2200" b="0">
                <a:latin typeface="Noto Sans CJK JP"/>
              </a:rPr>
              <a:t>• </a:t>
            </a:r>
            <a:r>
              <a:rPr sz="2200" b="0">
                <a:latin typeface="Noto Sans CJK JP"/>
              </a:rPr>
              <a:t>ある回は大きめ、別の回は小さめ。次のずれの符号は読めない。</a:t>
            </a:r>
          </a:p>
          <a:p>
            <a:pPr>
              <a:spcAft>
                <a:spcPts val="400"/>
              </a:spcAft>
            </a:pPr>
            <a:r>
              <a:rPr sz="2200" b="0">
                <a:latin typeface="Noto Sans CJK JP"/>
              </a:rPr>
              <a:t>• </a:t>
            </a:r>
            <a:r>
              <a:rPr sz="2200" b="0">
                <a:latin typeface="Noto Sans CJK JP"/>
              </a:rPr>
              <a:t>偏りのない独立な観測なら、平均で揺らぎの影響を小さくできる。</a:t>
            </a:r>
          </a:p>
          <a:p>
            <a:pPr>
              <a:spcAft>
                <a:spcPts val="400"/>
              </a:spcAft>
            </a:pPr>
            <a:r>
              <a:rPr sz="2200" b="0">
                <a:latin typeface="Noto Sans CJK JP"/>
              </a:rPr>
              <a:t>• </a:t>
            </a:r>
            <a:r>
              <a:rPr sz="2200" b="0">
                <a:latin typeface="Noto Sans CJK JP"/>
              </a:rPr>
              <a:t>機器・三脚を点検してから繰り返し測り、ばらつきも報告する。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この後の計算の前提</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観測対象は変化せず、同じ距離を測っている。</a:t>
            </a:r>
          </a:p>
          <a:p>
            <a:pPr>
              <a:spcAft>
                <a:spcPts val="400"/>
              </a:spcAft>
            </a:pPr>
            <a:r>
              <a:rPr sz="2200" b="0">
                <a:latin typeface="Noto Sans CJK JP"/>
              </a:rPr>
              <a:t>• </a:t>
            </a:r>
            <a:r>
              <a:rPr sz="2200" b="0">
                <a:latin typeface="Noto Sans CJK JP"/>
              </a:rPr>
              <a:t>過失を点検し、必要な定誤差の補正を済ませている。</a:t>
            </a:r>
          </a:p>
          <a:p>
            <a:pPr>
              <a:spcAft>
                <a:spcPts val="400"/>
              </a:spcAft>
            </a:pPr>
            <a:r>
              <a:rPr sz="2200" b="0">
                <a:latin typeface="Noto Sans CJK JP"/>
              </a:rPr>
              <a:t>• </a:t>
            </a:r>
            <a:r>
              <a:rPr sz="2200" b="0">
                <a:latin typeface="Noto Sans CJK JP"/>
              </a:rPr>
              <a:t>偶然誤差の平均は0と考える。</a:t>
            </a:r>
          </a:p>
          <a:p>
            <a:pPr>
              <a:spcAft>
                <a:spcPts val="400"/>
              </a:spcAft>
            </a:pPr>
            <a:r>
              <a:rPr sz="2200" b="0">
                <a:latin typeface="Noto Sans CJK JP"/>
              </a:rPr>
              <a:t>• </a:t>
            </a:r>
            <a:r>
              <a:rPr sz="2200" b="0">
                <a:latin typeface="Noto Sans CJK JP"/>
              </a:rPr>
              <a:t>「独立」：ある観測の誤差が、別の観測の誤差に連動しない。</a:t>
            </a:r>
          </a:p>
          <a:p>
            <a:pPr>
              <a:spcAft>
                <a:spcPts val="400"/>
              </a:spcAft>
            </a:pPr>
            <a:r>
              <a:rPr sz="2200" b="0">
                <a:latin typeface="Noto Sans CJK JP"/>
              </a:rPr>
              <a:t>• </a:t>
            </a:r>
            <a:r>
              <a:rPr sz="2200" b="0">
                <a:latin typeface="Noto Sans CJK JP"/>
              </a:rPr>
              <a:t>等しい条件・ばらつきを持つ観測を「同精度」と呼ぶ。</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反射鏡定数の設定が誤ったまま、同じ距離を10回測った。</a:t>
            </a:r>
          </a:p>
          <a:p>
            <a:pPr>
              <a:spcAft>
                <a:spcPts val="600"/>
              </a:spcAft>
            </a:pPr>
            <a:r>
              <a:rPr sz="2200" b="0">
                <a:latin typeface="Noto Sans CJK JP"/>
              </a:rPr>
              <a:t>平均すればこの偏りを除けるか。誤差の分類とともに答えよう。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偶然誤差と正規分布</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600"/>
              </a:spcAft>
            </a:pPr>
            <a:r>
              <a:rPr sz="2200" b="1">
                <a:latin typeface="Noto Sans CJK JP"/>
              </a:rPr>
              <a:t>背景にあるのは、確率論の「中心極限定理」。</a:t>
            </a:r>
          </a:p>
          <a:p>
            <a:pPr>
              <a:spcAft>
                <a:spcPts val="400"/>
              </a:spcAft>
            </a:pPr>
            <a:r>
              <a:rPr sz="2200" b="0">
                <a:latin typeface="Noto Sans CJK JP"/>
              </a:rPr>
              <a:t>• </a:t>
            </a:r>
            <a:r>
              <a:rPr sz="2200" b="0">
                <a:latin typeface="Noto Sans CJK JP"/>
              </a:rPr>
              <a:t>1回の誤差を、読み取り・照準など多くの小さな揺らぎの足し算と考える。</a:t>
            </a:r>
          </a:p>
          <a:p>
            <a:pPr>
              <a:spcAft>
                <a:spcPts val="400"/>
              </a:spcAft>
            </a:pPr>
            <a:r>
              <a:rPr sz="2200" b="0">
                <a:latin typeface="Noto Sans CJK JP"/>
              </a:rPr>
              <a:t>• </a:t>
            </a:r>
            <a:r>
              <a:rPr sz="2200" b="0">
                <a:latin typeface="Noto Sans CJK JP"/>
              </a:rPr>
              <a:t>独立な寄与が重なり、極端に大きい一つの要因が支配しないとき、 合計の分布は、条件の下で正規分布に近づく。</a:t>
            </a:r>
          </a:p>
          <a:p>
            <a:pPr>
              <a:spcAft>
                <a:spcPts val="400"/>
              </a:spcAft>
            </a:pPr>
            <a:r>
              <a:rPr sz="2200" b="0">
                <a:latin typeface="Noto Sans CJK JP"/>
              </a:rPr>
              <a:t>• </a:t>
            </a:r>
            <a:r>
              <a:rPr sz="2200" b="0">
                <a:latin typeface="Noto Sans CJK JP"/>
              </a:rPr>
              <a:t>偏りを取り除けば、誤差0付近が多い左右対称の山で近似できる。</a:t>
            </a:r>
          </a:p>
          <a:p>
            <a:pPr>
              <a:spcAft>
                <a:spcPts val="400"/>
              </a:spcAft>
            </a:pPr>
            <a:r>
              <a:rPr sz="2200" b="0">
                <a:latin typeface="Noto Sans CJK JP"/>
              </a:rPr>
              <a:t>• </a:t>
            </a:r>
            <a:r>
              <a:rPr sz="2200" b="0">
                <a:latin typeface="Noto Sans CJK JP"/>
              </a:rPr>
              <a:t>過失・共通の偏り・強い連動がある場合は、無条件には使えない。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
        <p:nvSpPr>
          <p:cNvPr id="7" name="TextBox 6"/>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JCGM 100:2008（GUM）, G.2.1–G.2.2（本文p.71）。末尾にリンク。</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足し合わせると、なぜ山になる？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教材モデル：各要因が、独立に「−1」か「+1」を同じ確率で出す。</a:t>
            </a:r>
          </a:p>
          <a:p>
            <a:pPr>
              <a:spcAft>
                <a:spcPts val="400"/>
              </a:spcAft>
            </a:pPr>
            <a:r>
              <a:rPr sz="2000" b="0">
                <a:latin typeface="Noto Sans CJK JP"/>
              </a:rPr>
              <a:t>• </a:t>
            </a:r>
            <a:r>
              <a:rPr sz="2000" b="0">
                <a:latin typeface="Noto Sans CJK JP"/>
              </a:rPr>
              <a:t>真ん中付近になる組合せは多く、全部が同じ符号になる組合せは少ない。</a:t>
            </a:r>
          </a:p>
          <a:p>
            <a:pPr>
              <a:spcAft>
                <a:spcPts val="400"/>
              </a:spcAft>
            </a:pPr>
            <a:r>
              <a:rPr sz="2000" b="0">
                <a:latin typeface="Noto Sans CJK JP"/>
              </a:rPr>
              <a:t>• </a:t>
            </a:r>
            <a:r>
              <a:rPr sz="2000" b="0">
                <a:latin typeface="Noto Sans CJK JP"/>
              </a:rPr>
              <a:t>下図は厳密な二項確率。要因が増えると、標準化した山が正規曲線に近づく。</a:t>
            </a:r>
          </a:p>
        </p:txBody>
      </p:sp>
      <p:pic>
        <p:nvPicPr>
          <p:cNvPr id="5" name="Picture 4" descr="独立な小要因の和と正規近似"/>
          <p:cNvPicPr>
            <a:picLocks noChangeAspect="1"/>
          </p:cNvPicPr>
          <p:nvPr/>
        </p:nvPicPr>
        <p:blipFill>
          <a:blip r:embed="rId2"/>
          <a:stretch>
            <a:fillRect/>
          </a:stretch>
        </p:blipFill>
        <p:spPr>
          <a:xfrm>
            <a:off x="609447" y="3470406"/>
            <a:ext cx="10972800" cy="2386066"/>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G.2。図は説明用モデルの計算結果（実測値ではない）。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標準偏差①：散らばりを1つの数に</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600"/>
              </a:spcAft>
            </a:pPr>
            <a:r>
              <a:rPr sz="2000" b="1">
                <a:latin typeface="Noto Sans CJK JP"/>
              </a:rPr>
              <a:t>標準偏差＝平均のまわりの「散らばりの大きさ」。小さいほどそろう。</a:t>
            </a:r>
          </a:p>
          <a:p>
            <a:pPr>
              <a:spcAft>
                <a:spcPts val="400"/>
              </a:spcAft>
            </a:pPr>
            <a:r>
              <a:rPr sz="2000" b="0">
                <a:latin typeface="Noto Sans CJK JP"/>
              </a:rPr>
              <a:t>• </a:t>
            </a:r>
            <a:r>
              <a:rPr sz="2000" b="0">
                <a:latin typeface="Noto Sans CJK JP"/>
              </a:rPr>
              <a:t>残差 </a:t>
            </a:r>
            <a:r>
              <a:rPr sz="2000" b="0">
                <a:latin typeface="DejaVu Sans"/>
              </a:rPr>
              <a:t>v</a:t>
            </a:r>
            <a:r>
              <a:rPr sz="2000" b="0" baseline="-25000">
                <a:latin typeface="DejaVu Sans"/>
              </a:rPr>
              <a:t>i</a:t>
            </a:r>
            <a:r>
              <a:rPr sz="2000" b="0">
                <a:latin typeface="DejaVu Sans"/>
              </a:rPr>
              <a:t>=x</a:t>
            </a:r>
            <a:r>
              <a:rPr sz="2000" b="0" baseline="-25000">
                <a:latin typeface="DejaVu Sans"/>
              </a:rPr>
              <a:t>i</a:t>
            </a:r>
            <a:r>
              <a:rPr sz="2000" b="0">
                <a:latin typeface="DejaVu Sans"/>
              </a:rPr>
              <a:t>-x̄</a:t>
            </a:r>
            <a:r>
              <a:rPr sz="2000" b="0">
                <a:latin typeface="Noto Sans CJK JP"/>
              </a:rPr>
              <a:t>：平均からのずれ。</a:t>
            </a:r>
            <a:r>
              <a:rPr sz="2000" b="0">
                <a:latin typeface="DejaVu Sans"/>
              </a:rPr>
              <a:t>x̄</a:t>
            </a:r>
            <a:r>
              <a:rPr sz="2000" b="0">
                <a:latin typeface="Noto Sans CJK JP"/>
              </a:rPr>
              <a:t> は平均、</a:t>
            </a:r>
            <a:r>
              <a:rPr sz="2000" b="0">
                <a:latin typeface="DejaVu Sans"/>
              </a:rPr>
              <a:t>n</a:t>
            </a:r>
            <a:r>
              <a:rPr sz="2000" b="0">
                <a:latin typeface="Noto Sans CJK JP"/>
              </a:rPr>
              <a:t> は個数。</a:t>
            </a:r>
          </a:p>
          <a:p>
            <a:pPr>
              <a:spcAft>
                <a:spcPts val="400"/>
              </a:spcAft>
            </a:pPr>
            <a:r>
              <a:rPr sz="2000" b="0">
                <a:latin typeface="Noto Sans CJK JP"/>
              </a:rPr>
              <a:t>• </a:t>
            </a:r>
            <a:r>
              <a:rPr sz="2000" b="0">
                <a:latin typeface="Noto Sans CJK JP"/>
              </a:rPr>
              <a:t>手順：ずれを二乗 → 足す → </a:t>
            </a:r>
            <a:r>
              <a:rPr sz="2000" b="0">
                <a:latin typeface="DejaVu Sans"/>
              </a:rPr>
              <a:t>n-1</a:t>
            </a:r>
            <a:r>
              <a:rPr sz="2000" b="0">
                <a:latin typeface="Noto Sans CJK JP"/>
              </a:rPr>
              <a:t> で割る → 平方根を取る。</a:t>
            </a:r>
          </a:p>
        </p:txBody>
      </p:sp>
      <p:pic>
        <p:nvPicPr>
          <p:cNvPr id="5" name="Picture 4" descr="eq_13a946d93e8a.png"/>
          <p:cNvPicPr>
            <a:picLocks noChangeAspect="1"/>
          </p:cNvPicPr>
          <p:nvPr/>
        </p:nvPicPr>
        <p:blipFill>
          <a:blip r:embed="rId2"/>
          <a:stretch>
            <a:fillRect/>
          </a:stretch>
        </p:blipFill>
        <p:spPr>
          <a:xfrm>
            <a:off x="3173577" y="2763012"/>
            <a:ext cx="5844540" cy="740968"/>
          </a:xfrm>
          <a:prstGeom prst="rect">
            <a:avLst/>
          </a:prstGeom>
        </p:spPr>
      </p:pic>
      <p:sp>
        <p:nvSpPr>
          <p:cNvPr id="6" name="TextBox 5"/>
          <p:cNvSpPr txBox="1"/>
          <p:nvPr/>
        </p:nvSpPr>
        <p:spPr>
          <a:xfrm>
            <a:off x="548640" y="365942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例は998、1000、1002 mm。平均1000 mmからのずれは−2、0、+2 mm。</a:t>
            </a:r>
          </a:p>
          <a:p>
            <a:pPr>
              <a:spcAft>
                <a:spcPts val="400"/>
              </a:spcAft>
            </a:pPr>
            <a:r>
              <a:rPr sz="2000" b="0">
                <a:latin typeface="Noto Sans CJK JP"/>
              </a:rPr>
              <a:t>• </a:t>
            </a:r>
            <a:r>
              <a:rPr sz="2000" b="0">
                <a:latin typeface="Noto Sans CJK JP"/>
              </a:rPr>
              <a:t>平均を推定したため残差和は0。自由に決められるのは </a:t>
            </a:r>
            <a:r>
              <a:rPr sz="2000" b="0">
                <a:latin typeface="DejaVu Sans"/>
              </a:rPr>
              <a:t>n-1</a:t>
            </a:r>
            <a:r>
              <a:rPr sz="2000" b="0">
                <a:latin typeface="Noto Sans CJK JP"/>
              </a:rPr>
              <a:t> 個。</a:t>
            </a:r>
          </a:p>
          <a:p>
            <a:pPr>
              <a:spcAft>
                <a:spcPts val="400"/>
              </a:spcAft>
            </a:pPr>
            <a:r>
              <a:rPr sz="2000" b="0">
                <a:latin typeface="Noto Sans CJK JP"/>
              </a:rPr>
              <a:t>• </a:t>
            </a:r>
            <a:r>
              <a:rPr sz="2000" b="0">
                <a:latin typeface="Noto Sans CJK JP"/>
              </a:rPr>
              <a:t>二乗で mm²、平方根で mmに戻る。</a:t>
            </a:r>
            <a:r>
              <a:rPr sz="2000" b="0">
                <a:latin typeface="DejaVu Sans"/>
              </a:rPr>
              <a:t>σ</a:t>
            </a:r>
            <a:r>
              <a:rPr sz="2000" b="0">
                <a:latin typeface="Noto Sans CJK JP"/>
              </a:rPr>
              <a:t> は推定値（一般には </a:t>
            </a:r>
            <a:r>
              <a:rPr sz="2000" b="0">
                <a:latin typeface="DejaVu Sans"/>
              </a:rPr>
              <a:t>s</a:t>
            </a:r>
            <a:r>
              <a:rPr sz="2000" b="0">
                <a:latin typeface="Noto Sans CJK JP"/>
              </a:rPr>
              <a:t>）。</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4.2.2–4.2.3。高校のデータ記述で使う「nで割る分散」と区別。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2-2／2-4 標準偏差②：誤差の範囲と信頼区間</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観測1個の誤差</a:t>
            </a:r>
            <a:r>
              <a:rPr sz="2000" b="0">
                <a:latin typeface="Noto Sans CJK JP"/>
              </a:rPr>
              <a:t>：平均0の正規分布なら、母標準偏差 </a:t>
            </a:r>
            <a:r>
              <a:rPr sz="2000" b="0">
                <a:latin typeface="DejaVu Sans"/>
              </a:rPr>
              <a:t>τ</a:t>
            </a:r>
            <a:r>
              <a:rPr sz="2000" b="0">
                <a:latin typeface="Noto Sans CJK JP"/>
              </a:rPr>
              <a:t> の ±1倍に約68%、±2倍に約95%が入る（</a:t>
            </a:r>
            <a:r>
              <a:rPr sz="2000" b="0">
                <a:latin typeface="DejaVu Sans"/>
              </a:rPr>
              <a:t>σ</a:t>
            </a:r>
            <a:r>
              <a:rPr sz="2000" b="0">
                <a:latin typeface="Noto Sans CJK JP"/>
              </a:rPr>
              <a:t> は </a:t>
            </a:r>
            <a:r>
              <a:rPr sz="2000" b="0">
                <a:latin typeface="DejaVu Sans"/>
              </a:rPr>
              <a:t>τ</a:t>
            </a:r>
            <a:r>
              <a:rPr sz="2000" b="0">
                <a:latin typeface="Noto Sans CJK JP"/>
              </a:rPr>
              <a:t> の推定値）。</a:t>
            </a:r>
          </a:p>
          <a:p>
            <a:pPr>
              <a:spcAft>
                <a:spcPts val="400"/>
              </a:spcAft>
            </a:pPr>
            <a:r>
              <a:rPr sz="2000" b="0">
                <a:latin typeface="Noto Sans CJK JP"/>
              </a:rPr>
              <a:t>• </a:t>
            </a:r>
            <a:r>
              <a:rPr sz="2000" b="1">
                <a:latin typeface="Noto Sans CJK JP"/>
              </a:rPr>
              <a:t>平均から真値を探す95%信頼区間</a:t>
            </a:r>
            <a:r>
              <a:rPr sz="2000" b="0">
                <a:latin typeface="Noto Sans CJK JP"/>
              </a:rPr>
              <a:t>：独立・同精度・正規分布・偏りなしなら、</a:t>
            </a:r>
          </a:p>
        </p:txBody>
      </p:sp>
      <p:pic>
        <p:nvPicPr>
          <p:cNvPr id="5" name="Picture 4" descr="eq_963f776903d6.png"/>
          <p:cNvPicPr>
            <a:picLocks noChangeAspect="1"/>
          </p:cNvPicPr>
          <p:nvPr/>
        </p:nvPicPr>
        <p:blipFill>
          <a:blip r:embed="rId2"/>
          <a:stretch>
            <a:fillRect/>
          </a:stretch>
        </p:blipFill>
        <p:spPr>
          <a:xfrm>
            <a:off x="4742688" y="2763012"/>
            <a:ext cx="2706319" cy="443788"/>
          </a:xfrm>
          <a:prstGeom prst="rect">
            <a:avLst/>
          </a:prstGeom>
        </p:spPr>
      </p:pic>
      <p:sp>
        <p:nvSpPr>
          <p:cNvPr id="6" name="TextBox 5"/>
          <p:cNvSpPr txBox="1"/>
          <p:nvPr/>
        </p:nvSpPr>
        <p:spPr>
          <a:xfrm>
            <a:off x="548640" y="3362248"/>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95%とは、測定と区間作りを何度も繰り返すと、約95%が真値を含むこと。</a:t>
            </a:r>
          </a:p>
          <a:p>
            <a:pPr>
              <a:spcAft>
                <a:spcPts val="400"/>
              </a:spcAft>
            </a:pPr>
            <a:r>
              <a:rPr sz="2000" b="0">
                <a:latin typeface="Noto Sans CJK JP"/>
              </a:rPr>
              <a:t>• </a:t>
            </a:r>
            <a:r>
              <a:rPr sz="2000" b="0">
                <a:latin typeface="DejaVu Sans"/>
              </a:rPr>
              <a:t>t</a:t>
            </a:r>
            <a:r>
              <a:rPr sz="2000" b="0">
                <a:latin typeface="Noto Sans CJK JP"/>
              </a:rPr>
              <a:t> は少数観測の不確かさも考慮する係数。6回なら2.571（自由度5）。</a:t>
            </a:r>
          </a:p>
          <a:p>
            <a:pPr>
              <a:spcAft>
                <a:spcPts val="400"/>
              </a:spcAft>
            </a:pPr>
            <a:r>
              <a:rPr sz="2000" b="0">
                <a:latin typeface="Noto Sans CJK JP"/>
              </a:rPr>
              <a:t>• </a:t>
            </a:r>
            <a:r>
              <a:rPr sz="2000" b="0">
                <a:latin typeface="Noto Sans CJK JP"/>
              </a:rPr>
              <a:t>例：</a:t>
            </a:r>
            <a:r>
              <a:rPr sz="2000" b="0">
                <a:latin typeface="DejaVu Sans"/>
              </a:rPr>
              <a:t>x̄=50.005</a:t>
            </a:r>
            <a:r>
              <a:rPr sz="2000" b="0">
                <a:latin typeface="Noto Sans CJK JP"/>
              </a:rPr>
              <a:t> m、</a:t>
            </a:r>
            <a:r>
              <a:rPr sz="2000" b="0">
                <a:latin typeface="DejaVu Sans"/>
              </a:rPr>
              <a:t>σ/√6=1.183</a:t>
            </a:r>
            <a:r>
              <a:rPr sz="2000" b="0">
                <a:latin typeface="Noto Sans CJK JP"/>
              </a:rPr>
              <a:t> mmなら、平均を中心に±3.04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[2] NIST §1.3.5.2、[1] GUM G.3・表G.2。例の数値は後の例題A。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精度と確度</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精度</a:t>
            </a:r>
            <a:r>
              <a:rPr sz="2000" b="0">
                <a:latin typeface="Noto Sans CJK JP"/>
              </a:rPr>
              <a:t>＝何度も測った値のそろい方。</a:t>
            </a:r>
            <a:r>
              <a:rPr sz="2000" b="1">
                <a:latin typeface="Noto Sans CJK JP"/>
              </a:rPr>
              <a:t>確度</a:t>
            </a:r>
            <a:r>
              <a:rPr sz="2000" b="0">
                <a:latin typeface="Noto Sans CJK JP"/>
              </a:rPr>
              <a:t>＝真値への近さ。</a:t>
            </a:r>
          </a:p>
          <a:p>
            <a:pPr>
              <a:spcAft>
                <a:spcPts val="400"/>
              </a:spcAft>
            </a:pPr>
            <a:r>
              <a:rPr sz="2000" b="0">
                <a:latin typeface="Noto Sans CJK JP"/>
              </a:rPr>
              <a:t>• </a:t>
            </a:r>
            <a:r>
              <a:rPr sz="2000" b="0">
                <a:latin typeface="Noto Sans CJK JP"/>
              </a:rPr>
              <a:t>中心が真値、点が観測値。まとまっていても、中心を外れていれば偏りがある。</a:t>
            </a:r>
          </a:p>
        </p:txBody>
      </p:sp>
      <p:pic>
        <p:nvPicPr>
          <p:cNvPr id="5" name="Picture 4" descr="的の中心と観測点で比べる精度と確度"/>
          <p:cNvPicPr>
            <a:picLocks noChangeAspect="1"/>
          </p:cNvPicPr>
          <p:nvPr/>
        </p:nvPicPr>
        <p:blipFill>
          <a:blip r:embed="rId2"/>
          <a:stretch>
            <a:fillRect/>
          </a:stretch>
        </p:blipFill>
        <p:spPr>
          <a:xfrm>
            <a:off x="1607141" y="3337560"/>
            <a:ext cx="8977412"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有効数字と表示桁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12.340 m の末尾の0は、mm の位まで示した記録。</a:t>
            </a:r>
          </a:p>
          <a:p>
            <a:pPr>
              <a:spcAft>
                <a:spcPts val="400"/>
              </a:spcAft>
            </a:pPr>
            <a:r>
              <a:rPr sz="2200" b="0">
                <a:latin typeface="Noto Sans CJK JP"/>
              </a:rPr>
              <a:t>• </a:t>
            </a:r>
            <a:r>
              <a:rPr sz="2200" b="0">
                <a:latin typeface="Noto Sans CJK JP"/>
              </a:rPr>
              <a:t>0.0042 m の先頭の0は位取りで、有効数字は2桁。</a:t>
            </a:r>
          </a:p>
          <a:p>
            <a:pPr>
              <a:spcAft>
                <a:spcPts val="400"/>
              </a:spcAft>
            </a:pPr>
            <a:r>
              <a:rPr sz="2200" b="0">
                <a:latin typeface="Noto Sans CJK JP"/>
              </a:rPr>
              <a:t>• </a:t>
            </a:r>
            <a:r>
              <a:rPr sz="2200" b="0">
                <a:latin typeface="Noto Sans CJK JP"/>
              </a:rPr>
              <a:t>1 mm まで読む機器でも、誤差が1 mm以内とは限らない。</a:t>
            </a:r>
          </a:p>
          <a:p>
            <a:pPr>
              <a:spcAft>
                <a:spcPts val="400"/>
              </a:spcAft>
            </a:pPr>
            <a:r>
              <a:rPr sz="2200" b="0">
                <a:latin typeface="Noto Sans CJK JP"/>
              </a:rPr>
              <a:t>• </a:t>
            </a:r>
            <a:r>
              <a:rPr sz="2200" b="0">
                <a:latin typeface="Noto Sans CJK JP"/>
              </a:rPr>
              <a:t>計算機が表示する多数の桁を、そのまま成果の精度としない。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計算途中と最終結果の丸め</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途中計算は電卓内の桁を保持し、最後に丸める。</a:t>
            </a:r>
          </a:p>
          <a:p>
            <a:pPr>
              <a:spcAft>
                <a:spcPts val="400"/>
              </a:spcAft>
            </a:pPr>
            <a:r>
              <a:rPr sz="2200" b="0">
                <a:latin typeface="Noto Sans CJK JP"/>
              </a:rPr>
              <a:t>• </a:t>
            </a:r>
            <a:r>
              <a:rPr sz="2200" b="0">
                <a:latin typeface="Noto Sans CJK JP"/>
              </a:rPr>
              <a:t>距離の加減算は小数の位、乗除算は有効数字を意識する。</a:t>
            </a:r>
          </a:p>
          <a:p>
            <a:pPr>
              <a:spcAft>
                <a:spcPts val="400"/>
              </a:spcAft>
            </a:pPr>
            <a:r>
              <a:rPr sz="2200" b="0">
                <a:latin typeface="Noto Sans CJK JP"/>
              </a:rPr>
              <a:t>• </a:t>
            </a:r>
            <a:r>
              <a:rPr sz="2200" b="0">
                <a:latin typeface="Noto Sans CJK JP"/>
              </a:rPr>
              <a:t>実際の成果は、要求仕様と不確かさに応じた桁で示す。</a:t>
            </a:r>
          </a:p>
          <a:p>
            <a:pPr>
              <a:spcAft>
                <a:spcPts val="400"/>
              </a:spcAft>
            </a:pPr>
            <a:r>
              <a:rPr sz="2200" b="0">
                <a:latin typeface="Noto Sans CJK JP"/>
              </a:rPr>
              <a:t>• </a:t>
            </a:r>
            <a:r>
              <a:rPr sz="2200" b="0">
                <a:latin typeface="Noto Sans CJK JP"/>
              </a:rPr>
              <a:t>本日の距離は0.001 m、標準偏差は0.01 mmまで。</a:t>
            </a:r>
          </a:p>
          <a:p>
            <a:pPr>
              <a:spcAft>
                <a:spcPts val="400"/>
              </a:spcAft>
            </a:pPr>
            <a:r>
              <a:rPr sz="2200" b="0">
                <a:latin typeface="Noto Sans CJK JP"/>
              </a:rPr>
              <a:t>• </a:t>
            </a:r>
            <a:r>
              <a:rPr sz="2200" b="0">
                <a:latin typeface="Noto Sans CJK JP"/>
              </a:rPr>
              <a:t>例：</a:t>
            </a:r>
            <a:r>
              <a:rPr sz="2200" b="0">
                <a:latin typeface="DejaVu Sans"/>
              </a:rPr>
              <a:t>2.898275… mm→2.90 mm</a:t>
            </a:r>
            <a:r>
              <a:rPr sz="2200" b="0">
                <a:latin typeface="Noto Sans CJK JP"/>
              </a:rPr>
              <a:t>（四捨五入）</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2-2 旧用語：確率誤差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確率誤差を </a:t>
            </a:r>
            <a:r>
              <a:rPr sz="2200" b="0">
                <a:latin typeface="DejaVu Sans"/>
              </a:rPr>
              <a:t>r</a:t>
            </a:r>
            <a:r>
              <a:rPr sz="2200" b="0">
                <a:latin typeface="Noto Sans CJK JP"/>
              </a:rPr>
              <a:t> とすると、正規分布では </a:t>
            </a:r>
            <a:r>
              <a:rPr sz="2200" b="0">
                <a:latin typeface="DejaVu Sans"/>
              </a:rPr>
              <a:t>r=0.6745σ</a:t>
            </a:r>
            <a:r>
              <a:rPr sz="2200" b="0">
                <a:latin typeface="Noto Sans CJK JP"/>
              </a:rPr>
              <a:t>。</a:t>
            </a:r>
          </a:p>
          <a:p>
            <a:pPr>
              <a:spcAft>
                <a:spcPts val="400"/>
              </a:spcAft>
            </a:pPr>
            <a:r>
              <a:rPr sz="2200" b="0">
                <a:latin typeface="Noto Sans CJK JP"/>
              </a:rPr>
              <a:t>• </a:t>
            </a:r>
            <a:r>
              <a:rPr sz="2200" b="0">
                <a:latin typeface="Noto Sans CJK JP"/>
              </a:rPr>
              <a:t>誤差が </a:t>
            </a:r>
            <a:r>
              <a:rPr sz="2200" b="0">
                <a:latin typeface="DejaVu Sans"/>
              </a:rPr>
              <a:t>-r</a:t>
            </a:r>
            <a:r>
              <a:rPr sz="2200" b="0">
                <a:latin typeface="Noto Sans CJK JP"/>
              </a:rPr>
              <a:t> 〜 </a:t>
            </a:r>
            <a:r>
              <a:rPr sz="2200" b="0">
                <a:latin typeface="DejaVu Sans"/>
              </a:rPr>
              <a:t>+r</a:t>
            </a:r>
            <a:r>
              <a:rPr sz="2200" b="0">
                <a:latin typeface="Noto Sans CJK JP"/>
              </a:rPr>
              <a:t> に入る確率が50%となる幅。</a:t>
            </a:r>
          </a:p>
          <a:p>
            <a:pPr>
              <a:spcAft>
                <a:spcPts val="400"/>
              </a:spcAft>
            </a:pPr>
            <a:r>
              <a:rPr sz="2200" b="0">
                <a:latin typeface="Noto Sans CJK JP"/>
              </a:rPr>
              <a:t>• </a:t>
            </a:r>
            <a:r>
              <a:rPr sz="2200" b="0">
                <a:latin typeface="Noto Sans CJK JP"/>
              </a:rPr>
              <a:t>最大誤差や、95%の範囲を意味する用語ではない。</a:t>
            </a:r>
          </a:p>
          <a:p>
            <a:pPr>
              <a:spcAft>
                <a:spcPts val="400"/>
              </a:spcAft>
            </a:pPr>
            <a:r>
              <a:rPr sz="2200" b="0">
                <a:latin typeface="Noto Sans CJK JP"/>
              </a:rPr>
              <a:t>• </a:t>
            </a:r>
            <a:r>
              <a:rPr sz="2200" b="0">
                <a:latin typeface="Noto Sans CJK JP"/>
              </a:rPr>
              <a:t>旧来の資料の読解用に知り、本講義の計算は標準偏差で統一。</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最確値：同精度なら算術平均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x̄</a:t>
            </a:r>
            <a:r>
              <a:rPr sz="2200" b="0">
                <a:latin typeface="Noto Sans CJK JP"/>
              </a:rPr>
              <a:t>：同じ量を測った観測値から求める最確値</a:t>
            </a:r>
          </a:p>
        </p:txBody>
      </p:sp>
      <p:pic>
        <p:nvPicPr>
          <p:cNvPr id="5" name="Picture 4" descr="eq_461c227d36c2.png"/>
          <p:cNvPicPr>
            <a:picLocks noChangeAspect="1"/>
          </p:cNvPicPr>
          <p:nvPr/>
        </p:nvPicPr>
        <p:blipFill>
          <a:blip r:embed="rId2"/>
          <a:stretch>
            <a:fillRect/>
          </a:stretch>
        </p:blipFill>
        <p:spPr>
          <a:xfrm>
            <a:off x="5444033" y="2014982"/>
            <a:ext cx="1303629" cy="923239"/>
          </a:xfrm>
          <a:prstGeom prst="rect">
            <a:avLst/>
          </a:prstGeom>
        </p:spPr>
      </p:pic>
      <p:sp>
        <p:nvSpPr>
          <p:cNvPr id="6" name="TextBox 5"/>
          <p:cNvSpPr txBox="1"/>
          <p:nvPr/>
        </p:nvSpPr>
        <p:spPr>
          <a:xfrm>
            <a:off x="548640" y="3093669"/>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 なら、</a:t>
            </a:r>
            <a:r>
              <a:rPr sz="2200" b="0">
                <a:latin typeface="DejaVu Sans"/>
              </a:rPr>
              <a:t>x̄</a:t>
            </a:r>
            <a:r>
              <a:rPr sz="2200" b="0">
                <a:latin typeface="Noto Sans CJK JP"/>
              </a:rPr>
              <a:t> も m。</a:t>
            </a:r>
          </a:p>
          <a:p>
            <a:pPr>
              <a:spcAft>
                <a:spcPts val="400"/>
              </a:spcAft>
            </a:pPr>
            <a:r>
              <a:rPr sz="2200" b="0">
                <a:latin typeface="Noto Sans CJK JP"/>
              </a:rPr>
              <a:t>• </a:t>
            </a:r>
            <a:r>
              <a:rPr sz="2200" b="0">
                <a:latin typeface="Noto Sans CJK JP"/>
              </a:rPr>
              <a:t>真値そのものではなく、観測モデルに基づく推定値。</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平均を取る前の点検</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平均ボタンを押す前に、「同じものを比べている？」を確かめる。</a:t>
            </a:r>
          </a:p>
          <a:p>
            <a:pPr>
              <a:spcAft>
                <a:spcPts val="400"/>
              </a:spcAft>
            </a:pPr>
            <a:r>
              <a:rPr sz="2000" b="0">
                <a:latin typeface="Noto Sans CJK JP"/>
              </a:rPr>
              <a:t>• </a:t>
            </a:r>
            <a:r>
              <a:rPr sz="2000" b="0">
                <a:latin typeface="Noto Sans CJK JP"/>
              </a:rPr>
              <a:t>100 cmと1.02 mは、単位をそろえれば平均できる。</a:t>
            </a:r>
          </a:p>
          <a:p>
            <a:pPr>
              <a:spcAft>
                <a:spcPts val="400"/>
              </a:spcAft>
            </a:pPr>
            <a:r>
              <a:rPr sz="2000" b="0">
                <a:latin typeface="Noto Sans CJK JP"/>
              </a:rPr>
              <a:t>• </a:t>
            </a:r>
            <a:r>
              <a:rPr sz="2000" b="0">
                <a:latin typeface="Noto Sans CJK JP"/>
              </a:rPr>
              <a:t>坂に沿う長さと真上から見た長さは別物。まず同じ種類の距離へ換算する。</a:t>
            </a:r>
          </a:p>
          <a:p>
            <a:pPr>
              <a:spcAft>
                <a:spcPts val="400"/>
              </a:spcAft>
            </a:pPr>
            <a:r>
              <a:rPr sz="2000" b="0">
                <a:latin typeface="Noto Sans CJK JP"/>
              </a:rPr>
              <a:t>• </a:t>
            </a:r>
            <a:r>
              <a:rPr sz="2000" b="0">
                <a:latin typeface="Noto Sans CJK JP"/>
              </a:rPr>
              <a:t>数字が大きく離れたら記録・条件を確認する。自動で削除しない。</a:t>
            </a:r>
          </a:p>
        </p:txBody>
      </p:sp>
      <p:pic>
        <p:nvPicPr>
          <p:cNvPr id="5" name="Picture 4" descr="観測の点検から平均までの判断フロー"/>
          <p:cNvPicPr>
            <a:picLocks noChangeAspect="1"/>
          </p:cNvPicPr>
          <p:nvPr/>
        </p:nvPicPr>
        <p:blipFill>
          <a:blip r:embed="rId2"/>
          <a:stretch>
            <a:fillRect/>
          </a:stretch>
        </p:blipFill>
        <p:spPr>
          <a:xfrm>
            <a:off x="609447" y="3347987"/>
            <a:ext cx="10972800" cy="2630905"/>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最小二乗法への入口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 を最確値の候補、</a:t>
            </a:r>
            <a:r>
              <a:rPr sz="2200" b="0">
                <a:latin typeface="DejaVu Sans"/>
              </a:rPr>
              <a:t>Q(a)</a:t>
            </a:r>
            <a:r>
              <a:rPr sz="2200" b="0">
                <a:latin typeface="Noto Sans CJK JP"/>
              </a:rPr>
              <a:t> を候補からの差の平方和とする。</a:t>
            </a:r>
          </a:p>
        </p:txBody>
      </p:sp>
      <p:pic>
        <p:nvPicPr>
          <p:cNvPr id="5" name="Picture 4" descr="eq_4113cbc0339d.png"/>
          <p:cNvPicPr>
            <a:picLocks noChangeAspect="1"/>
          </p:cNvPicPr>
          <p:nvPr/>
        </p:nvPicPr>
        <p:blipFill>
          <a:blip r:embed="rId2"/>
          <a:stretch>
            <a:fillRect/>
          </a:stretch>
        </p:blipFill>
        <p:spPr>
          <a:xfrm>
            <a:off x="4487113" y="2014982"/>
            <a:ext cx="3217468" cy="954938"/>
          </a:xfrm>
          <a:prstGeom prst="rect">
            <a:avLst/>
          </a:prstGeom>
        </p:spPr>
      </p:pic>
      <p:sp>
        <p:nvSpPr>
          <p:cNvPr id="6" name="TextBox 5"/>
          <p:cNvSpPr txBox="1"/>
          <p:nvPr/>
        </p:nvSpPr>
        <p:spPr>
          <a:xfrm>
            <a:off x="548640" y="3125368"/>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正負の差を打ち消さず、大きなずれを強く評価する。</a:t>
            </a:r>
          </a:p>
          <a:p>
            <a:pPr>
              <a:spcAft>
                <a:spcPts val="400"/>
              </a:spcAft>
            </a:pPr>
            <a:r>
              <a:rPr sz="2200" b="0">
                <a:latin typeface="Noto Sans CJK JP"/>
              </a:rPr>
              <a:t>• </a:t>
            </a:r>
            <a:r>
              <a:rPr sz="2200" b="0">
                <a:latin typeface="DejaVu Sans"/>
              </a:rPr>
              <a:t>Q(a)</a:t>
            </a:r>
            <a:r>
              <a:rPr sz="2200" b="0">
                <a:latin typeface="Noto Sans CJK JP"/>
              </a:rPr>
              <a:t> が最小になる </a:t>
            </a:r>
            <a:r>
              <a:rPr sz="2200" b="0">
                <a:latin typeface="DejaVu Sans"/>
              </a:rPr>
              <a:t>a</a:t>
            </a:r>
            <a:r>
              <a:rPr sz="2200" b="0">
                <a:latin typeface="Noto Sans CJK JP"/>
              </a:rPr>
              <a:t> を探す。</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二乗和が最小になる値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5b2200643bd.png"/>
          <p:cNvPicPr>
            <a:picLocks noChangeAspect="1"/>
          </p:cNvPicPr>
          <p:nvPr/>
        </p:nvPicPr>
        <p:blipFill>
          <a:blip r:embed="rId2"/>
          <a:stretch>
            <a:fillRect/>
          </a:stretch>
        </p:blipFill>
        <p:spPr>
          <a:xfrm>
            <a:off x="2836773" y="1444752"/>
            <a:ext cx="6518148" cy="657758"/>
          </a:xfrm>
          <a:prstGeom prst="rect">
            <a:avLst/>
          </a:prstGeom>
        </p:spPr>
      </p:pic>
      <p:pic>
        <p:nvPicPr>
          <p:cNvPr id="5" name="Picture 4" descr="eq_7e37c0b1af38.png"/>
          <p:cNvPicPr>
            <a:picLocks noChangeAspect="1"/>
          </p:cNvPicPr>
          <p:nvPr/>
        </p:nvPicPr>
        <p:blipFill>
          <a:blip r:embed="rId3"/>
          <a:stretch>
            <a:fillRect/>
          </a:stretch>
        </p:blipFill>
        <p:spPr>
          <a:xfrm>
            <a:off x="5024018" y="2331110"/>
            <a:ext cx="2143658" cy="626059"/>
          </a:xfrm>
          <a:prstGeom prst="rect">
            <a:avLst/>
          </a:prstGeom>
        </p:spPr>
      </p:pic>
      <p:sp>
        <p:nvSpPr>
          <p:cNvPr id="6" name="TextBox 5"/>
          <p:cNvSpPr txBox="1"/>
          <p:nvPr/>
        </p:nvSpPr>
        <p:spPr>
          <a:xfrm>
            <a:off x="548640" y="311261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同精度では、</a:t>
            </a:r>
            <a:r>
              <a:rPr sz="2200" b="1">
                <a:latin typeface="Noto Sans CJK JP"/>
              </a:rPr>
              <a:t>算術平均が残差平方和を最小にする。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残差と検算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残差 </a:t>
            </a:r>
            <a:r>
              <a:rPr sz="2200" b="0">
                <a:latin typeface="DejaVu Sans"/>
              </a:rPr>
              <a:t>v</a:t>
            </a:r>
            <a:r>
              <a:rPr sz="2200" b="0" baseline="-25000">
                <a:latin typeface="DejaVu Sans"/>
              </a:rPr>
              <a:t>i</a:t>
            </a:r>
            <a:r>
              <a:rPr sz="2200" b="0">
                <a:latin typeface="DejaVu Sans"/>
              </a:rPr>
              <a:t>=x</a:t>
            </a:r>
            <a:r>
              <a:rPr sz="2200" b="0" baseline="-25000">
                <a:latin typeface="DejaVu Sans"/>
              </a:rPr>
              <a:t>i</a:t>
            </a:r>
            <a:r>
              <a:rPr sz="2200" b="0">
                <a:latin typeface="DejaVu Sans"/>
              </a:rPr>
              <a:t>-x̄</a:t>
            </a:r>
            <a:r>
              <a:rPr sz="2200" b="0">
                <a:latin typeface="Noto Sans CJK JP"/>
              </a:rPr>
              <a:t>：観測値から最確値を引いた値</a:t>
            </a:r>
          </a:p>
        </p:txBody>
      </p:sp>
      <p:pic>
        <p:nvPicPr>
          <p:cNvPr id="5" name="Picture 4" descr="eq_93c748a25702.png"/>
          <p:cNvPicPr>
            <a:picLocks noChangeAspect="1"/>
          </p:cNvPicPr>
          <p:nvPr/>
        </p:nvPicPr>
        <p:blipFill>
          <a:blip r:embed="rId2"/>
          <a:stretch>
            <a:fillRect/>
          </a:stretch>
        </p:blipFill>
        <p:spPr>
          <a:xfrm>
            <a:off x="4445508" y="2014982"/>
            <a:ext cx="3300679" cy="475488"/>
          </a:xfrm>
          <a:prstGeom prst="rect">
            <a:avLst/>
          </a:prstGeom>
        </p:spPr>
      </p:pic>
      <p:sp>
        <p:nvSpPr>
          <p:cNvPr id="6" name="TextBox 5"/>
          <p:cNvSpPr txBox="1"/>
          <p:nvPr/>
        </p:nvSpPr>
        <p:spPr>
          <a:xfrm>
            <a:off x="548640" y="264591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観測値が平均より大きければ、残差は正。</a:t>
            </a:r>
          </a:p>
          <a:p>
            <a:pPr>
              <a:spcAft>
                <a:spcPts val="400"/>
              </a:spcAft>
            </a:pPr>
            <a:r>
              <a:rPr sz="2200" b="0">
                <a:latin typeface="Noto Sans CJK JP"/>
              </a:rPr>
              <a:t>• </a:t>
            </a:r>
            <a:r>
              <a:rPr sz="2200" b="0">
                <a:latin typeface="Noto Sans CJK JP"/>
              </a:rPr>
              <a:t>真の誤差 </a:t>
            </a:r>
            <a:r>
              <a:rPr sz="2200" b="0">
                <a:latin typeface="DejaVu Sans"/>
              </a:rPr>
              <a:t>ε</a:t>
            </a:r>
            <a:r>
              <a:rPr sz="2200" b="0" baseline="-25000">
                <a:latin typeface="DejaVu Sans"/>
              </a:rPr>
              <a:t>i</a:t>
            </a:r>
            <a:r>
              <a:rPr sz="2200" b="0">
                <a:latin typeface="DejaVu Sans"/>
              </a:rPr>
              <a:t>=x</a:t>
            </a:r>
            <a:r>
              <a:rPr sz="2200" b="0" baseline="-25000">
                <a:latin typeface="DejaVu Sans"/>
              </a:rPr>
              <a:t>i</a:t>
            </a:r>
            <a:r>
              <a:rPr sz="2200" b="0">
                <a:latin typeface="DejaVu Sans"/>
              </a:rPr>
              <a:t>-X</a:t>
            </a:r>
            <a:r>
              <a:rPr sz="2200" b="0">
                <a:latin typeface="Noto Sans CJK JP"/>
              </a:rPr>
              <a:t> とは異なる。</a:t>
            </a:r>
          </a:p>
          <a:p>
            <a:pPr>
              <a:spcAft>
                <a:spcPts val="400"/>
              </a:spcAft>
            </a:pPr>
            <a:r>
              <a:rPr sz="2200" b="0">
                <a:latin typeface="Noto Sans CJK JP"/>
              </a:rPr>
              <a:t>• </a:t>
            </a:r>
            <a:r>
              <a:rPr sz="2200" b="0">
                <a:latin typeface="Noto Sans CJK JP"/>
              </a:rPr>
              <a:t>平均を早く丸めると、残差和が0からずれることがある。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2-3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同精度の3観測の残差が、</a:t>
            </a:r>
            <a:r>
              <a:rPr sz="2200" b="1">
                <a:latin typeface="DejaVu Sans"/>
              </a:rPr>
              <a:t>-2, +1, +3</a:t>
            </a:r>
            <a:r>
              <a:rPr sz="2200" b="1">
                <a:latin typeface="Noto Sans CJK JP"/>
              </a:rPr>
              <a:t> mmとなった。</a:t>
            </a:r>
          </a:p>
          <a:p>
            <a:pPr>
              <a:spcAft>
                <a:spcPts val="600"/>
              </a:spcAft>
            </a:pPr>
            <a:r>
              <a:rPr sz="2200" b="0">
                <a:latin typeface="Noto Sans CJK JP"/>
              </a:rPr>
              <a:t>丸め前の算術平均に対する残差として正しいか。 検算式を使って答えよう。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σ</a:t>
            </a:r>
            <a:r>
              <a:rPr sz="2200" b="0" baseline="-25000">
                <a:latin typeface="DejaVu Sans"/>
              </a:rPr>
              <a:t>x̄</a:t>
            </a:r>
            <a:r>
              <a:rPr sz="2200" b="0">
                <a:latin typeface="Noto Sans CJK JP"/>
              </a:rPr>
              <a:t>：平均という推定値のばらつき</a:t>
            </a:r>
          </a:p>
        </p:txBody>
      </p:sp>
      <p:pic>
        <p:nvPicPr>
          <p:cNvPr id="5" name="Picture 4" descr="eq_dd8df758a751.png"/>
          <p:cNvPicPr>
            <a:picLocks noChangeAspect="1"/>
          </p:cNvPicPr>
          <p:nvPr/>
        </p:nvPicPr>
        <p:blipFill>
          <a:blip r:embed="rId2"/>
          <a:stretch>
            <a:fillRect/>
          </a:stretch>
        </p:blipFill>
        <p:spPr>
          <a:xfrm>
            <a:off x="5461863" y="2014982"/>
            <a:ext cx="1267968" cy="495300"/>
          </a:xfrm>
          <a:prstGeom prst="rect">
            <a:avLst/>
          </a:prstGeom>
        </p:spPr>
      </p:pic>
      <p:sp>
        <p:nvSpPr>
          <p:cNvPr id="6" name="TextBox 5"/>
          <p:cNvSpPr txBox="1"/>
          <p:nvPr/>
        </p:nvSpPr>
        <p:spPr>
          <a:xfrm>
            <a:off x="548640" y="266573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独立・同精度の観測に適用する。</a:t>
            </a:r>
          </a:p>
          <a:p>
            <a:pPr>
              <a:spcAft>
                <a:spcPts val="400"/>
              </a:spcAft>
            </a:pPr>
            <a:r>
              <a:rPr sz="2200" b="0">
                <a:latin typeface="Noto Sans CJK JP"/>
              </a:rPr>
              <a:t>• </a:t>
            </a:r>
            <a:r>
              <a:rPr sz="2200" b="0">
                <a:latin typeface="Noto Sans CJK JP"/>
              </a:rPr>
              <a:t>観測1個の </a:t>
            </a:r>
            <a:r>
              <a:rPr sz="2200" b="0">
                <a:latin typeface="DejaVu Sans"/>
              </a:rPr>
              <a:t>σ</a:t>
            </a:r>
            <a:r>
              <a:rPr sz="2200" b="0">
                <a:latin typeface="Noto Sans CJK JP"/>
              </a:rPr>
              <a:t> と、平均の </a:t>
            </a:r>
            <a:r>
              <a:rPr sz="2200" b="0">
                <a:latin typeface="DejaVu Sans"/>
              </a:rPr>
              <a:t>σ</a:t>
            </a:r>
            <a:r>
              <a:rPr sz="2200" b="0" baseline="-25000">
                <a:latin typeface="DejaVu Sans"/>
              </a:rPr>
              <a:t>x̄</a:t>
            </a:r>
            <a:r>
              <a:rPr sz="2200" b="0">
                <a:latin typeface="Noto Sans CJK JP"/>
              </a:rPr>
              <a:t> を区別する。</a:t>
            </a:r>
          </a:p>
          <a:p>
            <a:pPr>
              <a:spcAft>
                <a:spcPts val="400"/>
              </a:spcAft>
            </a:pPr>
            <a:r>
              <a:rPr sz="2200" b="0">
                <a:latin typeface="Noto Sans CJK JP"/>
              </a:rPr>
              <a:t>• </a:t>
            </a:r>
            <a:r>
              <a:rPr sz="2200" b="0">
                <a:latin typeface="Noto Sans CJK JP"/>
              </a:rPr>
              <a:t>例：</a:t>
            </a:r>
            <a:r>
              <a:rPr sz="2200" b="0">
                <a:latin typeface="DejaVu Sans"/>
              </a:rPr>
              <a:t>σ=4</a:t>
            </a:r>
            <a:r>
              <a:rPr sz="2200" b="0">
                <a:latin typeface="Noto Sans CJK JP"/>
              </a:rPr>
              <a:t> mm、</a:t>
            </a:r>
            <a:r>
              <a:rPr sz="2200" b="0">
                <a:latin typeface="DejaVu Sans"/>
              </a:rPr>
              <a:t>n=4</a:t>
            </a:r>
            <a:r>
              <a:rPr sz="2200" b="0">
                <a:latin typeface="Noto Sans CJK JP"/>
              </a:rPr>
              <a:t> なら </a:t>
            </a:r>
            <a:r>
              <a:rPr sz="2200" b="0">
                <a:latin typeface="DejaVu Sans"/>
              </a:rPr>
              <a:t>σ</a:t>
            </a:r>
            <a:r>
              <a:rPr sz="2200" b="0" baseline="-25000">
                <a:latin typeface="DejaVu Sans"/>
              </a:rPr>
              <a:t>x̄</a:t>
            </a:r>
            <a:r>
              <a:rPr sz="2200" b="0">
                <a:latin typeface="DejaVu Sans"/>
              </a:rPr>
              <a:t>=2</a:t>
            </a:r>
            <a:r>
              <a:rPr sz="2200" b="0">
                <a:latin typeface="Noto Sans CJK JP"/>
              </a:rPr>
              <a:t>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平均への誤差伝播：4回平均で考える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600"/>
              </a:spcAft>
            </a:pPr>
            <a:r>
              <a:rPr sz="2000" b="1">
                <a:latin typeface="Noto Sans CJK JP"/>
              </a:rPr>
              <a:t>平均を取ると、一つの観測のずれは「4分の1」だけ結果に伝わる。</a:t>
            </a:r>
          </a:p>
          <a:p>
            <a:pPr>
              <a:spcAft>
                <a:spcPts val="400"/>
              </a:spcAft>
            </a:pPr>
            <a:r>
              <a:rPr sz="2000" b="0">
                <a:latin typeface="Noto Sans CJK JP"/>
              </a:rPr>
              <a:t>• </a:t>
            </a:r>
            <a:r>
              <a:rPr sz="2000" b="0">
                <a:latin typeface="Noto Sans CJK JP"/>
              </a:rPr>
              <a:t>4回の平均では、一つだけ4 mm大きくなると、平均は1 mm大きくなる。</a:t>
            </a:r>
          </a:p>
          <a:p>
            <a:pPr>
              <a:spcAft>
                <a:spcPts val="400"/>
              </a:spcAft>
            </a:pPr>
            <a:r>
              <a:rPr sz="2000" b="0">
                <a:latin typeface="Noto Sans CJK JP"/>
              </a:rPr>
              <a:t>• </a:t>
            </a:r>
            <a:r>
              <a:rPr sz="2000" b="0">
                <a:latin typeface="Noto Sans CJK JP"/>
              </a:rPr>
              <a:t>ただし4回とも揺れるので、最終的な標準偏差は単純に4分の1にはならない。</a:t>
            </a:r>
          </a:p>
          <a:p>
            <a:pPr>
              <a:spcAft>
                <a:spcPts val="400"/>
              </a:spcAft>
            </a:pPr>
            <a:r>
              <a:rPr sz="2000" b="0">
                <a:latin typeface="Noto Sans CJK JP"/>
              </a:rPr>
              <a:t>• </a:t>
            </a:r>
            <a:r>
              <a:rPr sz="2000" b="0">
                <a:latin typeface="Noto Sans CJK JP"/>
              </a:rPr>
              <a:t>独立な揺らぎは「標準偏差の二乗＝分散」で足し合わせる。</a:t>
            </a:r>
          </a:p>
        </p:txBody>
      </p:sp>
      <p:pic>
        <p:nvPicPr>
          <p:cNvPr id="5" name="Picture 4" descr="4つの観測が平均へ伝わる割合"/>
          <p:cNvPicPr>
            <a:picLocks noChangeAspect="1"/>
          </p:cNvPicPr>
          <p:nvPr/>
        </p:nvPicPr>
        <p:blipFill>
          <a:blip r:embed="rId2"/>
          <a:stretch>
            <a:fillRect/>
          </a:stretch>
        </p:blipFill>
        <p:spPr>
          <a:xfrm>
            <a:off x="989417" y="3337560"/>
            <a:ext cx="10212859" cy="2651760"/>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5.1.2（分散の伝播）。次のスライドで数値計算。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平均への誤差伝播：二乗して足す理由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分散＝ずれの二乗の平均。独立で平均0のずれ同士は、積の平均が0。</a:t>
            </a:r>
          </a:p>
          <a:p>
            <a:pPr>
              <a:spcAft>
                <a:spcPts val="400"/>
              </a:spcAft>
            </a:pPr>
            <a:r>
              <a:rPr sz="2000" b="0">
                <a:latin typeface="Noto Sans CJK JP"/>
              </a:rPr>
              <a:t>• </a:t>
            </a:r>
            <a:r>
              <a:rPr sz="2000" b="0">
                <a:latin typeface="Noto Sans CJK JP"/>
              </a:rPr>
              <a:t>ずれを </a:t>
            </a:r>
            <a:r>
              <a:rPr sz="2000" b="0">
                <a:latin typeface="DejaVu Sans"/>
              </a:rPr>
              <a:t>1/n</a:t>
            </a:r>
            <a:r>
              <a:rPr sz="2000" b="0">
                <a:latin typeface="Noto Sans CJK JP"/>
              </a:rPr>
              <a:t> 倍すると、その二乗は </a:t>
            </a:r>
            <a:r>
              <a:rPr sz="2000" b="0">
                <a:latin typeface="DejaVu Sans"/>
              </a:rPr>
              <a:t>1/n</a:t>
            </a:r>
            <a:r>
              <a:rPr sz="2000" b="0" baseline="30000">
                <a:latin typeface="DejaVu Sans"/>
              </a:rPr>
              <a:t>2</a:t>
            </a:r>
            <a:r>
              <a:rPr sz="2000" b="0">
                <a:latin typeface="Noto Sans CJK JP"/>
              </a:rPr>
              <a:t> 倍。これを </a:t>
            </a:r>
            <a:r>
              <a:rPr sz="2000" b="0">
                <a:latin typeface="DejaVu Sans"/>
              </a:rPr>
              <a:t>n</a:t>
            </a:r>
            <a:r>
              <a:rPr sz="2000" b="0">
                <a:latin typeface="Noto Sans CJK JP"/>
              </a:rPr>
              <a:t> 個足す。</a:t>
            </a:r>
          </a:p>
        </p:txBody>
      </p:sp>
      <p:pic>
        <p:nvPicPr>
          <p:cNvPr id="5" name="Picture 4" descr="eq_84f4a6673ff6.png"/>
          <p:cNvPicPr>
            <a:picLocks noChangeAspect="1"/>
          </p:cNvPicPr>
          <p:nvPr/>
        </p:nvPicPr>
        <p:blipFill>
          <a:blip r:embed="rId2"/>
          <a:stretch>
            <a:fillRect/>
          </a:stretch>
        </p:blipFill>
        <p:spPr>
          <a:xfrm>
            <a:off x="3314243" y="2369312"/>
            <a:ext cx="5563209" cy="526999"/>
          </a:xfrm>
          <a:prstGeom prst="rect">
            <a:avLst/>
          </a:prstGeom>
        </p:spPr>
      </p:pic>
      <p:sp>
        <p:nvSpPr>
          <p:cNvPr id="6" name="TextBox 5"/>
          <p:cNvSpPr txBox="1"/>
          <p:nvPr/>
        </p:nvSpPr>
        <p:spPr>
          <a:xfrm>
            <a:off x="548640" y="3051759"/>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DejaVu Sans"/>
              </a:rPr>
              <a:t>Var</a:t>
            </a:r>
            <a:r>
              <a:rPr sz="2000" b="0">
                <a:latin typeface="Noto Sans CJK JP"/>
              </a:rPr>
              <a:t> は分散。母標準偏差 </a:t>
            </a:r>
            <a:r>
              <a:rPr sz="2000" b="0">
                <a:latin typeface="DejaVu Sans"/>
              </a:rPr>
              <a:t>τ</a:t>
            </a:r>
            <a:r>
              <a:rPr sz="2000" b="0">
                <a:latin typeface="Noto Sans CJK JP"/>
              </a:rPr>
              <a:t> を、データの </a:t>
            </a:r>
            <a:r>
              <a:rPr sz="2000" b="0">
                <a:latin typeface="DejaVu Sans"/>
              </a:rPr>
              <a:t>σ</a:t>
            </a:r>
            <a:r>
              <a:rPr sz="2000" b="0">
                <a:latin typeface="Noto Sans CJK JP"/>
              </a:rPr>
              <a:t> で推定する。</a:t>
            </a:r>
          </a:p>
          <a:p>
            <a:pPr>
              <a:spcAft>
                <a:spcPts val="400"/>
              </a:spcAft>
            </a:pPr>
            <a:r>
              <a:rPr sz="2000" b="0">
                <a:latin typeface="Noto Sans CJK JP"/>
              </a:rPr>
              <a:t>• </a:t>
            </a:r>
            <a:r>
              <a:rPr sz="2000" b="0">
                <a:latin typeface="Noto Sans CJK JP"/>
              </a:rPr>
              <a:t>各観測の </a:t>
            </a:r>
            <a:r>
              <a:rPr sz="2000" b="0">
                <a:latin typeface="DejaVu Sans"/>
              </a:rPr>
              <a:t>σ=4</a:t>
            </a:r>
            <a:r>
              <a:rPr sz="2000" b="0">
                <a:latin typeface="Noto Sans CJK JP"/>
              </a:rPr>
              <a:t> mm、4回平均なら：分散 </a:t>
            </a:r>
            <a:r>
              <a:rPr sz="2000" b="0">
                <a:latin typeface="DejaVu Sans"/>
              </a:rPr>
              <a:t>4×(4/4)</a:t>
            </a:r>
            <a:r>
              <a:rPr sz="2000" b="0" baseline="30000">
                <a:latin typeface="DejaVu Sans"/>
              </a:rPr>
              <a:t>2</a:t>
            </a:r>
            <a:r>
              <a:rPr sz="2000" b="0">
                <a:latin typeface="DejaVu Sans"/>
              </a:rPr>
              <a:t>=4</a:t>
            </a:r>
            <a:r>
              <a:rPr sz="2000" b="0">
                <a:latin typeface="Noto Sans CJK JP"/>
              </a:rPr>
              <a:t> mm²。</a:t>
            </a:r>
          </a:p>
          <a:p>
            <a:pPr>
              <a:spcAft>
                <a:spcPts val="400"/>
              </a:spcAft>
            </a:pPr>
            <a:r>
              <a:rPr sz="2000" b="0">
                <a:latin typeface="Noto Sans CJK JP"/>
              </a:rPr>
              <a:t>• </a:t>
            </a:r>
            <a:r>
              <a:rPr sz="2000" b="0">
                <a:latin typeface="Noto Sans CJK JP"/>
              </a:rPr>
              <a:t>平方根を取ると2 mm。</a:t>
            </a:r>
            <a:r>
              <a:rPr sz="2000" b="1">
                <a:latin typeface="Noto Sans CJK JP"/>
              </a:rPr>
              <a:t>4回平均で、ばらつきの大きさは半分。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
        <p:nvSpPr>
          <p:cNvPr id="9" name="TextBox 8"/>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4.2.3・5.1.2。独立・同精度、有限の分散を仮定。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2-4 観測回数を増やす効果と限界</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前の式より、独立・同精度なら分散は </a:t>
            </a:r>
            <a:r>
              <a:rPr sz="2000" b="0">
                <a:latin typeface="DejaVu Sans"/>
              </a:rPr>
              <a:t>1/n</a:t>
            </a:r>
            <a:r>
              <a:rPr sz="2000" b="0">
                <a:latin typeface="Noto Sans CJK JP"/>
              </a:rPr>
              <a:t>、標準偏差は </a:t>
            </a:r>
            <a:r>
              <a:rPr sz="2000" b="0">
                <a:latin typeface="DejaVu Sans"/>
              </a:rPr>
              <a:t>1/√ n</a:t>
            </a:r>
            <a:r>
              <a:rPr sz="2000" b="0">
                <a:latin typeface="Noto Sans CJK JP"/>
              </a:rPr>
              <a:t>。</a:t>
            </a:r>
          </a:p>
          <a:p>
            <a:pPr>
              <a:spcAft>
                <a:spcPts val="400"/>
              </a:spcAft>
            </a:pPr>
            <a:r>
              <a:rPr sz="2000" b="0">
                <a:latin typeface="Noto Sans CJK JP"/>
              </a:rPr>
              <a:t>• </a:t>
            </a:r>
            <a:r>
              <a:rPr sz="2000" b="0">
                <a:latin typeface="Noto Sans CJK JP"/>
              </a:rPr>
              <a:t>共通の偏りを </a:t>
            </a:r>
            <a:r>
              <a:rPr sz="2000" b="0">
                <a:latin typeface="DejaVu Sans"/>
              </a:rPr>
              <a:t>b</a:t>
            </a:r>
            <a:r>
              <a:rPr sz="2000" b="0">
                <a:latin typeface="Noto Sans CJK JP"/>
              </a:rPr>
              <a:t>、偶然の揺らぎを </a:t>
            </a:r>
            <a:r>
              <a:rPr sz="2000" b="0">
                <a:latin typeface="DejaVu Sans"/>
              </a:rPr>
              <a:t>ε</a:t>
            </a:r>
            <a:r>
              <a:rPr sz="2000" b="0" baseline="-25000">
                <a:latin typeface="DejaVu Sans"/>
              </a:rPr>
              <a:t>i</a:t>
            </a:r>
            <a:r>
              <a:rPr sz="2000" b="0">
                <a:latin typeface="Noto Sans CJK JP"/>
              </a:rPr>
              <a:t> とすると、 </a:t>
            </a:r>
            <a:r>
              <a:rPr sz="2000" b="0">
                <a:latin typeface="DejaVu Sans"/>
              </a:rPr>
              <a:t>x</a:t>
            </a:r>
            <a:r>
              <a:rPr sz="2000" b="0" baseline="-25000">
                <a:latin typeface="DejaVu Sans"/>
              </a:rPr>
              <a:t>i</a:t>
            </a:r>
            <a:r>
              <a:rPr sz="2000" b="0">
                <a:latin typeface="DejaVu Sans"/>
              </a:rPr>
              <a:t>=X+b+ε</a:t>
            </a:r>
            <a:r>
              <a:rPr sz="2000" b="0" baseline="-25000">
                <a:latin typeface="DejaVu Sans"/>
              </a:rPr>
              <a:t>i</a:t>
            </a:r>
            <a:r>
              <a:rPr sz="2000" b="0">
                <a:latin typeface="Noto Sans CJK JP"/>
              </a:rPr>
              <a:t>。平均でも </a:t>
            </a:r>
            <a:r>
              <a:rPr sz="2000" b="0">
                <a:latin typeface="DejaVu Sans"/>
              </a:rPr>
              <a:t>x̄=X+b+ε̄</a:t>
            </a:r>
            <a:r>
              <a:rPr sz="2000" b="0">
                <a:latin typeface="Noto Sans CJK JP"/>
              </a:rPr>
              <a:t> と </a:t>
            </a:r>
            <a:r>
              <a:rPr sz="2000" b="0">
                <a:latin typeface="DejaVu Sans"/>
              </a:rPr>
              <a:t>b</a:t>
            </a:r>
            <a:r>
              <a:rPr sz="2000" b="0">
                <a:latin typeface="Noto Sans CJK JP"/>
              </a:rPr>
              <a:t> は残る。</a:t>
            </a:r>
          </a:p>
          <a:p>
            <a:pPr>
              <a:spcAft>
                <a:spcPts val="400"/>
              </a:spcAft>
            </a:pPr>
            <a:r>
              <a:rPr sz="2000" b="0">
                <a:latin typeface="Noto Sans CJK JP"/>
              </a:rPr>
              <a:t>• </a:t>
            </a:r>
            <a:r>
              <a:rPr sz="2000" b="0">
                <a:latin typeface="Noto Sans CJK JP"/>
              </a:rPr>
              <a:t>同じ向きに連動する観測では、回数ほど情報は増えない。</a:t>
            </a:r>
          </a:p>
        </p:txBody>
      </p:sp>
      <p:pic>
        <p:nvPicPr>
          <p:cNvPr id="5" name="Picture 4" descr="観測回数による平均の標準偏差の減少と相関の影響"/>
          <p:cNvPicPr>
            <a:picLocks noChangeAspect="1"/>
          </p:cNvPicPr>
          <p:nvPr/>
        </p:nvPicPr>
        <p:blipFill>
          <a:blip r:embed="rId2"/>
          <a:stretch>
            <a:fillRect/>
          </a:stretch>
        </p:blipFill>
        <p:spPr>
          <a:xfrm>
            <a:off x="609447" y="3448557"/>
            <a:ext cx="10972800" cy="2429765"/>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[1] GUM 4.2.3・5.2.2。図は1観測の標準偏差4 mmの理論例。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例題A：距離の6回観測</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同じ距離を独立・同精度で6回観測し、必要な補正を済ませた。</a:t>
            </a:r>
          </a:p>
        </p:txBody>
      </p:sp>
      <p:graphicFrame>
        <p:nvGraphicFramePr>
          <p:cNvPr id="5" name="Table 4"/>
          <p:cNvGraphicFramePr>
            <a:graphicFrameLocks noGrp="1"/>
          </p:cNvGraphicFramePr>
          <p:nvPr/>
        </p:nvGraphicFramePr>
        <p:xfrm>
          <a:off x="548640" y="1941830"/>
          <a:ext cx="11094415" cy="914400"/>
        </p:xfrm>
        <a:graphic>
          <a:graphicData uri="http://schemas.openxmlformats.org/drawingml/2006/table">
            <a:tbl>
              <a:tblPr firstRow="1" bandRow="1">
                <a:tableStyleId>{5C22544A-7EE6-4342-B048-85BDC9FD1C3A}</a:tableStyleId>
              </a:tblPr>
              <a:tblGrid>
                <a:gridCol w="1584916"/>
                <a:gridCol w="1584916"/>
                <a:gridCol w="1584916"/>
                <a:gridCol w="1584916"/>
                <a:gridCol w="1584916"/>
                <a:gridCol w="1584916"/>
                <a:gridCol w="1584919"/>
              </a:tblGrid>
              <a:tr h="457200">
                <a:tc>
                  <a:txBody>
                    <a:bodyPr wrap="square"/>
                    <a:lstStyle/>
                    <a:p>
                      <a:r>
                        <a:rPr sz="1800" b="1">
                          <a:solidFill>
                            <a:srgbClr val="1F1F1F"/>
                          </a:solidFill>
                          <a:latin typeface="Noto Sans CJK JP"/>
                        </a:rPr>
                        <a:t>回 </a:t>
                      </a:r>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1</a:t>
                      </a:r>
                    </a:p>
                  </a:txBody>
                  <a:tcPr marL="54864" marR="54864" marT="27432" marB="27432">
                    <a:solidFill>
                      <a:srgbClr val="DCE6F1"/>
                    </a:solidFill>
                  </a:tcPr>
                </a:tc>
                <a:tc>
                  <a:txBody>
                    <a:bodyPr wrap="square"/>
                    <a:lstStyle/>
                    <a:p>
                      <a:r>
                        <a:rPr sz="1800" b="1">
                          <a:solidFill>
                            <a:srgbClr val="1F1F1F"/>
                          </a:solidFill>
                          <a:latin typeface="Noto Sans CJK JP"/>
                        </a:rPr>
                        <a:t>2</a:t>
                      </a:r>
                    </a:p>
                  </a:txBody>
                  <a:tcPr marL="54864" marR="54864" marT="27432" marB="27432">
                    <a:solidFill>
                      <a:srgbClr val="DCE6F1"/>
                    </a:solidFill>
                  </a:tcPr>
                </a:tc>
                <a:tc>
                  <a:txBody>
                    <a:bodyPr wrap="square"/>
                    <a:lstStyle/>
                    <a:p>
                      <a:r>
                        <a:rPr sz="1800" b="1">
                          <a:solidFill>
                            <a:srgbClr val="1F1F1F"/>
                          </a:solidFill>
                          <a:latin typeface="Noto Sans CJK JP"/>
                        </a:rPr>
                        <a:t>3</a:t>
                      </a:r>
                    </a:p>
                  </a:txBody>
                  <a:tcPr marL="54864" marR="54864" marT="27432" marB="27432">
                    <a:solidFill>
                      <a:srgbClr val="DCE6F1"/>
                    </a:solidFill>
                  </a:tcPr>
                </a:tc>
                <a:tc>
                  <a:txBody>
                    <a:bodyPr wrap="square"/>
                    <a:lstStyle/>
                    <a:p>
                      <a:r>
                        <a:rPr sz="1800" b="1">
                          <a:solidFill>
                            <a:srgbClr val="1F1F1F"/>
                          </a:solidFill>
                          <a:latin typeface="Noto Sans CJK JP"/>
                        </a:rPr>
                        <a:t>4</a:t>
                      </a:r>
                    </a:p>
                  </a:txBody>
                  <a:tcPr marL="54864" marR="54864" marT="27432" marB="27432">
                    <a:solidFill>
                      <a:srgbClr val="DCE6F1"/>
                    </a:solidFill>
                  </a:tcPr>
                </a:tc>
                <a:tc>
                  <a:txBody>
                    <a:bodyPr wrap="square"/>
                    <a:lstStyle/>
                    <a:p>
                      <a:r>
                        <a:rPr sz="1800" b="1">
                          <a:solidFill>
                            <a:srgbClr val="1F1F1F"/>
                          </a:solidFill>
                          <a:latin typeface="Noto Sans CJK JP"/>
                        </a:rPr>
                        <a:t>5</a:t>
                      </a:r>
                    </a:p>
                  </a:txBody>
                  <a:tcPr marL="54864" marR="54864" marT="27432" marB="27432">
                    <a:solidFill>
                      <a:srgbClr val="DCE6F1"/>
                    </a:solidFill>
                  </a:tcPr>
                </a:tc>
                <a:tc>
                  <a:txBody>
                    <a:bodyPr wrap="square"/>
                    <a:lstStyle/>
                    <a:p>
                      <a:r>
                        <a:rPr sz="1800" b="1">
                          <a:solidFill>
                            <a:srgbClr val="1F1F1F"/>
                          </a:solidFill>
                          <a:latin typeface="Noto Sans CJK JP"/>
                        </a:rPr>
                        <a:t>6</a:t>
                      </a:r>
                    </a:p>
                  </a:txBody>
                  <a:tcPr marL="54864" marR="54864" marT="27432" marB="27432">
                    <a:solidFill>
                      <a:srgbClr val="DCE6F1"/>
                    </a:solidFill>
                  </a:tcPr>
                </a:tc>
              </a:tr>
              <a:tr h="457200">
                <a:tc>
                  <a:txBody>
                    <a:bodyPr wrap="square"/>
                    <a:lstStyle/>
                    <a:p>
                      <a:r>
                        <a:rPr sz="1800" b="0">
                          <a:latin typeface="DejaVu Sans"/>
                        </a:rPr>
                        <a:t>x</a:t>
                      </a:r>
                      <a:r>
                        <a:rPr sz="1800" b="0" baseline="-25000">
                          <a:latin typeface="DejaVu Sans"/>
                        </a:rPr>
                        <a:t>i</a:t>
                      </a:r>
                      <a:r>
                        <a:rPr sz="1800" b="0">
                          <a:latin typeface="Noto Sans CJK JP"/>
                        </a:rPr>
                        <a:t>（m）</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50.003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50.006</a:t>
                      </a:r>
                    </a:p>
                  </a:txBody>
                  <a:tcPr marL="54864" marR="54864" marT="27432" marB="27432">
                    <a:solidFill>
                      <a:srgbClr val="FFFFFF"/>
                    </a:solidFill>
                  </a:tcPr>
                </a:tc>
                <a:tc>
                  <a:txBody>
                    <a:bodyPr wrap="square"/>
                    <a:lstStyle/>
                    <a:p>
                      <a:r>
                        <a:rPr sz="1800" b="0">
                          <a:latin typeface="Noto Sans CJK JP"/>
                        </a:rPr>
                        <a:t>50.007</a:t>
                      </a:r>
                    </a:p>
                  </a:txBody>
                  <a:tcPr marL="54864" marR="54864" marT="27432" marB="27432">
                    <a:solidFill>
                      <a:srgbClr val="FFFFFF"/>
                    </a:solidFill>
                  </a:tcPr>
                </a:tc>
                <a:tc>
                  <a:txBody>
                    <a:bodyPr wrap="square"/>
                    <a:lstStyle/>
                    <a:p>
                      <a:r>
                        <a:rPr sz="1800" b="0">
                          <a:latin typeface="Noto Sans CJK JP"/>
                        </a:rPr>
                        <a:t>50.009</a:t>
                      </a:r>
                    </a:p>
                  </a:txBody>
                  <a:tcPr marL="54864" marR="54864" marT="27432" marB="27432">
                    <a:solidFill>
                      <a:srgbClr val="FFFFFF"/>
                    </a:solidFill>
                  </a:tcPr>
                </a:tc>
              </a:tr>
            </a:tbl>
          </a:graphicData>
        </a:graphic>
      </p:graphicFrame>
      <p:sp>
        <p:nvSpPr>
          <p:cNvPr id="6" name="TextBox 5"/>
          <p:cNvSpPr txBox="1"/>
          <p:nvPr/>
        </p:nvSpPr>
        <p:spPr>
          <a:xfrm>
            <a:off x="548640" y="299339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求める量：</a:t>
            </a:r>
            <a:r>
              <a:rPr sz="2200" b="0">
                <a:latin typeface="DejaVu Sans"/>
              </a:rPr>
              <a:t>x̄</a:t>
            </a:r>
            <a:r>
              <a:rPr sz="2200" b="0">
                <a:latin typeface="Noto Sans CJK JP"/>
              </a:rPr>
              <a:t>、</a:t>
            </a:r>
            <a:r>
              <a:rPr sz="2200" b="0">
                <a:latin typeface="DejaVu Sans"/>
              </a:rPr>
              <a:t>v</a:t>
            </a:r>
            <a:r>
              <a:rPr sz="2200" b="0" baseline="-25000">
                <a:latin typeface="DejaVu Sans"/>
              </a:rPr>
              <a:t>i</a:t>
            </a:r>
            <a:r>
              <a:rPr sz="2200" b="0">
                <a:latin typeface="Noto Sans CJK JP"/>
              </a:rPr>
              <a:t>、</a:t>
            </a:r>
            <a:r>
              <a:rPr sz="2200" b="0">
                <a:latin typeface="DejaVu Sans"/>
              </a:rPr>
              <a:t>σ</a:t>
            </a:r>
            <a:r>
              <a:rPr sz="2200" b="0">
                <a:latin typeface="Noto Sans CJK JP"/>
              </a:rPr>
              <a:t>、</a:t>
            </a:r>
            <a:r>
              <a:rPr sz="2200" b="0">
                <a:latin typeface="DejaVu Sans"/>
              </a:rPr>
              <a:t>σ</a:t>
            </a:r>
            <a:r>
              <a:rPr sz="2200" b="0" baseline="-25000">
                <a:latin typeface="DejaVu Sans"/>
              </a:rPr>
              <a:t>x̄</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5ff34e914762.png"/>
          <p:cNvPicPr>
            <a:picLocks noChangeAspect="1"/>
          </p:cNvPicPr>
          <p:nvPr/>
        </p:nvPicPr>
        <p:blipFill>
          <a:blip r:embed="rId2"/>
          <a:stretch>
            <a:fillRect/>
          </a:stretch>
        </p:blipFill>
        <p:spPr>
          <a:xfrm>
            <a:off x="2143353" y="1444752"/>
            <a:ext cx="7904988" cy="526999"/>
          </a:xfrm>
          <a:prstGeom prst="rect">
            <a:avLst/>
          </a:prstGeom>
        </p:spPr>
      </p:pic>
      <p:sp>
        <p:nvSpPr>
          <p:cNvPr id="5" name="TextBox 4"/>
          <p:cNvSpPr txBox="1"/>
          <p:nvPr/>
        </p:nvSpPr>
        <p:spPr>
          <a:xfrm>
            <a:off x="548640" y="2127199"/>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50 m を共通部分として、端数1・3・4・6・7・9 mmを平均してもよい。</a:t>
            </a:r>
          </a:p>
          <a:p>
            <a:pPr>
              <a:spcAft>
                <a:spcPts val="400"/>
              </a:spcAft>
            </a:pPr>
            <a:r>
              <a:rPr sz="2200" b="0">
                <a:latin typeface="Noto Sans CJK JP"/>
              </a:rPr>
              <a:t>• </a:t>
            </a:r>
            <a:r>
              <a:rPr sz="2200" b="0">
                <a:latin typeface="Noto Sans CJK JP"/>
              </a:rPr>
              <a:t>端数の合計30 mm、平均5 mm。</a:t>
            </a:r>
          </a:p>
          <a:p>
            <a:pPr>
              <a:spcAft>
                <a:spcPts val="400"/>
              </a:spcAft>
            </a:pPr>
            <a:r>
              <a:rPr sz="2200" b="0">
                <a:latin typeface="Noto Sans CJK JP"/>
              </a:rPr>
              <a:t>• </a:t>
            </a:r>
            <a:r>
              <a:rPr sz="2200" b="0">
                <a:latin typeface="Noto Sans CJK JP"/>
              </a:rPr>
              <a:t>残差は </a:t>
            </a:r>
            <a:r>
              <a:rPr sz="2200" b="0">
                <a:latin typeface="DejaVu Sans"/>
              </a:rPr>
              <a:t>(x</a:t>
            </a:r>
            <a:r>
              <a:rPr sz="2200" b="0" baseline="-25000">
                <a:latin typeface="DejaVu Sans"/>
              </a:rPr>
              <a:t>i</a:t>
            </a:r>
            <a:r>
              <a:rPr sz="2200" b="0">
                <a:latin typeface="DejaVu Sans"/>
              </a:rPr>
              <a:t>-x̄)×1000</a:t>
            </a:r>
            <a:r>
              <a:rPr sz="2200" b="0">
                <a:latin typeface="Noto Sans CJK JP"/>
              </a:rPr>
              <a:t> で mm に直す。</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例題A：残差表の前半</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50.001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50.003</a:t>
                      </a:r>
                    </a:p>
                  </a:txBody>
                  <a:tcPr marL="54864" marR="54864" marT="27432" marB="27432">
                    <a:solidFill>
                      <a:srgbClr val="F5F7FA"/>
                    </a:solidFill>
                  </a:tcPr>
                </a:tc>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4</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50.004</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1</a:t>
                      </a:r>
                    </a:p>
                  </a:txBody>
                  <a:tcPr marL="54864" marR="54864" marT="27432" marB="27432">
                    <a:solidFill>
                      <a:srgbClr val="FFFFFF"/>
                    </a:solidFill>
                  </a:tcPr>
                </a:tc>
              </a:tr>
            </a:tbl>
          </a:graphicData>
        </a:graphic>
      </p:graphicFrame>
      <p:sp>
        <p:nvSpPr>
          <p:cNvPr id="5" name="TextBox 4"/>
          <p:cNvSpPr txBox="1"/>
          <p:nvPr/>
        </p:nvSpPr>
        <p:spPr>
          <a:xfrm>
            <a:off x="548640" y="333756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例：</a:t>
            </a:r>
            <a:r>
              <a:rPr sz="2200" b="0">
                <a:latin typeface="DejaVu Sans"/>
              </a:rPr>
              <a:t>(50.001-50.005)×1000=-4</a:t>
            </a:r>
            <a:r>
              <a:rPr sz="2200" b="0">
                <a:latin typeface="Noto Sans CJK JP"/>
              </a:rPr>
              <a:t> mm。 二乗は </a:t>
            </a:r>
            <a:r>
              <a:rPr sz="2200" b="0">
                <a:latin typeface="DejaVu Sans"/>
              </a:rPr>
              <a:t>(-4)</a:t>
            </a:r>
            <a:r>
              <a:rPr sz="2200" b="0" baseline="30000">
                <a:latin typeface="DejaVu Sans"/>
              </a:rPr>
              <a:t>2</a:t>
            </a:r>
            <a:r>
              <a:rPr sz="2200" b="0">
                <a:latin typeface="DejaVu Sans"/>
              </a:rPr>
              <a:t>=16</a:t>
            </a:r>
            <a:r>
              <a:rPr sz="2200" b="0">
                <a:latin typeface="Noto Sans CJK JP"/>
              </a:rPr>
              <a:t> mm²。</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例題A：残差表の後半と合計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773603"/>
                <a:gridCol w="2773603"/>
                <a:gridCol w="2773603"/>
                <a:gridCol w="2773606"/>
              </a:tblGrid>
              <a:tr h="406400">
                <a:tc>
                  <a:txBody>
                    <a:bodyPr wrap="square"/>
                    <a:lstStyle/>
                    <a:p>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a:solidFill>
                            <a:srgbClr val="1F1F1F"/>
                          </a:solidFill>
                          <a:latin typeface="Noto Sans CJK JP"/>
                        </a:rPr>
                        <a:t>（mm）</a:t>
                      </a:r>
                    </a:p>
                  </a:txBody>
                  <a:tcPr marL="54864" marR="54864" marT="27432" marB="27432">
                    <a:solidFill>
                      <a:srgbClr val="DCE6F1"/>
                    </a:solidFill>
                  </a:tcPr>
                </a:tc>
                <a:tc>
                  <a:txBody>
                    <a:bodyPr wrap="square"/>
                    <a:lstStyle/>
                    <a:p>
                      <a:r>
                        <a:rPr sz="1600" b="1">
                          <a:solidFill>
                            <a:srgbClr val="1F1F1F"/>
                          </a:solidFill>
                          <a:latin typeface="DejaVu Sans"/>
                        </a:rPr>
                        <a:t>v</a:t>
                      </a:r>
                      <a:r>
                        <a:rPr sz="1600" b="1" baseline="-25000">
                          <a:solidFill>
                            <a:srgbClr val="1F1F1F"/>
                          </a:solidFill>
                          <a:latin typeface="DejaVu Sans"/>
                        </a:rPr>
                        <a:t>i</a:t>
                      </a:r>
                      <a:r>
                        <a:rPr sz="1600" b="1" baseline="30000">
                          <a:solidFill>
                            <a:srgbClr val="1F1F1F"/>
                          </a:solidFill>
                          <a:latin typeface="DejaVu Sans"/>
                        </a:rPr>
                        <a:t>2</a:t>
                      </a:r>
                      <a:r>
                        <a:rPr sz="1600" b="1">
                          <a:solidFill>
                            <a:srgbClr val="1F1F1F"/>
                          </a:solidFill>
                          <a:latin typeface="Noto Sans CJK JP"/>
                        </a:rPr>
                        <a:t>（mm²）</a:t>
                      </a:r>
                    </a:p>
                  </a:txBody>
                  <a:tcPr marL="54864" marR="54864" marT="27432" marB="27432">
                    <a:solidFill>
                      <a:srgbClr val="DCE6F1"/>
                    </a:solidFill>
                  </a:tcPr>
                </a:tc>
              </a:tr>
              <a:tr h="406400">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50.006</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r>
              <a:tr h="406400">
                <a:tc>
                  <a:txBody>
                    <a:bodyPr wrap="square"/>
                    <a:lstStyle/>
                    <a:p>
                      <a:r>
                        <a:rPr sz="1600" b="0">
                          <a:latin typeface="Noto Sans CJK JP"/>
                        </a:rPr>
                        <a:t>5</a:t>
                      </a:r>
                    </a:p>
                  </a:txBody>
                  <a:tcPr marL="54864" marR="54864" marT="27432" marB="27432">
                    <a:solidFill>
                      <a:srgbClr val="F5F7FA"/>
                    </a:solidFill>
                  </a:tcPr>
                </a:tc>
                <a:tc>
                  <a:txBody>
                    <a:bodyPr wrap="square"/>
                    <a:lstStyle/>
                    <a:p>
                      <a:r>
                        <a:rPr sz="1600" b="0">
                          <a:latin typeface="Noto Sans CJK JP"/>
                        </a:rPr>
                        <a:t>50.007</a:t>
                      </a:r>
                    </a:p>
                  </a:txBody>
                  <a:tcPr marL="54864" marR="54864" marT="27432" marB="27432">
                    <a:solidFill>
                      <a:srgbClr val="F5F7FA"/>
                    </a:solidFill>
                  </a:tcPr>
                </a:tc>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r>
              <a:tr h="406400">
                <a:tc>
                  <a:txBody>
                    <a:bodyPr wrap="square"/>
                    <a:lstStyle/>
                    <a:p>
                      <a:r>
                        <a:rPr sz="1600" b="0">
                          <a:latin typeface="Noto Sans CJK JP"/>
                        </a:rPr>
                        <a:t>6</a:t>
                      </a:r>
                    </a:p>
                  </a:txBody>
                  <a:tcPr marL="54864" marR="54864" marT="27432" marB="27432">
                    <a:solidFill>
                      <a:srgbClr val="FFFFFF"/>
                    </a:solidFill>
                  </a:tcPr>
                </a:tc>
                <a:tc>
                  <a:txBody>
                    <a:bodyPr wrap="square"/>
                    <a:lstStyle/>
                    <a:p>
                      <a:r>
                        <a:rPr sz="1600" b="0">
                          <a:latin typeface="Noto Sans CJK JP"/>
                        </a:rPr>
                        <a:t>50.009</a:t>
                      </a:r>
                    </a:p>
                  </a:txBody>
                  <a:tcPr marL="54864" marR="54864" marT="27432" marB="27432">
                    <a:solidFill>
                      <a:srgbClr val="FFFFFF"/>
                    </a:solidFill>
                  </a:tcPr>
                </a:tc>
                <a:tc>
                  <a:txBody>
                    <a:bodyPr wrap="square"/>
                    <a:lstStyle/>
                    <a:p>
                      <a:r>
                        <a:rPr sz="1600" b="0">
                          <a:latin typeface="Noto Sans CJK JP"/>
                        </a:rPr>
                        <a:t>+4</a:t>
                      </a:r>
                    </a:p>
                  </a:txBody>
                  <a:tcPr marL="54864" marR="54864" marT="27432" marB="27432">
                    <a:solidFill>
                      <a:srgbClr val="FFFFFF"/>
                    </a:solidFill>
                  </a:tcPr>
                </a:tc>
                <a:tc>
                  <a:txBody>
                    <a:bodyPr wrap="square"/>
                    <a:lstStyle/>
                    <a:p>
                      <a:r>
                        <a:rPr sz="1600" b="0">
                          <a:latin typeface="Noto Sans CJK JP"/>
                        </a:rPr>
                        <a:t>16</a:t>
                      </a:r>
                    </a:p>
                  </a:txBody>
                  <a:tcPr marL="54864" marR="54864" marT="27432" marB="27432">
                    <a:solidFill>
                      <a:srgbClr val="FFFFFF"/>
                    </a:solidFill>
                  </a:tcPr>
                </a:tc>
              </a:tr>
              <a:tr h="406400">
                <a:tc>
                  <a:txBody>
                    <a:bodyPr wrap="square"/>
                    <a:lstStyle/>
                    <a:p>
                      <a:r>
                        <a:rPr sz="1600" b="0">
                          <a:latin typeface="Noto Sans CJK JP"/>
                        </a:rPr>
                        <a:t>全6回の合計</a:t>
                      </a:r>
                    </a:p>
                  </a:txBody>
                  <a:tcPr marL="54864" marR="54864" marT="27432" marB="27432">
                    <a:solidFill>
                      <a:srgbClr val="F5F7FA"/>
                    </a:solidFill>
                  </a:tcPr>
                </a:tc>
                <a:tc>
                  <a:txBody>
                    <a:bodyPr wrap="square"/>
                    <a:lstStyle/>
                    <a:p>
                      <a:r>
                        <a:rPr sz="1600" b="0">
                          <a:latin typeface="Noto Sans CJK JP"/>
                        </a:rPr>
                        <a:t>300.030</a:t>
                      </a:r>
                    </a:p>
                  </a:txBody>
                  <a:tcPr marL="54864" marR="54864" marT="27432" marB="27432">
                    <a:solidFill>
                      <a:srgbClr val="F5F7FA"/>
                    </a:solidFill>
                  </a:tcPr>
                </a:tc>
                <a:tc>
                  <a:txBody>
                    <a:bodyPr wrap="square"/>
                    <a:lstStyle/>
                    <a:p>
                      <a:r>
                        <a:rPr sz="1600" b="0">
                          <a:latin typeface="Noto Sans CJK JP"/>
                        </a:rPr>
                        <a:t>0</a:t>
                      </a:r>
                    </a:p>
                  </a:txBody>
                  <a:tcPr marL="54864" marR="54864" marT="27432" marB="27432">
                    <a:solidFill>
                      <a:srgbClr val="F5F7FA"/>
                    </a:solidFill>
                  </a:tcPr>
                </a:tc>
                <a:tc>
                  <a:txBody>
                    <a:bodyPr wrap="square"/>
                    <a:lstStyle/>
                    <a:p>
                      <a:r>
                        <a:rPr sz="1600" b="0">
                          <a:latin typeface="Noto Sans CJK JP"/>
                        </a:rPr>
                        <a:t>42</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600"/>
              </a:spcAft>
            </a:pPr>
            <a:r>
              <a:rPr sz="2000" b="0">
                <a:latin typeface="DejaVu Sans"/>
              </a:rPr>
              <a:t>Σ v</a:t>
            </a:r>
            <a:r>
              <a:rPr sz="2000" b="0" baseline="-25000">
                <a:latin typeface="DejaVu Sans"/>
              </a:rPr>
              <a:t>i</a:t>
            </a:r>
            <a:r>
              <a:rPr sz="2000" b="0">
                <a:latin typeface="DejaVu Sans"/>
              </a:rPr>
              <a:t>=-4-2-1+1+2+4=0</a:t>
            </a:r>
            <a:r>
              <a:rPr sz="2000" b="0">
                <a:latin typeface="Noto Sans CJK JP"/>
              </a:rPr>
              <a:t> mm。</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例題A：1観測の標準偏差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7d2c63a958f9.png"/>
          <p:cNvPicPr>
            <a:picLocks noChangeAspect="1"/>
          </p:cNvPicPr>
          <p:nvPr/>
        </p:nvPicPr>
        <p:blipFill>
          <a:blip r:embed="rId2"/>
          <a:stretch>
            <a:fillRect/>
          </a:stretch>
        </p:blipFill>
        <p:spPr>
          <a:xfrm>
            <a:off x="2844698" y="1444752"/>
            <a:ext cx="6502298" cy="641908"/>
          </a:xfrm>
          <a:prstGeom prst="rect">
            <a:avLst/>
          </a:prstGeom>
        </p:spPr>
      </p:pic>
      <p:pic>
        <p:nvPicPr>
          <p:cNvPr id="5" name="Picture 4" descr="eq_aeaccca46f1b.png"/>
          <p:cNvPicPr>
            <a:picLocks noChangeAspect="1"/>
          </p:cNvPicPr>
          <p:nvPr/>
        </p:nvPicPr>
        <p:blipFill>
          <a:blip r:embed="rId3"/>
          <a:stretch>
            <a:fillRect/>
          </a:stretch>
        </p:blipFill>
        <p:spPr>
          <a:xfrm>
            <a:off x="4940808" y="2315260"/>
            <a:ext cx="2310079" cy="297180"/>
          </a:xfrm>
          <a:prstGeom prst="rect">
            <a:avLst/>
          </a:prstGeom>
        </p:spPr>
      </p:pic>
      <p:sp>
        <p:nvSpPr>
          <p:cNvPr id="6" name="TextBox 5"/>
          <p:cNvSpPr txBox="1"/>
          <p:nvPr/>
        </p:nvSpPr>
        <p:spPr>
          <a:xfrm>
            <a:off x="548640" y="2767888"/>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分母は自由度5。結果の単位は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例題Aの平方和42 mm²を6で割って平方根を取った。</a:t>
            </a:r>
          </a:p>
          <a:p>
            <a:pPr>
              <a:spcAft>
                <a:spcPts val="600"/>
              </a:spcAft>
            </a:pPr>
            <a:r>
              <a:rPr sz="2200" b="0">
                <a:latin typeface="Noto Sans CJK JP"/>
              </a:rPr>
              <a:t>1観測の標準偏差の推定として、どこを直すべきか。 理由も一言添えよう。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2-5 例題A：最確値の標準偏差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f1cf2cae7e4.png"/>
          <p:cNvPicPr>
            <a:picLocks noChangeAspect="1"/>
          </p:cNvPicPr>
          <p:nvPr/>
        </p:nvPicPr>
        <p:blipFill>
          <a:blip r:embed="rId2"/>
          <a:stretch>
            <a:fillRect/>
          </a:stretch>
        </p:blipFill>
        <p:spPr>
          <a:xfrm>
            <a:off x="2993288" y="1444752"/>
            <a:ext cx="6205118" cy="709269"/>
          </a:xfrm>
          <a:prstGeom prst="rect">
            <a:avLst/>
          </a:prstGeom>
        </p:spPr>
      </p:pic>
      <p:sp>
        <p:nvSpPr>
          <p:cNvPr id="5" name="TextBox 4"/>
          <p:cNvSpPr txBox="1"/>
          <p:nvPr/>
        </p:nvSpPr>
        <p:spPr>
          <a:xfrm>
            <a:off x="548640" y="2309469"/>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最確値 </a:t>
            </a:r>
            <a:r>
              <a:rPr sz="2200" b="0">
                <a:latin typeface="DejaVu Sans"/>
              </a:rPr>
              <a:t>x̄=50.005</a:t>
            </a:r>
            <a:r>
              <a:rPr sz="2200" b="0">
                <a:latin typeface="Noto Sans CJK JP"/>
              </a:rPr>
              <a:t> m、</a:t>
            </a:r>
            <a:r>
              <a:rPr sz="2200" b="0">
                <a:latin typeface="DejaVu Sans"/>
              </a:rPr>
              <a:t>σ</a:t>
            </a:r>
            <a:r>
              <a:rPr sz="2200" b="0" baseline="-25000">
                <a:latin typeface="DejaVu Sans"/>
              </a:rPr>
              <a:t>x̄</a:t>
            </a:r>
            <a:r>
              <a:rPr sz="2200" b="0">
                <a:latin typeface="DejaVu Sans"/>
              </a:rPr>
              <a:t>=1.18</a:t>
            </a:r>
            <a:r>
              <a:rPr sz="2200" b="0">
                <a:latin typeface="Noto Sans CJK JP"/>
              </a:rPr>
              <a:t> mm。 1観測の標準偏差 </a:t>
            </a:r>
            <a:r>
              <a:rPr sz="2200" b="0">
                <a:latin typeface="DejaVu Sans"/>
              </a:rPr>
              <a:t>σ=2.90</a:t>
            </a:r>
            <a:r>
              <a:rPr sz="2200" b="0">
                <a:latin typeface="Noto Sans CJK JP"/>
              </a:rPr>
              <a:t> mm も区別して記録する。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重みの一般則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w</a:t>
            </a:r>
            <a:r>
              <a:rPr sz="2200" b="0" baseline="-25000">
                <a:latin typeface="DejaVu Sans"/>
              </a:rPr>
              <a:t>i</a:t>
            </a:r>
            <a:r>
              <a:rPr sz="2200" b="0">
                <a:latin typeface="Noto Sans CJK JP"/>
              </a:rPr>
              <a:t>：観測値 </a:t>
            </a:r>
            <a:r>
              <a:rPr sz="2200" b="0">
                <a:latin typeface="DejaVu Sans"/>
              </a:rPr>
              <a:t>x</a:t>
            </a:r>
            <a:r>
              <a:rPr sz="2200" b="0" baseline="-25000">
                <a:latin typeface="DejaVu Sans"/>
              </a:rPr>
              <a:t>i</a:t>
            </a:r>
            <a:r>
              <a:rPr sz="2200" b="0">
                <a:latin typeface="Noto Sans CJK JP"/>
              </a:rPr>
              <a:t> に与える相対的な重み </a:t>
            </a:r>
            <a:r>
              <a:rPr sz="2200" b="0">
                <a:latin typeface="DejaVu Sans"/>
              </a:rPr>
              <a:t>σ</a:t>
            </a:r>
            <a:r>
              <a:rPr sz="2200" b="0" baseline="-25000">
                <a:latin typeface="DejaVu Sans"/>
              </a:rPr>
              <a:t>i</a:t>
            </a:r>
            <a:r>
              <a:rPr sz="2200" b="0">
                <a:latin typeface="Noto Sans CJK JP"/>
              </a:rPr>
              <a:t>：その観測値の標準偏差</a:t>
            </a:r>
          </a:p>
        </p:txBody>
      </p:sp>
      <p:pic>
        <p:nvPicPr>
          <p:cNvPr id="5" name="Picture 4" descr="eq_c78418c6d899.png"/>
          <p:cNvPicPr>
            <a:picLocks noChangeAspect="1"/>
          </p:cNvPicPr>
          <p:nvPr/>
        </p:nvPicPr>
        <p:blipFill>
          <a:blip r:embed="rId2"/>
          <a:stretch>
            <a:fillRect/>
          </a:stretch>
        </p:blipFill>
        <p:spPr>
          <a:xfrm>
            <a:off x="5535168" y="2014982"/>
            <a:ext cx="1121359" cy="610209"/>
          </a:xfrm>
          <a:prstGeom prst="rect">
            <a:avLst/>
          </a:prstGeom>
        </p:spPr>
      </p:pic>
      <p:sp>
        <p:nvSpPr>
          <p:cNvPr id="6" name="TextBox 5"/>
          <p:cNvSpPr txBox="1"/>
          <p:nvPr/>
        </p:nvSpPr>
        <p:spPr>
          <a:xfrm>
            <a:off x="548640" y="2780639"/>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標準偏差が半分なら分散は </a:t>
            </a:r>
            <a:r>
              <a:rPr sz="2200" b="0">
                <a:latin typeface="DejaVu Sans"/>
              </a:rPr>
              <a:t>1/4</a:t>
            </a:r>
            <a:r>
              <a:rPr sz="2200" b="0">
                <a:latin typeface="Noto Sans CJK JP"/>
              </a:rPr>
              <a:t>、重みは4倍。 以下の計算例では、重みを</a:t>
            </a:r>
            <a:r>
              <a:rPr sz="2200" b="1">
                <a:latin typeface="Noto Sans CJK JP"/>
              </a:rPr>
              <a:t>無次元の比</a:t>
            </a:r>
            <a:r>
              <a:rPr sz="2200" b="0">
                <a:latin typeface="Noto Sans CJK JP"/>
              </a:rPr>
              <a:t>として扱う。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分散を小さくする配分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独立で偏りのない2観測。第1の標準偏差1 mm、第2は2 mmとする。</a:t>
            </a:r>
          </a:p>
          <a:p>
            <a:pPr>
              <a:spcAft>
                <a:spcPts val="400"/>
              </a:spcAft>
            </a:pPr>
            <a:r>
              <a:rPr sz="2000" b="0">
                <a:latin typeface="Noto Sans CJK JP"/>
              </a:rPr>
              <a:t>• </a:t>
            </a:r>
            <a:r>
              <a:rPr sz="2000" b="0">
                <a:latin typeface="Noto Sans CJK JP"/>
              </a:rPr>
              <a:t>「採用する割合」を </a:t>
            </a:r>
            <a:r>
              <a:rPr sz="2000" b="0">
                <a:latin typeface="DejaVu Sans"/>
              </a:rPr>
              <a:t>α</a:t>
            </a:r>
            <a:r>
              <a:rPr sz="2000" b="0">
                <a:latin typeface="Noto Sans CJK JP"/>
              </a:rPr>
              <a:t> と </a:t>
            </a:r>
            <a:r>
              <a:rPr sz="2000" b="0">
                <a:latin typeface="DejaVu Sans"/>
              </a:rPr>
              <a:t>1-α</a:t>
            </a:r>
            <a:r>
              <a:rPr sz="2000" b="0">
                <a:latin typeface="Noto Sans CJK JP"/>
              </a:rPr>
              <a:t> に分ける（合計1）。 </a:t>
            </a:r>
            <a:r>
              <a:rPr sz="2000" b="0">
                <a:latin typeface="DejaVu Sans"/>
              </a:rPr>
              <a:t>y=α x</a:t>
            </a:r>
            <a:r>
              <a:rPr sz="2000" b="0" baseline="-25000">
                <a:latin typeface="DejaVu Sans"/>
              </a:rPr>
              <a:t>1</a:t>
            </a:r>
            <a:r>
              <a:rPr sz="2000" b="0">
                <a:latin typeface="DejaVu Sans"/>
              </a:rPr>
              <a:t>+(1-α)x</a:t>
            </a:r>
            <a:r>
              <a:rPr sz="2000" b="0" baseline="-25000">
                <a:latin typeface="DejaVu Sans"/>
              </a:rPr>
              <a:t>2</a:t>
            </a:r>
            <a:r>
              <a:rPr sz="2000" b="0">
                <a:latin typeface="Noto Sans CJK JP"/>
              </a:rPr>
              <a:t>：</a:t>
            </a:r>
            <a:r>
              <a:rPr sz="2000" b="0">
                <a:latin typeface="DejaVu Sans"/>
              </a:rPr>
              <a:t>y</a:t>
            </a:r>
            <a:r>
              <a:rPr sz="2000" b="0">
                <a:latin typeface="Noto Sans CJK JP"/>
              </a:rPr>
              <a:t> は組み合わせた値。半々より良い配分は？</a:t>
            </a:r>
          </a:p>
          <a:p>
            <a:pPr>
              <a:spcAft>
                <a:spcPts val="400"/>
              </a:spcAft>
            </a:pPr>
            <a:r>
              <a:rPr sz="2000" b="0">
                <a:latin typeface="Noto Sans CJK JP"/>
              </a:rPr>
              <a:t>• </a:t>
            </a:r>
            <a:r>
              <a:rPr sz="2000" b="0">
                <a:latin typeface="Noto Sans CJK JP"/>
              </a:rPr>
              <a:t>平均のときと同じく、</a:t>
            </a:r>
            <a:r>
              <a:rPr sz="2000" b="1">
                <a:latin typeface="Noto Sans CJK JP"/>
              </a:rPr>
              <a:t>割合を二乗して分散に掛け、足す。</a:t>
            </a:r>
          </a:p>
        </p:txBody>
      </p:sp>
      <p:pic>
        <p:nvPicPr>
          <p:cNvPr id="5" name="Picture 4" descr="第1観測への配分と統合した値の分散"/>
          <p:cNvPicPr>
            <a:picLocks noChangeAspect="1"/>
          </p:cNvPicPr>
          <p:nvPr/>
        </p:nvPicPr>
        <p:blipFill>
          <a:blip r:embed="rId2"/>
          <a:stretch>
            <a:fillRect/>
          </a:stretch>
        </p:blipFill>
        <p:spPr>
          <a:xfrm>
            <a:off x="609447" y="3443376"/>
            <a:ext cx="10972800" cy="2440126"/>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
        <p:nvSpPr>
          <p:cNvPr id="8" name="TextBox 7"/>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§4.1.4.3・§4.4.5.2。数値例と図は本教材の計算。</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分散の逆数が重みになる理由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1">
                <a:latin typeface="Noto Sans CJK JP"/>
              </a:rPr>
              <a:t>二次関数の「谷の底」を探せば、微分を使わず理由が分かる。</a:t>
            </a:r>
          </a:p>
        </p:txBody>
      </p:sp>
      <p:pic>
        <p:nvPicPr>
          <p:cNvPr id="5" name="Picture 4" descr="eq_1661acc75e26.png"/>
          <p:cNvPicPr>
            <a:picLocks noChangeAspect="1"/>
          </p:cNvPicPr>
          <p:nvPr/>
        </p:nvPicPr>
        <p:blipFill>
          <a:blip r:embed="rId2"/>
          <a:stretch>
            <a:fillRect/>
          </a:stretch>
        </p:blipFill>
        <p:spPr>
          <a:xfrm>
            <a:off x="2018538" y="1975612"/>
            <a:ext cx="8154619" cy="396240"/>
          </a:xfrm>
          <a:prstGeom prst="rect">
            <a:avLst/>
          </a:prstGeom>
        </p:spPr>
      </p:pic>
      <p:sp>
        <p:nvSpPr>
          <p:cNvPr id="6" name="TextBox 5"/>
          <p:cNvSpPr txBox="1"/>
          <p:nvPr/>
        </p:nvSpPr>
        <p:spPr>
          <a:xfrm>
            <a:off x="548640" y="252730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二乗は0以上。</a:t>
            </a:r>
            <a:r>
              <a:rPr sz="2000" b="0">
                <a:latin typeface="DejaVu Sans"/>
              </a:rPr>
              <a:t>α=0.8</a:t>
            </a:r>
            <a:r>
              <a:rPr sz="2000" b="0">
                <a:latin typeface="Noto Sans CJK JP"/>
              </a:rPr>
              <a:t> で0になるので、80%と20%が最適。</a:t>
            </a:r>
          </a:p>
          <a:p>
            <a:pPr>
              <a:spcAft>
                <a:spcPts val="400"/>
              </a:spcAft>
            </a:pPr>
            <a:r>
              <a:rPr sz="2000" b="0">
                <a:latin typeface="Noto Sans CJK JP"/>
              </a:rPr>
              <a:t>• </a:t>
            </a:r>
            <a:r>
              <a:rPr sz="2000" b="0">
                <a:latin typeface="Noto Sans CJK JP"/>
              </a:rPr>
              <a:t>一般の標準偏差でも平方完成すると、最適な割合は次の比になる。</a:t>
            </a:r>
          </a:p>
        </p:txBody>
      </p:sp>
      <p:pic>
        <p:nvPicPr>
          <p:cNvPr id="7" name="Picture 6" descr="eq_3594bf087a29.png"/>
          <p:cNvPicPr>
            <a:picLocks noChangeAspect="1"/>
          </p:cNvPicPr>
          <p:nvPr/>
        </p:nvPicPr>
        <p:blipFill>
          <a:blip r:embed="rId3"/>
          <a:stretch>
            <a:fillRect/>
          </a:stretch>
        </p:blipFill>
        <p:spPr>
          <a:xfrm>
            <a:off x="3240938" y="3525012"/>
            <a:ext cx="5709818" cy="542848"/>
          </a:xfrm>
          <a:prstGeom prst="rect">
            <a:avLst/>
          </a:prstGeom>
        </p:spPr>
      </p:pic>
      <p:sp>
        <p:nvSpPr>
          <p:cNvPr id="8" name="TextBox 7"/>
          <p:cNvSpPr txBox="1"/>
          <p:nvPr/>
        </p:nvSpPr>
        <p:spPr>
          <a:xfrm>
            <a:off x="548640" y="422330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つまり、標準偏差が半分なら分散は1/4、重みは4倍。</a:t>
            </a:r>
          </a:p>
          <a:p>
            <a:pPr>
              <a:spcAft>
                <a:spcPts val="400"/>
              </a:spcAft>
            </a:pPr>
            <a:r>
              <a:rPr sz="2000" b="0">
                <a:latin typeface="Noto Sans CJK JP"/>
              </a:rPr>
              <a:t>• </a:t>
            </a:r>
            <a:r>
              <a:rPr sz="2000" b="0">
                <a:latin typeface="Noto Sans CJK JP"/>
              </a:rPr>
              <a:t>独立・偏りなし・正しい分散比が前提。正規分布の仮定は不要。</a:t>
            </a:r>
          </a:p>
        </p:txBody>
      </p:sp>
      <p:sp>
        <p:nvSpPr>
          <p:cNvPr id="9" name="TextBox 8"/>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10" name="TextBox 9"/>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
        <p:nvSpPr>
          <p:cNvPr id="11" name="TextBox 10"/>
          <p:cNvSpPr txBox="1"/>
          <p:nvPr/>
        </p:nvSpPr>
        <p:spPr>
          <a:xfrm>
            <a:off x="548640" y="6144768"/>
            <a:ext cx="11094415" cy="256032"/>
          </a:xfrm>
          <a:prstGeom prst="rect">
            <a:avLst/>
          </a:prstGeom>
          <a:noFill/>
        </p:spPr>
        <p:txBody>
          <a:bodyPr wrap="square" lIns="45720" rIns="45720" tIns="18288" bIns="18288">
            <a:spAutoFit/>
          </a:bodyPr>
          <a:lstStyle/>
          <a:p>
            <a:r>
              <a:rPr sz="1000" b="0">
                <a:solidFill>
                  <a:srgbClr val="555555"/>
                </a:solidFill>
                <a:latin typeface="Noto Sans CJK JP"/>
              </a:rPr>
              <a:t>出典 [3] NIST §4.1.4.3・§4.4.5.2。平方完成は本教材で展開。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同精度の独立観測を平均する場合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n</a:t>
            </a:r>
            <a:r>
              <a:rPr sz="2200" b="0" baseline="-25000">
                <a:latin typeface="DejaVu Sans"/>
              </a:rPr>
              <a:t>i</a:t>
            </a:r>
            <a:r>
              <a:rPr sz="2200" b="0">
                <a:latin typeface="Noto Sans CJK JP"/>
              </a:rPr>
              <a:t>：第 </a:t>
            </a:r>
            <a:r>
              <a:rPr sz="2200" b="0">
                <a:latin typeface="DejaVu Sans"/>
              </a:rPr>
              <a:t>i</a:t>
            </a:r>
            <a:r>
              <a:rPr sz="2200" b="0">
                <a:latin typeface="Noto Sans CJK JP"/>
              </a:rPr>
              <a:t> 組の観測回数、</a:t>
            </a:r>
            <a:r>
              <a:rPr sz="2200" b="0">
                <a:latin typeface="DejaVu Sans"/>
              </a:rPr>
              <a:t>τ</a:t>
            </a:r>
            <a:r>
              <a:rPr sz="2200" b="0">
                <a:latin typeface="Noto Sans CJK JP"/>
              </a:rPr>
              <a:t>：元の1観測の共通標準偏差</a:t>
            </a:r>
          </a:p>
        </p:txBody>
      </p:sp>
      <p:pic>
        <p:nvPicPr>
          <p:cNvPr id="5" name="Picture 4" descr="eq_ebbe3b9da979.png"/>
          <p:cNvPicPr>
            <a:picLocks noChangeAspect="1"/>
          </p:cNvPicPr>
          <p:nvPr/>
        </p:nvPicPr>
        <p:blipFill>
          <a:blip r:embed="rId2"/>
          <a:stretch>
            <a:fillRect/>
          </a:stretch>
        </p:blipFill>
        <p:spPr>
          <a:xfrm>
            <a:off x="4372203" y="2014982"/>
            <a:ext cx="3447288" cy="542848"/>
          </a:xfrm>
          <a:prstGeom prst="rect">
            <a:avLst/>
          </a:prstGeom>
        </p:spPr>
      </p:pic>
      <p:sp>
        <p:nvSpPr>
          <p:cNvPr id="6" name="TextBox 5"/>
          <p:cNvSpPr txBox="1"/>
          <p:nvPr/>
        </p:nvSpPr>
        <p:spPr>
          <a:xfrm>
            <a:off x="548640" y="2713278"/>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1回平均と4回平均の重みは </a:t>
            </a:r>
            <a:r>
              <a:rPr sz="2200" b="0">
                <a:latin typeface="DejaVu Sans"/>
              </a:rPr>
              <a:t>1:4</a:t>
            </a:r>
            <a:r>
              <a:rPr sz="2200" b="0">
                <a:latin typeface="Noto Sans CJK JP"/>
              </a:rPr>
              <a:t>。</a:t>
            </a:r>
          </a:p>
          <a:p>
            <a:pPr>
              <a:spcAft>
                <a:spcPts val="400"/>
              </a:spcAft>
            </a:pPr>
            <a:r>
              <a:rPr sz="2200" b="0">
                <a:latin typeface="Noto Sans CJK JP"/>
              </a:rPr>
              <a:t>• </a:t>
            </a:r>
            <a:r>
              <a:rPr sz="2200" b="0">
                <a:latin typeface="Noto Sans CJK JP"/>
              </a:rPr>
              <a:t>元の観測が同精度・独立である場合に限る。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水準測量で路線長を使う場合</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S</a:t>
            </a:r>
            <a:r>
              <a:rPr sz="2200" b="0" baseline="-25000">
                <a:latin typeface="DejaVu Sans"/>
              </a:rPr>
              <a:t>i</a:t>
            </a:r>
            <a:r>
              <a:rPr sz="2200" b="0">
                <a:latin typeface="Noto Sans CJK JP"/>
              </a:rPr>
              <a:t>：路線長、</a:t>
            </a:r>
            <a:r>
              <a:rPr sz="2200" b="0">
                <a:latin typeface="DejaVu Sans"/>
              </a:rPr>
              <a:t>k</a:t>
            </a:r>
            <a:r>
              <a:rPr sz="2200" b="0">
                <a:latin typeface="Noto Sans CJK JP"/>
              </a:rPr>
              <a:t>：単位長さ当たりの分散を表す共通係数</a:t>
            </a:r>
          </a:p>
        </p:txBody>
      </p:sp>
      <p:pic>
        <p:nvPicPr>
          <p:cNvPr id="5" name="Picture 4" descr="eq_a4263bca701d.png"/>
          <p:cNvPicPr>
            <a:picLocks noChangeAspect="1"/>
          </p:cNvPicPr>
          <p:nvPr/>
        </p:nvPicPr>
        <p:blipFill>
          <a:blip r:embed="rId2"/>
          <a:stretch>
            <a:fillRect/>
          </a:stretch>
        </p:blipFill>
        <p:spPr>
          <a:xfrm>
            <a:off x="4304843" y="2014982"/>
            <a:ext cx="3582009" cy="542848"/>
          </a:xfrm>
          <a:prstGeom prst="rect">
            <a:avLst/>
          </a:prstGeom>
        </p:spPr>
      </p:pic>
      <p:sp>
        <p:nvSpPr>
          <p:cNvPr id="6" name="TextBox 5"/>
          <p:cNvSpPr txBox="1"/>
          <p:nvPr/>
        </p:nvSpPr>
        <p:spPr>
          <a:xfrm>
            <a:off x="548640" y="271327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同じ2点間の比高を、同等の観測条件の別路線で求める例。</a:t>
            </a:r>
          </a:p>
          <a:p>
            <a:pPr>
              <a:spcAft>
                <a:spcPts val="400"/>
              </a:spcAft>
            </a:pPr>
            <a:r>
              <a:rPr sz="2200" b="0">
                <a:latin typeface="Noto Sans CJK JP"/>
              </a:rPr>
              <a:t>• </a:t>
            </a:r>
            <a:r>
              <a:rPr sz="2200" b="0">
                <a:latin typeface="Noto Sans CJK JP"/>
              </a:rPr>
              <a:t>路線長1 kmと4 kmなら、重みは </a:t>
            </a:r>
            <a:r>
              <a:rPr sz="2200" b="0">
                <a:latin typeface="DejaVu Sans"/>
              </a:rPr>
              <a:t>4:1</a:t>
            </a:r>
            <a:r>
              <a:rPr sz="2200" b="0">
                <a:latin typeface="Noto Sans CJK JP"/>
              </a:rPr>
              <a:t>。</a:t>
            </a:r>
          </a:p>
          <a:p>
            <a:pPr>
              <a:spcAft>
                <a:spcPts val="400"/>
              </a:spcAft>
            </a:pPr>
            <a:r>
              <a:rPr sz="2200" b="0">
                <a:latin typeface="Noto Sans CJK JP"/>
              </a:rPr>
              <a:t>• </a:t>
            </a:r>
            <a:r>
              <a:rPr sz="2200" b="0">
                <a:latin typeface="Noto Sans CJK JP"/>
              </a:rPr>
              <a:t>分散が路線長に比例する条件を確認してから使う。</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2bd291ba1ced.png"/>
          <p:cNvPicPr>
            <a:picLocks noChangeAspect="1"/>
          </p:cNvPicPr>
          <p:nvPr/>
        </p:nvPicPr>
        <p:blipFill>
          <a:blip r:embed="rId2"/>
          <a:stretch>
            <a:fillRect/>
          </a:stretch>
        </p:blipFill>
        <p:spPr>
          <a:xfrm>
            <a:off x="5204307" y="1444752"/>
            <a:ext cx="1783080" cy="1450238"/>
          </a:xfrm>
          <a:prstGeom prst="rect">
            <a:avLst/>
          </a:prstGeom>
        </p:spPr>
      </p:pic>
      <p:sp>
        <p:nvSpPr>
          <p:cNvPr id="5" name="TextBox 4"/>
          <p:cNvSpPr txBox="1"/>
          <p:nvPr/>
        </p:nvSpPr>
        <p:spPr>
          <a:xfrm>
            <a:off x="548640" y="305043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a:t>
            </a:r>
            <a:r>
              <a:rPr sz="2200" b="0" baseline="-25000">
                <a:latin typeface="DejaVu Sans"/>
              </a:rPr>
              <a:t>w</a:t>
            </a:r>
            <a:r>
              <a:rPr sz="2200" b="0">
                <a:latin typeface="Noto Sans CJK JP"/>
              </a:rPr>
              <a:t>：精度の異なる観測を統合した最確値。</a:t>
            </a:r>
          </a:p>
          <a:p>
            <a:pPr>
              <a:spcAft>
                <a:spcPts val="400"/>
              </a:spcAft>
            </a:pPr>
            <a:r>
              <a:rPr sz="2200" b="0">
                <a:latin typeface="Noto Sans CJK JP"/>
              </a:rPr>
              <a:t>• </a:t>
            </a:r>
            <a:r>
              <a:rPr sz="2200" b="0">
                <a:latin typeface="DejaVu Sans"/>
              </a:rPr>
              <a:t>x</a:t>
            </a:r>
            <a:r>
              <a:rPr sz="2200" b="0" baseline="-25000">
                <a:latin typeface="DejaVu Sans"/>
              </a:rPr>
              <a:t>i</a:t>
            </a:r>
            <a:r>
              <a:rPr sz="2200" b="0">
                <a:latin typeface="Noto Sans CJK JP"/>
              </a:rPr>
              <a:t> が m、</a:t>
            </a:r>
            <a:r>
              <a:rPr sz="2200" b="0">
                <a:latin typeface="DejaVu Sans"/>
              </a:rPr>
              <a:t>w</a:t>
            </a:r>
            <a:r>
              <a:rPr sz="2200" b="0" baseline="-25000">
                <a:latin typeface="DejaVu Sans"/>
              </a:rPr>
              <a:t>i</a:t>
            </a:r>
            <a:r>
              <a:rPr sz="2200" b="0">
                <a:latin typeface="Noto Sans CJK JP"/>
              </a:rPr>
              <a:t> が無次元なら、結果は m。</a:t>
            </a:r>
          </a:p>
          <a:p>
            <a:pPr>
              <a:spcAft>
                <a:spcPts val="400"/>
              </a:spcAft>
            </a:pPr>
            <a:r>
              <a:rPr sz="2200" b="0">
                <a:latin typeface="Noto Sans CJK JP"/>
              </a:rPr>
              <a:t>• </a:t>
            </a:r>
            <a:r>
              <a:rPr sz="2200" b="0">
                <a:latin typeface="Noto Sans CJK JP"/>
              </a:rPr>
              <a:t>すべての重みが等しければ、算術平均に戻る。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重み付き平均の残差と検算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この場合の残差は </a:t>
            </a:r>
            <a:r>
              <a:rPr sz="2200" b="0">
                <a:latin typeface="DejaVu Sans"/>
              </a:rPr>
              <a:t>v</a:t>
            </a:r>
            <a:r>
              <a:rPr sz="2200" b="0" baseline="-25000">
                <a:latin typeface="DejaVu Sans"/>
              </a:rPr>
              <a:t>i</a:t>
            </a:r>
            <a:r>
              <a:rPr sz="2200" b="0">
                <a:latin typeface="DejaVu Sans"/>
              </a:rPr>
              <a:t>=x</a:t>
            </a:r>
            <a:r>
              <a:rPr sz="2200" b="0" baseline="-25000">
                <a:latin typeface="DejaVu Sans"/>
              </a:rPr>
              <a:t>i</a:t>
            </a:r>
            <a:r>
              <a:rPr sz="2200" b="0">
                <a:latin typeface="DejaVu Sans"/>
              </a:rPr>
              <a:t>-x̄</a:t>
            </a:r>
            <a:r>
              <a:rPr sz="2200" b="0" baseline="-25000">
                <a:latin typeface="DejaVu Sans"/>
              </a:rPr>
              <a:t>w</a:t>
            </a:r>
            <a:r>
              <a:rPr sz="2200" b="0">
                <a:latin typeface="Noto Sans CJK JP"/>
              </a:rPr>
              <a:t>。</a:t>
            </a:r>
          </a:p>
        </p:txBody>
      </p:sp>
      <p:pic>
        <p:nvPicPr>
          <p:cNvPr id="5" name="Picture 4" descr="eq_d21863fb9bc7.png"/>
          <p:cNvPicPr>
            <a:picLocks noChangeAspect="1"/>
          </p:cNvPicPr>
          <p:nvPr/>
        </p:nvPicPr>
        <p:blipFill>
          <a:blip r:embed="rId2"/>
          <a:stretch>
            <a:fillRect/>
          </a:stretch>
        </p:blipFill>
        <p:spPr>
          <a:xfrm>
            <a:off x="3710483" y="2014982"/>
            <a:ext cx="4770729" cy="475488"/>
          </a:xfrm>
          <a:prstGeom prst="rect">
            <a:avLst/>
          </a:prstGeom>
        </p:spPr>
      </p:pic>
      <p:sp>
        <p:nvSpPr>
          <p:cNvPr id="6" name="TextBox 5"/>
          <p:cNvSpPr txBox="1"/>
          <p:nvPr/>
        </p:nvSpPr>
        <p:spPr>
          <a:xfrm>
            <a:off x="548640" y="264591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検算は </a:t>
            </a:r>
            <a:r>
              <a:rPr sz="2200" b="1">
                <a:latin typeface="Noto Sans CJK JP"/>
              </a:rPr>
              <a:t>加重残差和</a:t>
            </a:r>
            <a:r>
              <a:rPr sz="2200" b="0">
                <a:latin typeface="Noto Sans CJK JP"/>
              </a:rPr>
              <a:t> を使う。</a:t>
            </a:r>
          </a:p>
          <a:p>
            <a:pPr>
              <a:spcAft>
                <a:spcPts val="400"/>
              </a:spcAft>
            </a:pPr>
            <a:r>
              <a:rPr sz="2200" b="0">
                <a:latin typeface="Noto Sans CJK JP"/>
              </a:rPr>
              <a:t>• </a:t>
            </a:r>
            <a:r>
              <a:rPr sz="2200" b="0">
                <a:latin typeface="Noto Sans CJK JP"/>
              </a:rPr>
              <a:t>通常の残差和 </a:t>
            </a:r>
            <a:r>
              <a:rPr sz="2200" b="0">
                <a:latin typeface="DejaVu Sans"/>
              </a:rPr>
              <a:t>Σ v</a:t>
            </a:r>
            <a:r>
              <a:rPr sz="2200" b="0" baseline="-25000">
                <a:latin typeface="DejaVu Sans"/>
              </a:rPr>
              <a:t>i</a:t>
            </a:r>
            <a:r>
              <a:rPr sz="2200" b="0">
                <a:latin typeface="Noto Sans CJK JP"/>
              </a:rPr>
              <a:t> は、0とは限らない。</a:t>
            </a:r>
          </a:p>
          <a:p>
            <a:pPr>
              <a:spcAft>
                <a:spcPts val="400"/>
              </a:spcAft>
            </a:pPr>
            <a:r>
              <a:rPr sz="2200" b="0">
                <a:latin typeface="Noto Sans CJK JP"/>
              </a:rPr>
              <a:t>• </a:t>
            </a:r>
            <a:r>
              <a:rPr sz="2200" b="0">
                <a:latin typeface="DejaVu Sans"/>
              </a:rPr>
              <a:t>Σ w</a:t>
            </a:r>
            <a:r>
              <a:rPr sz="2200" b="0" baseline="-25000">
                <a:latin typeface="DejaVu Sans"/>
              </a:rPr>
              <a:t>i</a:t>
            </a:r>
            <a:r>
              <a:rPr sz="2200" b="0">
                <a:latin typeface="DejaVu Sans"/>
              </a:rPr>
              <a:t>(x</a:t>
            </a:r>
            <a:r>
              <a:rPr sz="2200" b="0" baseline="-25000">
                <a:latin typeface="DejaVu Sans"/>
              </a:rPr>
              <a:t>i</a:t>
            </a:r>
            <a:r>
              <a:rPr sz="2200" b="0">
                <a:latin typeface="DejaVu Sans"/>
              </a:rPr>
              <a:t>-a)</a:t>
            </a:r>
            <a:r>
              <a:rPr sz="2200" b="0" baseline="30000">
                <a:latin typeface="DejaVu Sans"/>
              </a:rPr>
              <a:t>2</a:t>
            </a:r>
            <a:r>
              <a:rPr sz="2200" b="0">
                <a:latin typeface="Noto Sans CJK JP"/>
              </a:rPr>
              <a:t> を最小にする値も </a:t>
            </a:r>
            <a:r>
              <a:rPr sz="2200" b="0">
                <a:latin typeface="DejaVu Sans"/>
              </a:rPr>
              <a:t>x̄</a:t>
            </a:r>
            <a:r>
              <a:rPr sz="2200" b="0" baseline="-25000">
                <a:latin typeface="DejaVu Sans"/>
              </a:rPr>
              <a:t>w</a:t>
            </a:r>
            <a:r>
              <a:rPr sz="2200" b="0">
                <a:latin typeface="Noto Sans CJK JP"/>
              </a:rPr>
              <a:t>。</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単位重みの標準偏差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cb348f1a05b.png"/>
          <p:cNvPicPr>
            <a:picLocks noChangeAspect="1"/>
          </p:cNvPicPr>
          <p:nvPr/>
        </p:nvPicPr>
        <p:blipFill>
          <a:blip r:embed="rId2"/>
          <a:stretch>
            <a:fillRect/>
          </a:stretch>
        </p:blipFill>
        <p:spPr>
          <a:xfrm>
            <a:off x="5039868" y="1444752"/>
            <a:ext cx="2111959" cy="772668"/>
          </a:xfrm>
          <a:prstGeom prst="rect">
            <a:avLst/>
          </a:prstGeom>
        </p:spPr>
      </p:pic>
      <p:sp>
        <p:nvSpPr>
          <p:cNvPr id="5" name="TextBox 4"/>
          <p:cNvSpPr txBox="1"/>
          <p:nvPr/>
        </p:nvSpPr>
        <p:spPr>
          <a:xfrm>
            <a:off x="548640" y="2372868"/>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：重み1に対応する標準偏差の推定値。</a:t>
            </a:r>
          </a:p>
          <a:p>
            <a:pPr>
              <a:spcAft>
                <a:spcPts val="400"/>
              </a:spcAft>
            </a:pPr>
            <a:r>
              <a:rPr sz="2200" b="0">
                <a:latin typeface="Noto Sans CJK JP"/>
              </a:rPr>
              <a:t>• </a:t>
            </a:r>
            <a:r>
              <a:rPr sz="2200" b="0">
                <a:latin typeface="Noto Sans CJK JP"/>
              </a:rPr>
              <a:t>相対重みを決め、共通の分散尺度を残差から推定する。</a:t>
            </a:r>
          </a:p>
          <a:p>
            <a:pPr>
              <a:spcAft>
                <a:spcPts val="400"/>
              </a:spcAft>
            </a:pPr>
            <a:r>
              <a:rPr sz="2200" b="0">
                <a:latin typeface="Noto Sans CJK JP"/>
              </a:rPr>
              <a:t>• </a:t>
            </a:r>
            <a:r>
              <a:rPr sz="2200" b="0">
                <a:latin typeface="DejaVu Sans"/>
              </a:rPr>
              <a:t>n</a:t>
            </a:r>
            <a:r>
              <a:rPr sz="2200" b="0">
                <a:latin typeface="Noto Sans CJK JP"/>
              </a:rPr>
              <a:t> は統合する独立な値の個数、未知数は最確値1個。</a:t>
            </a:r>
          </a:p>
          <a:p>
            <a:pPr>
              <a:spcAft>
                <a:spcPts val="400"/>
              </a:spcAft>
            </a:pPr>
            <a:r>
              <a:rPr sz="2200" b="0">
                <a:latin typeface="Noto Sans CJK JP"/>
              </a:rPr>
              <a:t>• </a:t>
            </a:r>
            <a:r>
              <a:rPr sz="2200" b="0">
                <a:latin typeface="Noto Sans CJK JP"/>
              </a:rPr>
              <a:t>無次元の重みなら、</a:t>
            </a:r>
            <a:r>
              <a:rPr sz="2200" b="0">
                <a:latin typeface="DejaVu Sans"/>
              </a:rPr>
              <a:t>v</a:t>
            </a:r>
            <a:r>
              <a:rPr sz="2200" b="0" baseline="-25000">
                <a:latin typeface="DejaVu Sans"/>
              </a:rPr>
              <a:t>i</a:t>
            </a:r>
            <a:r>
              <a:rPr sz="2200" b="0">
                <a:latin typeface="Noto Sans CJK JP"/>
              </a:rPr>
              <a:t> と </a:t>
            </a:r>
            <a:r>
              <a:rPr sz="2200" b="0">
                <a:latin typeface="DejaVu Sans"/>
              </a:rPr>
              <a:t>σ</a:t>
            </a:r>
            <a:r>
              <a:rPr sz="2200" b="0" baseline="-25000">
                <a:latin typeface="DejaVu Sans"/>
              </a:rPr>
              <a:t>0</a:t>
            </a:r>
            <a:r>
              <a:rPr sz="2200" b="0">
                <a:latin typeface="Noto Sans CJK JP"/>
              </a:rPr>
              <a:t> の単位は同じ。</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重み付き平均の標準偏差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8ffa6ee8791e.png"/>
          <p:cNvPicPr>
            <a:picLocks noChangeAspect="1"/>
          </p:cNvPicPr>
          <p:nvPr/>
        </p:nvPicPr>
        <p:blipFill>
          <a:blip r:embed="rId2"/>
          <a:stretch>
            <a:fillRect/>
          </a:stretch>
        </p:blipFill>
        <p:spPr>
          <a:xfrm>
            <a:off x="5253837" y="1444752"/>
            <a:ext cx="1684020" cy="657758"/>
          </a:xfrm>
          <a:prstGeom prst="rect">
            <a:avLst/>
          </a:prstGeom>
        </p:spPr>
      </p:pic>
      <p:sp>
        <p:nvSpPr>
          <p:cNvPr id="5" name="TextBox 4"/>
          <p:cNvSpPr txBox="1"/>
          <p:nvPr/>
        </p:nvSpPr>
        <p:spPr>
          <a:xfrm>
            <a:off x="548640" y="2257958"/>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各観測の分散を共通尺度 </a:t>
            </a:r>
            <a:r>
              <a:rPr sz="2000" b="0">
                <a:latin typeface="DejaVu Sans"/>
              </a:rPr>
              <a:t>τ</a:t>
            </a:r>
            <a:r>
              <a:rPr sz="2000" b="0" baseline="30000">
                <a:latin typeface="DejaVu Sans"/>
              </a:rPr>
              <a:t>2</a:t>
            </a:r>
            <a:r>
              <a:rPr sz="2000" b="0">
                <a:latin typeface="DejaVu Sans"/>
              </a:rPr>
              <a:t>/w</a:t>
            </a:r>
            <a:r>
              <a:rPr sz="2000" b="0" baseline="-25000">
                <a:latin typeface="DejaVu Sans"/>
              </a:rPr>
              <a:t>i</a:t>
            </a:r>
            <a:r>
              <a:rPr sz="2000" b="0">
                <a:latin typeface="Noto Sans CJK JP"/>
              </a:rPr>
              <a:t> として考える。</a:t>
            </a:r>
          </a:p>
          <a:p>
            <a:pPr>
              <a:spcAft>
                <a:spcPts val="400"/>
              </a:spcAft>
            </a:pPr>
            <a:r>
              <a:rPr sz="2000" b="0">
                <a:latin typeface="Noto Sans CJK JP"/>
              </a:rPr>
              <a:t>• </a:t>
            </a:r>
            <a:r>
              <a:rPr sz="2000" b="0">
                <a:latin typeface="Noto Sans CJK JP"/>
              </a:rPr>
              <a:t>正規化した係数 </a:t>
            </a:r>
            <a:r>
              <a:rPr sz="2000" b="0">
                <a:latin typeface="DejaVu Sans"/>
              </a:rPr>
              <a:t>w</a:t>
            </a:r>
            <a:r>
              <a:rPr sz="2000" b="0" baseline="-25000">
                <a:latin typeface="DejaVu Sans"/>
              </a:rPr>
              <a:t>i</a:t>
            </a:r>
            <a:r>
              <a:rPr sz="2000" b="0">
                <a:latin typeface="DejaVu Sans"/>
              </a:rPr>
              <a:t>/Σ w</a:t>
            </a:r>
            <a:r>
              <a:rPr sz="2000" b="0" baseline="-25000">
                <a:latin typeface="DejaVu Sans"/>
              </a:rPr>
              <a:t>i</a:t>
            </a:r>
            <a:r>
              <a:rPr sz="2000" b="0">
                <a:latin typeface="Noto Sans CJK JP"/>
              </a:rPr>
              <a:t> で誤差を伝播させると、</a:t>
            </a:r>
          </a:p>
        </p:txBody>
      </p:sp>
      <p:pic>
        <p:nvPicPr>
          <p:cNvPr id="6" name="Picture 5" descr="eq_1d0af7711ad2.png"/>
          <p:cNvPicPr>
            <a:picLocks noChangeAspect="1"/>
          </p:cNvPicPr>
          <p:nvPr/>
        </p:nvPicPr>
        <p:blipFill>
          <a:blip r:embed="rId3"/>
          <a:stretch>
            <a:fillRect/>
          </a:stretch>
        </p:blipFill>
        <p:spPr>
          <a:xfrm>
            <a:off x="5031943" y="3255670"/>
            <a:ext cx="2127808" cy="626059"/>
          </a:xfrm>
          <a:prstGeom prst="rect">
            <a:avLst/>
          </a:prstGeom>
        </p:spPr>
      </p:pic>
      <p:sp>
        <p:nvSpPr>
          <p:cNvPr id="7" name="TextBox 6"/>
          <p:cNvSpPr txBox="1"/>
          <p:nvPr/>
        </p:nvSpPr>
        <p:spPr>
          <a:xfrm>
            <a:off x="548640" y="4037177"/>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未知の尺度 </a:t>
            </a:r>
            <a:r>
              <a:rPr sz="2000" b="0">
                <a:latin typeface="DejaVu Sans"/>
              </a:rPr>
              <a:t>τ</a:t>
            </a:r>
            <a:r>
              <a:rPr sz="2000" b="0">
                <a:latin typeface="Noto Sans CJK JP"/>
              </a:rPr>
              <a:t> は、残差から求めた </a:t>
            </a:r>
            <a:r>
              <a:rPr sz="2000" b="0">
                <a:latin typeface="DejaVu Sans"/>
              </a:rPr>
              <a:t>σ</a:t>
            </a:r>
            <a:r>
              <a:rPr sz="2000" b="0" baseline="-25000">
                <a:latin typeface="DejaVu Sans"/>
              </a:rPr>
              <a:t>0</a:t>
            </a:r>
            <a:r>
              <a:rPr sz="2000" b="0">
                <a:latin typeface="Noto Sans CJK JP"/>
              </a:rPr>
              <a:t> で推定する。</a:t>
            </a:r>
          </a:p>
        </p:txBody>
      </p:sp>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重みの尺度と注意点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比が同じなら、重み </a:t>
            </a:r>
            <a:r>
              <a:rPr sz="2200" b="0">
                <a:latin typeface="DejaVu Sans"/>
              </a:rPr>
              <a:t>1:4</a:t>
            </a:r>
            <a:r>
              <a:rPr sz="2200" b="0">
                <a:latin typeface="Noto Sans CJK JP"/>
              </a:rPr>
              <a:t> と </a:t>
            </a:r>
            <a:r>
              <a:rPr sz="2200" b="0">
                <a:latin typeface="DejaVu Sans"/>
              </a:rPr>
              <a:t>2:8</a:t>
            </a:r>
            <a:r>
              <a:rPr sz="2200" b="0">
                <a:latin typeface="Noto Sans CJK JP"/>
              </a:rPr>
              <a:t> の最確値は同じ。</a:t>
            </a:r>
          </a:p>
          <a:p>
            <a:pPr>
              <a:spcAft>
                <a:spcPts val="400"/>
              </a:spcAft>
            </a:pPr>
            <a:r>
              <a:rPr sz="2200" b="0">
                <a:latin typeface="Noto Sans CJK JP"/>
              </a:rPr>
              <a:t>• </a:t>
            </a:r>
            <a:r>
              <a:rPr sz="2200" b="0">
                <a:latin typeface="Noto Sans CJK JP"/>
              </a:rPr>
              <a:t>重みを一律 </a:t>
            </a:r>
            <a:r>
              <a:rPr sz="2200" b="0">
                <a:latin typeface="DejaVu Sans"/>
              </a:rPr>
              <a:t>c</a:t>
            </a:r>
            <a:r>
              <a:rPr sz="2200" b="0">
                <a:latin typeface="Noto Sans CJK JP"/>
              </a:rPr>
              <a:t> 倍すると、</a:t>
            </a:r>
            <a:r>
              <a:rPr sz="2200" b="0">
                <a:latin typeface="DejaVu Sans"/>
              </a:rPr>
              <a:t>σ</a:t>
            </a:r>
            <a:r>
              <a:rPr sz="2200" b="0" baseline="-25000">
                <a:latin typeface="DejaVu Sans"/>
              </a:rPr>
              <a:t>0</a:t>
            </a:r>
            <a:r>
              <a:rPr sz="2200" b="0">
                <a:latin typeface="Noto Sans CJK JP"/>
              </a:rPr>
              <a:t> は </a:t>
            </a:r>
            <a:r>
              <a:rPr sz="2200" b="0">
                <a:latin typeface="DejaVu Sans"/>
              </a:rPr>
              <a:t>√ c</a:t>
            </a:r>
            <a:r>
              <a:rPr sz="2200" b="0">
                <a:latin typeface="Noto Sans CJK JP"/>
              </a:rPr>
              <a:t> 倍。</a:t>
            </a:r>
          </a:p>
          <a:p>
            <a:pPr>
              <a:spcAft>
                <a:spcPts val="400"/>
              </a:spcAft>
            </a:pPr>
            <a:r>
              <a:rPr sz="2200" b="0">
                <a:latin typeface="Noto Sans CJK JP"/>
              </a:rPr>
              <a:t>• </a:t>
            </a:r>
            <a:r>
              <a:rPr sz="2200" b="0">
                <a:latin typeface="DejaVu Sans"/>
              </a:rPr>
              <a:t>σ</a:t>
            </a:r>
            <a:r>
              <a:rPr sz="2200" b="0" baseline="-25000">
                <a:latin typeface="DejaVu Sans"/>
              </a:rPr>
              <a:t>x̄</a:t>
            </a:r>
            <a:r>
              <a:rPr sz="2200" b="0" baseline="-25000">
                <a:latin typeface="DejaVu Sans"/>
              </a:rPr>
              <a:t>w</a:t>
            </a:r>
            <a:r>
              <a:rPr sz="2200" b="0">
                <a:latin typeface="Noto Sans CJK JP"/>
              </a:rPr>
              <a:t> は分母も </a:t>
            </a:r>
            <a:r>
              <a:rPr sz="2200" b="0">
                <a:latin typeface="DejaVu Sans"/>
              </a:rPr>
              <a:t>√ c</a:t>
            </a:r>
            <a:r>
              <a:rPr sz="2200" b="0">
                <a:latin typeface="Noto Sans CJK JP"/>
              </a:rPr>
              <a:t> 倍なので変わらない。</a:t>
            </a:r>
          </a:p>
          <a:p>
            <a:pPr>
              <a:spcAft>
                <a:spcPts val="400"/>
              </a:spcAft>
            </a:pPr>
            <a:r>
              <a:rPr sz="2200" b="0">
                <a:latin typeface="Noto Sans CJK JP"/>
              </a:rPr>
              <a:t>• </a:t>
            </a:r>
            <a:r>
              <a:rPr sz="2200" b="0">
                <a:latin typeface="Noto Sans CJK JP"/>
              </a:rPr>
              <a:t>絶対分散が既知で </a:t>
            </a:r>
            <a:r>
              <a:rPr sz="2200" b="0">
                <a:latin typeface="DejaVu Sans"/>
              </a:rPr>
              <a:t>w</a:t>
            </a:r>
            <a:r>
              <a:rPr sz="2200" b="0" baseline="-25000">
                <a:latin typeface="DejaVu Sans"/>
              </a:rPr>
              <a:t>i</a:t>
            </a:r>
            <a:r>
              <a:rPr sz="2200" b="0">
                <a:latin typeface="DejaVu Sans"/>
              </a:rPr>
              <a:t>=1/σ</a:t>
            </a:r>
            <a:r>
              <a:rPr sz="2200" b="0" baseline="-25000">
                <a:latin typeface="DejaVu Sans"/>
              </a:rPr>
              <a:t>i</a:t>
            </a:r>
            <a:r>
              <a:rPr sz="2200" b="0" baseline="30000">
                <a:latin typeface="DejaVu Sans"/>
              </a:rPr>
              <a:t>2</a:t>
            </a:r>
            <a:r>
              <a:rPr sz="2200" b="0">
                <a:latin typeface="Noto Sans CJK JP"/>
              </a:rPr>
              <a:t> と置く場合は、 平均の標準偏差は </a:t>
            </a:r>
            <a:r>
              <a:rPr sz="2200" b="0">
                <a:latin typeface="DejaVu Sans"/>
              </a:rPr>
              <a:t>1/√(Σ w</a:t>
            </a:r>
            <a:r>
              <a:rPr sz="2200" b="0" baseline="-25000">
                <a:latin typeface="DejaVu Sans"/>
              </a:rPr>
              <a:t>i</a:t>
            </a:r>
            <a:r>
              <a:rPr sz="2200" b="0">
                <a:latin typeface="DejaVu Sans"/>
              </a:rPr>
              <a:t>)</a:t>
            </a:r>
            <a:r>
              <a:rPr sz="2200" b="0">
                <a:latin typeface="Noto Sans CJK JP"/>
              </a:rPr>
              <a:t>（重みに逆分散の単位）。</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2-6 ここまでの確認④</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第1組の標準偏差が、第2組の2倍である。</a:t>
            </a:r>
          </a:p>
          <a:p>
            <a:pPr>
              <a:spcAft>
                <a:spcPts val="600"/>
              </a:spcAft>
            </a:pPr>
            <a:r>
              <a:rPr sz="2200" b="0">
                <a:latin typeface="Noto Sans CJK JP"/>
              </a:rPr>
              <a:t>適切な重みの比 </a:t>
            </a:r>
            <a:r>
              <a:rPr sz="2200" b="0">
                <a:latin typeface="DejaVu Sans"/>
              </a:rPr>
              <a:t>w</a:t>
            </a:r>
            <a:r>
              <a:rPr sz="2200" b="0" baseline="-25000">
                <a:latin typeface="DejaVu Sans"/>
              </a:rPr>
              <a:t>1</a:t>
            </a:r>
            <a:r>
              <a:rPr sz="2200" b="0">
                <a:latin typeface="DejaVu Sans"/>
              </a:rPr>
              <a:t>:w</a:t>
            </a:r>
            <a:r>
              <a:rPr sz="2200" b="0" baseline="-25000">
                <a:latin typeface="DejaVu Sans"/>
              </a:rPr>
              <a:t>2</a:t>
            </a:r>
            <a:r>
              <a:rPr sz="2200" b="0">
                <a:latin typeface="Noto Sans CJK JP"/>
              </a:rPr>
              <a:t> はいくつか。 最確値は、どちらの観測値に近づくか。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例題B：回数の異なる2組</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同じ距離の群平均。元の各観測は同精度、群内・群間とも独立。</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Noto Sans CJK JP"/>
                        </a:rPr>
                        <a:t>回数 </a:t>
                      </a:r>
                      <a:r>
                        <a:rPr sz="1800" b="1">
                          <a:solidFill>
                            <a:srgbClr val="1F1F1F"/>
                          </a:solidFill>
                          <a:latin typeface="DejaVu Sans"/>
                        </a:rPr>
                        <a:t>n</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Noto Sans CJK JP"/>
                        </a:rPr>
                        <a:t>群平均 </a:t>
                      </a:r>
                      <a:r>
                        <a:rPr sz="1800" b="1">
                          <a:solidFill>
                            <a:srgbClr val="1F1F1F"/>
                          </a:solidFill>
                          <a:latin typeface="DejaVu Sans"/>
                        </a:rPr>
                        <a:t>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Noto Sans CJK JP"/>
                        </a:rPr>
                        <a:t>重み </a:t>
                      </a:r>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40.002</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600"/>
              </a:spcAft>
            </a:pPr>
            <a:r>
              <a:rPr sz="2200" b="0">
                <a:latin typeface="Noto Sans CJK JP"/>
              </a:rPr>
              <a:t>過失・定誤差は処理済み。絶対分散は未知。 2個の群平均の残差から、標準偏差も推定する。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337b76bb472b.png"/>
          <p:cNvPicPr>
            <a:picLocks noChangeAspect="1"/>
          </p:cNvPicPr>
          <p:nvPr/>
        </p:nvPicPr>
        <p:blipFill>
          <a:blip r:embed="rId2"/>
          <a:stretch>
            <a:fillRect/>
          </a:stretch>
        </p:blipFill>
        <p:spPr>
          <a:xfrm>
            <a:off x="2242413" y="1444752"/>
            <a:ext cx="7706868" cy="511149"/>
          </a:xfrm>
          <a:prstGeom prst="rect">
            <a:avLst/>
          </a:prstGeom>
        </p:spPr>
      </p:pic>
      <p:graphicFrame>
        <p:nvGraphicFramePr>
          <p:cNvPr id="5" name="Table 4"/>
          <p:cNvGraphicFramePr>
            <a:graphicFrameLocks noGrp="1"/>
          </p:cNvGraphicFramePr>
          <p:nvPr/>
        </p:nvGraphicFramePr>
        <p:xfrm>
          <a:off x="548640" y="2111349"/>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x</a:t>
                      </a:r>
                      <a:r>
                        <a:rPr sz="1800" b="1" baseline="-25000">
                          <a:solidFill>
                            <a:srgbClr val="1F1F1F"/>
                          </a:solidFill>
                          <a:latin typeface="DejaVu Sans"/>
                        </a:rPr>
                        <a:t>i</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160.008</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40.012</a:t>
                      </a:r>
                    </a:p>
                  </a:txBody>
                  <a:tcPr marL="54864" marR="54864" marT="27432" marB="27432">
                    <a:solidFill>
                      <a:srgbClr val="F5F7FA"/>
                    </a:solidFill>
                  </a:tcPr>
                </a:tc>
              </a:tr>
            </a:tbl>
          </a:graphicData>
        </a:graphic>
      </p:graphicFrame>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例題B：残差と加重平方和</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2773603"/>
                <a:gridCol w="2773603"/>
                <a:gridCol w="2773603"/>
                <a:gridCol w="2773606"/>
              </a:tblGrid>
              <a:tr h="457200">
                <a:tc>
                  <a:txBody>
                    <a:bodyPr wrap="square"/>
                    <a:lstStyle/>
                    <a:p>
                      <a:r>
                        <a:rPr sz="1800" b="1">
                          <a:solidFill>
                            <a:srgbClr val="1F1F1F"/>
                          </a:solidFill>
                          <a:latin typeface="Noto Sans CJK JP"/>
                        </a:rPr>
                        <a:t>組</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p>
                  </a:txBody>
                  <a:tcPr marL="54864" marR="54864" marT="27432" marB="27432">
                    <a:solidFill>
                      <a:srgbClr val="DCE6F1"/>
                    </a:solidFill>
                  </a:tcPr>
                </a:tc>
                <a:tc>
                  <a:txBody>
                    <a:bodyPr wrap="square"/>
                    <a:lstStyle/>
                    <a:p>
                      <a:r>
                        <a:rPr sz="1800" b="1">
                          <a:solidFill>
                            <a:srgbClr val="1F1F1F"/>
                          </a:solidFill>
                          <a:latin typeface="DejaVu Sans"/>
                        </a:rPr>
                        <a:t>v</a:t>
                      </a:r>
                      <a:r>
                        <a:rPr sz="1800" b="1" baseline="-25000">
                          <a:solidFill>
                            <a:srgbClr val="1F1F1F"/>
                          </a:solidFill>
                          <a:latin typeface="DejaVu Sans"/>
                        </a:rPr>
                        <a:t>i</a:t>
                      </a:r>
                      <a:r>
                        <a:rPr sz="1800" b="1">
                          <a:solidFill>
                            <a:srgbClr val="1F1F1F"/>
                          </a:solidFill>
                          <a:latin typeface="Noto Sans CJK JP"/>
                        </a:rPr>
                        <a:t>（mm）</a:t>
                      </a:r>
                    </a:p>
                  </a:txBody>
                  <a:tcPr marL="54864" marR="54864" marT="27432" marB="27432">
                    <a:solidFill>
                      <a:srgbClr val="DCE6F1"/>
                    </a:solidFill>
                  </a:tcPr>
                </a:tc>
                <a:tc>
                  <a:txBody>
                    <a:bodyPr wrap="square"/>
                    <a:lstStyle/>
                    <a:p>
                      <a:r>
                        <a:rPr sz="1800" b="1">
                          <a:solidFill>
                            <a:srgbClr val="1F1F1F"/>
                          </a:solidFill>
                          <a:latin typeface="DejaVu Sans"/>
                        </a:rPr>
                        <a:t>w</a:t>
                      </a:r>
                      <a:r>
                        <a:rPr sz="1800" b="1" baseline="-25000">
                          <a:solidFill>
                            <a:srgbClr val="1F1F1F"/>
                          </a:solidFill>
                          <a:latin typeface="DejaVu Sans"/>
                        </a:rPr>
                        <a:t>i</a:t>
                      </a:r>
                      <a:r>
                        <a:rPr sz="1800" b="1">
                          <a:solidFill>
                            <a:srgbClr val="1F1F1F"/>
                          </a:solidFill>
                          <a:latin typeface="DejaVu Sans"/>
                        </a:rPr>
                        <a:t> v</a:t>
                      </a:r>
                      <a:r>
                        <a:rPr sz="1800" b="1" baseline="-25000">
                          <a:solidFill>
                            <a:srgbClr val="1F1F1F"/>
                          </a:solidFill>
                          <a:latin typeface="DejaVu Sans"/>
                        </a:rPr>
                        <a:t>i</a:t>
                      </a:r>
                      <a:r>
                        <a:rPr sz="1800" b="1" baseline="30000">
                          <a:solidFill>
                            <a:srgbClr val="1F1F1F"/>
                          </a:solidFill>
                          <a:latin typeface="DejaVu Sans"/>
                        </a:rPr>
                        <a:t>2</a:t>
                      </a:r>
                      <a:r>
                        <a:rPr sz="1800" b="1">
                          <a:solidFill>
                            <a:srgbClr val="1F1F1F"/>
                          </a:solidFill>
                          <a:latin typeface="Noto Sans CJK JP"/>
                        </a:rPr>
                        <a:t>（mm²）</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−2</a:t>
                      </a:r>
                    </a:p>
                  </a:txBody>
                  <a:tcPr marL="54864" marR="54864" marT="27432" marB="27432">
                    <a:solidFill>
                      <a:srgbClr val="FFFFFF"/>
                    </a:solidFill>
                  </a:tcPr>
                </a:tc>
                <a:tc>
                  <a:txBody>
                    <a:bodyPr wrap="square"/>
                    <a:lstStyle/>
                    <a:p>
                      <a:r>
                        <a:rPr sz="1800" b="0">
                          <a:latin typeface="Noto Sans CJK JP"/>
                        </a:rPr>
                        <a:t>16</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1</a:t>
                      </a:r>
                    </a:p>
                  </a:txBody>
                  <a:tcPr marL="54864" marR="54864" marT="27432" marB="27432">
                    <a:solidFill>
                      <a:srgbClr val="F5F7FA"/>
                    </a:solidFill>
                  </a:tcPr>
                </a:tc>
                <a:tc>
                  <a:txBody>
                    <a:bodyPr wrap="square"/>
                    <a:lstStyle/>
                    <a:p>
                      <a:r>
                        <a:rPr sz="1800" b="0">
                          <a:latin typeface="Noto Sans CJK JP"/>
                        </a:rPr>
                        <a:t>+8</a:t>
                      </a:r>
                    </a:p>
                  </a:txBody>
                  <a:tcPr marL="54864" marR="54864" marT="27432" marB="27432">
                    <a:solidFill>
                      <a:srgbClr val="F5F7FA"/>
                    </a:solidFill>
                  </a:tcPr>
                </a:tc>
                <a:tc>
                  <a:txBody>
                    <a:bodyPr wrap="square"/>
                    <a:lstStyle/>
                    <a:p>
                      <a:r>
                        <a:rPr sz="1800" b="0">
                          <a:latin typeface="Noto Sans CJK JP"/>
                        </a:rPr>
                        <a:t>64</a:t>
                      </a:r>
                    </a:p>
                  </a:txBody>
                  <a:tcPr marL="54864" marR="54864" marT="27432" marB="27432">
                    <a:solidFill>
                      <a:srgbClr val="F5F7FA"/>
                    </a:solidFill>
                  </a:tcPr>
                </a:tc>
              </a:tr>
              <a:tr h="457200">
                <a:tc>
                  <a:txBody>
                    <a:bodyPr wrap="square"/>
                    <a:lstStyle/>
                    <a:p>
                      <a:r>
                        <a:rPr sz="1800" b="0">
                          <a:latin typeface="Noto Sans CJK JP"/>
                        </a:rPr>
                        <a:t>合計</a:t>
                      </a:r>
                    </a:p>
                  </a:txBody>
                  <a:tcPr marL="54864" marR="54864" marT="27432" marB="27432">
                    <a:solidFill>
                      <a:srgbClr val="FFFFFF"/>
                    </a:solidFill>
                  </a:tcPr>
                </a:tc>
                <a:tc>
                  <a:txBody>
                    <a:bodyPr wrap="square"/>
                    <a:lstStyle/>
                    <a:p>
                      <a:r>
                        <a:rPr sz="1800" b="0">
                          <a:latin typeface="Noto Sans CJK JP"/>
                        </a:rPr>
                        <a:t>5</a:t>
                      </a:r>
                    </a:p>
                  </a:txBody>
                  <a:tcPr marL="54864" marR="54864" marT="27432" marB="27432">
                    <a:solidFill>
                      <a:srgbClr val="FFFFFF"/>
                    </a:solidFill>
                  </a:tcPr>
                </a:tc>
                <a:tc>
                  <a:txBody>
                    <a:bodyPr wrap="square"/>
                    <a:lstStyle/>
                    <a:p>
                      <a:r>
                        <a:rPr sz="1800" b="0">
                          <a:latin typeface="Noto Sans CJK JP"/>
                        </a:rPr>
                        <a:t>—</a:t>
                      </a:r>
                    </a:p>
                  </a:txBody>
                  <a:tcPr marL="54864" marR="54864" marT="27432" marB="27432">
                    <a:solidFill>
                      <a:srgbClr val="FFFFFF"/>
                    </a:solidFill>
                  </a:tcPr>
                </a:tc>
                <a:tc>
                  <a:txBody>
                    <a:bodyPr wrap="square"/>
                    <a:lstStyle/>
                    <a:p>
                      <a:r>
                        <a:rPr sz="1800" b="0">
                          <a:latin typeface="Noto Sans CJK JP"/>
                        </a:rPr>
                        <a:t>80</a:t>
                      </a:r>
                    </a:p>
                  </a:txBody>
                  <a:tcPr marL="54864" marR="54864" marT="27432" marB="27432">
                    <a:solidFill>
                      <a:srgbClr val="FFFFFF"/>
                    </a:solidFill>
                  </a:tcPr>
                </a:tc>
              </a:tr>
            </a:tbl>
          </a:graphicData>
        </a:graphic>
      </p:graphicFrame>
      <p:sp>
        <p:nvSpPr>
          <p:cNvPr id="5" name="TextBox 4"/>
          <p:cNvSpPr txBox="1"/>
          <p:nvPr/>
        </p:nvSpPr>
        <p:spPr>
          <a:xfrm>
            <a:off x="548640" y="3337560"/>
            <a:ext cx="11094415" cy="1003300"/>
          </a:xfrm>
          <a:prstGeom prst="rect">
            <a:avLst/>
          </a:prstGeom>
          <a:noFill/>
        </p:spPr>
        <p:txBody>
          <a:bodyPr wrap="square" lIns="45720" rIns="45720" tIns="18288" bIns="18288">
            <a:spAutoFit/>
          </a:bodyPr>
          <a:lstStyle/>
          <a:p>
            <a:pPr>
              <a:spcAft>
                <a:spcPts val="600"/>
              </a:spcAft>
            </a:pPr>
            <a:r>
              <a:rPr sz="2200" b="0">
                <a:latin typeface="DejaVu Sans"/>
              </a:rPr>
              <a:t>Σ w</a:t>
            </a:r>
            <a:r>
              <a:rPr sz="2200" b="0" baseline="-25000">
                <a:latin typeface="DejaVu Sans"/>
              </a:rPr>
              <a:t>i</a:t>
            </a:r>
            <a:r>
              <a:rPr sz="2200" b="0">
                <a:latin typeface="DejaVu Sans"/>
              </a:rPr>
              <a:t> v</a:t>
            </a:r>
            <a:r>
              <a:rPr sz="2200" b="0" baseline="-25000">
                <a:latin typeface="DejaVu Sans"/>
              </a:rPr>
              <a:t>i</a:t>
            </a:r>
            <a:r>
              <a:rPr sz="2200" b="0">
                <a:latin typeface="DejaVu Sans"/>
              </a:rPr>
              <a:t>=4×(-2)+1×8=0</a:t>
            </a:r>
            <a:r>
              <a:rPr sz="2200" b="0">
                <a:latin typeface="Noto Sans CJK JP"/>
              </a:rPr>
              <a:t> mm。 通常の残差和は </a:t>
            </a:r>
            <a:r>
              <a:rPr sz="2200" b="0">
                <a:latin typeface="DejaVu Sans"/>
              </a:rPr>
              <a:t>-2+8=6</a:t>
            </a:r>
            <a:r>
              <a:rPr sz="2200" b="0">
                <a:latin typeface="Noto Sans CJK JP"/>
              </a:rPr>
              <a:t> mmでもよい。</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例題B：2種類の標準偏差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dd733e23aa7f.png"/>
          <p:cNvPicPr>
            <a:picLocks noChangeAspect="1"/>
          </p:cNvPicPr>
          <p:nvPr/>
        </p:nvPicPr>
        <p:blipFill>
          <a:blip r:embed="rId2"/>
          <a:stretch>
            <a:fillRect/>
          </a:stretch>
        </p:blipFill>
        <p:spPr>
          <a:xfrm>
            <a:off x="2381097" y="1444752"/>
            <a:ext cx="7429500" cy="641908"/>
          </a:xfrm>
          <a:prstGeom prst="rect">
            <a:avLst/>
          </a:prstGeom>
        </p:spPr>
      </p:pic>
      <p:pic>
        <p:nvPicPr>
          <p:cNvPr id="5" name="Picture 4" descr="eq_ff815d57cda2.png"/>
          <p:cNvPicPr>
            <a:picLocks noChangeAspect="1"/>
          </p:cNvPicPr>
          <p:nvPr/>
        </p:nvPicPr>
        <p:blipFill>
          <a:blip r:embed="rId3"/>
          <a:stretch>
            <a:fillRect/>
          </a:stretch>
        </p:blipFill>
        <p:spPr>
          <a:xfrm>
            <a:off x="4263237" y="2315260"/>
            <a:ext cx="3665220" cy="709269"/>
          </a:xfrm>
          <a:prstGeom prst="rect">
            <a:avLst/>
          </a:prstGeom>
        </p:spPr>
      </p:pic>
      <p:sp>
        <p:nvSpPr>
          <p:cNvPr id="6" name="TextBox 5"/>
          <p:cNvSpPr txBox="1"/>
          <p:nvPr/>
        </p:nvSpPr>
        <p:spPr>
          <a:xfrm>
            <a:off x="548640" y="3179977"/>
            <a:ext cx="11094415" cy="570230"/>
          </a:xfrm>
          <a:prstGeom prst="rect">
            <a:avLst/>
          </a:prstGeom>
          <a:noFill/>
        </p:spPr>
        <p:txBody>
          <a:bodyPr wrap="square" lIns="45720" rIns="45720" tIns="18288" bIns="18288">
            <a:spAutoFit/>
          </a:bodyPr>
          <a:lstStyle/>
          <a:p>
            <a:pPr>
              <a:spcAft>
                <a:spcPts val="600"/>
              </a:spcAft>
            </a:pPr>
            <a:r>
              <a:rPr sz="2200" b="0">
                <a:latin typeface="Noto Sans CJK JP"/>
              </a:rPr>
              <a:t>最確値40.004 m、重み付き平均の標準偏差4.00 mm。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2-7 例題Bの結果をどう読むか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重み </a:t>
            </a:r>
            <a:r>
              <a:rPr sz="2200" b="0">
                <a:latin typeface="DejaVu Sans"/>
              </a:rPr>
              <a:t>4:1</a:t>
            </a:r>
            <a:r>
              <a:rPr sz="2200" b="0">
                <a:latin typeface="Noto Sans CJK JP"/>
              </a:rPr>
              <a:t> は、事前に与えた相対精度。</a:t>
            </a:r>
          </a:p>
          <a:p>
            <a:pPr>
              <a:spcAft>
                <a:spcPts val="400"/>
              </a:spcAft>
            </a:pPr>
            <a:r>
              <a:rPr sz="2200" b="0">
                <a:latin typeface="Noto Sans CJK JP"/>
              </a:rPr>
              <a:t>• </a:t>
            </a:r>
            <a:r>
              <a:rPr sz="2200" b="0">
                <a:latin typeface="DejaVu Sans"/>
              </a:rPr>
              <a:t>σ</a:t>
            </a:r>
            <a:r>
              <a:rPr sz="2200" b="0" baseline="-25000">
                <a:latin typeface="DejaVu Sans"/>
              </a:rPr>
              <a:t>0</a:t>
            </a:r>
            <a:r>
              <a:rPr sz="2200" b="0">
                <a:latin typeface="Noto Sans CJK JP"/>
              </a:rPr>
              <a:t> は、2個の群平均の食い違いから求めた尺度。</a:t>
            </a:r>
          </a:p>
          <a:p>
            <a:pPr>
              <a:spcAft>
                <a:spcPts val="400"/>
              </a:spcAft>
            </a:pPr>
            <a:r>
              <a:rPr sz="2200" b="0">
                <a:latin typeface="Noto Sans CJK JP"/>
              </a:rPr>
              <a:t>• </a:t>
            </a:r>
            <a:r>
              <a:rPr sz="2200" b="0">
                <a:latin typeface="Noto Sans CJK JP"/>
              </a:rPr>
              <a:t>自由度1の推定なので、標準偏差の推定自体も不確か。</a:t>
            </a:r>
          </a:p>
          <a:p>
            <a:pPr>
              <a:spcAft>
                <a:spcPts val="400"/>
              </a:spcAft>
            </a:pPr>
            <a:r>
              <a:rPr sz="2200" b="0">
                <a:latin typeface="Noto Sans CJK JP"/>
              </a:rPr>
              <a:t>• </a:t>
            </a:r>
            <a:r>
              <a:rPr sz="2200" b="0">
                <a:latin typeface="Noto Sans CJK JP"/>
              </a:rPr>
              <a:t>群内の記録も保存し、追加観測や独立した点検を行う。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TS・GNSS の標準偏差表示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TS：反復した距離・角のばらつきか、座標の推定精度かを確認。</a:t>
            </a:r>
          </a:p>
          <a:p>
            <a:pPr>
              <a:spcAft>
                <a:spcPts val="400"/>
              </a:spcAft>
            </a:pPr>
            <a:r>
              <a:rPr sz="2200" b="0">
                <a:latin typeface="Noto Sans CJK JP"/>
              </a:rPr>
              <a:t>• </a:t>
            </a:r>
            <a:r>
              <a:rPr sz="2200" b="0">
                <a:latin typeface="Noto Sans CJK JP"/>
              </a:rPr>
              <a:t>GNSS：観測モデルから推定した位置の不確かさの場合がある。</a:t>
            </a:r>
          </a:p>
          <a:p>
            <a:pPr>
              <a:spcAft>
                <a:spcPts val="400"/>
              </a:spcAft>
            </a:pPr>
            <a:r>
              <a:rPr sz="2200" b="0">
                <a:latin typeface="Noto Sans CJK JP"/>
              </a:rPr>
              <a:t>• </a:t>
            </a:r>
            <a:r>
              <a:rPr sz="2200" b="0">
                <a:latin typeface="Noto Sans CJK JP"/>
              </a:rPr>
              <a:t>対象量、単位、1標準偏差か別の指標かを説明書で読む。</a:t>
            </a:r>
          </a:p>
          <a:p>
            <a:pPr>
              <a:spcAft>
                <a:spcPts val="400"/>
              </a:spcAft>
            </a:pPr>
            <a:r>
              <a:rPr sz="2200" b="0">
                <a:latin typeface="Noto Sans CJK JP"/>
              </a:rPr>
              <a:t>• </a:t>
            </a:r>
            <a:r>
              <a:rPr sz="2200" b="0">
                <a:latin typeface="Noto Sans CJK JP"/>
              </a:rPr>
              <a:t>水平・高さ・各座標成分の値を区別する。</a:t>
            </a:r>
          </a:p>
          <a:p>
            <a:pPr>
              <a:spcAft>
                <a:spcPts val="400"/>
              </a:spcAft>
            </a:pPr>
            <a:r>
              <a:rPr sz="2200" b="0">
                <a:latin typeface="Noto Sans CJK JP"/>
              </a:rPr>
              <a:t>• </a:t>
            </a:r>
            <a:r>
              <a:rPr sz="2200" b="0">
                <a:latin typeface="Noto Sans CJK JP"/>
              </a:rPr>
              <a:t>表示が小さくても、共通の偏りを含む全誤差の保証にはならない。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測距精度の ppm 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DejaVu Sans"/>
              </a:rPr>
              <a:t>a</a:t>
            </a:r>
            <a:r>
              <a:rPr sz="2200" b="0">
                <a:latin typeface="Noto Sans CJK JP"/>
              </a:rPr>
              <a:t>：定数項、</a:t>
            </a:r>
            <a:r>
              <a:rPr sz="2200" b="0">
                <a:latin typeface="DejaVu Sans"/>
              </a:rPr>
              <a:t>b</a:t>
            </a:r>
            <a:r>
              <a:rPr sz="2200" b="0">
                <a:latin typeface="Noto Sans CJK JP"/>
              </a:rPr>
              <a:t>：距離比例項の係数、</a:t>
            </a:r>
            <a:r>
              <a:rPr sz="2200" b="0">
                <a:latin typeface="DejaVu Sans"/>
              </a:rPr>
              <a:t>1 ppm=10</a:t>
            </a:r>
            <a:r>
              <a:rPr sz="2200" b="0" baseline="30000">
                <a:latin typeface="DejaVu Sans"/>
              </a:rPr>
              <a:t>-6</a:t>
            </a:r>
          </a:p>
        </p:txBody>
      </p:sp>
      <p:pic>
        <p:nvPicPr>
          <p:cNvPr id="5" name="Picture 4" descr="eq_3aa68ae6367f.png"/>
          <p:cNvPicPr>
            <a:picLocks noChangeAspect="1"/>
          </p:cNvPicPr>
          <p:nvPr/>
        </p:nvPicPr>
        <p:blipFill>
          <a:blip r:embed="rId2"/>
          <a:stretch>
            <a:fillRect/>
          </a:stretch>
        </p:blipFill>
        <p:spPr>
          <a:xfrm>
            <a:off x="4471263" y="2014982"/>
            <a:ext cx="3249168" cy="360578"/>
          </a:xfrm>
          <a:prstGeom prst="rect">
            <a:avLst/>
          </a:prstGeom>
        </p:spPr>
      </p:pic>
      <p:sp>
        <p:nvSpPr>
          <p:cNvPr id="6" name="TextBox 5"/>
          <p:cNvSpPr txBox="1"/>
          <p:nvPr/>
        </p:nvSpPr>
        <p:spPr>
          <a:xfrm>
            <a:off x="548640" y="2531008"/>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500 mで </a:t>
            </a:r>
            <a:r>
              <a:rPr sz="2200" b="0">
                <a:latin typeface="DejaVu Sans"/>
              </a:rPr>
              <a:t>±(2 mm+2 ppm)</a:t>
            </a:r>
            <a:r>
              <a:rPr sz="2200" b="0">
                <a:latin typeface="Noto Sans CJK JP"/>
              </a:rPr>
              <a:t> なら、 </a:t>
            </a:r>
            <a:r>
              <a:rPr sz="2200" b="0">
                <a:latin typeface="DejaVu Sans"/>
              </a:rPr>
              <a:t>2×10</a:t>
            </a:r>
            <a:r>
              <a:rPr sz="2200" b="0" baseline="30000">
                <a:latin typeface="DejaVu Sans"/>
              </a:rPr>
              <a:t>-6</a:t>
            </a:r>
            <a:r>
              <a:rPr sz="2200" b="0">
                <a:latin typeface="DejaVu Sans"/>
              </a:rPr>
              <a:t>×500 m=1 mm</a:t>
            </a:r>
            <a:r>
              <a:rPr sz="2200" b="0">
                <a:latin typeface="Noto Sans CJK JP"/>
              </a:rPr>
              <a:t>。 したがって </a:t>
            </a:r>
            <a:r>
              <a:rPr sz="2200" b="1">
                <a:latin typeface="DejaVu Sans"/>
              </a:rPr>
              <a:t>±(2+1)=±3</a:t>
            </a:r>
            <a:r>
              <a:rPr sz="2200" b="1">
                <a:latin typeface="Noto Sans CJK JP"/>
              </a:rPr>
              <a:t> mm</a:t>
            </a:r>
            <a:r>
              <a:rPr sz="2200" b="0">
                <a:latin typeface="Noto Sans CJK JP"/>
              </a:rPr>
              <a:t>。適用条件と統計的定義も確認。</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実習で同一点を3回測る理由</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実習では同一地点を3回計測し、平均を取った。</a:t>
            </a:r>
          </a:p>
          <a:p>
            <a:pPr>
              <a:spcAft>
                <a:spcPts val="400"/>
              </a:spcAft>
            </a:pPr>
            <a:r>
              <a:rPr sz="2200" b="0">
                <a:latin typeface="Noto Sans CJK JP"/>
              </a:rPr>
              <a:t>• </a:t>
            </a:r>
            <a:r>
              <a:rPr sz="2200" b="0">
                <a:latin typeface="Noto Sans CJK JP"/>
              </a:rPr>
              <a:t>繰り返すことで、ばらつきや異常な値の存在に気付きやすい。</a:t>
            </a:r>
          </a:p>
          <a:p>
            <a:pPr>
              <a:spcAft>
                <a:spcPts val="400"/>
              </a:spcAft>
            </a:pPr>
            <a:r>
              <a:rPr sz="2200" b="0">
                <a:latin typeface="Noto Sans CJK JP"/>
              </a:rPr>
              <a:t>• </a:t>
            </a:r>
            <a:r>
              <a:rPr sz="2200" b="0">
                <a:latin typeface="Noto Sans CJK JP"/>
              </a:rPr>
              <a:t>独立・同精度なら、平均の標準偏差は </a:t>
            </a:r>
            <a:r>
              <a:rPr sz="2200" b="0">
                <a:latin typeface="DejaVu Sans"/>
              </a:rPr>
              <a:t>σ/√3</a:t>
            </a:r>
            <a:r>
              <a:rPr sz="2200" b="0">
                <a:latin typeface="Noto Sans CJK JP"/>
              </a:rPr>
              <a:t>。</a:t>
            </a:r>
          </a:p>
          <a:p>
            <a:pPr>
              <a:spcAft>
                <a:spcPts val="400"/>
              </a:spcAft>
            </a:pPr>
            <a:r>
              <a:rPr sz="2200" b="0">
                <a:latin typeface="Noto Sans CJK JP"/>
              </a:rPr>
              <a:t>• </a:t>
            </a:r>
            <a:r>
              <a:rPr sz="2200" b="0">
                <a:latin typeface="Noto Sans CJK JP"/>
              </a:rPr>
              <a:t>連続する GNSS 観測の相関や共通の偏りは別途点検する。</a:t>
            </a:r>
          </a:p>
          <a:p>
            <a:pPr>
              <a:spcAft>
                <a:spcPts val="400"/>
              </a:spcAft>
            </a:pPr>
            <a:r>
              <a:rPr sz="2200" b="0">
                <a:latin typeface="Noto Sans CJK JP"/>
              </a:rPr>
              <a:t>• </a:t>
            </a:r>
            <a:r>
              <a:rPr sz="2200" b="0">
                <a:latin typeface="Noto Sans CJK JP"/>
              </a:rPr>
              <a:t>平均の前に、元データと観測条件を確認する。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2-8 RTK の固定解と精度表示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RTK：基準局などの情報を使う、搬送波位相による測位。</a:t>
            </a:r>
          </a:p>
          <a:p>
            <a:pPr>
              <a:spcAft>
                <a:spcPts val="400"/>
              </a:spcAft>
            </a:pPr>
            <a:r>
              <a:rPr sz="2200" b="0">
                <a:latin typeface="Noto Sans CJK JP"/>
              </a:rPr>
              <a:t>• </a:t>
            </a:r>
            <a:r>
              <a:rPr sz="2200" b="0">
                <a:latin typeface="Noto Sans CJK JP"/>
              </a:rPr>
              <a:t>固定解：搬送波の整数値バイアスを整数として決定した解。</a:t>
            </a:r>
          </a:p>
          <a:p>
            <a:pPr>
              <a:spcAft>
                <a:spcPts val="400"/>
              </a:spcAft>
            </a:pPr>
            <a:r>
              <a:rPr sz="2200" b="0">
                <a:latin typeface="Noto Sans CJK JP"/>
              </a:rPr>
              <a:t>• </a:t>
            </a:r>
            <a:r>
              <a:rPr sz="2200" b="0">
                <a:latin typeface="Noto Sans CJK JP"/>
              </a:rPr>
              <a:t>固定解でも、誤った整数決定やマルチパスの影響はあり得る。</a:t>
            </a:r>
          </a:p>
          <a:p>
            <a:pPr>
              <a:spcAft>
                <a:spcPts val="400"/>
              </a:spcAft>
            </a:pPr>
            <a:r>
              <a:rPr sz="2200" b="0">
                <a:latin typeface="Noto Sans CJK JP"/>
              </a:rPr>
              <a:t>• </a:t>
            </a:r>
            <a:r>
              <a:rPr sz="2200" b="0">
                <a:latin typeface="Noto Sans CJK JP"/>
              </a:rPr>
              <a:t>精度表示に加え、再初期化後の比較や既知点での点検を行う。</a:t>
            </a:r>
          </a:p>
          <a:p>
            <a:pPr>
              <a:spcAft>
                <a:spcPts val="400"/>
              </a:spcAft>
            </a:pPr>
            <a:r>
              <a:rPr sz="2200" b="0">
                <a:latin typeface="Noto Sans CJK JP"/>
              </a:rPr>
              <a:t>• </a:t>
            </a:r>
            <a:r>
              <a:rPr sz="2200" b="0">
                <a:latin typeface="Noto Sans CJK JP"/>
              </a:rPr>
              <a:t>固定解という表示だけで、確度を保証したとはいえない。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精度管理と技術者倫理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観測の較差や閉合差が許容値を超えたら、原因を点検し再測する。</a:t>
            </a:r>
          </a:p>
          <a:p>
            <a:pPr>
              <a:spcAft>
                <a:spcPts val="400"/>
              </a:spcAft>
            </a:pPr>
            <a:r>
              <a:rPr sz="2200" b="0">
                <a:latin typeface="Noto Sans CJK JP"/>
              </a:rPr>
              <a:t>• </a:t>
            </a:r>
            <a:r>
              <a:rPr sz="2200" b="0">
                <a:latin typeface="Noto Sans CJK JP"/>
              </a:rPr>
              <a:t>合格するように観測値を書き換えない。</a:t>
            </a:r>
          </a:p>
          <a:p>
            <a:pPr>
              <a:spcAft>
                <a:spcPts val="400"/>
              </a:spcAft>
            </a:pPr>
            <a:r>
              <a:rPr sz="2200" b="0">
                <a:latin typeface="Noto Sans CJK JP"/>
              </a:rPr>
              <a:t>• </a:t>
            </a:r>
            <a:r>
              <a:rPr sz="2200" b="0">
                <a:latin typeface="Noto Sans CJK JP"/>
              </a:rPr>
              <a:t>補正値・計算過程・再測の理由と元の記録を残す。</a:t>
            </a:r>
          </a:p>
          <a:p>
            <a:pPr>
              <a:spcAft>
                <a:spcPts val="400"/>
              </a:spcAft>
            </a:pPr>
            <a:r>
              <a:rPr sz="2200" b="0">
                <a:latin typeface="Noto Sans CJK JP"/>
              </a:rPr>
              <a:t>• </a:t>
            </a:r>
            <a:r>
              <a:rPr sz="2200" b="0">
                <a:latin typeface="Noto Sans CJK JP"/>
              </a:rPr>
              <a:t>成果を独立に点検し、基準・単位・精度を確認する。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手計算の共通手順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条件を読む：同じ量・独立性・同精度か、重みが要るか。</a:t>
            </a:r>
          </a:p>
          <a:p>
            <a:pPr>
              <a:spcAft>
                <a:spcPts val="400"/>
              </a:spcAft>
            </a:pPr>
            <a:r>
              <a:rPr sz="2200" b="0">
                <a:latin typeface="Noto Sans CJK JP"/>
              </a:rPr>
              <a:t>• </a:t>
            </a:r>
            <a:r>
              <a:rPr sz="2200" b="0">
                <a:latin typeface="Noto Sans CJK JP"/>
              </a:rPr>
              <a:t>最確値を求める：算術平均または重み付き平均。</a:t>
            </a:r>
          </a:p>
          <a:p>
            <a:pPr>
              <a:spcAft>
                <a:spcPts val="400"/>
              </a:spcAft>
            </a:pPr>
            <a:r>
              <a:rPr sz="2200" b="0">
                <a:latin typeface="Noto Sans CJK JP"/>
              </a:rPr>
              <a:t>• </a:t>
            </a:r>
            <a:r>
              <a:rPr sz="2200" b="0">
                <a:latin typeface="Noto Sans CJK JP"/>
              </a:rPr>
              <a:t>残差を mm で表にし、残差和または加重残差和を検算。</a:t>
            </a:r>
          </a:p>
          <a:p>
            <a:pPr>
              <a:spcAft>
                <a:spcPts val="400"/>
              </a:spcAft>
            </a:pPr>
            <a:r>
              <a:rPr sz="2200" b="0">
                <a:latin typeface="Noto Sans CJK JP"/>
              </a:rPr>
              <a:t>• </a:t>
            </a:r>
            <a:r>
              <a:rPr sz="2200" b="0">
                <a:latin typeface="Noto Sans CJK JP"/>
              </a:rPr>
              <a:t>平方和から標準偏差、さらに平均の標準偏差を求める。</a:t>
            </a:r>
          </a:p>
          <a:p>
            <a:pPr>
              <a:spcAft>
                <a:spcPts val="400"/>
              </a:spcAft>
            </a:pPr>
            <a:r>
              <a:rPr sz="2200" b="0">
                <a:latin typeface="Noto Sans CJK JP"/>
              </a:rPr>
              <a:t>• </a:t>
            </a:r>
            <a:r>
              <a:rPr sz="2200" b="0">
                <a:latin typeface="Noto Sans CJK JP"/>
              </a:rPr>
              <a:t>単位と指定桁を確認して、最後に丸める。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2-9 ここまでの確認⑤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600"/>
              </a:spcAft>
            </a:pPr>
            <a:r>
              <a:rPr sz="2200" b="1">
                <a:latin typeface="Noto Sans CJK JP"/>
              </a:rPr>
              <a:t>RTK が固定解で、表示する標準偏差も小さかった。</a:t>
            </a:r>
          </a:p>
          <a:p>
            <a:pPr>
              <a:spcAft>
                <a:spcPts val="600"/>
              </a:spcAft>
            </a:pPr>
            <a:r>
              <a:rPr sz="2200" b="0">
                <a:latin typeface="Noto Sans CJK JP"/>
              </a:rPr>
              <a:t>この情報だけで確度が十分と判断してよいか。 必要な点検を一つ挙げよう。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手計算テスト：短答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600"/>
              </a:spcAft>
            </a:pPr>
            <a:r>
              <a:rPr sz="2200" b="0">
                <a:latin typeface="Noto Sans CJK JP"/>
              </a:rPr>
              <a:t>25分・10点満点。関数電卓使用可。短答は各0.5点。</a:t>
            </a:r>
          </a:p>
          <a:p>
            <a:pPr>
              <a:spcAft>
                <a:spcPts val="400"/>
              </a:spcAft>
            </a:pPr>
            <a:r>
              <a:rPr sz="2200" b="0">
                <a:latin typeface="Noto Sans CJK JP"/>
              </a:rPr>
              <a:t>• </a:t>
            </a:r>
            <a:r>
              <a:rPr sz="2200" b="0">
                <a:latin typeface="Noto Sans CJK JP"/>
              </a:rPr>
              <a:t>TS の距離 30.003 m を 30.030 m と転記した。誤差の分類名を書く。</a:t>
            </a:r>
          </a:p>
          <a:p>
            <a:pPr>
              <a:spcAft>
                <a:spcPts val="400"/>
              </a:spcAft>
            </a:pPr>
            <a:r>
              <a:rPr sz="2200" b="0">
                <a:latin typeface="Noto Sans CJK JP"/>
              </a:rPr>
              <a:t>• </a:t>
            </a:r>
            <a:r>
              <a:rPr sz="2200" b="0">
                <a:latin typeface="Noto Sans CJK JP"/>
              </a:rPr>
              <a:t>巻尺の尺定数による偏りがある。誤差の分類名と対処を一つ書く。</a:t>
            </a:r>
          </a:p>
          <a:p>
            <a:pPr>
              <a:spcAft>
                <a:spcPts val="400"/>
              </a:spcAft>
            </a:pPr>
            <a:r>
              <a:rPr sz="2200" b="0">
                <a:latin typeface="Noto Sans CJK JP"/>
              </a:rPr>
              <a:t>• </a:t>
            </a:r>
            <a:r>
              <a:rPr sz="2200" b="0">
                <a:latin typeface="Noto Sans CJK JP"/>
              </a:rPr>
              <a:t>独立・同精度の観測回数を4倍にすると、平均の標準偏差は何倍か。</a:t>
            </a:r>
          </a:p>
          <a:p>
            <a:pPr>
              <a:spcAft>
                <a:spcPts val="400"/>
              </a:spcAft>
            </a:pPr>
            <a:r>
              <a:rPr sz="2200" b="0">
                <a:latin typeface="Noto Sans CJK JP"/>
              </a:rPr>
              <a:t>• </a:t>
            </a:r>
            <a:r>
              <a:rPr sz="2200" b="0">
                <a:latin typeface="Noto Sans CJK JP"/>
              </a:rPr>
              <a:t>観測の較差が許容値を超えた。観測値を保存したうえで行う対応を書く。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問1：反復観測（4点）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同一距離を独立・同精度で6回観測した。過失と定誤差は処理済みとする。</a:t>
            </a:r>
          </a:p>
          <a:p>
            <a:pPr>
              <a:spcAft>
                <a:spcPts val="600"/>
              </a:spcAft>
            </a:pPr>
            <a:r>
              <a:rPr sz="2200" b="0">
                <a:latin typeface="Noto Sans CJK JP"/>
              </a:rPr>
              <a:t>観測値（m）：30.003、30.004、30.005、30.007、30.008、30.009。</a:t>
            </a:r>
          </a:p>
          <a:p>
            <a:pPr>
              <a:spcAft>
                <a:spcPts val="600"/>
              </a:spcAft>
            </a:pPr>
            <a:r>
              <a:rPr sz="2200" b="0">
                <a:latin typeface="Noto Sans CJK JP"/>
              </a:rPr>
              <a:t>最確値 </a:t>
            </a:r>
            <a:r>
              <a:rPr sz="2200" b="0">
                <a:latin typeface="DejaVu Sans"/>
              </a:rPr>
              <a:t>x̄</a:t>
            </a:r>
            <a:r>
              <a:rPr sz="2200" b="0">
                <a:latin typeface="Noto Sans CJK JP"/>
              </a:rPr>
              <a:t>、各残差 </a:t>
            </a:r>
            <a:r>
              <a:rPr sz="2200" b="0">
                <a:latin typeface="DejaVu Sans"/>
              </a:rPr>
              <a:t>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a:latin typeface="Noto Sans CJK JP"/>
              </a:rPr>
              <a:t>、</a:t>
            </a:r>
            <a:r>
              <a:rPr sz="2200" b="0">
                <a:latin typeface="DejaVu Sans"/>
              </a:rPr>
              <a:t>Σ v</a:t>
            </a:r>
            <a:r>
              <a:rPr sz="2200" b="0" baseline="-25000">
                <a:latin typeface="DejaVu Sans"/>
              </a:rPr>
              <a:t>i</a:t>
            </a:r>
            <a:r>
              <a:rPr sz="2200" b="0" baseline="30000">
                <a:latin typeface="DejaVu Sans"/>
              </a:rPr>
              <a:t>2</a:t>
            </a:r>
            <a:r>
              <a:rPr sz="2200" b="0">
                <a:latin typeface="Noto Sans CJK JP"/>
              </a:rPr>
              <a:t>、 1観測の標準偏差 </a:t>
            </a:r>
            <a:r>
              <a:rPr sz="2200" b="0">
                <a:latin typeface="DejaVu Sans"/>
              </a:rPr>
              <a:t>σ</a:t>
            </a:r>
            <a:r>
              <a:rPr sz="2200" b="0">
                <a:latin typeface="Noto Sans CJK JP"/>
              </a:rPr>
              <a:t>、最確値の標準偏差 </a:t>
            </a:r>
            <a:r>
              <a:rPr sz="2200" b="0">
                <a:latin typeface="DejaVu Sans"/>
              </a:rPr>
              <a:t>σ</a:t>
            </a:r>
            <a:r>
              <a:rPr sz="2200" b="0" baseline="-25000">
                <a:latin typeface="DejaVu Sans"/>
              </a:rPr>
              <a:t>x̄</a:t>
            </a:r>
            <a:r>
              <a:rPr sz="2200" b="0">
                <a:latin typeface="Noto Sans CJK JP"/>
              </a:rPr>
              <a:t> を求める。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問2：精度の異なる2組（4点）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圃場の同一辺を測った2組の群平均を統合する（元の各観測は同精度・独立、過失と定誤差は処理済み）。</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組 </a:t>
                      </a:r>
                      <a:r>
                        <a:rPr sz="1600" b="1">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観測回数 </a:t>
                      </a:r>
                      <a:r>
                        <a:rPr sz="1600" b="1">
                          <a:solidFill>
                            <a:srgbClr val="1F1F1F"/>
                          </a:solidFill>
                          <a:latin typeface="DejaVu Sans"/>
                        </a:rPr>
                        <a:t>n</a:t>
                      </a:r>
                      <a:r>
                        <a:rPr sz="1600" b="1" baseline="-25000">
                          <a:solidFill>
                            <a:srgbClr val="1F1F1F"/>
                          </a:solidFill>
                          <a:latin typeface="DejaVu Sans"/>
                        </a:rPr>
                        <a:t>i</a:t>
                      </a:r>
                    </a:p>
                  </a:txBody>
                  <a:tcPr marL="54864" marR="54864" marT="27432" marB="27432">
                    <a:solidFill>
                      <a:srgbClr val="DCE6F1"/>
                    </a:solidFill>
                  </a:tcPr>
                </a:tc>
                <a:tc>
                  <a:txBody>
                    <a:bodyPr wrap="square"/>
                    <a:lstStyle/>
                    <a:p>
                      <a:r>
                        <a:rPr sz="1600" b="1">
                          <a:solidFill>
                            <a:srgbClr val="1F1F1F"/>
                          </a:solidFill>
                          <a:latin typeface="Noto Sans CJK JP"/>
                        </a:rPr>
                        <a:t>群平均 </a:t>
                      </a:r>
                      <a:r>
                        <a:rPr sz="1600" b="1">
                          <a:solidFill>
                            <a:srgbClr val="1F1F1F"/>
                          </a:solidFill>
                          <a:latin typeface="DejaVu Sans"/>
                        </a:rPr>
                        <a:t>x</a:t>
                      </a:r>
                      <a:r>
                        <a:rPr sz="1600" b="1" baseline="-25000">
                          <a:solidFill>
                            <a:srgbClr val="1F1F1F"/>
                          </a:solidFill>
                          <a:latin typeface="DejaVu Sans"/>
                        </a:rPr>
                        <a:t>i</a:t>
                      </a:r>
                      <a:r>
                        <a:rPr sz="1600" b="1">
                          <a:solidFill>
                            <a:srgbClr val="1F1F1F"/>
                          </a:solidFill>
                          <a:latin typeface="Noto Sans CJK JP"/>
                        </a:rPr>
                        <a:t>（m）</a:t>
                      </a:r>
                    </a:p>
                  </a:txBody>
                  <a:tcPr marL="54864" marR="54864" marT="27432" marB="27432">
                    <a:solidFill>
                      <a:srgbClr val="DCE6F1"/>
                    </a:solidFill>
                  </a:tcPr>
                </a:tc>
              </a:tr>
              <a:tr h="406400">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1</a:t>
                      </a:r>
                    </a:p>
                  </a:txBody>
                  <a:tcPr marL="54864" marR="54864" marT="27432" marB="27432">
                    <a:solidFill>
                      <a:srgbClr val="FFFFFF"/>
                    </a:solidFill>
                  </a:tcPr>
                </a:tc>
                <a:tc>
                  <a:txBody>
                    <a:bodyPr wrap="square"/>
                    <a:lstStyle/>
                    <a:p>
                      <a:r>
                        <a:rPr sz="1600" b="0">
                          <a:latin typeface="Noto Sans CJK JP"/>
                        </a:rPr>
                        <a:t>80.000</a:t>
                      </a:r>
                    </a:p>
                  </a:txBody>
                  <a:tcPr marL="54864" marR="54864" marT="27432" marB="27432">
                    <a:solidFill>
                      <a:srgbClr val="FFFFFF"/>
                    </a:solidFill>
                  </a:tcPr>
                </a:tc>
              </a:tr>
              <a:tr h="406400">
                <a:tc>
                  <a:txBody>
                    <a:bodyPr wrap="square"/>
                    <a:lstStyle/>
                    <a:p>
                      <a:r>
                        <a:rPr sz="1600" b="0">
                          <a:latin typeface="Noto Sans CJK JP"/>
                        </a:rPr>
                        <a:t>2</a:t>
                      </a:r>
                    </a:p>
                  </a:txBody>
                  <a:tcPr marL="54864" marR="54864" marT="27432" marB="27432">
                    <a:solidFill>
                      <a:srgbClr val="F5F7FA"/>
                    </a:solidFill>
                  </a:tcPr>
                </a:tc>
                <a:tc>
                  <a:txBody>
                    <a:bodyPr wrap="square"/>
                    <a:lstStyle/>
                    <a:p>
                      <a:r>
                        <a:rPr sz="1600" b="0">
                          <a:latin typeface="Noto Sans CJK JP"/>
                        </a:rPr>
                        <a:t>4</a:t>
                      </a:r>
                    </a:p>
                  </a:txBody>
                  <a:tcPr marL="54864" marR="54864" marT="27432" marB="27432">
                    <a:solidFill>
                      <a:srgbClr val="F5F7FA"/>
                    </a:solidFill>
                  </a:tcPr>
                </a:tc>
                <a:tc>
                  <a:txBody>
                    <a:bodyPr wrap="square"/>
                    <a:lstStyle/>
                    <a:p>
                      <a:r>
                        <a:rPr sz="1600" b="0">
                          <a:latin typeface="Noto Sans CJK JP"/>
                        </a:rPr>
                        <a:t>80.015</a:t>
                      </a:r>
                    </a:p>
                  </a:txBody>
                  <a:tcPr marL="54864" marR="54864" marT="27432" marB="27432">
                    <a:solidFill>
                      <a:srgbClr val="F5F7FA"/>
                    </a:solidFill>
                  </a:tcPr>
                </a:tc>
              </a:tr>
            </a:tbl>
          </a:graphicData>
        </a:graphic>
      </p:graphicFrame>
      <p:sp>
        <p:nvSpPr>
          <p:cNvPr id="6" name="TextBox 5"/>
          <p:cNvSpPr txBox="1"/>
          <p:nvPr/>
        </p:nvSpPr>
        <p:spPr>
          <a:xfrm>
            <a:off x="548640" y="365252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求めるもの：</a:t>
            </a:r>
            <a:r>
              <a:rPr sz="2000" b="0">
                <a:latin typeface="DejaVu Sans"/>
              </a:rPr>
              <a:t>w</a:t>
            </a:r>
            <a:r>
              <a:rPr sz="2000" b="0" baseline="-25000">
                <a:latin typeface="DejaVu Sans"/>
              </a:rPr>
              <a:t>2</a:t>
            </a:r>
            <a:r>
              <a:rPr sz="2000" b="0">
                <a:latin typeface="Noto Sans CJK JP"/>
              </a:rPr>
              <a:t>（</a:t>
            </a:r>
            <a:r>
              <a:rPr sz="2000" b="0">
                <a:latin typeface="DejaVu Sans"/>
              </a:rPr>
              <a:t>w</a:t>
            </a:r>
            <a:r>
              <a:rPr sz="2000" b="0" baseline="-25000">
                <a:latin typeface="DejaVu Sans"/>
              </a:rPr>
              <a:t>1</a:t>
            </a:r>
            <a:r>
              <a:rPr sz="2000" b="0">
                <a:latin typeface="DejaVu Sans"/>
              </a:rPr>
              <a:t>=1</a:t>
            </a:r>
            <a:r>
              <a:rPr sz="2000" b="0">
                <a:latin typeface="Noto Sans CJK JP"/>
              </a:rPr>
              <a:t>）とその根拠、</a:t>
            </a:r>
            <a:r>
              <a:rPr sz="2000" b="0">
                <a:latin typeface="DejaVu Sans"/>
              </a:rPr>
              <a:t>x̄</a:t>
            </a:r>
            <a:r>
              <a:rPr sz="2000" b="0" baseline="-25000">
                <a:latin typeface="DejaVu Sans"/>
              </a:rPr>
              <a:t>w</a:t>
            </a:r>
            <a:r>
              <a:rPr sz="2000" b="0">
                <a:latin typeface="Noto Sans CJK JP"/>
              </a:rPr>
              <a:t>、</a:t>
            </a:r>
            <a:r>
              <a:rPr sz="2000" b="0">
                <a:latin typeface="DejaVu Sans"/>
              </a:rPr>
              <a:t>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a:latin typeface="Noto Sans CJK JP"/>
              </a:rPr>
              <a:t>、</a:t>
            </a:r>
            <a:r>
              <a:rPr sz="2000" b="0">
                <a:latin typeface="DejaVu Sans"/>
              </a:rPr>
              <a:t>Σ w</a:t>
            </a:r>
            <a:r>
              <a:rPr sz="2000" b="0" baseline="-25000">
                <a:latin typeface="DejaVu Sans"/>
              </a:rPr>
              <a:t>i</a:t>
            </a:r>
            <a:r>
              <a:rPr sz="2000" b="0">
                <a:latin typeface="DejaVu Sans"/>
              </a:rPr>
              <a:t> v</a:t>
            </a:r>
            <a:r>
              <a:rPr sz="2000" b="0" baseline="-25000">
                <a:latin typeface="DejaVu Sans"/>
              </a:rPr>
              <a:t>i</a:t>
            </a:r>
            <a:r>
              <a:rPr sz="2000" b="0" baseline="30000">
                <a:latin typeface="DejaVu Sans"/>
              </a:rPr>
              <a:t>2</a:t>
            </a:r>
            <a:r>
              <a:rPr sz="2000" b="0">
                <a:latin typeface="Noto Sans CJK JP"/>
              </a:rPr>
              <a:t>、</a:t>
            </a:r>
            <a:r>
              <a:rPr sz="2000" b="0">
                <a:latin typeface="DejaVu Sans"/>
              </a:rPr>
              <a:t>σ</a:t>
            </a:r>
            <a:r>
              <a:rPr sz="2000" b="0" baseline="-25000">
                <a:latin typeface="DejaVu Sans"/>
              </a:rPr>
              <a:t>0</a:t>
            </a:r>
            <a:r>
              <a:rPr sz="2000" b="0">
                <a:latin typeface="Noto Sans CJK JP"/>
              </a:rPr>
              <a:t>、</a:t>
            </a:r>
            <a:r>
              <a:rPr sz="2000" b="0">
                <a:latin typeface="DejaVu Sans"/>
              </a:rPr>
              <a:t>σ</a:t>
            </a:r>
            <a:r>
              <a:rPr sz="2000" b="0" baseline="-25000">
                <a:latin typeface="DejaVu Sans"/>
              </a:rPr>
              <a:t>x̄</a:t>
            </a:r>
            <a:r>
              <a:rPr sz="2000" b="0" baseline="-25000">
                <a:latin typeface="DejaVu Sans"/>
              </a:rPr>
              <a:t>w</a:t>
            </a:r>
          </a:p>
          <a:p>
            <a:pPr>
              <a:spcAft>
                <a:spcPts val="400"/>
              </a:spcAft>
            </a:pPr>
            <a:r>
              <a:rPr sz="2000" b="0">
                <a:latin typeface="Noto Sans CJK JP"/>
              </a:rPr>
              <a:t>• </a:t>
            </a:r>
            <a:r>
              <a:rPr sz="2000" b="0">
                <a:latin typeface="Noto Sans CJK JP"/>
              </a:rPr>
              <a:t>絶対的な標準偏差は未知。2個の群平均の残差から推定し、式の </a:t>
            </a:r>
            <a:r>
              <a:rPr sz="2000" b="0">
                <a:latin typeface="DejaVu Sans"/>
              </a:rPr>
              <a:t>n</a:t>
            </a:r>
            <a:r>
              <a:rPr sz="2000" b="0">
                <a:latin typeface="Noto Sans CJK JP"/>
              </a:rPr>
              <a:t> は群数2とする。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平均 → 残差 → 平方和 → 標準偏差の順で計算する。</a:t>
            </a:r>
          </a:p>
          <a:p>
            <a:pPr>
              <a:spcAft>
                <a:spcPts val="400"/>
              </a:spcAft>
            </a:pPr>
            <a:r>
              <a:rPr sz="2200" b="0">
                <a:latin typeface="Noto Sans CJK JP"/>
              </a:rPr>
              <a:t>• </a:t>
            </a:r>
            <a:r>
              <a:rPr sz="2200" b="0">
                <a:latin typeface="Noto Sans CJK JP"/>
              </a:rPr>
              <a:t>問1は残差和、問2は加重残差和を検算する。</a:t>
            </a:r>
          </a:p>
          <a:p>
            <a:pPr>
              <a:spcAft>
                <a:spcPts val="400"/>
              </a:spcAft>
            </a:pPr>
            <a:r>
              <a:rPr sz="2200" b="0">
                <a:latin typeface="Noto Sans CJK JP"/>
              </a:rPr>
              <a:t>• </a:t>
            </a:r>
            <a:r>
              <a:rPr sz="2200" b="0">
                <a:latin typeface="Noto Sans CJK JP"/>
              </a:rPr>
              <a:t>距離は m で小数第3位、残差は mm、二乗は mm²。</a:t>
            </a:r>
          </a:p>
          <a:p>
            <a:pPr>
              <a:spcAft>
                <a:spcPts val="400"/>
              </a:spcAft>
            </a:pPr>
            <a:r>
              <a:rPr sz="2200" b="0">
                <a:latin typeface="Noto Sans CJK JP"/>
              </a:rPr>
              <a:t>• </a:t>
            </a:r>
            <a:r>
              <a:rPr sz="2200" b="0">
                <a:latin typeface="Noto Sans CJK JP"/>
              </a:rPr>
              <a:t>標準偏差は途中で丸めず、最後に小数第3位を四捨五入。</a:t>
            </a:r>
          </a:p>
          <a:p>
            <a:pPr>
              <a:spcAft>
                <a:spcPts val="400"/>
              </a:spcAft>
            </a:pPr>
            <a:r>
              <a:rPr sz="2200" b="0">
                <a:latin typeface="Noto Sans CJK JP"/>
              </a:rPr>
              <a:t>• </a:t>
            </a:r>
            <a:r>
              <a:rPr sz="2200" b="0">
                <a:latin typeface="Noto Sans CJK JP"/>
              </a:rPr>
              <a:t>0.01 mmまで示し、計算表と途中式を残す。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2-10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計算表・途中式を含む2ページを、授業終了時に提出する。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誤差の分類に応じて、点検・補正・統計処理を使い分ける。</a:t>
            </a:r>
          </a:p>
          <a:p>
            <a:pPr>
              <a:spcAft>
                <a:spcPts val="400"/>
              </a:spcAft>
            </a:pPr>
            <a:r>
              <a:rPr sz="2200" b="0">
                <a:latin typeface="Noto Sans CJK JP"/>
              </a:rPr>
              <a:t>• </a:t>
            </a:r>
            <a:r>
              <a:rPr sz="2200" b="0">
                <a:latin typeface="Noto Sans CJK JP"/>
              </a:rPr>
              <a:t>同精度：</a:t>
            </a:r>
            <a:r>
              <a:rPr sz="2200" b="0">
                <a:latin typeface="DejaVu Sans"/>
              </a:rPr>
              <a:t>x̄=Σ x</a:t>
            </a:r>
            <a:r>
              <a:rPr sz="2200" b="0" baseline="-25000">
                <a:latin typeface="DejaVu Sans"/>
              </a:rPr>
              <a:t>i</a:t>
            </a:r>
            <a:r>
              <a:rPr sz="2200" b="0">
                <a:latin typeface="DejaVu Sans"/>
              </a:rPr>
              <a:t>/n</a:t>
            </a:r>
            <a:r>
              <a:rPr sz="2200" b="0">
                <a:latin typeface="Noto Sans CJK JP"/>
              </a:rPr>
              <a:t>、残差和は0。</a:t>
            </a:r>
          </a:p>
          <a:p>
            <a:pPr>
              <a:spcAft>
                <a:spcPts val="400"/>
              </a:spcAft>
            </a:pPr>
            <a:r>
              <a:rPr sz="2200" b="0">
                <a:latin typeface="Noto Sans CJK JP"/>
              </a:rPr>
              <a:t>• </a:t>
            </a:r>
            <a:r>
              <a:rPr sz="2200" b="0">
                <a:latin typeface="Noto Sans CJK JP"/>
              </a:rPr>
              <a:t>1観測：</a:t>
            </a:r>
            <a:r>
              <a:rPr sz="2200" b="0">
                <a:latin typeface="DejaVu Sans"/>
              </a:rPr>
              <a:t>σ=√(Σ v</a:t>
            </a:r>
            <a:r>
              <a:rPr sz="2200" b="0" baseline="-25000">
                <a:latin typeface="DejaVu Sans"/>
              </a:rPr>
              <a:t>i</a:t>
            </a:r>
            <a:r>
              <a:rPr sz="2200" b="0" baseline="30000">
                <a:latin typeface="DejaVu Sans"/>
              </a:rPr>
              <a:t>2</a:t>
            </a:r>
            <a:r>
              <a:rPr sz="2200" b="0">
                <a:latin typeface="DejaVu Sans"/>
              </a:rPr>
              <a:t>/(n-1))</a:t>
            </a:r>
            <a:r>
              <a:rPr sz="2200" b="0">
                <a:latin typeface="Noto Sans CJK JP"/>
              </a:rPr>
              <a:t>、平均：</a:t>
            </a:r>
            <a:r>
              <a:rPr sz="2200" b="0">
                <a:latin typeface="DejaVu Sans"/>
              </a:rPr>
              <a:t>σ/√ n</a:t>
            </a:r>
            <a:r>
              <a:rPr sz="2200" b="0">
                <a:latin typeface="Noto Sans CJK JP"/>
              </a:rPr>
              <a:t>。</a:t>
            </a:r>
          </a:p>
          <a:p>
            <a:pPr>
              <a:spcAft>
                <a:spcPts val="400"/>
              </a:spcAft>
            </a:pPr>
            <a:r>
              <a:rPr sz="2200" b="0">
                <a:latin typeface="Noto Sans CJK JP"/>
              </a:rPr>
              <a:t>• </a:t>
            </a:r>
            <a:r>
              <a:rPr sz="2200" b="0">
                <a:latin typeface="Noto Sans CJK JP"/>
              </a:rPr>
              <a:t>異精度：</a:t>
            </a:r>
            <a:r>
              <a:rPr sz="2200" b="0">
                <a:latin typeface="DejaVu Sans"/>
              </a:rPr>
              <a:t>w</a:t>
            </a:r>
            <a:r>
              <a:rPr sz="2200" b="0" baseline="-25000">
                <a:latin typeface="DejaVu Sans"/>
              </a:rPr>
              <a:t>i</a:t>
            </a:r>
            <a:r>
              <a:rPr sz="2200" b="0">
                <a:latin typeface="DejaVu Sans"/>
              </a:rPr>
              <a:t>∝1/σ</a:t>
            </a:r>
            <a:r>
              <a:rPr sz="2200" b="0" baseline="-25000">
                <a:latin typeface="DejaVu Sans"/>
              </a:rPr>
              <a:t>i</a:t>
            </a:r>
            <a:r>
              <a:rPr sz="2200" b="0" baseline="30000">
                <a:latin typeface="DejaVu Sans"/>
              </a:rPr>
              <a:t>2</a:t>
            </a:r>
            <a:r>
              <a:rPr sz="2200" b="0">
                <a:latin typeface="Noto Sans CJK JP"/>
              </a:rPr>
              <a:t>、</a:t>
            </a:r>
            <a:r>
              <a:rPr sz="2200" b="0">
                <a:latin typeface="DejaVu Sans"/>
              </a:rPr>
              <a:t>x̄</a:t>
            </a:r>
            <a:r>
              <a:rPr sz="2200" b="0" baseline="-25000">
                <a:latin typeface="DejaVu Sans"/>
              </a:rPr>
              <a:t>w</a:t>
            </a:r>
            <a:r>
              <a:rPr sz="2200" b="0">
                <a:latin typeface="DejaVu Sans"/>
              </a:rPr>
              <a:t>=Σ w</a:t>
            </a:r>
            <a:r>
              <a:rPr sz="2200" b="0" baseline="-25000">
                <a:latin typeface="DejaVu Sans"/>
              </a:rPr>
              <a:t>i</a:t>
            </a:r>
            <a:r>
              <a:rPr sz="2200" b="0">
                <a:latin typeface="DejaVu Sans"/>
              </a:rPr>
              <a:t> x</a:t>
            </a:r>
            <a:r>
              <a:rPr sz="2200" b="0" baseline="-25000">
                <a:latin typeface="DejaVu Sans"/>
              </a:rPr>
              <a:t>i</a:t>
            </a:r>
            <a:r>
              <a:rPr sz="2200" b="0">
                <a:latin typeface="DejaVu Sans"/>
              </a:rPr>
              <a:t>/Σ w</a:t>
            </a:r>
            <a:r>
              <a:rPr sz="2200" b="0" baseline="-25000">
                <a:latin typeface="DejaVu Sans"/>
              </a:rPr>
              <a:t>i</a:t>
            </a:r>
            <a:r>
              <a:rPr sz="2200" b="0">
                <a:latin typeface="Noto Sans CJK JP"/>
              </a:rPr>
              <a:t>。</a:t>
            </a:r>
          </a:p>
          <a:p>
            <a:pPr>
              <a:spcAft>
                <a:spcPts val="400"/>
              </a:spcAft>
            </a:pPr>
            <a:r>
              <a:rPr sz="2200" b="0">
                <a:latin typeface="Noto Sans CJK JP"/>
              </a:rPr>
              <a:t>• </a:t>
            </a:r>
            <a:r>
              <a:rPr sz="2200" b="0">
                <a:latin typeface="Noto Sans CJK JP"/>
              </a:rPr>
              <a:t>精度と確度を区別し、平均した成果も点検する。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型</a:t>
                      </a:r>
                    </a:p>
                  </a:txBody>
                  <a:tcPr marL="54864" marR="54864" marT="27432" marB="27432">
                    <a:solidFill>
                      <a:srgbClr val="DCE6F1"/>
                    </a:solidFill>
                  </a:tcPr>
                </a:tc>
                <a:tc>
                  <a:txBody>
                    <a:bodyPr wrap="square"/>
                    <a:lstStyle/>
                    <a:p>
                      <a:r>
                        <a:rPr sz="1800" b="1">
                          <a:solidFill>
                            <a:srgbClr val="1F1F1F"/>
                          </a:solidFill>
                          <a:latin typeface="Noto Sans CJK JP"/>
                        </a:rPr>
                        <a:t>着眼点</a:t>
                      </a:r>
                    </a:p>
                  </a:txBody>
                  <a:tcPr marL="54864" marR="54864" marT="27432" marB="27432">
                    <a:solidFill>
                      <a:srgbClr val="DCE6F1"/>
                    </a:solidFill>
                  </a:tcPr>
                </a:tc>
              </a:tr>
              <a:tr h="457200">
                <a:tc>
                  <a:txBody>
                    <a:bodyPr wrap="square"/>
                    <a:lstStyle/>
                    <a:p>
                      <a:r>
                        <a:rPr sz="1800" b="0">
                          <a:latin typeface="Noto Sans CJK JP"/>
                        </a:rPr>
                        <a:t>誤差の分類</a:t>
                      </a:r>
                    </a:p>
                  </a:txBody>
                  <a:tcPr marL="54864" marR="54864" marT="27432" marB="27432">
                    <a:solidFill>
                      <a:srgbClr val="FFFFFF"/>
                    </a:solidFill>
                  </a:tcPr>
                </a:tc>
                <a:tc>
                  <a:txBody>
                    <a:bodyPr wrap="square"/>
                    <a:lstStyle/>
                    <a:p>
                      <a:r>
                        <a:rPr sz="1800" b="0">
                          <a:latin typeface="Noto Sans CJK JP"/>
                        </a:rPr>
                        <a:t>原因と対処を対応させる</a:t>
                      </a:r>
                    </a:p>
                  </a:txBody>
                  <a:tcPr marL="54864" marR="54864" marT="27432" marB="27432">
                    <a:solidFill>
                      <a:srgbClr val="FFFFFF"/>
                    </a:solidFill>
                  </a:tcPr>
                </a:tc>
              </a:tr>
              <a:tr h="457200">
                <a:tc>
                  <a:txBody>
                    <a:bodyPr wrap="square"/>
                    <a:lstStyle/>
                    <a:p>
                      <a:r>
                        <a:rPr sz="1800" b="0">
                          <a:latin typeface="Noto Sans CJK JP"/>
                        </a:rPr>
                        <a:t>最確値と精度</a:t>
                      </a:r>
                    </a:p>
                  </a:txBody>
                  <a:tcPr marL="54864" marR="54864" marT="27432" marB="27432">
                    <a:solidFill>
                      <a:srgbClr val="F5F7FA"/>
                    </a:solidFill>
                  </a:tcPr>
                </a:tc>
                <a:tc>
                  <a:txBody>
                    <a:bodyPr wrap="square"/>
                    <a:lstStyle/>
                    <a:p>
                      <a:r>
                        <a:rPr sz="1800" b="0">
                          <a:latin typeface="DejaVu Sans"/>
                        </a:rPr>
                        <a:t>n-1</a:t>
                      </a:r>
                      <a:r>
                        <a:rPr sz="1800" b="0">
                          <a:latin typeface="Noto Sans CJK JP"/>
                        </a:rPr>
                        <a:t> と </a:t>
                      </a:r>
                      <a:r>
                        <a:rPr sz="1800" b="0">
                          <a:latin typeface="DejaVu Sans"/>
                        </a:rPr>
                        <a:t>√ n</a:t>
                      </a:r>
                      <a:r>
                        <a:rPr sz="1800" b="0">
                          <a:latin typeface="Noto Sans CJK JP"/>
                        </a:rPr>
                        <a:t>、残差の検算</a:t>
                      </a:r>
                    </a:p>
                  </a:txBody>
                  <a:tcPr marL="54864" marR="54864" marT="27432" marB="27432">
                    <a:solidFill>
                      <a:srgbClr val="F5F7FA"/>
                    </a:solidFill>
                  </a:tcPr>
                </a:tc>
              </a:tr>
              <a:tr h="457200">
                <a:tc>
                  <a:txBody>
                    <a:bodyPr wrap="square"/>
                    <a:lstStyle/>
                    <a:p>
                      <a:r>
                        <a:rPr sz="1800" b="0">
                          <a:latin typeface="Noto Sans CJK JP"/>
                        </a:rPr>
                        <a:t>最確値と重みの関係</a:t>
                      </a:r>
                    </a:p>
                  </a:txBody>
                  <a:tcPr marL="54864" marR="54864" marT="27432" marB="27432">
                    <a:solidFill>
                      <a:srgbClr val="FFFFFF"/>
                    </a:solidFill>
                  </a:tcPr>
                </a:tc>
                <a:tc>
                  <a:txBody>
                    <a:bodyPr wrap="square"/>
                    <a:lstStyle/>
                    <a:p>
                      <a:r>
                        <a:rPr sz="1800" b="0">
                          <a:latin typeface="Noto Sans CJK JP"/>
                        </a:rPr>
                        <a:t>分散に反比例、同じ重みなら算術平均</a:t>
                      </a:r>
                    </a:p>
                  </a:txBody>
                  <a:tcPr marL="54864" marR="54864" marT="27432" marB="27432">
                    <a:solidFill>
                      <a:srgbClr val="FFFFFF"/>
                    </a:solidFill>
                  </a:tcPr>
                </a:tc>
              </a:tr>
              <a:tr h="457200">
                <a:tc>
                  <a:txBody>
                    <a:bodyPr wrap="square"/>
                    <a:lstStyle/>
                    <a:p>
                      <a:r>
                        <a:rPr sz="1800" b="0">
                          <a:latin typeface="Noto Sans CJK JP"/>
                        </a:rPr>
                        <a:t>回数・路線長と重み</a:t>
                      </a:r>
                    </a:p>
                  </a:txBody>
                  <a:tcPr marL="54864" marR="54864" marT="27432" marB="27432">
                    <a:solidFill>
                      <a:srgbClr val="F5F7FA"/>
                    </a:solidFill>
                  </a:tcPr>
                </a:tc>
                <a:tc>
                  <a:txBody>
                    <a:bodyPr wrap="square"/>
                    <a:lstStyle/>
                    <a:p>
                      <a:r>
                        <a:rPr sz="1800" b="0">
                          <a:latin typeface="Noto Sans CJK JP"/>
                        </a:rPr>
                        <a:t>適用条件を確認し、比を作る</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2-11 次回：第3回 距離測量と座標系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冒頭5分：本日の演習の解答確認。</a:t>
            </a:r>
          </a:p>
          <a:p>
            <a:pPr>
              <a:spcAft>
                <a:spcPts val="400"/>
              </a:spcAft>
            </a:pPr>
            <a:r>
              <a:rPr sz="2200" b="0">
                <a:latin typeface="Noto Sans CJK JP"/>
              </a:rPr>
              <a:t>• </a:t>
            </a:r>
            <a:r>
              <a:rPr sz="2200" b="0">
                <a:latin typeface="Noto Sans CJK JP"/>
              </a:rPr>
              <a:t>巻尺の尺定数・温度・傾斜の補正。</a:t>
            </a:r>
          </a:p>
          <a:p>
            <a:pPr>
              <a:spcAft>
                <a:spcPts val="400"/>
              </a:spcAft>
            </a:pPr>
            <a:r>
              <a:rPr sz="2200" b="0">
                <a:latin typeface="Noto Sans CJK JP"/>
              </a:rPr>
              <a:t>• </a:t>
            </a:r>
            <a:r>
              <a:rPr sz="2200" b="0">
                <a:latin typeface="Noto Sans CJK JP"/>
              </a:rPr>
              <a:t>斜距離 → 水平距離 → 基準面上の距離 → 平面距離。</a:t>
            </a:r>
          </a:p>
          <a:p>
            <a:pPr>
              <a:spcAft>
                <a:spcPts val="400"/>
              </a:spcAft>
            </a:pPr>
            <a:r>
              <a:rPr sz="2200" b="0">
                <a:latin typeface="Noto Sans CJK JP"/>
              </a:rPr>
              <a:t>• </a:t>
            </a:r>
            <a:r>
              <a:rPr sz="2200" b="0">
                <a:latin typeface="Noto Sans CJK JP"/>
              </a:rPr>
              <a:t>距離の誤差伝播、光波測距、平面直角座標系。</a:t>
            </a:r>
          </a:p>
          <a:p>
            <a:pPr>
              <a:spcAft>
                <a:spcPts val="400"/>
              </a:spcAft>
            </a:pPr>
            <a:r>
              <a:rPr sz="2200" b="0">
                <a:latin typeface="Noto Sans CJK JP"/>
              </a:rPr>
              <a:t>• </a:t>
            </a:r>
            <a:r>
              <a:rPr sz="2200" b="0">
                <a:latin typeface="Noto Sans CJK JP"/>
              </a:rPr>
              <a:t>関数電卓を持参し、本日の残差表を復習する。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出典①：正規近似・標準偏差・誤差伝播</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600"/>
              </a:spcAft>
            </a:pPr>
            <a:r>
              <a:rPr sz="2000" b="1">
                <a:latin typeface="Noto Sans CJK JP"/>
              </a:rPr>
              <a:t>[1] JCGM 100:2008（GUM 1995 with minor corrections）</a:t>
            </a:r>
            <a:r>
              <a:rPr sz="2000" b="0">
                <a:latin typeface="Noto Sans CJK JP"/>
              </a:rPr>
              <a:t> Evaluation of measurement data — Guide to the expression of uncertainty in measurement</a:t>
            </a:r>
          </a:p>
          <a:p>
            <a:pPr>
              <a:spcAft>
                <a:spcPts val="400"/>
              </a:spcAft>
            </a:pPr>
            <a:r>
              <a:rPr sz="2000" b="0">
                <a:latin typeface="Noto Sans CJK JP"/>
              </a:rPr>
              <a:t>• </a:t>
            </a:r>
            <a:r>
              <a:rPr sz="2000" b="0">
                <a:latin typeface="Noto Sans CJK JP"/>
              </a:rPr>
              <a:t>4.2.2–4.2.3：反復観測の分散と、平均の分散（本文p.10）。</a:t>
            </a:r>
          </a:p>
          <a:p>
            <a:pPr>
              <a:spcAft>
                <a:spcPts val="400"/>
              </a:spcAft>
            </a:pPr>
            <a:r>
              <a:rPr sz="2000" b="0">
                <a:latin typeface="Noto Sans CJK JP"/>
              </a:rPr>
              <a:t>• </a:t>
            </a:r>
            <a:r>
              <a:rPr sz="2000" b="0">
                <a:latin typeface="Noto Sans CJK JP"/>
              </a:rPr>
              <a:t>5.1.2・5.2.2：分散の伝播、相関がある場合（本文pp.18–21）。</a:t>
            </a:r>
          </a:p>
          <a:p>
            <a:pPr>
              <a:spcAft>
                <a:spcPts val="400"/>
              </a:spcAft>
            </a:pPr>
            <a:r>
              <a:rPr sz="2000" b="0">
                <a:latin typeface="Noto Sans CJK JP"/>
              </a:rPr>
              <a:t>• </a:t>
            </a:r>
            <a:r>
              <a:rPr sz="2000" b="0">
                <a:latin typeface="Noto Sans CJK JP"/>
              </a:rPr>
              <a:t>G.2.1–G.2.2：中心極限定理による正規近似（本文p.71）。</a:t>
            </a:r>
          </a:p>
          <a:p>
            <a:pPr>
              <a:spcAft>
                <a:spcPts val="400"/>
              </a:spcAft>
            </a:pPr>
            <a:r>
              <a:rPr sz="2000" b="0">
                <a:latin typeface="Noto Sans CJK JP"/>
              </a:rPr>
              <a:t>• </a:t>
            </a:r>
            <a:r>
              <a:rPr sz="2000" b="0">
                <a:latin typeface="Noto Sans CJK JP"/>
              </a:rPr>
              <a:t>G.3、表G.2：t分布と少数観測の係数（本文pp.72–73、78）。</a:t>
            </a:r>
          </a:p>
          <a:p>
            <a:pPr>
              <a:spcAft>
                <a:spcPts val="600"/>
              </a:spcAft>
            </a:pPr>
            <a:r>
              <a:rPr sz="2000" b="0">
                <a:solidFill>
                  <a:srgbClr val="13877B"/>
                </a:solidFill>
                <a:latin typeface="Noto Sans CJK JP"/>
                <a:hlinkClick r:id="rId2"/>
              </a:rPr>
              <a:t>原文PDF（BIPM公式）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出典②：信頼区間・逆分散の重み</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074160"/>
          </a:xfrm>
          <a:prstGeom prst="rect">
            <a:avLst/>
          </a:prstGeom>
          <a:noFill/>
        </p:spPr>
        <p:txBody>
          <a:bodyPr wrap="square" lIns="45720" rIns="45720" tIns="18288" bIns="18288">
            <a:spAutoFit/>
          </a:bodyPr>
          <a:lstStyle/>
          <a:p>
            <a:pPr>
              <a:spcAft>
                <a:spcPts val="600"/>
              </a:spcAft>
            </a:pPr>
            <a:r>
              <a:rPr sz="2000" b="1">
                <a:latin typeface="Noto Sans CJK JP"/>
              </a:rPr>
              <a:t>NIST/SEMATECH e-Handbook of Statistical Methods</a:t>
            </a:r>
          </a:p>
          <a:p>
            <a:pPr>
              <a:spcAft>
                <a:spcPts val="400"/>
              </a:spcAft>
            </a:pPr>
            <a:r>
              <a:rPr sz="2000" b="0">
                <a:latin typeface="Noto Sans CJK JP"/>
              </a:rPr>
              <a:t>• </a:t>
            </a:r>
            <a:r>
              <a:rPr sz="2000" b="1">
                <a:latin typeface="Noto Sans CJK JP"/>
              </a:rPr>
              <a:t>[2] §1.3.5.2 Confidence Limits for the Mean</a:t>
            </a:r>
            <a:r>
              <a:rPr sz="2000" b="0">
                <a:latin typeface="Noto Sans CJK JP"/>
              </a:rPr>
              <a:t> 95%信頼区間の意味と、t分布を使う平均の区間推定。 </a:t>
            </a:r>
            <a:r>
              <a:rPr sz="2000" b="0">
                <a:solidFill>
                  <a:srgbClr val="13877B"/>
                </a:solidFill>
                <a:latin typeface="Noto Sans CJK JP"/>
                <a:hlinkClick r:id="rId2"/>
              </a:rPr>
              <a:t>NIST公式：平均の信頼区間</a:t>
            </a:r>
          </a:p>
          <a:p>
            <a:pPr>
              <a:spcAft>
                <a:spcPts val="400"/>
              </a:spcAft>
            </a:pPr>
            <a:r>
              <a:rPr sz="2000" b="0">
                <a:latin typeface="Noto Sans CJK JP"/>
              </a:rPr>
              <a:t>• </a:t>
            </a:r>
            <a:r>
              <a:rPr sz="2000" b="1">
                <a:latin typeface="Noto Sans CJK JP"/>
              </a:rPr>
              <a:t>[3] §4.1.4.3 Weighted Least Squares Regression</a:t>
            </a:r>
            <a:r>
              <a:rPr sz="2000" b="0">
                <a:latin typeface="Noto Sans CJK JP"/>
              </a:rPr>
              <a:t> 逆分散で重み付けする根拠と、重みが正しく分かっているという前提。 </a:t>
            </a:r>
            <a:r>
              <a:rPr sz="2000" b="0">
                <a:solidFill>
                  <a:srgbClr val="13877B"/>
                </a:solidFill>
                <a:latin typeface="Noto Sans CJK JP"/>
                <a:hlinkClick r:id="rId3"/>
              </a:rPr>
              <a:t>NIST公式：重み付き最小二乗</a:t>
            </a:r>
          </a:p>
          <a:p>
            <a:pPr>
              <a:spcAft>
                <a:spcPts val="400"/>
              </a:spcAft>
            </a:pPr>
            <a:r>
              <a:rPr sz="2000" b="0">
                <a:latin typeface="Noto Sans CJK JP"/>
              </a:rPr>
              <a:t>• </a:t>
            </a:r>
            <a:r>
              <a:rPr sz="2000" b="1">
                <a:latin typeface="Noto Sans CJK JP"/>
              </a:rPr>
              <a:t>[3] §4.4.5.2 Accounting for Non-Constant Variation Across the Data</a:t>
            </a:r>
            <a:r>
              <a:rPr sz="2000" b="0">
                <a:latin typeface="Noto Sans CJK JP"/>
              </a:rPr>
              <a:t> </a:t>
            </a:r>
            <a:r>
              <a:rPr sz="2000" b="0">
                <a:solidFill>
                  <a:srgbClr val="13877B"/>
                </a:solidFill>
                <a:latin typeface="Noto Sans CJK JP"/>
                <a:hlinkClick r:id="rId4"/>
              </a:rPr>
              <a:t>NIST公式：分散と重みの関係</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第2回｜図解・やさしい解説版</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