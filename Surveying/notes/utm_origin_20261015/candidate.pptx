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4f170c3684694" /><Relationship Type="http://schemas.openxmlformats.org/officeDocument/2006/relationships/extended-properties" Target="/docProps/app.xml" Id="R15dee306fb8c4729" /><Relationship Type="http://schemas.openxmlformats.org/officeDocument/2006/relationships/officeDocument" Target="/ppt/presentation.xml" Id="Rc92c60defed0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4a6db189e14b9d"/>
  </p:sldMasterIdLst>
  <p:notesMasterIdLst>
    <p:notesMasterId xmlns:r="http://schemas.openxmlformats.org/officeDocument/2006/relationships" r:id="Rc615a2ea3f664f7e"/>
  </p:notesMasterIdLst>
  <p:sldIdLst>
    <p:sldId xmlns:r="http://schemas.openxmlformats.org/officeDocument/2006/relationships" id="256" r:id="R876baa2eca7449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cb221c07b47e8" /><Relationship Type="http://schemas.openxmlformats.org/officeDocument/2006/relationships/slideMaster" Target="/ppt/slideMasters/slideMaster1.xml" Id="R6f4a6db189e14b9d" /><Relationship Type="http://schemas.openxmlformats.org/officeDocument/2006/relationships/notesMaster" Target="/ppt/notesMasters/notesMaster1.xml" Id="Rc615a2ea3f664f7e" /><Relationship Type="http://schemas.openxmlformats.org/officeDocument/2006/relationships/presProps" Target="/ppt/presProps.xml" Id="R6658f2f74bff4c17" /><Relationship Type="http://schemas.openxmlformats.org/officeDocument/2006/relationships/tableStyles" Target="/ppt/tableStyles.xml" Id="Rc7af7776de4a4053" /><Relationship Type="http://schemas.openxmlformats.org/officeDocument/2006/relationships/slide" Target="/ppt/slides/slide1.xml" Id="R876baa2eca74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0ff531e80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2b7b9f9af3475c" /><Relationship Type="http://schemas.openxmlformats.org/officeDocument/2006/relationships/notesMaster" Target="/ppt/notesMasters/notesMaster1.xml" Id="R50e9b4e5c525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UTMの原点と座標の読み方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各帯の原点はどこか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Mは、基本的に経度6°ごとの60帯に分け、各帯の中央子午線と赤道の交点を投影原点とする。日本にかかる第51〜56帯の原点は、すべて緯度0°にあり、経度は順に東経123°、129°、135°、141°、147°、153°となる。第54帯は東経138〜144°で、帯広はこの帯に入る。日本付近だけを描いた元図では、赤道上の原点は図の南側の外に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日本の経緯度原点や、地球中心とは別の、投影計算のために定める原点である。各帯で投影原点が違っても、それだけで測地系まで別になるわけではない。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原点なのにEが500,000 mなのはなぜか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中央子午線からの投影面上の東西座標を、東を正、西を負として計算した後、500,000 mを足して東距Eを表す。通常の帯内でEが負になることを避けるためで、地上の位置や2点間の距離を変える操作ではない。中央子午線上はすべてE=500,000 mであり、北半球の投影原点の表示座標は(E,N)=(500,000 m,0 m)になる。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「投影原点」と「表示座標が(E,N)=(0,0)になる点」を区別する。北半球の表示座標のゼロ点は、投影面上で投影原点から西へ500 kmずらした赤道上の点に対応し、その帯の外側にある。この500 kmは地表上の実距離という意味ではない。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Nは北距で、日本では赤道を基準に北向きに増える投影座標である。中央子午線から離れた地点では、Nを赤道からの地表の実距離と厳密に同一視しない。南半球では負の北距を避けるため10,000,000 mを加え、赤道のNを10,000,000 mとする。本スライドの本体は日本を含む北半球を扱う。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同じ(E,N)の値は別の帯にも現れる。座標を渡すときは帯番号・半球・測地系も明記する。UTMのNは北距の記号であり、半球表示やMGRSの緯度帯文字とは役割が異なる。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右上の枠の意味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「6°幅×60帯」：経度方向の分割。360°を6°ずつに分ける。</a:t>
            </a:r>
          </a:p>
          <a:p xmlns:a="http://schemas.openxmlformats.org/drawingml/2006/main">
            <a:r>
              <a:t>- 「原点の縮尺係数0.9996」：より正確には、中央子午線上全体の縮尺係数が0.9996。楕円体上の微小距離に対する投影面上の微小距離の比であり、紙の地図の縮尺1:25,000とは別の数値である。中央子午線に沿う楕円体上1,000 mは、平面上999.6 mになる。中央付近を少し縮め、東西に離れると大きくなる投影の性質と釣り合わせて、帯全体の距離のひずみを抑える。帯内のすべての点で0.9996という意味ではない。</a:t>
            </a:r>
          </a:p>
          <a:p xmlns:a="http://schemas.openxmlformats.org/drawingml/2006/main">
            <a:r>
              <a:t>- 「Eは500,000 mを足して負を避ける」：東西座標の表示に共通の加算値を設ける。中央子午線の西側でも通常の帯内では正値になる。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右下の枠の意味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日本の平面直角座標系は、国内の測量のために19系を設け、各系に緯度・経度で原点を定める。各原点を(X,Y)=(0,0)とし、中央子午線上の縮尺係数は0.9999である。中央子午線上の楕円体上1,000 mは平面上999.9 mとなる。「東西約130 km」は、投影による距離の相対的なひずみを約1/10,000以内に収めるための適用範囲の目安であり、19系すべてが等幅の帯や四角形になっているという意味ではない。適用区域は別途定めている。UTMと日本の平面直角座標系は、どちらも横メルカトル投影を使うが、原点・縮尺係数・区分・座標表示の約束が違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一次資料（2026-10-15確認）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[国土地理院：令和2年測量士試験、午前No.22（PDFの23ページ）](https://web1.gsi.go.jp/common/000229468.pdf) 原点、帯、加算値、適用緯度。</a:t>
            </a:r>
          </a:p>
          <a:p xmlns:a="http://schemas.openxmlformats.org/drawingml/2006/main">
            <a:r>
              <a:t>- [国土地理院：地理情報標準第2版の解説（PDFの156ページ、本文146ページ）](https://www.gsi.go.jp/GIS/stdind/stdindpdf/jsgi_inst) 中央子午線と赤道の交点、中央子午線上0.9996、EとNの意味。UTMの定義の確認に使用。</a:t>
            </a:r>
          </a:p>
          <a:p xmlns:a="http://schemas.openxmlformats.org/drawingml/2006/main">
            <a:r>
              <a:t>- [国土地理院：日本の測地系](https://www.gsi.go.jp/sokuchikijun/datum-main.html) 平面直角座標系の19系、原点の座標、中央子午線上0.9999、東西約130 km。</a:t>
            </a:r>
          </a:p>
          <a:p xmlns:a="http://schemas.openxmlformats.org/drawingml/2006/main">
            <a:r>
              <a:t>- [国土地理院：わかりやすい平面直角座標系](https://www.gsi.go.jp/sokuchikijun/jpc.html) 各系の原点と適用区域。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faf4ed0234c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03ca13e434d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4c739952142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40853b7274d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8d657362b49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c77884b8b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2E1459-A237-425F-8A8B-1A063DFC2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E3EB8F-6737-4FBA-9957-57131E47C3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7D2447-B8F1-456F-AFEF-4EFAB74FAF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438F4B-720B-4412-BD5F-26F470992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C0A385-EA9E-4C3B-B8F6-A78B200D7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195F1F-0FF9-4BB6-BE2B-E8B388224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8C5A3F-ED56-4B63-8C70-5F6C9B2B77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858F67-8C72-4267-AFC1-1C5A977794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E059CB-7BAB-4AB7-BFD3-798DB9FB5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D93DE-F745-4C74-A76B-DAD659E27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d19585c2e4922" /><Relationship Type="http://schemas.openxmlformats.org/officeDocument/2006/relationships/slideLayout" Target="/ppt/slideLayouts/slideLayout1.xml" Id="Rb82629ee23444151" /><Relationship Type="http://schemas.openxmlformats.org/officeDocument/2006/relationships/slideLayout" Target="/ppt/slideLayouts/slideLayout2.xml" Id="R3109ccc30abd41e9" /><Relationship Type="http://schemas.openxmlformats.org/officeDocument/2006/relationships/slideLayout" Target="/ppt/slideLayouts/slideLayout3.xml" Id="Rca4d399bc4f64b80" /><Relationship Type="http://schemas.openxmlformats.org/officeDocument/2006/relationships/slideLayout" Target="/ppt/slideLayouts/slideLayout4.xml" Id="R05fd8deb787349e1" /><Relationship Type="http://schemas.openxmlformats.org/officeDocument/2006/relationships/slideLayout" Target="/ppt/slideLayouts/slideLayout5.xml" Id="R21b64169e4c14a7e" /><Relationship Type="http://schemas.openxmlformats.org/officeDocument/2006/relationships/slideLayout" Target="/ppt/slideLayouts/slideLayout6.xml" Id="R1386947973b844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629ee23444151"/>
    <p:sldLayoutId xmlns:r="http://schemas.openxmlformats.org/officeDocument/2006/relationships" id="2147483650" r:id="R3109ccc30abd41e9"/>
    <p:sldLayoutId xmlns:r="http://schemas.openxmlformats.org/officeDocument/2006/relationships" id="2147483651" r:id="Rca4d399bc4f64b80"/>
    <p:sldLayoutId xmlns:r="http://schemas.openxmlformats.org/officeDocument/2006/relationships" id="2147483652" r:id="R05fd8deb787349e1"/>
    <p:sldLayoutId xmlns:r="http://schemas.openxmlformats.org/officeDocument/2006/relationships" id="2147483653" r:id="R21b64169e4c14a7e"/>
    <p:sldLayoutId xmlns:r="http://schemas.openxmlformats.org/officeDocument/2006/relationships" id="2147483654" r:id="R1386947973b844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771b0b02d4a51" /><Relationship Type="http://schemas.openxmlformats.org/officeDocument/2006/relationships/notesSlide" Target="/ppt/notesSlides/notesSlide1.xml" Id="R9edc10a01a2349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測量の座標　3-3">
            <a:extLst xmlns:a="http://schemas.openxmlformats.org/drawingml/2006/main">
              <a:ext uri="{FF2B5EF4-FFF2-40B4-BE49-F238E27FC236}">
                <a16:creationId xmlns:a16="http://schemas.microsoft.com/office/drawing/2014/main" id="{4784C3A2-98D0-4D2E-A585-9BF424D0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測量の座標　3-3</a:t>
            </a:r>
          </a:p>
        </p:txBody>
      </p:sp>
      <p:sp>
        <p:nvSpPr>
          <p:cNvPr id="2" name="UTMの原点：中央子午線と赤道の交点">
            <a:extLst xmlns:a="http://schemas.openxmlformats.org/drawingml/2006/main">
              <a:ext uri="{FF2B5EF4-FFF2-40B4-BE49-F238E27FC236}">
                <a16:creationId xmlns:a16="http://schemas.microsoft.com/office/drawing/2014/main" id="{5D3FF778-DBF6-403F-A254-A3F20B8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UTMの原点：中央子午線と赤道の交点</a:t>
            </a:r>
          </a:p>
        </p:txBody>
      </p:sp>
      <p:sp>
        <p:nvSpPr>
          <p:cNvPr id="3" name="各帯に別々の原点がある。北半球では、その座標を E = 500,000 m、N ">
            <a:extLst xmlns:a="http://schemas.openxmlformats.org/drawingml/2006/main">
              <a:ext uri="{FF2B5EF4-FFF2-40B4-BE49-F238E27FC236}">
                <a16:creationId xmlns:a16="http://schemas.microsoft.com/office/drawing/2014/main" id="{7C46A859-D27A-4371-B107-02C5BAC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各帯に別々の原点がある。北半球では、その座標を E = 500,000 m、N = 0 m とする。</a:t>
            </a:r>
          </a:p>
        </p:txBody>
      </p:sp>
      <p:sp>
        <p:nvSpPr>
          <p:cNvPr id="4" name="日本にかかる6帯と、それぞれの投影原点">
            <a:extLst xmlns:a="http://schemas.openxmlformats.org/drawingml/2006/main">
              <a:ext uri="{FF2B5EF4-FFF2-40B4-BE49-F238E27FC236}">
                <a16:creationId xmlns:a16="http://schemas.microsoft.com/office/drawing/2014/main" id="{6DAD7B71-0B7F-49A3-A6B2-402CD554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日本にかかる6帯と、それぞれの投影原点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2B447-5991-4469-94FD-546FF62521D8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645795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2705100"/>
                <a:gridCol w="3067050"/>
              </a:tblGrid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経度の範囲（東経）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原点（緯度, 経度）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T w="6668">
                      <a:solidFill>
                        <a:srgbClr val="D7E2E1"/>
                      </a:solidFill>
                      <a:prstDash val="solid"/>
                    </a:lnT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153D50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120°〜126°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126°〜132°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129°E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132°〜138°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135°E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138°〜144°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BD4A24"/>
                          </a:solidFill>
                          <a:latin typeface="Meiryo"/>
                          <a:ea typeface="Meiryo"/>
                          <a:cs typeface="Meiryo"/>
                        </a:rPr>
                        <a:t>0°, 141°E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E4F1EC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144°〜150°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147°E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56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E2E1"/>
                      </a:solidFill>
                      <a:prstDash val="solid"/>
                    </a:lnL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150°〜156°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  <a:tc>
                  <a:txBody>
                    <a:bodyPr lIns="104775" tIns="104775" rIns="104775" bIns="1047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0°, 153°E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E2E1"/>
                      </a:solidFill>
                      <a:prstDash val="solid"/>
                    </a:lnR>
                    <a:lnB w="6668">
                      <a:solidFill>
                        <a:srgbClr val="D7E2E1"/>
                      </a:solidFill>
                      <a:prstDash val="solid"/>
                    </a:lnB>
                    <a:solidFill>
                      <a:srgbClr val="F0F3F3"/>
                    </a:solidFill>
                  </a:tcPr>
                </a:tc>
              </a:tr>
            </a:tbl>
          </a:graphicData>
        </a:graphic>
      </p:graphicFrame>
      <p:sp>
        <p:nvSpPr>
          <p:cNvPr id="6" name="帯広は第54帯。原点は赤道上の東経141°。">
            <a:extLst xmlns:a="http://schemas.openxmlformats.org/drawingml/2006/main">
              <a:ext uri="{FF2B5EF4-FFF2-40B4-BE49-F238E27FC236}">
                <a16:creationId xmlns:a16="http://schemas.microsoft.com/office/drawing/2014/main" id="{88B24272-A4EA-41FB-AD5F-305669DB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4A2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D4A24"/>
                </a:solidFill>
                <a:latin typeface="Meiryo"/>
                <a:ea typeface="Meiryo"/>
                <a:cs typeface="Meiryo"/>
              </a:rPr>
              <a:t>帯広は第54帯。原点は赤道上の東経141°。</a:t>
            </a:r>
          </a:p>
        </p:txBody>
      </p:sp>
      <p:sp>
        <p:nvSpPr>
          <p:cNvPr id="7" name="元の日本付近の図では、赤道は図の南側の外にある。">
            <a:extLst xmlns:a="http://schemas.openxmlformats.org/drawingml/2006/main">
              <a:ext uri="{FF2B5EF4-FFF2-40B4-BE49-F238E27FC236}">
                <a16:creationId xmlns:a16="http://schemas.microsoft.com/office/drawing/2014/main" id="{D063D708-E371-418D-AB1B-2CCEF4B6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元の日本付近の図では、赤道は図の南側の外にある。</a:t>
            </a:r>
          </a:p>
        </p:txBody>
      </p:sp>
      <p:sp>
        <p:nvSpPr>
          <p:cNvPr id="8" name="E：中央子午線を500,000 mにする">
            <a:extLst xmlns:a="http://schemas.openxmlformats.org/drawingml/2006/main">
              <a:ext uri="{FF2B5EF4-FFF2-40B4-BE49-F238E27FC236}">
                <a16:creationId xmlns:a16="http://schemas.microsoft.com/office/drawing/2014/main" id="{5D65EE8B-650A-4213-829E-EB942B75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E：中央子午線を500,000 mにする</a:t>
            </a:r>
          </a:p>
        </p:txBody>
      </p:sp>
      <p:sp>
        <p:nvSpPr>
          <p:cNvPr id="9" name="E = 中央子午線からの東西座標">
            <a:extLst xmlns:a="http://schemas.openxmlformats.org/drawingml/2006/main">
              <a:ext uri="{FF2B5EF4-FFF2-40B4-BE49-F238E27FC236}">
                <a16:creationId xmlns:a16="http://schemas.microsoft.com/office/drawing/2014/main" id="{CF3CFD93-4891-4B96-B2A1-298A2E8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76475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E = 中央子午線からの東西座標</a:t>
            </a:r>
          </a:p>
        </p:txBody>
      </p:sp>
      <p:sp>
        <p:nvSpPr>
          <p:cNvPr id="10" name="       ＋ 500,000 m（西側の負値を避ける）">
            <a:extLst xmlns:a="http://schemas.openxmlformats.org/drawingml/2006/main">
              <a:ext uri="{FF2B5EF4-FFF2-40B4-BE49-F238E27FC236}">
                <a16:creationId xmlns:a16="http://schemas.microsoft.com/office/drawing/2014/main" id="{738851EE-E1D8-4A96-A8EF-46544B82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       ＋ 500,000 m（西側の負値を避ける）</a:t>
            </a:r>
          </a:p>
        </p:txBody>
      </p:sp>
      <p:sp>
        <p:nvSpPr>
          <p:cNvPr id="11" name="例：投影面上で西へ100 kmなら">
            <a:extLst xmlns:a="http://schemas.openxmlformats.org/drawingml/2006/main">
              <a:ext uri="{FF2B5EF4-FFF2-40B4-BE49-F238E27FC236}">
                <a16:creationId xmlns:a16="http://schemas.microsoft.com/office/drawing/2014/main" id="{7DF72672-7D7B-418B-9A40-8110D5F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813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例：投影面上で西へ100 kmなら</a:t>
            </a:r>
          </a:p>
        </p:txBody>
      </p:sp>
      <p:sp>
        <p:nvSpPr>
          <p:cNvPr id="12" name="E = −100,000 + 500,000 = 400,000 m">
            <a:extLst xmlns:a="http://schemas.openxmlformats.org/drawingml/2006/main">
              <a:ext uri="{FF2B5EF4-FFF2-40B4-BE49-F238E27FC236}">
                <a16:creationId xmlns:a16="http://schemas.microsoft.com/office/drawing/2014/main" id="{AA078809-1733-4F5F-BD24-2E1CA41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 = −100,000 + 500,000 = 400,000 m</a:t>
            </a:r>
          </a:p>
        </p:txBody>
      </p:sp>
      <p:sp>
        <p:nvSpPr>
          <p:cNvPr id="13" name="縮尺係数0.9996：距離を少し縮める">
            <a:extLst xmlns:a="http://schemas.openxmlformats.org/drawingml/2006/main">
              <a:ext uri="{FF2B5EF4-FFF2-40B4-BE49-F238E27FC236}">
                <a16:creationId xmlns:a16="http://schemas.microsoft.com/office/drawing/2014/main" id="{C6C0A1A4-782D-40A0-AD54-467F609B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57625"/>
            <a:ext cx="433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縮尺係数0.9996：距離を少し縮める</a:t>
            </a:r>
          </a:p>
        </p:txBody>
      </p:sp>
      <p:sp>
        <p:nvSpPr>
          <p:cNvPr id="14" name="中央子午線上の楕円体上1,000 mを">
            <a:extLst xmlns:a="http://schemas.openxmlformats.org/drawingml/2006/main">
              <a:ext uri="{FF2B5EF4-FFF2-40B4-BE49-F238E27FC236}">
                <a16:creationId xmlns:a16="http://schemas.microsoft.com/office/drawing/2014/main" id="{5DC9D10D-4D56-4E14-8B5A-37B8773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中央子午線上の楕円体上1,000 mを</a:t>
            </a:r>
          </a:p>
        </p:txBody>
      </p:sp>
      <p:sp>
        <p:nvSpPr>
          <p:cNvPr id="15" name="平面上999.6 mにする（0.4 m短い）。">
            <a:extLst xmlns:a="http://schemas.openxmlformats.org/drawingml/2006/main">
              <a:ext uri="{FF2B5EF4-FFF2-40B4-BE49-F238E27FC236}">
                <a16:creationId xmlns:a16="http://schemas.microsoft.com/office/drawing/2014/main" id="{03FAF8FE-C2C5-4EC9-99D7-E222050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平面上999.6 mにする（0.4 m短い）。</a:t>
            </a:r>
          </a:p>
        </p:txBody>
      </p:sp>
      <p:sp>
        <p:nvSpPr>
          <p:cNvPr id="16" name="帯全体の距離のひずみを抑えるため。">
            <a:extLst xmlns:a="http://schemas.openxmlformats.org/drawingml/2006/main">
              <a:ext uri="{FF2B5EF4-FFF2-40B4-BE49-F238E27FC236}">
                <a16:creationId xmlns:a16="http://schemas.microsoft.com/office/drawing/2014/main" id="{4323CA85-F6E6-4DBB-8F1B-478B77F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57775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帯全体の距離のひずみを抑えるため。</a:t>
            </a:r>
          </a:p>
        </p:txBody>
      </p:sp>
      <p:sp>
        <p:nvSpPr>
          <p:cNvPr id="17" name="平面直角座標系との比較：日本を19系に分け、各系の原点は (X, Y) = (0">
            <a:extLst xmlns:a="http://schemas.openxmlformats.org/drawingml/2006/main">
              <a:ext uri="{FF2B5EF4-FFF2-40B4-BE49-F238E27FC236}">
                <a16:creationId xmlns:a16="http://schemas.microsoft.com/office/drawing/2014/main" id="{266BBC20-50DC-4057-BD83-3F9B1AE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9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平面直角座標系との比較：日本を19系に分け、各系の原点は (X, Y) = (0, 0)。</a:t>
            </a:r>
          </a:p>
        </p:txBody>
      </p:sp>
      <p:sp>
        <p:nvSpPr>
          <p:cNvPr id="18" name="中央子午線上の縮尺係数は0.9999、東西それぞれ約130 kmが適用範囲の目安">
            <a:extLst xmlns:a="http://schemas.openxmlformats.org/drawingml/2006/main">
              <a:ext uri="{FF2B5EF4-FFF2-40B4-BE49-F238E27FC236}">
                <a16:creationId xmlns:a16="http://schemas.microsoft.com/office/drawing/2014/main" id="{3ACE31D9-93F8-4896-9072-62FD3AEA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中央子午線上の縮尺係数は0.9999、東西それぞれ約130 kmが適用範囲の目安。</a:t>
            </a:r>
          </a:p>
        </p:txBody>
      </p:sp>
    </p:spTree>
    <p:extLst>
      <p:ext uri="{BB962C8B-B14F-4D97-AF65-F5344CB8AC3E}">
        <p14:creationId xmlns:p14="http://schemas.microsoft.com/office/powerpoint/2010/main" val="707685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2026-10-15T02:35:28.0310000Z</dcterms:created>
  <dcterms:modified xsi:type="dcterms:W3CDTF">2026-10-15T02:35:28.0310000Z</dcterms:modified>
</coreProperties>
</file>